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media/image22.jpg" ContentType="image/jp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5"/>
  </p:notesMasterIdLst>
  <p:sldIdLst>
    <p:sldId id="256" r:id="rId2"/>
    <p:sldId id="258" r:id="rId3"/>
    <p:sldId id="260" r:id="rId4"/>
    <p:sldId id="261" r:id="rId5"/>
    <p:sldId id="262" r:id="rId6"/>
    <p:sldId id="263" r:id="rId7"/>
    <p:sldId id="264" r:id="rId8"/>
    <p:sldId id="621" r:id="rId9"/>
    <p:sldId id="269" r:id="rId10"/>
    <p:sldId id="271" r:id="rId11"/>
    <p:sldId id="265" r:id="rId12"/>
    <p:sldId id="622" r:id="rId13"/>
    <p:sldId id="266" r:id="rId14"/>
    <p:sldId id="267" r:id="rId15"/>
    <p:sldId id="268" r:id="rId16"/>
    <p:sldId id="272" r:id="rId17"/>
    <p:sldId id="273" r:id="rId18"/>
    <p:sldId id="275" r:id="rId19"/>
    <p:sldId id="277" r:id="rId20"/>
    <p:sldId id="279" r:id="rId21"/>
    <p:sldId id="280" r:id="rId22"/>
    <p:sldId id="274" r:id="rId23"/>
    <p:sldId id="282" r:id="rId24"/>
    <p:sldId id="276" r:id="rId25"/>
    <p:sldId id="432" r:id="rId26"/>
    <p:sldId id="278" r:id="rId27"/>
    <p:sldId id="283" r:id="rId28"/>
    <p:sldId id="405" r:id="rId29"/>
    <p:sldId id="285" r:id="rId30"/>
    <p:sldId id="389" r:id="rId31"/>
    <p:sldId id="390" r:id="rId32"/>
    <p:sldId id="403" r:id="rId33"/>
    <p:sldId id="284" r:id="rId34"/>
    <p:sldId id="404" r:id="rId35"/>
    <p:sldId id="286" r:id="rId36"/>
    <p:sldId id="287" r:id="rId37"/>
    <p:sldId id="291" r:id="rId38"/>
    <p:sldId id="289" r:id="rId39"/>
    <p:sldId id="406" r:id="rId40"/>
    <p:sldId id="407" r:id="rId41"/>
    <p:sldId id="433" r:id="rId42"/>
    <p:sldId id="434" r:id="rId43"/>
    <p:sldId id="435" r:id="rId44"/>
    <p:sldId id="436" r:id="rId45"/>
    <p:sldId id="437" r:id="rId46"/>
    <p:sldId id="438" r:id="rId47"/>
    <p:sldId id="440" r:id="rId48"/>
    <p:sldId id="439" r:id="rId49"/>
    <p:sldId id="542" r:id="rId50"/>
    <p:sldId id="578" r:id="rId51"/>
    <p:sldId id="579" r:id="rId52"/>
    <p:sldId id="580" r:id="rId53"/>
    <p:sldId id="408" r:id="rId54"/>
    <p:sldId id="410" r:id="rId55"/>
    <p:sldId id="257" r:id="rId56"/>
    <p:sldId id="293" r:id="rId57"/>
    <p:sldId id="295" r:id="rId58"/>
    <p:sldId id="297" r:id="rId59"/>
    <p:sldId id="361" r:id="rId60"/>
    <p:sldId id="296" r:id="rId61"/>
    <p:sldId id="362" r:id="rId62"/>
    <p:sldId id="363" r:id="rId63"/>
    <p:sldId id="364" r:id="rId64"/>
    <p:sldId id="365" r:id="rId65"/>
    <p:sldId id="298" r:id="rId66"/>
    <p:sldId id="366" r:id="rId67"/>
    <p:sldId id="299" r:id="rId68"/>
    <p:sldId id="369" r:id="rId69"/>
    <p:sldId id="367" r:id="rId70"/>
    <p:sldId id="368" r:id="rId71"/>
    <p:sldId id="301" r:id="rId72"/>
    <p:sldId id="302" r:id="rId73"/>
    <p:sldId id="303" r:id="rId74"/>
    <p:sldId id="304" r:id="rId75"/>
    <p:sldId id="305" r:id="rId76"/>
    <p:sldId id="411" r:id="rId77"/>
    <p:sldId id="412" r:id="rId78"/>
    <p:sldId id="413" r:id="rId79"/>
    <p:sldId id="259" r:id="rId80"/>
    <p:sldId id="414" r:id="rId81"/>
    <p:sldId id="415" r:id="rId82"/>
    <p:sldId id="416" r:id="rId83"/>
    <p:sldId id="417" r:id="rId84"/>
    <p:sldId id="418" r:id="rId85"/>
    <p:sldId id="419" r:id="rId86"/>
    <p:sldId id="420" r:id="rId87"/>
    <p:sldId id="421" r:id="rId88"/>
    <p:sldId id="422" r:id="rId89"/>
    <p:sldId id="310" r:id="rId90"/>
    <p:sldId id="423" r:id="rId91"/>
    <p:sldId id="424" r:id="rId92"/>
    <p:sldId id="623" r:id="rId93"/>
    <p:sldId id="592" r:id="rId94"/>
    <p:sldId id="593" r:id="rId95"/>
    <p:sldId id="311" r:id="rId96"/>
    <p:sldId id="596" r:id="rId97"/>
    <p:sldId id="597" r:id="rId98"/>
    <p:sldId id="312" r:id="rId99"/>
    <p:sldId id="595" r:id="rId100"/>
    <p:sldId id="316" r:id="rId101"/>
    <p:sldId id="544" r:id="rId102"/>
    <p:sldId id="545" r:id="rId103"/>
    <p:sldId id="546" r:id="rId104"/>
    <p:sldId id="547" r:id="rId105"/>
    <p:sldId id="548" r:id="rId106"/>
    <p:sldId id="549" r:id="rId107"/>
    <p:sldId id="550" r:id="rId108"/>
    <p:sldId id="551" r:id="rId109"/>
    <p:sldId id="552" r:id="rId110"/>
    <p:sldId id="553" r:id="rId111"/>
    <p:sldId id="554" r:id="rId112"/>
    <p:sldId id="555" r:id="rId113"/>
    <p:sldId id="556" r:id="rId114"/>
    <p:sldId id="557" r:id="rId115"/>
    <p:sldId id="558" r:id="rId116"/>
    <p:sldId id="559" r:id="rId117"/>
    <p:sldId id="560" r:id="rId118"/>
    <p:sldId id="561" r:id="rId119"/>
    <p:sldId id="562" r:id="rId120"/>
    <p:sldId id="563" r:id="rId121"/>
    <p:sldId id="564" r:id="rId122"/>
    <p:sldId id="565" r:id="rId123"/>
    <p:sldId id="566" r:id="rId124"/>
    <p:sldId id="567" r:id="rId125"/>
    <p:sldId id="568" r:id="rId126"/>
    <p:sldId id="569" r:id="rId127"/>
    <p:sldId id="570" r:id="rId128"/>
    <p:sldId id="571" r:id="rId129"/>
    <p:sldId id="572" r:id="rId130"/>
    <p:sldId id="574" r:id="rId131"/>
    <p:sldId id="575" r:id="rId132"/>
    <p:sldId id="576" r:id="rId133"/>
    <p:sldId id="577" r:id="rId134"/>
    <p:sldId id="441" r:id="rId135"/>
    <p:sldId id="442" r:id="rId136"/>
    <p:sldId id="443" r:id="rId137"/>
    <p:sldId id="444" r:id="rId138"/>
    <p:sldId id="445" r:id="rId139"/>
    <p:sldId id="446" r:id="rId140"/>
    <p:sldId id="581" r:id="rId141"/>
    <p:sldId id="582" r:id="rId142"/>
    <p:sldId id="309" r:id="rId143"/>
    <p:sldId id="583" r:id="rId144"/>
    <p:sldId id="584" r:id="rId145"/>
    <p:sldId id="585" r:id="rId146"/>
    <p:sldId id="586" r:id="rId147"/>
    <p:sldId id="587" r:id="rId148"/>
    <p:sldId id="588" r:id="rId149"/>
    <p:sldId id="589" r:id="rId150"/>
    <p:sldId id="590" r:id="rId151"/>
    <p:sldId id="591" r:id="rId152"/>
    <p:sldId id="600" r:id="rId153"/>
    <p:sldId id="601" r:id="rId154"/>
    <p:sldId id="602" r:id="rId155"/>
    <p:sldId id="603" r:id="rId156"/>
    <p:sldId id="604" r:id="rId157"/>
    <p:sldId id="448" r:id="rId158"/>
    <p:sldId id="449" r:id="rId159"/>
    <p:sldId id="450" r:id="rId160"/>
    <p:sldId id="377" r:id="rId161"/>
    <p:sldId id="379" r:id="rId162"/>
    <p:sldId id="381" r:id="rId163"/>
    <p:sldId id="380" r:id="rId164"/>
    <p:sldId id="383" r:id="rId165"/>
    <p:sldId id="384" r:id="rId166"/>
    <p:sldId id="382" r:id="rId167"/>
    <p:sldId id="371" r:id="rId168"/>
    <p:sldId id="525" r:id="rId169"/>
    <p:sldId id="526" r:id="rId170"/>
    <p:sldId id="527" r:id="rId171"/>
    <p:sldId id="528" r:id="rId172"/>
    <p:sldId id="529" r:id="rId173"/>
    <p:sldId id="393" r:id="rId174"/>
    <p:sldId id="374" r:id="rId175"/>
    <p:sldId id="530" r:id="rId176"/>
    <p:sldId id="395" r:id="rId177"/>
    <p:sldId id="531" r:id="rId178"/>
    <p:sldId id="532" r:id="rId179"/>
    <p:sldId id="373" r:id="rId180"/>
    <p:sldId id="533" r:id="rId181"/>
    <p:sldId id="598" r:id="rId182"/>
    <p:sldId id="534" r:id="rId183"/>
    <p:sldId id="535" r:id="rId184"/>
    <p:sldId id="536" r:id="rId185"/>
    <p:sldId id="537" r:id="rId186"/>
    <p:sldId id="391" r:id="rId187"/>
    <p:sldId id="599" r:id="rId188"/>
    <p:sldId id="538" r:id="rId189"/>
    <p:sldId id="539" r:id="rId190"/>
    <p:sldId id="392" r:id="rId191"/>
    <p:sldId id="540" r:id="rId192"/>
    <p:sldId id="541" r:id="rId193"/>
    <p:sldId id="385" r:id="rId194"/>
    <p:sldId id="386" r:id="rId195"/>
    <p:sldId id="396" r:id="rId196"/>
    <p:sldId id="387" r:id="rId197"/>
    <p:sldId id="397" r:id="rId198"/>
    <p:sldId id="388"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288" r:id="rId215"/>
    <p:sldId id="466" r:id="rId216"/>
    <p:sldId id="290" r:id="rId217"/>
    <p:sldId id="467" r:id="rId218"/>
    <p:sldId id="292" r:id="rId219"/>
    <p:sldId id="468" r:id="rId220"/>
    <p:sldId id="294" r:id="rId221"/>
    <p:sldId id="469" r:id="rId222"/>
    <p:sldId id="470" r:id="rId223"/>
    <p:sldId id="605" r:id="rId224"/>
    <p:sldId id="606" r:id="rId225"/>
    <p:sldId id="471" r:id="rId226"/>
    <p:sldId id="607" r:id="rId227"/>
    <p:sldId id="608" r:id="rId228"/>
    <p:sldId id="615" r:id="rId229"/>
    <p:sldId id="616" r:id="rId230"/>
    <p:sldId id="617" r:id="rId231"/>
    <p:sldId id="618" r:id="rId232"/>
    <p:sldId id="619" r:id="rId233"/>
    <p:sldId id="620" r:id="rId234"/>
    <p:sldId id="609" r:id="rId235"/>
    <p:sldId id="473" r:id="rId236"/>
    <p:sldId id="375" r:id="rId237"/>
    <p:sldId id="376" r:id="rId238"/>
    <p:sldId id="474" r:id="rId239"/>
    <p:sldId id="475" r:id="rId240"/>
    <p:sldId id="476" r:id="rId241"/>
    <p:sldId id="477" r:id="rId242"/>
    <p:sldId id="478" r:id="rId243"/>
    <p:sldId id="479" r:id="rId244"/>
    <p:sldId id="480" r:id="rId245"/>
    <p:sldId id="481" r:id="rId246"/>
    <p:sldId id="482" r:id="rId247"/>
    <p:sldId id="483" r:id="rId248"/>
    <p:sldId id="484" r:id="rId249"/>
    <p:sldId id="485" r:id="rId250"/>
    <p:sldId id="486" r:id="rId251"/>
    <p:sldId id="487" r:id="rId252"/>
    <p:sldId id="488" r:id="rId253"/>
    <p:sldId id="489" r:id="rId254"/>
    <p:sldId id="490" r:id="rId255"/>
    <p:sldId id="491" r:id="rId256"/>
    <p:sldId id="492" r:id="rId257"/>
    <p:sldId id="493" r:id="rId258"/>
    <p:sldId id="494" r:id="rId259"/>
    <p:sldId id="495" r:id="rId260"/>
    <p:sldId id="496" r:id="rId261"/>
    <p:sldId id="497" r:id="rId262"/>
    <p:sldId id="498" r:id="rId263"/>
    <p:sldId id="499" r:id="rId264"/>
    <p:sldId id="500" r:id="rId265"/>
    <p:sldId id="501" r:id="rId266"/>
    <p:sldId id="502" r:id="rId267"/>
    <p:sldId id="503" r:id="rId268"/>
    <p:sldId id="504" r:id="rId269"/>
    <p:sldId id="505" r:id="rId270"/>
    <p:sldId id="506" r:id="rId271"/>
    <p:sldId id="610" r:id="rId272"/>
    <p:sldId id="507" r:id="rId273"/>
    <p:sldId id="508" r:id="rId274"/>
    <p:sldId id="509" r:id="rId275"/>
    <p:sldId id="510" r:id="rId276"/>
    <p:sldId id="511" r:id="rId277"/>
    <p:sldId id="513" r:id="rId278"/>
    <p:sldId id="514" r:id="rId279"/>
    <p:sldId id="515" r:id="rId280"/>
    <p:sldId id="516" r:id="rId281"/>
    <p:sldId id="517" r:id="rId282"/>
    <p:sldId id="518" r:id="rId283"/>
    <p:sldId id="519" r:id="rId284"/>
    <p:sldId id="520" r:id="rId285"/>
    <p:sldId id="521" r:id="rId286"/>
    <p:sldId id="522" r:id="rId287"/>
    <p:sldId id="281" r:id="rId288"/>
    <p:sldId id="523" r:id="rId289"/>
    <p:sldId id="524" r:id="rId290"/>
    <p:sldId id="611" r:id="rId291"/>
    <p:sldId id="612" r:id="rId292"/>
    <p:sldId id="613" r:id="rId293"/>
    <p:sldId id="614" r:id="rId2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eswari janarthanan"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66" autoAdjust="0"/>
    <p:restoredTop sz="94660"/>
  </p:normalViewPr>
  <p:slideViewPr>
    <p:cSldViewPr snapToGrid="0">
      <p:cViewPr varScale="1">
        <p:scale>
          <a:sx n="82" d="100"/>
          <a:sy n="82" d="100"/>
        </p:scale>
        <p:origin x="3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theme" Target="theme/theme1.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commentAuthors" Target="commentAuthors.xml"/><Relationship Id="rId300" Type="http://schemas.openxmlformats.org/officeDocument/2006/relationships/tableStyles" Target="tableStyles.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presProps" Target="presProp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viewProps" Target="view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ikumartech@outlook.com" userId="296ae2378136960a" providerId="LiveId" clId="{CEE30952-B120-43FC-84D2-EB8EA9A34219}"/>
    <pc:docChg chg="undo custSel addSld delSld modSld">
      <pc:chgData name="sasikumartech@outlook.com" userId="296ae2378136960a" providerId="LiveId" clId="{CEE30952-B120-43FC-84D2-EB8EA9A34219}" dt="2023-06-11T06:40:16.083" v="148" actId="1035"/>
      <pc:docMkLst>
        <pc:docMk/>
      </pc:docMkLst>
      <pc:sldChg chg="modSp">
        <pc:chgData name="sasikumartech@outlook.com" userId="296ae2378136960a" providerId="LiveId" clId="{CEE30952-B120-43FC-84D2-EB8EA9A34219}" dt="2023-05-28T06:20:52.983" v="98" actId="14100"/>
        <pc:sldMkLst>
          <pc:docMk/>
          <pc:sldMk cId="418068613" sldId="280"/>
        </pc:sldMkLst>
        <pc:picChg chg="mod">
          <ac:chgData name="sasikumartech@outlook.com" userId="296ae2378136960a" providerId="LiveId" clId="{CEE30952-B120-43FC-84D2-EB8EA9A34219}" dt="2023-05-28T06:20:52.983" v="98" actId="14100"/>
          <ac:picMkLst>
            <pc:docMk/>
            <pc:sldMk cId="418068613" sldId="280"/>
            <ac:picMk id="4" creationId="{00000000-0000-0000-0000-000000000000}"/>
          </ac:picMkLst>
        </pc:picChg>
      </pc:sldChg>
      <pc:sldChg chg="modSp">
        <pc:chgData name="sasikumartech@outlook.com" userId="296ae2378136960a" providerId="LiveId" clId="{CEE30952-B120-43FC-84D2-EB8EA9A34219}" dt="2023-05-15T06:24:06.678" v="74" actId="14100"/>
        <pc:sldMkLst>
          <pc:docMk/>
          <pc:sldMk cId="2188119547" sldId="284"/>
        </pc:sldMkLst>
        <pc:picChg chg="mod">
          <ac:chgData name="sasikumartech@outlook.com" userId="296ae2378136960a" providerId="LiveId" clId="{CEE30952-B120-43FC-84D2-EB8EA9A34219}" dt="2023-05-15T06:24:06.678" v="74" actId="14100"/>
          <ac:picMkLst>
            <pc:docMk/>
            <pc:sldMk cId="2188119547" sldId="284"/>
            <ac:picMk id="4" creationId="{00000000-0000-0000-0000-000000000000}"/>
          </ac:picMkLst>
        </pc:picChg>
      </pc:sldChg>
      <pc:sldChg chg="modSp mod">
        <pc:chgData name="sasikumartech@outlook.com" userId="296ae2378136960a" providerId="LiveId" clId="{CEE30952-B120-43FC-84D2-EB8EA9A34219}" dt="2023-05-27T04:47:01.439" v="93" actId="20577"/>
        <pc:sldMkLst>
          <pc:docMk/>
          <pc:sldMk cId="1584976156" sldId="366"/>
        </pc:sldMkLst>
        <pc:spChg chg="mod">
          <ac:chgData name="sasikumartech@outlook.com" userId="296ae2378136960a" providerId="LiveId" clId="{CEE30952-B120-43FC-84D2-EB8EA9A34219}" dt="2023-05-27T04:47:01.439" v="93" actId="20577"/>
          <ac:spMkLst>
            <pc:docMk/>
            <pc:sldMk cId="1584976156" sldId="366"/>
            <ac:spMk id="3" creationId="{CBCFE72B-9CE7-E3FB-4AD4-6A933B5B610C}"/>
          </ac:spMkLst>
        </pc:spChg>
      </pc:sldChg>
      <pc:sldChg chg="modSp mod">
        <pc:chgData name="sasikumartech@outlook.com" userId="296ae2378136960a" providerId="LiveId" clId="{CEE30952-B120-43FC-84D2-EB8EA9A34219}" dt="2023-06-05T07:00:17.751" v="141" actId="20577"/>
        <pc:sldMkLst>
          <pc:docMk/>
          <pc:sldMk cId="400427381" sldId="391"/>
        </pc:sldMkLst>
        <pc:spChg chg="mod">
          <ac:chgData name="sasikumartech@outlook.com" userId="296ae2378136960a" providerId="LiveId" clId="{CEE30952-B120-43FC-84D2-EB8EA9A34219}" dt="2023-06-05T07:00:17.751" v="141" actId="20577"/>
          <ac:spMkLst>
            <pc:docMk/>
            <pc:sldMk cId="400427381" sldId="391"/>
            <ac:spMk id="3" creationId="{A072335D-48BD-CC52-3AC8-33A1C4BD0FA5}"/>
          </ac:spMkLst>
        </pc:spChg>
      </pc:sldChg>
      <pc:sldChg chg="modSp mod">
        <pc:chgData name="sasikumartech@outlook.com" userId="296ae2378136960a" providerId="LiveId" clId="{CEE30952-B120-43FC-84D2-EB8EA9A34219}" dt="2023-06-05T07:17:40.604" v="147" actId="20577"/>
        <pc:sldMkLst>
          <pc:docMk/>
          <pc:sldMk cId="27441167" sldId="392"/>
        </pc:sldMkLst>
        <pc:spChg chg="mod">
          <ac:chgData name="sasikumartech@outlook.com" userId="296ae2378136960a" providerId="LiveId" clId="{CEE30952-B120-43FC-84D2-EB8EA9A34219}" dt="2023-06-05T07:17:40.604" v="147" actId="20577"/>
          <ac:spMkLst>
            <pc:docMk/>
            <pc:sldMk cId="27441167" sldId="392"/>
            <ac:spMk id="3" creationId="{B803CC0E-A01E-79DC-F14B-D458EF111A45}"/>
          </ac:spMkLst>
        </pc:spChg>
      </pc:sldChg>
      <pc:sldChg chg="modSp mod">
        <pc:chgData name="sasikumartech@outlook.com" userId="296ae2378136960a" providerId="LiveId" clId="{CEE30952-B120-43FC-84D2-EB8EA9A34219}" dt="2023-05-13T06:38:20.774" v="69" actId="6549"/>
        <pc:sldMkLst>
          <pc:docMk/>
          <pc:sldMk cId="154225593" sldId="421"/>
        </pc:sldMkLst>
        <pc:spChg chg="mod">
          <ac:chgData name="sasikumartech@outlook.com" userId="296ae2378136960a" providerId="LiveId" clId="{CEE30952-B120-43FC-84D2-EB8EA9A34219}" dt="2023-05-13T06:38:20.774" v="69" actId="6549"/>
          <ac:spMkLst>
            <pc:docMk/>
            <pc:sldMk cId="154225593" sldId="421"/>
            <ac:spMk id="3" creationId="{EB59CC34-9DEC-5AA6-067F-7FF57589C3B2}"/>
          </ac:spMkLst>
        </pc:spChg>
      </pc:sldChg>
      <pc:sldChg chg="addSp modSp mod">
        <pc:chgData name="sasikumartech@outlook.com" userId="296ae2378136960a" providerId="LiveId" clId="{CEE30952-B120-43FC-84D2-EB8EA9A34219}" dt="2023-04-28T10:28:31.508" v="65" actId="208"/>
        <pc:sldMkLst>
          <pc:docMk/>
          <pc:sldMk cId="4247404118" sldId="447"/>
        </pc:sldMkLst>
        <pc:spChg chg="add mod">
          <ac:chgData name="sasikumartech@outlook.com" userId="296ae2378136960a" providerId="LiveId" clId="{CEE30952-B120-43FC-84D2-EB8EA9A34219}" dt="2023-04-28T10:28:31.508" v="65" actId="208"/>
          <ac:spMkLst>
            <pc:docMk/>
            <pc:sldMk cId="4247404118" sldId="447"/>
            <ac:spMk id="2" creationId="{877AD775-C211-975F-C019-81E0B6C9B6CB}"/>
          </ac:spMkLst>
        </pc:spChg>
      </pc:sldChg>
      <pc:sldChg chg="modSp mod">
        <pc:chgData name="sasikumartech@outlook.com" userId="296ae2378136960a" providerId="LiveId" clId="{CEE30952-B120-43FC-84D2-EB8EA9A34219}" dt="2023-06-11T06:40:16.083" v="148" actId="1035"/>
        <pc:sldMkLst>
          <pc:docMk/>
          <pc:sldMk cId="1057149294" sldId="526"/>
        </pc:sldMkLst>
        <pc:spChg chg="mod">
          <ac:chgData name="sasikumartech@outlook.com" userId="296ae2378136960a" providerId="LiveId" clId="{CEE30952-B120-43FC-84D2-EB8EA9A34219}" dt="2023-06-11T06:40:16.083" v="148" actId="1035"/>
          <ac:spMkLst>
            <pc:docMk/>
            <pc:sldMk cId="1057149294" sldId="526"/>
            <ac:spMk id="3" creationId="{D0BB7EA0-8999-0695-B82C-570E1F3E79D8}"/>
          </ac:spMkLst>
        </pc:spChg>
      </pc:sldChg>
      <pc:sldChg chg="modSp mod">
        <pc:chgData name="sasikumartech@outlook.com" userId="296ae2378136960a" providerId="LiveId" clId="{CEE30952-B120-43FC-84D2-EB8EA9A34219}" dt="2023-05-14T07:12:38.260" v="70" actId="20577"/>
        <pc:sldMkLst>
          <pc:docMk/>
          <pc:sldMk cId="3338526284" sldId="550"/>
        </pc:sldMkLst>
        <pc:spChg chg="mod">
          <ac:chgData name="sasikumartech@outlook.com" userId="296ae2378136960a" providerId="LiveId" clId="{CEE30952-B120-43FC-84D2-EB8EA9A34219}" dt="2023-05-14T07:12:38.260" v="70" actId="20577"/>
          <ac:spMkLst>
            <pc:docMk/>
            <pc:sldMk cId="3338526284" sldId="550"/>
            <ac:spMk id="3" creationId="{B4124DA7-42D0-4354-EAA8-A8CDCED83BC4}"/>
          </ac:spMkLst>
        </pc:spChg>
      </pc:sldChg>
      <pc:sldChg chg="delSp modSp new mod">
        <pc:chgData name="sasikumartech@outlook.com" userId="296ae2378136960a" providerId="LiveId" clId="{CEE30952-B120-43FC-84D2-EB8EA9A34219}" dt="2023-04-28T10:19:18.224" v="11" actId="27636"/>
        <pc:sldMkLst>
          <pc:docMk/>
          <pc:sldMk cId="2603698591" sldId="592"/>
        </pc:sldMkLst>
        <pc:spChg chg="del mod">
          <ac:chgData name="sasikumartech@outlook.com" userId="296ae2378136960a" providerId="LiveId" clId="{CEE30952-B120-43FC-84D2-EB8EA9A34219}" dt="2023-04-28T10:18:43.700" v="3" actId="478"/>
          <ac:spMkLst>
            <pc:docMk/>
            <pc:sldMk cId="2603698591" sldId="592"/>
            <ac:spMk id="2" creationId="{A43801F9-707A-ED09-85AE-61E081FB2B31}"/>
          </ac:spMkLst>
        </pc:spChg>
        <pc:spChg chg="mod">
          <ac:chgData name="sasikumartech@outlook.com" userId="296ae2378136960a" providerId="LiveId" clId="{CEE30952-B120-43FC-84D2-EB8EA9A34219}" dt="2023-04-28T10:19:18.224" v="11" actId="27636"/>
          <ac:spMkLst>
            <pc:docMk/>
            <pc:sldMk cId="2603698591" sldId="592"/>
            <ac:spMk id="3" creationId="{4F64B850-F8BF-5AF2-F4DF-0E9DCDECB60B}"/>
          </ac:spMkLst>
        </pc:spChg>
      </pc:sldChg>
      <pc:sldChg chg="delSp modSp new mod">
        <pc:chgData name="sasikumartech@outlook.com" userId="296ae2378136960a" providerId="LiveId" clId="{CEE30952-B120-43FC-84D2-EB8EA9A34219}" dt="2023-04-28T10:19:33.631" v="19" actId="27636"/>
        <pc:sldMkLst>
          <pc:docMk/>
          <pc:sldMk cId="477144877" sldId="593"/>
        </pc:sldMkLst>
        <pc:spChg chg="del mod">
          <ac:chgData name="sasikumartech@outlook.com" userId="296ae2378136960a" providerId="LiveId" clId="{CEE30952-B120-43FC-84D2-EB8EA9A34219}" dt="2023-04-28T10:19:28.295" v="16" actId="478"/>
          <ac:spMkLst>
            <pc:docMk/>
            <pc:sldMk cId="477144877" sldId="593"/>
            <ac:spMk id="2" creationId="{94DD8216-A649-2FC5-8A13-EA1506ABB39F}"/>
          </ac:spMkLst>
        </pc:spChg>
        <pc:spChg chg="mod">
          <ac:chgData name="sasikumartech@outlook.com" userId="296ae2378136960a" providerId="LiveId" clId="{CEE30952-B120-43FC-84D2-EB8EA9A34219}" dt="2023-04-28T10:19:33.631" v="19" actId="27636"/>
          <ac:spMkLst>
            <pc:docMk/>
            <pc:sldMk cId="477144877" sldId="593"/>
            <ac:spMk id="3" creationId="{6DB182E7-FE60-BCA2-8B3C-7C789A0BD8F3}"/>
          </ac:spMkLst>
        </pc:spChg>
      </pc:sldChg>
      <pc:sldChg chg="delSp modSp new del mod">
        <pc:chgData name="sasikumartech@outlook.com" userId="296ae2378136960a" providerId="LiveId" clId="{CEE30952-B120-43FC-84D2-EB8EA9A34219}" dt="2023-04-28T10:21:11.649" v="29" actId="47"/>
        <pc:sldMkLst>
          <pc:docMk/>
          <pc:sldMk cId="2393930343" sldId="594"/>
        </pc:sldMkLst>
        <pc:spChg chg="del mod">
          <ac:chgData name="sasikumartech@outlook.com" userId="296ae2378136960a" providerId="LiveId" clId="{CEE30952-B120-43FC-84D2-EB8EA9A34219}" dt="2023-04-28T10:20:04.247" v="23" actId="478"/>
          <ac:spMkLst>
            <pc:docMk/>
            <pc:sldMk cId="2393930343" sldId="594"/>
            <ac:spMk id="2" creationId="{68EE02BA-7E75-6DFB-6319-F041363C339A}"/>
          </ac:spMkLst>
        </pc:spChg>
        <pc:spChg chg="mod">
          <ac:chgData name="sasikumartech@outlook.com" userId="296ae2378136960a" providerId="LiveId" clId="{CEE30952-B120-43FC-84D2-EB8EA9A34219}" dt="2023-04-28T10:20:49.994" v="28" actId="255"/>
          <ac:spMkLst>
            <pc:docMk/>
            <pc:sldMk cId="2393930343" sldId="594"/>
            <ac:spMk id="3" creationId="{0B512C1E-5A3E-B4C7-8B53-B5BB68E250D1}"/>
          </ac:spMkLst>
        </pc:spChg>
      </pc:sldChg>
      <pc:sldChg chg="delSp modSp new del mod">
        <pc:chgData name="sasikumartech@outlook.com" userId="296ae2378136960a" providerId="LiveId" clId="{CEE30952-B120-43FC-84D2-EB8EA9A34219}" dt="2023-04-28T10:21:29.578" v="36" actId="47"/>
        <pc:sldMkLst>
          <pc:docMk/>
          <pc:sldMk cId="3143151956" sldId="594"/>
        </pc:sldMkLst>
        <pc:spChg chg="del mod">
          <ac:chgData name="sasikumartech@outlook.com" userId="296ae2378136960a" providerId="LiveId" clId="{CEE30952-B120-43FC-84D2-EB8EA9A34219}" dt="2023-04-28T10:21:19.457" v="32" actId="478"/>
          <ac:spMkLst>
            <pc:docMk/>
            <pc:sldMk cId="3143151956" sldId="594"/>
            <ac:spMk id="2" creationId="{920279AC-73D2-0988-9997-60E2CC3ACCD9}"/>
          </ac:spMkLst>
        </pc:spChg>
        <pc:spChg chg="mod">
          <ac:chgData name="sasikumartech@outlook.com" userId="296ae2378136960a" providerId="LiveId" clId="{CEE30952-B120-43FC-84D2-EB8EA9A34219}" dt="2023-04-28T10:21:23.935" v="34" actId="14100"/>
          <ac:spMkLst>
            <pc:docMk/>
            <pc:sldMk cId="3143151956" sldId="594"/>
            <ac:spMk id="3" creationId="{AD8CCEAB-3D40-3EEC-6821-43E1FE3940AE}"/>
          </ac:spMkLst>
        </pc:spChg>
      </pc:sldChg>
      <pc:sldChg chg="add">
        <pc:chgData name="sasikumartech@outlook.com" userId="296ae2378136960a" providerId="LiveId" clId="{CEE30952-B120-43FC-84D2-EB8EA9A34219}" dt="2023-04-28T10:21:25.942" v="35"/>
        <pc:sldMkLst>
          <pc:docMk/>
          <pc:sldMk cId="1983594679" sldId="595"/>
        </pc:sldMkLst>
      </pc:sldChg>
      <pc:sldChg chg="delSp modSp new mod">
        <pc:chgData name="sasikumartech@outlook.com" userId="296ae2378136960a" providerId="LiveId" clId="{CEE30952-B120-43FC-84D2-EB8EA9A34219}" dt="2023-04-28T10:22:50.859" v="57" actId="255"/>
        <pc:sldMkLst>
          <pc:docMk/>
          <pc:sldMk cId="2117365981" sldId="596"/>
        </pc:sldMkLst>
        <pc:spChg chg="del mod">
          <ac:chgData name="sasikumartech@outlook.com" userId="296ae2378136960a" providerId="LiveId" clId="{CEE30952-B120-43FC-84D2-EB8EA9A34219}" dt="2023-04-28T10:21:38.020" v="39" actId="478"/>
          <ac:spMkLst>
            <pc:docMk/>
            <pc:sldMk cId="2117365981" sldId="596"/>
            <ac:spMk id="2" creationId="{FDE04B35-F169-CE9E-07C8-326D3F10BADC}"/>
          </ac:spMkLst>
        </pc:spChg>
        <pc:spChg chg="mod">
          <ac:chgData name="sasikumartech@outlook.com" userId="296ae2378136960a" providerId="LiveId" clId="{CEE30952-B120-43FC-84D2-EB8EA9A34219}" dt="2023-04-28T10:22:50.859" v="57" actId="255"/>
          <ac:spMkLst>
            <pc:docMk/>
            <pc:sldMk cId="2117365981" sldId="596"/>
            <ac:spMk id="3" creationId="{49BE4E4A-6347-B577-DB7A-4E52D4B75E75}"/>
          </ac:spMkLst>
        </pc:spChg>
      </pc:sldChg>
      <pc:sldChg chg="delSp modSp new mod">
        <pc:chgData name="sasikumartech@outlook.com" userId="296ae2378136960a" providerId="LiveId" clId="{CEE30952-B120-43FC-84D2-EB8EA9A34219}" dt="2023-04-28T10:23:05.088" v="58" actId="2711"/>
        <pc:sldMkLst>
          <pc:docMk/>
          <pc:sldMk cId="1678339402" sldId="597"/>
        </pc:sldMkLst>
        <pc:spChg chg="del mod">
          <ac:chgData name="sasikumartech@outlook.com" userId="296ae2378136960a" providerId="LiveId" clId="{CEE30952-B120-43FC-84D2-EB8EA9A34219}" dt="2023-04-28T10:22:25.061" v="52" actId="478"/>
          <ac:spMkLst>
            <pc:docMk/>
            <pc:sldMk cId="1678339402" sldId="597"/>
            <ac:spMk id="2" creationId="{4A964FA5-CFF6-8DE6-AAC0-8C60AFE64AEF}"/>
          </ac:spMkLst>
        </pc:spChg>
        <pc:spChg chg="mod">
          <ac:chgData name="sasikumartech@outlook.com" userId="296ae2378136960a" providerId="LiveId" clId="{CEE30952-B120-43FC-84D2-EB8EA9A34219}" dt="2023-04-28T10:23:05.088" v="58" actId="2711"/>
          <ac:spMkLst>
            <pc:docMk/>
            <pc:sldMk cId="1678339402" sldId="597"/>
            <ac:spMk id="3" creationId="{7CC7E449-37A0-E666-1E64-729F9DE22746}"/>
          </ac:spMkLst>
        </pc:spChg>
      </pc:sldChg>
      <pc:sldChg chg="modSp new del mod">
        <pc:chgData name="sasikumartech@outlook.com" userId="296ae2378136960a" providerId="LiveId" clId="{CEE30952-B120-43FC-84D2-EB8EA9A34219}" dt="2023-06-05T04:37:55.956" v="102" actId="680"/>
        <pc:sldMkLst>
          <pc:docMk/>
          <pc:sldMk cId="2036351869" sldId="598"/>
        </pc:sldMkLst>
        <pc:spChg chg="mod">
          <ac:chgData name="sasikumartech@outlook.com" userId="296ae2378136960a" providerId="LiveId" clId="{CEE30952-B120-43FC-84D2-EB8EA9A34219}" dt="2023-06-05T04:37:55.437" v="101" actId="14100"/>
          <ac:spMkLst>
            <pc:docMk/>
            <pc:sldMk cId="2036351869" sldId="598"/>
            <ac:spMk id="2" creationId="{3767A327-6D42-E9B3-73C9-2CFF407D16FD}"/>
          </ac:spMkLst>
        </pc:spChg>
      </pc:sldChg>
      <pc:sldChg chg="delSp modSp new mod">
        <pc:chgData name="sasikumartech@outlook.com" userId="296ae2378136960a" providerId="LiveId" clId="{CEE30952-B120-43FC-84D2-EB8EA9A34219}" dt="2023-06-05T06:00:09.912" v="135" actId="20578"/>
        <pc:sldMkLst>
          <pc:docMk/>
          <pc:sldMk cId="2059578228" sldId="598"/>
        </pc:sldMkLst>
        <pc:spChg chg="del mod">
          <ac:chgData name="sasikumartech@outlook.com" userId="296ae2378136960a" providerId="LiveId" clId="{CEE30952-B120-43FC-84D2-EB8EA9A34219}" dt="2023-06-05T04:38:26.758" v="105" actId="478"/>
          <ac:spMkLst>
            <pc:docMk/>
            <pc:sldMk cId="2059578228" sldId="598"/>
            <ac:spMk id="2" creationId="{4F5770B7-E149-BDDC-FF8E-BAF61C6BE56A}"/>
          </ac:spMkLst>
        </pc:spChg>
        <pc:spChg chg="mod">
          <ac:chgData name="sasikumartech@outlook.com" userId="296ae2378136960a" providerId="LiveId" clId="{CEE30952-B120-43FC-84D2-EB8EA9A34219}" dt="2023-06-05T06:00:09.912" v="135" actId="20578"/>
          <ac:spMkLst>
            <pc:docMk/>
            <pc:sldMk cId="2059578228" sldId="598"/>
            <ac:spMk id="3" creationId="{7D62ED38-49F2-8E26-D582-6DF29A411B5E}"/>
          </ac:spMkLst>
        </pc:spChg>
      </pc:sldChg>
      <pc:sldChg chg="new del">
        <pc:chgData name="sasikumartech@outlook.com" userId="296ae2378136960a" providerId="LiveId" clId="{CEE30952-B120-43FC-84D2-EB8EA9A34219}" dt="2023-05-27T06:20:50.556" v="95" actId="47"/>
        <pc:sldMkLst>
          <pc:docMk/>
          <pc:sldMk cId="2332471326" sldId="598"/>
        </pc:sldMkLst>
      </pc:sldChg>
    </pc:docChg>
  </pc:docChgLst>
  <pc:docChgLst>
    <pc:chgData name="Sasikumar Janarthanan" userId="296ae2378136960a" providerId="LiveId" clId="{CEE30952-B120-43FC-84D2-EB8EA9A34219}"/>
    <pc:docChg chg="undo custSel addSld delSld modSld">
      <pc:chgData name="Sasikumar Janarthanan" userId="296ae2378136960a" providerId="LiveId" clId="{CEE30952-B120-43FC-84D2-EB8EA9A34219}" dt="2023-07-23T04:15:40.368" v="854" actId="20577"/>
      <pc:docMkLst>
        <pc:docMk/>
      </pc:docMkLst>
      <pc:sldChg chg="del">
        <pc:chgData name="Sasikumar Janarthanan" userId="296ae2378136960a" providerId="LiveId" clId="{CEE30952-B120-43FC-84D2-EB8EA9A34219}" dt="2023-07-22T04:05:44.030" v="654" actId="47"/>
        <pc:sldMkLst>
          <pc:docMk/>
          <pc:sldMk cId="2567287113" sldId="270"/>
        </pc:sldMkLst>
      </pc:sldChg>
      <pc:sldChg chg="modSp">
        <pc:chgData name="Sasikumar Janarthanan" userId="296ae2378136960a" providerId="LiveId" clId="{CEE30952-B120-43FC-84D2-EB8EA9A34219}" dt="2023-07-09T07:22:08.844" v="339" actId="14100"/>
        <pc:sldMkLst>
          <pc:docMk/>
          <pc:sldMk cId="418068613" sldId="280"/>
        </pc:sldMkLst>
        <pc:picChg chg="mod">
          <ac:chgData name="Sasikumar Janarthanan" userId="296ae2378136960a" providerId="LiveId" clId="{CEE30952-B120-43FC-84D2-EB8EA9A34219}" dt="2023-07-09T07:22:08.844" v="339" actId="14100"/>
          <ac:picMkLst>
            <pc:docMk/>
            <pc:sldMk cId="418068613" sldId="280"/>
            <ac:picMk id="4" creationId="{00000000-0000-0000-0000-000000000000}"/>
          </ac:picMkLst>
        </pc:picChg>
      </pc:sldChg>
      <pc:sldChg chg="modSp mod">
        <pc:chgData name="Sasikumar Janarthanan" userId="296ae2378136960a" providerId="LiveId" clId="{CEE30952-B120-43FC-84D2-EB8EA9A34219}" dt="2023-06-20T07:40:27.666" v="1" actId="20577"/>
        <pc:sldMkLst>
          <pc:docMk/>
          <pc:sldMk cId="4159216058" sldId="298"/>
        </pc:sldMkLst>
        <pc:spChg chg="mod">
          <ac:chgData name="Sasikumar Janarthanan" userId="296ae2378136960a" providerId="LiveId" clId="{CEE30952-B120-43FC-84D2-EB8EA9A34219}" dt="2023-06-20T07:40:27.666" v="1" actId="20577"/>
          <ac:spMkLst>
            <pc:docMk/>
            <pc:sldMk cId="4159216058" sldId="298"/>
            <ac:spMk id="3" creationId="{00000000-0000-0000-0000-000000000000}"/>
          </ac:spMkLst>
        </pc:spChg>
      </pc:sldChg>
      <pc:sldChg chg="modSp mod">
        <pc:chgData name="Sasikumar Janarthanan" userId="296ae2378136960a" providerId="LiveId" clId="{CEE30952-B120-43FC-84D2-EB8EA9A34219}" dt="2023-07-04T11:47:26.975" v="337" actId="1076"/>
        <pc:sldMkLst>
          <pc:docMk/>
          <pc:sldMk cId="4247404118" sldId="447"/>
        </pc:sldMkLst>
        <pc:picChg chg="mod">
          <ac:chgData name="Sasikumar Janarthanan" userId="296ae2378136960a" providerId="LiveId" clId="{CEE30952-B120-43FC-84D2-EB8EA9A34219}" dt="2023-07-04T11:47:26.975" v="337" actId="1076"/>
          <ac:picMkLst>
            <pc:docMk/>
            <pc:sldMk cId="4247404118" sldId="447"/>
            <ac:picMk id="5" creationId="{C275BC1E-F304-BAA9-09F0-8864018FCAEA}"/>
          </ac:picMkLst>
        </pc:picChg>
      </pc:sldChg>
      <pc:sldChg chg="modSp mod">
        <pc:chgData name="Sasikumar Janarthanan" userId="296ae2378136960a" providerId="LiveId" clId="{CEE30952-B120-43FC-84D2-EB8EA9A34219}" dt="2023-07-11T05:44:06.024" v="340" actId="1076"/>
        <pc:sldMkLst>
          <pc:docMk/>
          <pc:sldMk cId="2886015147" sldId="488"/>
        </pc:sldMkLst>
        <pc:spChg chg="mod">
          <ac:chgData name="Sasikumar Janarthanan" userId="296ae2378136960a" providerId="LiveId" clId="{CEE30952-B120-43FC-84D2-EB8EA9A34219}" dt="2023-07-11T05:44:06.024" v="340" actId="1076"/>
          <ac:spMkLst>
            <pc:docMk/>
            <pc:sldMk cId="2886015147" sldId="488"/>
            <ac:spMk id="3" creationId="{18CBC816-28C9-9899-AC11-BB5224A65C2C}"/>
          </ac:spMkLst>
        </pc:spChg>
      </pc:sldChg>
      <pc:sldChg chg="modSp mod">
        <pc:chgData name="Sasikumar Janarthanan" userId="296ae2378136960a" providerId="LiveId" clId="{CEE30952-B120-43FC-84D2-EB8EA9A34219}" dt="2023-07-22T03:41:44.120" v="486" actId="1076"/>
        <pc:sldMkLst>
          <pc:docMk/>
          <pc:sldMk cId="523465123" sldId="504"/>
        </pc:sldMkLst>
        <pc:spChg chg="mod">
          <ac:chgData name="Sasikumar Janarthanan" userId="296ae2378136960a" providerId="LiveId" clId="{CEE30952-B120-43FC-84D2-EB8EA9A34219}" dt="2023-07-22T03:41:36.337" v="485" actId="255"/>
          <ac:spMkLst>
            <pc:docMk/>
            <pc:sldMk cId="523465123" sldId="504"/>
            <ac:spMk id="3" creationId="{959AF324-4174-524C-FD46-CA991BB63CD6}"/>
          </ac:spMkLst>
        </pc:spChg>
        <pc:picChg chg="mod">
          <ac:chgData name="Sasikumar Janarthanan" userId="296ae2378136960a" providerId="LiveId" clId="{CEE30952-B120-43FC-84D2-EB8EA9A34219}" dt="2023-07-22T03:41:44.120" v="486" actId="1076"/>
          <ac:picMkLst>
            <pc:docMk/>
            <pc:sldMk cId="523465123" sldId="504"/>
            <ac:picMk id="5" creationId="{53E7EA77-1765-7854-F892-2A226D784E8C}"/>
          </ac:picMkLst>
        </pc:picChg>
      </pc:sldChg>
      <pc:sldChg chg="modSp mod">
        <pc:chgData name="Sasikumar Janarthanan" userId="296ae2378136960a" providerId="LiveId" clId="{CEE30952-B120-43FC-84D2-EB8EA9A34219}" dt="2023-07-22T03:42:48.421" v="496" actId="1076"/>
        <pc:sldMkLst>
          <pc:docMk/>
          <pc:sldMk cId="1071178933" sldId="505"/>
        </pc:sldMkLst>
        <pc:spChg chg="mod">
          <ac:chgData name="Sasikumar Janarthanan" userId="296ae2378136960a" providerId="LiveId" clId="{CEE30952-B120-43FC-84D2-EB8EA9A34219}" dt="2023-07-22T03:42:44.267" v="495" actId="255"/>
          <ac:spMkLst>
            <pc:docMk/>
            <pc:sldMk cId="1071178933" sldId="505"/>
            <ac:spMk id="3" creationId="{B6AD3E5A-3CA6-F25D-FAB1-21B9489A7A78}"/>
          </ac:spMkLst>
        </pc:spChg>
        <pc:picChg chg="mod">
          <ac:chgData name="Sasikumar Janarthanan" userId="296ae2378136960a" providerId="LiveId" clId="{CEE30952-B120-43FC-84D2-EB8EA9A34219}" dt="2023-07-22T03:42:48.421" v="496" actId="1076"/>
          <ac:picMkLst>
            <pc:docMk/>
            <pc:sldMk cId="1071178933" sldId="505"/>
            <ac:picMk id="5" creationId="{94CBF7A7-25DC-FF81-308B-487E171AD5F7}"/>
          </ac:picMkLst>
        </pc:picChg>
      </pc:sldChg>
      <pc:sldChg chg="modSp mod">
        <pc:chgData name="Sasikumar Janarthanan" userId="296ae2378136960a" providerId="LiveId" clId="{CEE30952-B120-43FC-84D2-EB8EA9A34219}" dt="2023-07-22T03:44:45.942" v="517" actId="1076"/>
        <pc:sldMkLst>
          <pc:docMk/>
          <pc:sldMk cId="1497360601" sldId="506"/>
        </pc:sldMkLst>
        <pc:spChg chg="mod">
          <ac:chgData name="Sasikumar Janarthanan" userId="296ae2378136960a" providerId="LiveId" clId="{CEE30952-B120-43FC-84D2-EB8EA9A34219}" dt="2023-07-22T03:44:43.059" v="516" actId="255"/>
          <ac:spMkLst>
            <pc:docMk/>
            <pc:sldMk cId="1497360601" sldId="506"/>
            <ac:spMk id="3" creationId="{539D79EB-DB4B-3396-06C3-0A15C5C49657}"/>
          </ac:spMkLst>
        </pc:spChg>
        <pc:picChg chg="mod">
          <ac:chgData name="Sasikumar Janarthanan" userId="296ae2378136960a" providerId="LiveId" clId="{CEE30952-B120-43FC-84D2-EB8EA9A34219}" dt="2023-07-22T03:43:12.971" v="497" actId="1076"/>
          <ac:picMkLst>
            <pc:docMk/>
            <pc:sldMk cId="1497360601" sldId="506"/>
            <ac:picMk id="5" creationId="{0B1414F2-9434-1C37-6909-34F8155D546D}"/>
          </ac:picMkLst>
        </pc:picChg>
        <pc:picChg chg="mod">
          <ac:chgData name="Sasikumar Janarthanan" userId="296ae2378136960a" providerId="LiveId" clId="{CEE30952-B120-43FC-84D2-EB8EA9A34219}" dt="2023-07-22T03:44:45.942" v="517" actId="1076"/>
          <ac:picMkLst>
            <pc:docMk/>
            <pc:sldMk cId="1497360601" sldId="506"/>
            <ac:picMk id="7" creationId="{6744BC41-0EF8-23C5-577C-C8F855B317F3}"/>
          </ac:picMkLst>
        </pc:picChg>
      </pc:sldChg>
      <pc:sldChg chg="modSp mod">
        <pc:chgData name="Sasikumar Janarthanan" userId="296ae2378136960a" providerId="LiveId" clId="{CEE30952-B120-43FC-84D2-EB8EA9A34219}" dt="2023-07-22T03:48:09.261" v="614" actId="1076"/>
        <pc:sldMkLst>
          <pc:docMk/>
          <pc:sldMk cId="3018359407" sldId="507"/>
        </pc:sldMkLst>
        <pc:spChg chg="mod">
          <ac:chgData name="Sasikumar Janarthanan" userId="296ae2378136960a" providerId="LiveId" clId="{CEE30952-B120-43FC-84D2-EB8EA9A34219}" dt="2023-07-22T03:48:04.605" v="613" actId="255"/>
          <ac:spMkLst>
            <pc:docMk/>
            <pc:sldMk cId="3018359407" sldId="507"/>
            <ac:spMk id="3" creationId="{E51D2939-7D01-C9E1-4E0B-BD50D2C6C5C7}"/>
          </ac:spMkLst>
        </pc:spChg>
        <pc:picChg chg="mod">
          <ac:chgData name="Sasikumar Janarthanan" userId="296ae2378136960a" providerId="LiveId" clId="{CEE30952-B120-43FC-84D2-EB8EA9A34219}" dt="2023-07-22T03:48:09.261" v="614" actId="1076"/>
          <ac:picMkLst>
            <pc:docMk/>
            <pc:sldMk cId="3018359407" sldId="507"/>
            <ac:picMk id="7" creationId="{8E75E494-5EA6-A81C-65E1-F43FE6A6E487}"/>
          </ac:picMkLst>
        </pc:picChg>
      </pc:sldChg>
      <pc:sldChg chg="modSp mod">
        <pc:chgData name="Sasikumar Janarthanan" userId="296ae2378136960a" providerId="LiveId" clId="{CEE30952-B120-43FC-84D2-EB8EA9A34219}" dt="2023-07-22T03:49:12.159" v="622" actId="20577"/>
        <pc:sldMkLst>
          <pc:docMk/>
          <pc:sldMk cId="605542677" sldId="508"/>
        </pc:sldMkLst>
        <pc:spChg chg="mod">
          <ac:chgData name="Sasikumar Janarthanan" userId="296ae2378136960a" providerId="LiveId" clId="{CEE30952-B120-43FC-84D2-EB8EA9A34219}" dt="2023-07-22T03:49:12.159" v="622" actId="20577"/>
          <ac:spMkLst>
            <pc:docMk/>
            <pc:sldMk cId="605542677" sldId="508"/>
            <ac:spMk id="3" creationId="{A0DF095A-E4C0-90AF-BC17-B51CA4C7B65C}"/>
          </ac:spMkLst>
        </pc:spChg>
        <pc:picChg chg="mod">
          <ac:chgData name="Sasikumar Janarthanan" userId="296ae2378136960a" providerId="LiveId" clId="{CEE30952-B120-43FC-84D2-EB8EA9A34219}" dt="2023-07-22T03:48:39.053" v="618" actId="1076"/>
          <ac:picMkLst>
            <pc:docMk/>
            <pc:sldMk cId="605542677" sldId="508"/>
            <ac:picMk id="5" creationId="{D90F173E-0592-27AC-A358-CC61FC5DD691}"/>
          </ac:picMkLst>
        </pc:picChg>
      </pc:sldChg>
      <pc:sldChg chg="modSp mod">
        <pc:chgData name="Sasikumar Janarthanan" userId="296ae2378136960a" providerId="LiveId" clId="{CEE30952-B120-43FC-84D2-EB8EA9A34219}" dt="2023-07-22T03:50:54.225" v="629" actId="1076"/>
        <pc:sldMkLst>
          <pc:docMk/>
          <pc:sldMk cId="918776531" sldId="509"/>
        </pc:sldMkLst>
        <pc:spChg chg="mod">
          <ac:chgData name="Sasikumar Janarthanan" userId="296ae2378136960a" providerId="LiveId" clId="{CEE30952-B120-43FC-84D2-EB8EA9A34219}" dt="2023-07-22T03:50:49.323" v="628" actId="255"/>
          <ac:spMkLst>
            <pc:docMk/>
            <pc:sldMk cId="918776531" sldId="509"/>
            <ac:spMk id="3" creationId="{6A133B87-D413-A8B5-2229-E3583714204E}"/>
          </ac:spMkLst>
        </pc:spChg>
        <pc:picChg chg="mod">
          <ac:chgData name="Sasikumar Janarthanan" userId="296ae2378136960a" providerId="LiveId" clId="{CEE30952-B120-43FC-84D2-EB8EA9A34219}" dt="2023-07-22T03:50:54.225" v="629" actId="1076"/>
          <ac:picMkLst>
            <pc:docMk/>
            <pc:sldMk cId="918776531" sldId="509"/>
            <ac:picMk id="5" creationId="{EE2362A9-945D-E8C7-C9FD-98687F864EBD}"/>
          </ac:picMkLst>
        </pc:picChg>
      </pc:sldChg>
      <pc:sldChg chg="modSp mod">
        <pc:chgData name="Sasikumar Janarthanan" userId="296ae2378136960a" providerId="LiveId" clId="{CEE30952-B120-43FC-84D2-EB8EA9A34219}" dt="2023-07-22T03:52:14.715" v="639" actId="5793"/>
        <pc:sldMkLst>
          <pc:docMk/>
          <pc:sldMk cId="3387414984" sldId="510"/>
        </pc:sldMkLst>
        <pc:spChg chg="mod">
          <ac:chgData name="Sasikumar Janarthanan" userId="296ae2378136960a" providerId="LiveId" clId="{CEE30952-B120-43FC-84D2-EB8EA9A34219}" dt="2023-07-22T03:52:14.715" v="639" actId="5793"/>
          <ac:spMkLst>
            <pc:docMk/>
            <pc:sldMk cId="3387414984" sldId="510"/>
            <ac:spMk id="3" creationId="{B90F2758-E38A-91DE-7CAE-94C20B382E94}"/>
          </ac:spMkLst>
        </pc:spChg>
        <pc:picChg chg="mod">
          <ac:chgData name="Sasikumar Janarthanan" userId="296ae2378136960a" providerId="LiveId" clId="{CEE30952-B120-43FC-84D2-EB8EA9A34219}" dt="2023-07-22T03:51:54.136" v="634" actId="1076"/>
          <ac:picMkLst>
            <pc:docMk/>
            <pc:sldMk cId="3387414984" sldId="510"/>
            <ac:picMk id="5" creationId="{06C88B1F-7A20-AC89-F56E-F3B464040D5A}"/>
          </ac:picMkLst>
        </pc:picChg>
      </pc:sldChg>
      <pc:sldChg chg="modSp mod">
        <pc:chgData name="Sasikumar Janarthanan" userId="296ae2378136960a" providerId="LiveId" clId="{CEE30952-B120-43FC-84D2-EB8EA9A34219}" dt="2023-07-22T04:19:13.099" v="661" actId="14100"/>
        <pc:sldMkLst>
          <pc:docMk/>
          <pc:sldMk cId="1050538740" sldId="511"/>
        </pc:sldMkLst>
        <pc:spChg chg="mod">
          <ac:chgData name="Sasikumar Janarthanan" userId="296ae2378136960a" providerId="LiveId" clId="{CEE30952-B120-43FC-84D2-EB8EA9A34219}" dt="2023-07-22T04:19:00.046" v="658" actId="255"/>
          <ac:spMkLst>
            <pc:docMk/>
            <pc:sldMk cId="1050538740" sldId="511"/>
            <ac:spMk id="3" creationId="{9953E459-C2FB-E340-956E-B792167D8D05}"/>
          </ac:spMkLst>
        </pc:spChg>
        <pc:picChg chg="mod">
          <ac:chgData name="Sasikumar Janarthanan" userId="296ae2378136960a" providerId="LiveId" clId="{CEE30952-B120-43FC-84D2-EB8EA9A34219}" dt="2023-07-22T04:19:13.099" v="661" actId="14100"/>
          <ac:picMkLst>
            <pc:docMk/>
            <pc:sldMk cId="1050538740" sldId="511"/>
            <ac:picMk id="5" creationId="{03E4A21A-0EA0-740C-A2AE-C034FB322B4B}"/>
          </ac:picMkLst>
        </pc:picChg>
      </pc:sldChg>
      <pc:sldChg chg="del">
        <pc:chgData name="Sasikumar Janarthanan" userId="296ae2378136960a" providerId="LiveId" clId="{CEE30952-B120-43FC-84D2-EB8EA9A34219}" dt="2023-07-22T04:05:41.925" v="653" actId="47"/>
        <pc:sldMkLst>
          <pc:docMk/>
          <pc:sldMk cId="3572745780" sldId="512"/>
        </pc:sldMkLst>
      </pc:sldChg>
      <pc:sldChg chg="modSp mod">
        <pc:chgData name="Sasikumar Janarthanan" userId="296ae2378136960a" providerId="LiveId" clId="{CEE30952-B120-43FC-84D2-EB8EA9A34219}" dt="2023-07-04T11:39:03.160" v="335" actId="20577"/>
        <pc:sldMkLst>
          <pc:docMk/>
          <pc:sldMk cId="4278955640" sldId="559"/>
        </pc:sldMkLst>
        <pc:spChg chg="mod">
          <ac:chgData name="Sasikumar Janarthanan" userId="296ae2378136960a" providerId="LiveId" clId="{CEE30952-B120-43FC-84D2-EB8EA9A34219}" dt="2023-07-04T11:39:03.160" v="335" actId="20577"/>
          <ac:spMkLst>
            <pc:docMk/>
            <pc:sldMk cId="4278955640" sldId="559"/>
            <ac:spMk id="3" creationId="{A5804161-F116-5868-183F-B26346B17ABA}"/>
          </ac:spMkLst>
        </pc:spChg>
      </pc:sldChg>
      <pc:sldChg chg="modSp mod">
        <pc:chgData name="Sasikumar Janarthanan" userId="296ae2378136960a" providerId="LiveId" clId="{CEE30952-B120-43FC-84D2-EB8EA9A34219}" dt="2023-07-02T10:08:29.297" v="330" actId="1076"/>
        <pc:sldMkLst>
          <pc:docMk/>
          <pc:sldMk cId="2266700820" sldId="577"/>
        </pc:sldMkLst>
        <pc:spChg chg="mod">
          <ac:chgData name="Sasikumar Janarthanan" userId="296ae2378136960a" providerId="LiveId" clId="{CEE30952-B120-43FC-84D2-EB8EA9A34219}" dt="2023-07-02T10:08:29.297" v="330" actId="1076"/>
          <ac:spMkLst>
            <pc:docMk/>
            <pc:sldMk cId="2266700820" sldId="577"/>
            <ac:spMk id="3" creationId="{81C39C75-B920-7C83-E0D0-FAA953A919B5}"/>
          </ac:spMkLst>
        </pc:spChg>
      </pc:sldChg>
      <pc:sldChg chg="delSp modSp new mod">
        <pc:chgData name="Sasikumar Janarthanan" userId="296ae2378136960a" providerId="LiveId" clId="{CEE30952-B120-43FC-84D2-EB8EA9A34219}" dt="2023-07-02T04:08:03.213" v="12" actId="20577"/>
        <pc:sldMkLst>
          <pc:docMk/>
          <pc:sldMk cId="2979163918" sldId="599"/>
        </pc:sldMkLst>
        <pc:spChg chg="del mod">
          <ac:chgData name="Sasikumar Janarthanan" userId="296ae2378136960a" providerId="LiveId" clId="{CEE30952-B120-43FC-84D2-EB8EA9A34219}" dt="2023-07-02T04:07:09.272" v="4" actId="478"/>
          <ac:spMkLst>
            <pc:docMk/>
            <pc:sldMk cId="2979163918" sldId="599"/>
            <ac:spMk id="2" creationId="{7B1E331D-DD34-8A58-F5B2-F7FD57D5ADFF}"/>
          </ac:spMkLst>
        </pc:spChg>
        <pc:spChg chg="mod">
          <ac:chgData name="Sasikumar Janarthanan" userId="296ae2378136960a" providerId="LiveId" clId="{CEE30952-B120-43FC-84D2-EB8EA9A34219}" dt="2023-07-02T04:08:03.213" v="12" actId="20577"/>
          <ac:spMkLst>
            <pc:docMk/>
            <pc:sldMk cId="2979163918" sldId="599"/>
            <ac:spMk id="3" creationId="{63D67D09-E4C8-0BFA-175B-30091C993235}"/>
          </ac:spMkLst>
        </pc:spChg>
      </pc:sldChg>
      <pc:sldChg chg="delSp modSp new mod">
        <pc:chgData name="Sasikumar Janarthanan" userId="296ae2378136960a" providerId="LiveId" clId="{CEE30952-B120-43FC-84D2-EB8EA9A34219}" dt="2023-07-16T09:13:36.812" v="342" actId="5793"/>
        <pc:sldMkLst>
          <pc:docMk/>
          <pc:sldMk cId="4128582505" sldId="600"/>
        </pc:sldMkLst>
        <pc:spChg chg="del mod">
          <ac:chgData name="Sasikumar Janarthanan" userId="296ae2378136960a" providerId="LiveId" clId="{CEE30952-B120-43FC-84D2-EB8EA9A34219}" dt="2023-07-02T04:10:22.993" v="16" actId="478"/>
          <ac:spMkLst>
            <pc:docMk/>
            <pc:sldMk cId="4128582505" sldId="600"/>
            <ac:spMk id="2" creationId="{0C3BDFE7-FFB4-2300-8544-A682132F2288}"/>
          </ac:spMkLst>
        </pc:spChg>
        <pc:spChg chg="mod">
          <ac:chgData name="Sasikumar Janarthanan" userId="296ae2378136960a" providerId="LiveId" clId="{CEE30952-B120-43FC-84D2-EB8EA9A34219}" dt="2023-07-16T09:13:36.812" v="342" actId="5793"/>
          <ac:spMkLst>
            <pc:docMk/>
            <pc:sldMk cId="4128582505" sldId="600"/>
            <ac:spMk id="3" creationId="{7ED2A39B-638F-74E7-8449-4F5328E6CE79}"/>
          </ac:spMkLst>
        </pc:spChg>
      </pc:sldChg>
      <pc:sldChg chg="delSp modSp new mod">
        <pc:chgData name="Sasikumar Janarthanan" userId="296ae2378136960a" providerId="LiveId" clId="{CEE30952-B120-43FC-84D2-EB8EA9A34219}" dt="2023-07-02T04:15:11.129" v="66" actId="12"/>
        <pc:sldMkLst>
          <pc:docMk/>
          <pc:sldMk cId="1660478655" sldId="601"/>
        </pc:sldMkLst>
        <pc:spChg chg="del mod">
          <ac:chgData name="Sasikumar Janarthanan" userId="296ae2378136960a" providerId="LiveId" clId="{CEE30952-B120-43FC-84D2-EB8EA9A34219}" dt="2023-07-02T04:13:57.830" v="37" actId="478"/>
          <ac:spMkLst>
            <pc:docMk/>
            <pc:sldMk cId="1660478655" sldId="601"/>
            <ac:spMk id="2" creationId="{B3A99DF5-507C-CE61-DA7E-C8B961634DB1}"/>
          </ac:spMkLst>
        </pc:spChg>
        <pc:spChg chg="mod">
          <ac:chgData name="Sasikumar Janarthanan" userId="296ae2378136960a" providerId="LiveId" clId="{CEE30952-B120-43FC-84D2-EB8EA9A34219}" dt="2023-07-02T04:15:11.129" v="66" actId="12"/>
          <ac:spMkLst>
            <pc:docMk/>
            <pc:sldMk cId="1660478655" sldId="601"/>
            <ac:spMk id="3" creationId="{08451B4F-0F08-CD05-3866-24D8D33194BB}"/>
          </ac:spMkLst>
        </pc:spChg>
      </pc:sldChg>
      <pc:sldChg chg="delSp modSp new mod">
        <pc:chgData name="Sasikumar Janarthanan" userId="296ae2378136960a" providerId="LiveId" clId="{CEE30952-B120-43FC-84D2-EB8EA9A34219}" dt="2023-07-02T04:16:07.498" v="89" actId="12"/>
        <pc:sldMkLst>
          <pc:docMk/>
          <pc:sldMk cId="3047637645" sldId="602"/>
        </pc:sldMkLst>
        <pc:spChg chg="del mod">
          <ac:chgData name="Sasikumar Janarthanan" userId="296ae2378136960a" providerId="LiveId" clId="{CEE30952-B120-43FC-84D2-EB8EA9A34219}" dt="2023-07-02T04:15:17.747" v="70" actId="478"/>
          <ac:spMkLst>
            <pc:docMk/>
            <pc:sldMk cId="3047637645" sldId="602"/>
            <ac:spMk id="2" creationId="{EF1C883E-1262-ECE6-F61E-E5E4999CED7D}"/>
          </ac:spMkLst>
        </pc:spChg>
        <pc:spChg chg="mod">
          <ac:chgData name="Sasikumar Janarthanan" userId="296ae2378136960a" providerId="LiveId" clId="{CEE30952-B120-43FC-84D2-EB8EA9A34219}" dt="2023-07-02T04:16:07.498" v="89" actId="12"/>
          <ac:spMkLst>
            <pc:docMk/>
            <pc:sldMk cId="3047637645" sldId="602"/>
            <ac:spMk id="3" creationId="{B2145000-4BCD-AC67-2DE2-BE9DD78388D6}"/>
          </ac:spMkLst>
        </pc:spChg>
      </pc:sldChg>
      <pc:sldChg chg="delSp modSp new mod">
        <pc:chgData name="Sasikumar Janarthanan" userId="296ae2378136960a" providerId="LiveId" clId="{CEE30952-B120-43FC-84D2-EB8EA9A34219}" dt="2023-07-02T04:17:10.754" v="124" actId="113"/>
        <pc:sldMkLst>
          <pc:docMk/>
          <pc:sldMk cId="3811905640" sldId="603"/>
        </pc:sldMkLst>
        <pc:spChg chg="del mod">
          <ac:chgData name="Sasikumar Janarthanan" userId="296ae2378136960a" providerId="LiveId" clId="{CEE30952-B120-43FC-84D2-EB8EA9A34219}" dt="2023-07-02T04:16:16.696" v="92" actId="478"/>
          <ac:spMkLst>
            <pc:docMk/>
            <pc:sldMk cId="3811905640" sldId="603"/>
            <ac:spMk id="2" creationId="{D73BBCBA-1E6D-7A6C-4C52-59FE3BB0B213}"/>
          </ac:spMkLst>
        </pc:spChg>
        <pc:spChg chg="mod">
          <ac:chgData name="Sasikumar Janarthanan" userId="296ae2378136960a" providerId="LiveId" clId="{CEE30952-B120-43FC-84D2-EB8EA9A34219}" dt="2023-07-02T04:17:10.754" v="124" actId="113"/>
          <ac:spMkLst>
            <pc:docMk/>
            <pc:sldMk cId="3811905640" sldId="603"/>
            <ac:spMk id="3" creationId="{C2C167A8-6D90-F1E8-9F69-1043BA2CA2BD}"/>
          </ac:spMkLst>
        </pc:spChg>
      </pc:sldChg>
      <pc:sldChg chg="delSp modSp new mod">
        <pc:chgData name="Sasikumar Janarthanan" userId="296ae2378136960a" providerId="LiveId" clId="{CEE30952-B120-43FC-84D2-EB8EA9A34219}" dt="2023-07-02T04:18:52.336" v="167" actId="12"/>
        <pc:sldMkLst>
          <pc:docMk/>
          <pc:sldMk cId="3953485854" sldId="604"/>
        </pc:sldMkLst>
        <pc:spChg chg="del mod">
          <ac:chgData name="Sasikumar Janarthanan" userId="296ae2378136960a" providerId="LiveId" clId="{CEE30952-B120-43FC-84D2-EB8EA9A34219}" dt="2023-07-02T04:17:18.275" v="127" actId="478"/>
          <ac:spMkLst>
            <pc:docMk/>
            <pc:sldMk cId="3953485854" sldId="604"/>
            <ac:spMk id="2" creationId="{4F6603A1-B304-3FBD-764B-8E9CA9631E97}"/>
          </ac:spMkLst>
        </pc:spChg>
        <pc:spChg chg="mod">
          <ac:chgData name="Sasikumar Janarthanan" userId="296ae2378136960a" providerId="LiveId" clId="{CEE30952-B120-43FC-84D2-EB8EA9A34219}" dt="2023-07-02T04:18:52.336" v="167" actId="12"/>
          <ac:spMkLst>
            <pc:docMk/>
            <pc:sldMk cId="3953485854" sldId="604"/>
            <ac:spMk id="3" creationId="{5844316A-4E17-98BD-1AE7-E809ED1D07FE}"/>
          </ac:spMkLst>
        </pc:spChg>
      </pc:sldChg>
      <pc:sldChg chg="delSp modSp new mod">
        <pc:chgData name="Sasikumar Janarthanan" userId="296ae2378136960a" providerId="LiveId" clId="{CEE30952-B120-43FC-84D2-EB8EA9A34219}" dt="2023-07-23T04:15:40.368" v="854" actId="20577"/>
        <pc:sldMkLst>
          <pc:docMk/>
          <pc:sldMk cId="1650643488" sldId="605"/>
        </pc:sldMkLst>
        <pc:spChg chg="del mod">
          <ac:chgData name="Sasikumar Janarthanan" userId="296ae2378136960a" providerId="LiveId" clId="{CEE30952-B120-43FC-84D2-EB8EA9A34219}" dt="2023-07-02T04:19:22.838" v="170" actId="478"/>
          <ac:spMkLst>
            <pc:docMk/>
            <pc:sldMk cId="1650643488" sldId="605"/>
            <ac:spMk id="2" creationId="{635C362F-1047-8949-4D64-F019CEC367E5}"/>
          </ac:spMkLst>
        </pc:spChg>
        <pc:spChg chg="mod">
          <ac:chgData name="Sasikumar Janarthanan" userId="296ae2378136960a" providerId="LiveId" clId="{CEE30952-B120-43FC-84D2-EB8EA9A34219}" dt="2023-07-23T04:15:40.368" v="854" actId="20577"/>
          <ac:spMkLst>
            <pc:docMk/>
            <pc:sldMk cId="1650643488" sldId="605"/>
            <ac:spMk id="3" creationId="{9DE0DA55-BF23-2538-7956-6FDC1F28611E}"/>
          </ac:spMkLst>
        </pc:spChg>
      </pc:sldChg>
      <pc:sldChg chg="delSp modSp new mod">
        <pc:chgData name="Sasikumar Janarthanan" userId="296ae2378136960a" providerId="LiveId" clId="{CEE30952-B120-43FC-84D2-EB8EA9A34219}" dt="2023-07-02T04:23:15.123" v="269" actId="20577"/>
        <pc:sldMkLst>
          <pc:docMk/>
          <pc:sldMk cId="2341254876" sldId="606"/>
        </pc:sldMkLst>
        <pc:spChg chg="del mod">
          <ac:chgData name="Sasikumar Janarthanan" userId="296ae2378136960a" providerId="LiveId" clId="{CEE30952-B120-43FC-84D2-EB8EA9A34219}" dt="2023-07-02T04:22:00.838" v="246" actId="478"/>
          <ac:spMkLst>
            <pc:docMk/>
            <pc:sldMk cId="2341254876" sldId="606"/>
            <ac:spMk id="2" creationId="{33DE81B0-BF6A-0E1D-7400-F8D94F0C55F8}"/>
          </ac:spMkLst>
        </pc:spChg>
        <pc:spChg chg="mod">
          <ac:chgData name="Sasikumar Janarthanan" userId="296ae2378136960a" providerId="LiveId" clId="{CEE30952-B120-43FC-84D2-EB8EA9A34219}" dt="2023-07-02T04:23:15.123" v="269" actId="20577"/>
          <ac:spMkLst>
            <pc:docMk/>
            <pc:sldMk cId="2341254876" sldId="606"/>
            <ac:spMk id="3" creationId="{6CAF440A-673F-C49C-3822-EBE111DDFB79}"/>
          </ac:spMkLst>
        </pc:spChg>
      </pc:sldChg>
      <pc:sldChg chg="delSp modSp new mod">
        <pc:chgData name="Sasikumar Janarthanan" userId="296ae2378136960a" providerId="LiveId" clId="{CEE30952-B120-43FC-84D2-EB8EA9A34219}" dt="2023-07-02T04:26:29.277" v="306" actId="20577"/>
        <pc:sldMkLst>
          <pc:docMk/>
          <pc:sldMk cId="473790580" sldId="607"/>
        </pc:sldMkLst>
        <pc:spChg chg="del mod">
          <ac:chgData name="Sasikumar Janarthanan" userId="296ae2378136960a" providerId="LiveId" clId="{CEE30952-B120-43FC-84D2-EB8EA9A34219}" dt="2023-07-02T04:23:58.703" v="275" actId="478"/>
          <ac:spMkLst>
            <pc:docMk/>
            <pc:sldMk cId="473790580" sldId="607"/>
            <ac:spMk id="2" creationId="{79B991D1-C2CE-61E5-CE47-97B35564BC05}"/>
          </ac:spMkLst>
        </pc:spChg>
        <pc:spChg chg="mod">
          <ac:chgData name="Sasikumar Janarthanan" userId="296ae2378136960a" providerId="LiveId" clId="{CEE30952-B120-43FC-84D2-EB8EA9A34219}" dt="2023-07-02T04:26:29.277" v="306" actId="20577"/>
          <ac:spMkLst>
            <pc:docMk/>
            <pc:sldMk cId="473790580" sldId="607"/>
            <ac:spMk id="3" creationId="{BCD5F582-A3F0-0712-5823-0ACCF429AB7E}"/>
          </ac:spMkLst>
        </pc:spChg>
      </pc:sldChg>
      <pc:sldChg chg="new del">
        <pc:chgData name="Sasikumar Janarthanan" userId="296ae2378136960a" providerId="LiveId" clId="{CEE30952-B120-43FC-84D2-EB8EA9A34219}" dt="2023-07-02T04:23:47.975" v="271" actId="47"/>
        <pc:sldMkLst>
          <pc:docMk/>
          <pc:sldMk cId="3776863269" sldId="607"/>
        </pc:sldMkLst>
      </pc:sldChg>
      <pc:sldChg chg="delSp modSp new mod">
        <pc:chgData name="Sasikumar Janarthanan" userId="296ae2378136960a" providerId="LiveId" clId="{CEE30952-B120-43FC-84D2-EB8EA9A34219}" dt="2023-07-02T04:26:48.489" v="313" actId="20577"/>
        <pc:sldMkLst>
          <pc:docMk/>
          <pc:sldMk cId="1439690745" sldId="608"/>
        </pc:sldMkLst>
        <pc:spChg chg="del mod">
          <ac:chgData name="Sasikumar Janarthanan" userId="296ae2378136960a" providerId="LiveId" clId="{CEE30952-B120-43FC-84D2-EB8EA9A34219}" dt="2023-07-02T04:26:35.276" v="309" actId="478"/>
          <ac:spMkLst>
            <pc:docMk/>
            <pc:sldMk cId="1439690745" sldId="608"/>
            <ac:spMk id="2" creationId="{BBA729AF-F94C-DBF3-06F1-F0C9BC5FC518}"/>
          </ac:spMkLst>
        </pc:spChg>
        <pc:spChg chg="mod">
          <ac:chgData name="Sasikumar Janarthanan" userId="296ae2378136960a" providerId="LiveId" clId="{CEE30952-B120-43FC-84D2-EB8EA9A34219}" dt="2023-07-02T04:26:48.489" v="313" actId="20577"/>
          <ac:spMkLst>
            <pc:docMk/>
            <pc:sldMk cId="1439690745" sldId="608"/>
            <ac:spMk id="3" creationId="{B7BC8D3A-F1DD-4684-9A05-CB81DE7252FF}"/>
          </ac:spMkLst>
        </pc:spChg>
      </pc:sldChg>
      <pc:sldChg chg="addSp delSp modSp new mod">
        <pc:chgData name="Sasikumar Janarthanan" userId="296ae2378136960a" providerId="LiveId" clId="{CEE30952-B120-43FC-84D2-EB8EA9A34219}" dt="2023-07-02T04:28:49.927" v="329" actId="20577"/>
        <pc:sldMkLst>
          <pc:docMk/>
          <pc:sldMk cId="1275325666" sldId="609"/>
        </pc:sldMkLst>
        <pc:spChg chg="del mod">
          <ac:chgData name="Sasikumar Janarthanan" userId="296ae2378136960a" providerId="LiveId" clId="{CEE30952-B120-43FC-84D2-EB8EA9A34219}" dt="2023-07-02T04:26:56.963" v="316" actId="478"/>
          <ac:spMkLst>
            <pc:docMk/>
            <pc:sldMk cId="1275325666" sldId="609"/>
            <ac:spMk id="2" creationId="{633BE9DC-CBE9-E2DD-2447-DD2DAA5D47C4}"/>
          </ac:spMkLst>
        </pc:spChg>
        <pc:spChg chg="mod">
          <ac:chgData name="Sasikumar Janarthanan" userId="296ae2378136960a" providerId="LiveId" clId="{CEE30952-B120-43FC-84D2-EB8EA9A34219}" dt="2023-07-02T04:28:49.927" v="329" actId="20577"/>
          <ac:spMkLst>
            <pc:docMk/>
            <pc:sldMk cId="1275325666" sldId="609"/>
            <ac:spMk id="3" creationId="{5D57178E-5647-4973-5BC1-6FF62151106D}"/>
          </ac:spMkLst>
        </pc:spChg>
        <pc:spChg chg="add del mod">
          <ac:chgData name="Sasikumar Janarthanan" userId="296ae2378136960a" providerId="LiveId" clId="{CEE30952-B120-43FC-84D2-EB8EA9A34219}" dt="2023-07-02T04:28:10.100" v="321" actId="478"/>
          <ac:spMkLst>
            <pc:docMk/>
            <pc:sldMk cId="1275325666" sldId="609"/>
            <ac:spMk id="5" creationId="{83B5B808-9DAE-287B-F93A-6775BF032375}"/>
          </ac:spMkLst>
        </pc:spChg>
      </pc:sldChg>
      <pc:sldChg chg="delSp modSp new mod">
        <pc:chgData name="Sasikumar Janarthanan" userId="296ae2378136960a" providerId="LiveId" clId="{CEE30952-B120-43FC-84D2-EB8EA9A34219}" dt="2023-07-22T03:47:03.850" v="603" actId="20577"/>
        <pc:sldMkLst>
          <pc:docMk/>
          <pc:sldMk cId="3502077156" sldId="610"/>
        </pc:sldMkLst>
        <pc:spChg chg="del mod">
          <ac:chgData name="Sasikumar Janarthanan" userId="296ae2378136960a" providerId="LiveId" clId="{CEE30952-B120-43FC-84D2-EB8EA9A34219}" dt="2023-07-22T03:45:00.467" v="522" actId="478"/>
          <ac:spMkLst>
            <pc:docMk/>
            <pc:sldMk cId="3502077156" sldId="610"/>
            <ac:spMk id="2" creationId="{B7B23CC5-119C-5663-9945-906942B75902}"/>
          </ac:spMkLst>
        </pc:spChg>
        <pc:spChg chg="mod">
          <ac:chgData name="Sasikumar Janarthanan" userId="296ae2378136960a" providerId="LiveId" clId="{CEE30952-B120-43FC-84D2-EB8EA9A34219}" dt="2023-07-22T03:47:03.850" v="603" actId="20577"/>
          <ac:spMkLst>
            <pc:docMk/>
            <pc:sldMk cId="3502077156" sldId="610"/>
            <ac:spMk id="3" creationId="{A6BA21FD-37A3-6DE1-B4E1-93581BBFCFC6}"/>
          </ac:spMkLst>
        </pc:spChg>
      </pc:sldChg>
      <pc:sldChg chg="delSp modSp new mod">
        <pc:chgData name="Sasikumar Janarthanan" userId="296ae2378136960a" providerId="LiveId" clId="{CEE30952-B120-43FC-84D2-EB8EA9A34219}" dt="2023-07-23T03:57:46.323" v="681" actId="207"/>
        <pc:sldMkLst>
          <pc:docMk/>
          <pc:sldMk cId="1526196369" sldId="611"/>
        </pc:sldMkLst>
        <pc:spChg chg="del mod">
          <ac:chgData name="Sasikumar Janarthanan" userId="296ae2378136960a" providerId="LiveId" clId="{CEE30952-B120-43FC-84D2-EB8EA9A34219}" dt="2023-07-23T03:55:33.568" v="664" actId="478"/>
          <ac:spMkLst>
            <pc:docMk/>
            <pc:sldMk cId="1526196369" sldId="611"/>
            <ac:spMk id="2" creationId="{7360B501-3853-A981-17B2-CD693A6C2ADD}"/>
          </ac:spMkLst>
        </pc:spChg>
        <pc:spChg chg="mod">
          <ac:chgData name="Sasikumar Janarthanan" userId="296ae2378136960a" providerId="LiveId" clId="{CEE30952-B120-43FC-84D2-EB8EA9A34219}" dt="2023-07-23T03:57:46.323" v="681" actId="207"/>
          <ac:spMkLst>
            <pc:docMk/>
            <pc:sldMk cId="1526196369" sldId="611"/>
            <ac:spMk id="3" creationId="{DF5114B6-381B-69FA-BB9D-D96D5489BAD0}"/>
          </ac:spMkLst>
        </pc:spChg>
      </pc:sldChg>
      <pc:sldChg chg="delSp modSp new mod">
        <pc:chgData name="Sasikumar Janarthanan" userId="296ae2378136960a" providerId="LiveId" clId="{CEE30952-B120-43FC-84D2-EB8EA9A34219}" dt="2023-07-23T03:59:00.525" v="698" actId="207"/>
        <pc:sldMkLst>
          <pc:docMk/>
          <pc:sldMk cId="1399344195" sldId="612"/>
        </pc:sldMkLst>
        <pc:spChg chg="del mod">
          <ac:chgData name="Sasikumar Janarthanan" userId="296ae2378136960a" providerId="LiveId" clId="{CEE30952-B120-43FC-84D2-EB8EA9A34219}" dt="2023-07-23T03:57:59.284" v="685" actId="478"/>
          <ac:spMkLst>
            <pc:docMk/>
            <pc:sldMk cId="1399344195" sldId="612"/>
            <ac:spMk id="2" creationId="{CB64CFC1-0A71-A533-FCFE-0A78696A406F}"/>
          </ac:spMkLst>
        </pc:spChg>
        <pc:spChg chg="mod">
          <ac:chgData name="Sasikumar Janarthanan" userId="296ae2378136960a" providerId="LiveId" clId="{CEE30952-B120-43FC-84D2-EB8EA9A34219}" dt="2023-07-23T03:59:00.525" v="698" actId="207"/>
          <ac:spMkLst>
            <pc:docMk/>
            <pc:sldMk cId="1399344195" sldId="612"/>
            <ac:spMk id="3" creationId="{8E48F332-BEFD-E7CD-90D2-F40182EBF75B}"/>
          </ac:spMkLst>
        </pc:spChg>
      </pc:sldChg>
      <pc:sldChg chg="delSp modSp new mod">
        <pc:chgData name="Sasikumar Janarthanan" userId="296ae2378136960a" providerId="LiveId" clId="{CEE30952-B120-43FC-84D2-EB8EA9A34219}" dt="2023-07-23T04:00:58.022" v="803" actId="12"/>
        <pc:sldMkLst>
          <pc:docMk/>
          <pc:sldMk cId="4093946779" sldId="613"/>
        </pc:sldMkLst>
        <pc:spChg chg="del mod">
          <ac:chgData name="Sasikumar Janarthanan" userId="296ae2378136960a" providerId="LiveId" clId="{CEE30952-B120-43FC-84D2-EB8EA9A34219}" dt="2023-07-23T03:59:09.958" v="701" actId="478"/>
          <ac:spMkLst>
            <pc:docMk/>
            <pc:sldMk cId="4093946779" sldId="613"/>
            <ac:spMk id="2" creationId="{C98FB00E-87F3-FA3C-5280-9239A1DA0B96}"/>
          </ac:spMkLst>
        </pc:spChg>
        <pc:spChg chg="mod">
          <ac:chgData name="Sasikumar Janarthanan" userId="296ae2378136960a" providerId="LiveId" clId="{CEE30952-B120-43FC-84D2-EB8EA9A34219}" dt="2023-07-23T04:00:58.022" v="803" actId="12"/>
          <ac:spMkLst>
            <pc:docMk/>
            <pc:sldMk cId="4093946779" sldId="613"/>
            <ac:spMk id="3" creationId="{ED6A26DB-4B77-148B-FE3B-3DD57BCD3761}"/>
          </ac:spMkLst>
        </pc:spChg>
      </pc:sldChg>
      <pc:sldChg chg="delSp modSp new mod">
        <pc:chgData name="Sasikumar Janarthanan" userId="296ae2378136960a" providerId="LiveId" clId="{CEE30952-B120-43FC-84D2-EB8EA9A34219}" dt="2023-07-23T04:04:42.241" v="844" actId="12"/>
        <pc:sldMkLst>
          <pc:docMk/>
          <pc:sldMk cId="920046702" sldId="614"/>
        </pc:sldMkLst>
        <pc:spChg chg="del mod">
          <ac:chgData name="Sasikumar Janarthanan" userId="296ae2378136960a" providerId="LiveId" clId="{CEE30952-B120-43FC-84D2-EB8EA9A34219}" dt="2023-07-23T04:01:08.428" v="806" actId="478"/>
          <ac:spMkLst>
            <pc:docMk/>
            <pc:sldMk cId="920046702" sldId="614"/>
            <ac:spMk id="2" creationId="{B3CAA4E0-46E5-CE57-CD5D-A9680C94918A}"/>
          </ac:spMkLst>
        </pc:spChg>
        <pc:spChg chg="mod">
          <ac:chgData name="Sasikumar Janarthanan" userId="296ae2378136960a" providerId="LiveId" clId="{CEE30952-B120-43FC-84D2-EB8EA9A34219}" dt="2023-07-23T04:04:42.241" v="844" actId="12"/>
          <ac:spMkLst>
            <pc:docMk/>
            <pc:sldMk cId="920046702" sldId="614"/>
            <ac:spMk id="3" creationId="{01F3F1E7-9CFA-22CB-0D89-233F6736E0C8}"/>
          </ac:spMkLst>
        </pc:spChg>
      </pc:sldChg>
    </pc:docChg>
  </pc:docChgLst>
  <pc:docChgLst>
    <pc:chgData name="Sasikumar Janarthanan" userId="296ae2378136960a" providerId="LiveId" clId="{768D1326-7834-4DE2-9046-8A6A85683195}"/>
    <pc:docChg chg="undo custSel addSld delSld modSld">
      <pc:chgData name="Sasikumar Janarthanan" userId="296ae2378136960a" providerId="LiveId" clId="{768D1326-7834-4DE2-9046-8A6A85683195}" dt="2024-01-10T12:22:00.953" v="202"/>
      <pc:docMkLst>
        <pc:docMk/>
      </pc:docMkLst>
      <pc:sldChg chg="del">
        <pc:chgData name="Sasikumar Janarthanan" userId="296ae2378136960a" providerId="LiveId" clId="{768D1326-7834-4DE2-9046-8A6A85683195}" dt="2023-11-27T11:33:33.184" v="200" actId="47"/>
        <pc:sldMkLst>
          <pc:docMk/>
          <pc:sldMk cId="2867954147" sldId="378"/>
        </pc:sldMkLst>
      </pc:sldChg>
      <pc:sldChg chg="modSp mod">
        <pc:chgData name="Sasikumar Janarthanan" userId="296ae2378136960a" providerId="LiveId" clId="{768D1326-7834-4DE2-9046-8A6A85683195}" dt="2023-11-27T11:32:36.591" v="198" actId="1076"/>
        <pc:sldMkLst>
          <pc:docMk/>
          <pc:sldMk cId="634474898" sldId="388"/>
        </pc:sldMkLst>
        <pc:picChg chg="mod">
          <ac:chgData name="Sasikumar Janarthanan" userId="296ae2378136960a" providerId="LiveId" clId="{768D1326-7834-4DE2-9046-8A6A85683195}" dt="2023-11-27T11:32:36.591" v="198" actId="1076"/>
          <ac:picMkLst>
            <pc:docMk/>
            <pc:sldMk cId="634474898" sldId="388"/>
            <ac:picMk id="5" creationId="{F000CE7C-3002-0112-3122-733DD65DE2FA}"/>
          </ac:picMkLst>
        </pc:picChg>
      </pc:sldChg>
      <pc:sldChg chg="modSp mod">
        <pc:chgData name="Sasikumar Janarthanan" userId="296ae2378136960a" providerId="LiveId" clId="{768D1326-7834-4DE2-9046-8A6A85683195}" dt="2023-10-30T10:22:05.106" v="195" actId="115"/>
        <pc:sldMkLst>
          <pc:docMk/>
          <pc:sldMk cId="2510234599" sldId="424"/>
        </pc:sldMkLst>
        <pc:spChg chg="mod">
          <ac:chgData name="Sasikumar Janarthanan" userId="296ae2378136960a" providerId="LiveId" clId="{768D1326-7834-4DE2-9046-8A6A85683195}" dt="2023-10-30T10:22:05.106" v="195" actId="115"/>
          <ac:spMkLst>
            <pc:docMk/>
            <pc:sldMk cId="2510234599" sldId="424"/>
            <ac:spMk id="3" creationId="{E9C400EE-6059-304A-53C0-02B1744AC18D}"/>
          </ac:spMkLst>
        </pc:spChg>
      </pc:sldChg>
      <pc:sldChg chg="modSp mod">
        <pc:chgData name="Sasikumar Janarthanan" userId="296ae2378136960a" providerId="LiveId" clId="{768D1326-7834-4DE2-9046-8A6A85683195}" dt="2024-01-10T12:22:00.953" v="202"/>
        <pc:sldMkLst>
          <pc:docMk/>
          <pc:sldMk cId="2529418312" sldId="436"/>
        </pc:sldMkLst>
        <pc:spChg chg="mod">
          <ac:chgData name="Sasikumar Janarthanan" userId="296ae2378136960a" providerId="LiveId" clId="{768D1326-7834-4DE2-9046-8A6A85683195}" dt="2024-01-10T12:22:00.953" v="202"/>
          <ac:spMkLst>
            <pc:docMk/>
            <pc:sldMk cId="2529418312" sldId="436"/>
            <ac:spMk id="3" creationId="{4313958B-5C4C-08C5-C2B5-0FE04726BA04}"/>
          </ac:spMkLst>
        </pc:spChg>
      </pc:sldChg>
      <pc:sldChg chg="del">
        <pc:chgData name="Sasikumar Janarthanan" userId="296ae2378136960a" providerId="LiveId" clId="{768D1326-7834-4DE2-9046-8A6A85683195}" dt="2023-09-03T09:51:41.265" v="147" actId="47"/>
        <pc:sldMkLst>
          <pc:docMk/>
          <pc:sldMk cId="4247404118" sldId="447"/>
        </pc:sldMkLst>
      </pc:sldChg>
      <pc:sldChg chg="modSp mod">
        <pc:chgData name="Sasikumar Janarthanan" userId="296ae2378136960a" providerId="LiveId" clId="{768D1326-7834-4DE2-9046-8A6A85683195}" dt="2023-10-27T11:53:33.068" v="189" actId="403"/>
        <pc:sldMkLst>
          <pc:docMk/>
          <pc:sldMk cId="4175980872" sldId="466"/>
        </pc:sldMkLst>
        <pc:spChg chg="mod">
          <ac:chgData name="Sasikumar Janarthanan" userId="296ae2378136960a" providerId="LiveId" clId="{768D1326-7834-4DE2-9046-8A6A85683195}" dt="2023-10-27T11:53:33.068" v="189" actId="403"/>
          <ac:spMkLst>
            <pc:docMk/>
            <pc:sldMk cId="4175980872" sldId="466"/>
            <ac:spMk id="3" creationId="{7C50B79F-F937-9E16-1BC7-5016CCE2513D}"/>
          </ac:spMkLst>
        </pc:spChg>
      </pc:sldChg>
      <pc:sldChg chg="del">
        <pc:chgData name="Sasikumar Janarthanan" userId="296ae2378136960a" providerId="LiveId" clId="{768D1326-7834-4DE2-9046-8A6A85683195}" dt="2023-11-27T11:33:12.409" v="199" actId="47"/>
        <pc:sldMkLst>
          <pc:docMk/>
          <pc:sldMk cId="284497401" sldId="472"/>
        </pc:sldMkLst>
      </pc:sldChg>
      <pc:sldChg chg="modSp mod">
        <pc:chgData name="Sasikumar Janarthanan" userId="296ae2378136960a" providerId="LiveId" clId="{768D1326-7834-4DE2-9046-8A6A85683195}" dt="2023-11-10T12:58:24.915" v="196" actId="2711"/>
        <pc:sldMkLst>
          <pc:docMk/>
          <pc:sldMk cId="523465123" sldId="504"/>
        </pc:sldMkLst>
        <pc:spChg chg="mod">
          <ac:chgData name="Sasikumar Janarthanan" userId="296ae2378136960a" providerId="LiveId" clId="{768D1326-7834-4DE2-9046-8A6A85683195}" dt="2023-11-10T12:58:24.915" v="196" actId="2711"/>
          <ac:spMkLst>
            <pc:docMk/>
            <pc:sldMk cId="523465123" sldId="504"/>
            <ac:spMk id="3" creationId="{959AF324-4174-524C-FD46-CA991BB63CD6}"/>
          </ac:spMkLst>
        </pc:spChg>
      </pc:sldChg>
      <pc:sldChg chg="modSp mod">
        <pc:chgData name="Sasikumar Janarthanan" userId="296ae2378136960a" providerId="LiveId" clId="{768D1326-7834-4DE2-9046-8A6A85683195}" dt="2023-09-03T09:20:23.193" v="145" actId="20577"/>
        <pc:sldMkLst>
          <pc:docMk/>
          <pc:sldMk cId="1555631586" sldId="570"/>
        </pc:sldMkLst>
        <pc:spChg chg="mod">
          <ac:chgData name="Sasikumar Janarthanan" userId="296ae2378136960a" providerId="LiveId" clId="{768D1326-7834-4DE2-9046-8A6A85683195}" dt="2023-09-03T09:20:23.193" v="145" actId="20577"/>
          <ac:spMkLst>
            <pc:docMk/>
            <pc:sldMk cId="1555631586" sldId="570"/>
            <ac:spMk id="3" creationId="{6762FD56-16E9-6AB5-886E-21844F628CFA}"/>
          </ac:spMkLst>
        </pc:spChg>
      </pc:sldChg>
      <pc:sldChg chg="del">
        <pc:chgData name="Sasikumar Janarthanan" userId="296ae2378136960a" providerId="LiveId" clId="{768D1326-7834-4DE2-9046-8A6A85683195}" dt="2023-09-03T09:50:17.184" v="146" actId="47"/>
        <pc:sldMkLst>
          <pc:docMk/>
          <pc:sldMk cId="3860217663" sldId="573"/>
        </pc:sldMkLst>
      </pc:sldChg>
      <pc:sldChg chg="modSp mod">
        <pc:chgData name="Sasikumar Janarthanan" userId="296ae2378136960a" providerId="LiveId" clId="{768D1326-7834-4DE2-9046-8A6A85683195}" dt="2023-07-30T06:46:26.579" v="4"/>
        <pc:sldMkLst>
          <pc:docMk/>
          <pc:sldMk cId="2059578228" sldId="598"/>
        </pc:sldMkLst>
        <pc:spChg chg="mod">
          <ac:chgData name="Sasikumar Janarthanan" userId="296ae2378136960a" providerId="LiveId" clId="{768D1326-7834-4DE2-9046-8A6A85683195}" dt="2023-07-30T06:46:26.579" v="4"/>
          <ac:spMkLst>
            <pc:docMk/>
            <pc:sldMk cId="2059578228" sldId="598"/>
            <ac:spMk id="3" creationId="{7D62ED38-49F2-8E26-D582-6DF29A411B5E}"/>
          </ac:spMkLst>
        </pc:spChg>
      </pc:sldChg>
      <pc:sldChg chg="delSp modSp new mod">
        <pc:chgData name="Sasikumar Janarthanan" userId="296ae2378136960a" providerId="LiveId" clId="{768D1326-7834-4DE2-9046-8A6A85683195}" dt="2023-08-13T07:39:40.801" v="37" actId="113"/>
        <pc:sldMkLst>
          <pc:docMk/>
          <pc:sldMk cId="649661238" sldId="615"/>
        </pc:sldMkLst>
        <pc:spChg chg="del mod">
          <ac:chgData name="Sasikumar Janarthanan" userId="296ae2378136960a" providerId="LiveId" clId="{768D1326-7834-4DE2-9046-8A6A85683195}" dt="2023-08-13T07:36:38.306" v="8" actId="478"/>
          <ac:spMkLst>
            <pc:docMk/>
            <pc:sldMk cId="649661238" sldId="615"/>
            <ac:spMk id="2" creationId="{65237AE7-D20B-A681-2E7F-52F5F357F7A8}"/>
          </ac:spMkLst>
        </pc:spChg>
        <pc:spChg chg="mod">
          <ac:chgData name="Sasikumar Janarthanan" userId="296ae2378136960a" providerId="LiveId" clId="{768D1326-7834-4DE2-9046-8A6A85683195}" dt="2023-08-13T07:39:40.801" v="37" actId="113"/>
          <ac:spMkLst>
            <pc:docMk/>
            <pc:sldMk cId="649661238" sldId="615"/>
            <ac:spMk id="3" creationId="{98E099B9-57FD-BB94-89AD-AFDD6126B868}"/>
          </ac:spMkLst>
        </pc:spChg>
      </pc:sldChg>
      <pc:sldChg chg="delSp modSp new mod">
        <pc:chgData name="Sasikumar Janarthanan" userId="296ae2378136960a" providerId="LiveId" clId="{768D1326-7834-4DE2-9046-8A6A85683195}" dt="2023-08-13T07:41:31.404" v="53" actId="2710"/>
        <pc:sldMkLst>
          <pc:docMk/>
          <pc:sldMk cId="485076414" sldId="616"/>
        </pc:sldMkLst>
        <pc:spChg chg="del mod">
          <ac:chgData name="Sasikumar Janarthanan" userId="296ae2378136960a" providerId="LiveId" clId="{768D1326-7834-4DE2-9046-8A6A85683195}" dt="2023-08-13T07:40:11.756" v="40" actId="478"/>
          <ac:spMkLst>
            <pc:docMk/>
            <pc:sldMk cId="485076414" sldId="616"/>
            <ac:spMk id="2" creationId="{6C6A0615-1BC1-C970-2B77-83D9CC54B4FC}"/>
          </ac:spMkLst>
        </pc:spChg>
        <pc:spChg chg="mod">
          <ac:chgData name="Sasikumar Janarthanan" userId="296ae2378136960a" providerId="LiveId" clId="{768D1326-7834-4DE2-9046-8A6A85683195}" dt="2023-08-13T07:41:31.404" v="53" actId="2710"/>
          <ac:spMkLst>
            <pc:docMk/>
            <pc:sldMk cId="485076414" sldId="616"/>
            <ac:spMk id="3" creationId="{B80DC604-132E-98B3-20DE-EA48FF2F4D7E}"/>
          </ac:spMkLst>
        </pc:spChg>
      </pc:sldChg>
      <pc:sldChg chg="delSp modSp new mod">
        <pc:chgData name="Sasikumar Janarthanan" userId="296ae2378136960a" providerId="LiveId" clId="{768D1326-7834-4DE2-9046-8A6A85683195}" dt="2023-08-13T07:44:32.700" v="64" actId="5793"/>
        <pc:sldMkLst>
          <pc:docMk/>
          <pc:sldMk cId="2881777593" sldId="617"/>
        </pc:sldMkLst>
        <pc:spChg chg="del mod">
          <ac:chgData name="Sasikumar Janarthanan" userId="296ae2378136960a" providerId="LiveId" clId="{768D1326-7834-4DE2-9046-8A6A85683195}" dt="2023-08-13T07:44:01.705" v="56" actId="478"/>
          <ac:spMkLst>
            <pc:docMk/>
            <pc:sldMk cId="2881777593" sldId="617"/>
            <ac:spMk id="2" creationId="{310AB6BD-6B26-B452-D807-0B86C8C3AC77}"/>
          </ac:spMkLst>
        </pc:spChg>
        <pc:spChg chg="mod">
          <ac:chgData name="Sasikumar Janarthanan" userId="296ae2378136960a" providerId="LiveId" clId="{768D1326-7834-4DE2-9046-8A6A85683195}" dt="2023-08-13T07:44:32.700" v="64" actId="5793"/>
          <ac:spMkLst>
            <pc:docMk/>
            <pc:sldMk cId="2881777593" sldId="617"/>
            <ac:spMk id="3" creationId="{0FF87E05-C4CC-BF6B-D6B0-B64247CCD3B1}"/>
          </ac:spMkLst>
        </pc:spChg>
      </pc:sldChg>
      <pc:sldChg chg="delSp modSp new mod">
        <pc:chgData name="Sasikumar Janarthanan" userId="296ae2378136960a" providerId="LiveId" clId="{768D1326-7834-4DE2-9046-8A6A85683195}" dt="2023-08-13T07:47:30.821" v="96" actId="2710"/>
        <pc:sldMkLst>
          <pc:docMk/>
          <pc:sldMk cId="841414891" sldId="618"/>
        </pc:sldMkLst>
        <pc:spChg chg="del mod">
          <ac:chgData name="Sasikumar Janarthanan" userId="296ae2378136960a" providerId="LiveId" clId="{768D1326-7834-4DE2-9046-8A6A85683195}" dt="2023-08-13T07:44:41.384" v="68" actId="478"/>
          <ac:spMkLst>
            <pc:docMk/>
            <pc:sldMk cId="841414891" sldId="618"/>
            <ac:spMk id="2" creationId="{10BB6953-8E27-DAE2-BE06-0BFB4B815ECE}"/>
          </ac:spMkLst>
        </pc:spChg>
        <pc:spChg chg="mod">
          <ac:chgData name="Sasikumar Janarthanan" userId="296ae2378136960a" providerId="LiveId" clId="{768D1326-7834-4DE2-9046-8A6A85683195}" dt="2023-08-13T07:47:30.821" v="96" actId="2710"/>
          <ac:spMkLst>
            <pc:docMk/>
            <pc:sldMk cId="841414891" sldId="618"/>
            <ac:spMk id="3" creationId="{160275B5-9DB6-8A06-CB48-A4D208C59B8F}"/>
          </ac:spMkLst>
        </pc:spChg>
      </pc:sldChg>
      <pc:sldChg chg="delSp modSp new mod">
        <pc:chgData name="Sasikumar Janarthanan" userId="296ae2378136960a" providerId="LiveId" clId="{768D1326-7834-4DE2-9046-8A6A85683195}" dt="2023-08-13T07:49:04.386" v="116" actId="113"/>
        <pc:sldMkLst>
          <pc:docMk/>
          <pc:sldMk cId="2413130520" sldId="619"/>
        </pc:sldMkLst>
        <pc:spChg chg="del mod">
          <ac:chgData name="Sasikumar Janarthanan" userId="296ae2378136960a" providerId="LiveId" clId="{768D1326-7834-4DE2-9046-8A6A85683195}" dt="2023-08-13T07:47:39.594" v="99" actId="478"/>
          <ac:spMkLst>
            <pc:docMk/>
            <pc:sldMk cId="2413130520" sldId="619"/>
            <ac:spMk id="2" creationId="{139EEE12-E498-3F14-0A30-02DD87CAEBD2}"/>
          </ac:spMkLst>
        </pc:spChg>
        <pc:spChg chg="mod">
          <ac:chgData name="Sasikumar Janarthanan" userId="296ae2378136960a" providerId="LiveId" clId="{768D1326-7834-4DE2-9046-8A6A85683195}" dt="2023-08-13T07:49:04.386" v="116" actId="113"/>
          <ac:spMkLst>
            <pc:docMk/>
            <pc:sldMk cId="2413130520" sldId="619"/>
            <ac:spMk id="3" creationId="{C2D857E7-C11F-D6FD-0AB3-BD228581D043}"/>
          </ac:spMkLst>
        </pc:spChg>
      </pc:sldChg>
      <pc:sldChg chg="delSp modSp new mod">
        <pc:chgData name="Sasikumar Janarthanan" userId="296ae2378136960a" providerId="LiveId" clId="{768D1326-7834-4DE2-9046-8A6A85683195}" dt="2023-08-13T07:50:38.572" v="141" actId="113"/>
        <pc:sldMkLst>
          <pc:docMk/>
          <pc:sldMk cId="1444260176" sldId="620"/>
        </pc:sldMkLst>
        <pc:spChg chg="del mod">
          <ac:chgData name="Sasikumar Janarthanan" userId="296ae2378136960a" providerId="LiveId" clId="{768D1326-7834-4DE2-9046-8A6A85683195}" dt="2023-08-13T07:49:11.754" v="120" actId="478"/>
          <ac:spMkLst>
            <pc:docMk/>
            <pc:sldMk cId="1444260176" sldId="620"/>
            <ac:spMk id="2" creationId="{57990AFC-C259-524A-2B22-20347E12E891}"/>
          </ac:spMkLst>
        </pc:spChg>
        <pc:spChg chg="mod">
          <ac:chgData name="Sasikumar Janarthanan" userId="296ae2378136960a" providerId="LiveId" clId="{768D1326-7834-4DE2-9046-8A6A85683195}" dt="2023-08-13T07:50:38.572" v="141" actId="113"/>
          <ac:spMkLst>
            <pc:docMk/>
            <pc:sldMk cId="1444260176" sldId="620"/>
            <ac:spMk id="3" creationId="{9047449D-3D76-FB51-C312-4C8FE92E84C1}"/>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20.940"/>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21.738"/>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22.709"/>
    </inkml:context>
    <inkml:brush xml:id="br0">
      <inkml:brushProperty name="width" value="0.05" units="cm"/>
      <inkml:brushProperty name="height" value="0.05" units="cm"/>
      <inkml:brushProperty name="color" value="#00A0D7"/>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37.004"/>
    </inkml:context>
    <inkml:brush xml:id="br0">
      <inkml:brushProperty name="width" value="0.05" units="cm"/>
      <inkml:brushProperty name="height" value="0.05" units="cm"/>
      <inkml:brushProperty name="color" value="#00A0D7"/>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0:59:00.071"/>
    </inkml:context>
    <inkml:brush xml:id="br0">
      <inkml:brushProperty name="width" value="0.05" units="cm"/>
      <inkml:brushProperty name="height" value="0.05" units="cm"/>
      <inkml:brushProperty name="color" value="#00A0D7"/>
    </inkml:brush>
  </inkml:definitions>
  <inkml:trace contextRef="#ctx0" brushRef="#br0">0 0 24575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0:59:02.183"/>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0:59:03.209"/>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19.604"/>
    </inkml:context>
    <inkml:brush xml:id="br0">
      <inkml:brushProperty name="width" value="0.05" units="cm"/>
      <inkml:brushProperty name="height" value="0.05" units="cm"/>
      <inkml:brushProperty name="color" value="#00A0D7"/>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4.478"/>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5.567"/>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5.913"/>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6.246"/>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46.400"/>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1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95.52325" units="1/cm"/>
          <inkml:channelProperty channel="Y" name="resolution" value="55.6701" units="1/cm"/>
          <inkml:channelProperty channel="T" name="resolution" value="1" units="1/dev"/>
        </inkml:channelProperties>
      </inkml:inkSource>
      <inkml:timestamp xml:id="ts0" timeString="2026-10-05T07:24:21.199"/>
    </inkml:context>
    <inkml:brush xml:id="br0">
      <inkml:brushProperty name="width" value="0.05292" units="cm"/>
      <inkml:brushProperty name="height" value="0.05292" units="cm"/>
      <inkml:brushProperty name="color" value="#FF0000"/>
    </inkml:brush>
  </inkml:definitions>
  <inkml:trace contextRef="#ctx0" brushRef="#br0">8357 1658 0,'31'93'203,"1"126"-203,-32 0 16,31 63-16,-31 31 15,63-94-15,-63 94 0,0 62 16,0-31-16,0 31 16,0-124-16,0 61 15,0-30-15,0-32 16,0-31-16,31 63 16,-31-95-16,0 95 0,0-94 15,31-1-15,-31-30 16,32-1-16,-32 32 15,31-32-15,-31 63 16,0-62-16,94 61 16,-94 1-16,0-62 0,0-1 15,0 126-15,0-95 16,0 1-16,0 62 16,0-31-16,-63 63 15,63-94-15,-31 31 16,31 62-16,-31-125 0,-1 63 15,-30 0-15,30-31 16,1 31-16,0-94 16,-1-31-16,32 31 15,-31-31-15,31 31 16,-31-62-16,31 31 0,0-1 16,0-30-16,0 31 15,0-32-15,0 1 16,0 62-16,0-31 15,31 0-15,-31 0 16,0-32-16,31 32 0,-31 0 16,0-32-16,0 1 15,0-32 1,0 0-16,0 1 31,0-1 16,32-31 62,-1 0-62,32 0-31,-32 0 0,63 0-16,-63 0 15,32 0-15,-1 0 16,64 0-16,-33 0 15,33 0-15,30 0 16,-31-63-16,-31 63 16,63 0-16,-32 0 0,-31-31 15,31 31-15,-31 0 16,0 0-16,0-31 16,31 31-16,-31-31 15,94 31-15,-94 0 16,31 0-16,31 0 0,-31 0 15,32-32-15,-63 32 16,0 0-16,0 0 16,0 0-16,-63-31 15,94 31-15,-62 0 16,-1 0-16,32 0 0,0 0 16,-31 0-1,62-31-15,0 31 16,-94-32-16,95 32 15,30-62-15,-93 62 16,31 0-16,62-31 0,-93-1 16,62 32-16,0-31 15,94 31-15,-94-31 16,-31 31-16,63 0 16,-32-31-16,31 31 15,-62 0-15,0 0 0,0 0 16,-31 0-16,-1 0 15,-30 0-15,62 0 16,-63 0-16,0 0 16,32 0-16,-32 0 15,94 0-15,-62 0 16,-32 0-16,94 0 0,-31 0 16,-62 0-16,30 0 15,63 0-15,-93 0 16,30 0-16,-30 0 15,61 0-15,-30 0 16,-32 0-16,32 0 0,0 0 16,-32-32-16,31 32 15,-30 0-15,30 0 16,1 0-16,0-31 16,30 31-16,33 0 0,-1 0 15,-31-31-15,94 31 16,-126-63-16,63 63 15,32 0-15,-63-31 16,31 31-16,-62-31 16,30 31-16,33 0 15,-64-32-15,32 32 0,-31 0 16,62 0-16,-94 0 16,63-31-16,-63 31 15,63 0-15,-31-31 16,-32 31-16,1-32 0,-1 32 15,0 0-15,0 0 32,1 0-17,62-93 1,-32 93-16,-30 0 0,-1 0 16,31 0-16,-30-32 15,-32 1 16,31 31-31,0 0 32,-31-31 30,0-1-46,0 1-1,0-31 1,0 30-16,32-343 31,-32 344-31,0-1 16,0 1-16,0 0 16,0 0-1,0-63 1,0-63-16,31 1 15,-31 62-15,0-31 16,0-31-16,0-1 0,0 63 16,0 0-16,-31 1 15,31-1-15,0 31 16,0 32 0,0 0-1,0-32-15,0-31 0,0 32 16,-32-32-16,32 31 15,0-31-15,-31-31 16,31 0-16,0 63 16,0-32-16,-31-31 15,31 62-15,0-31 0,0 32 16,-32-63-16,32 93 16,0-30-16,0-1 15,0-62-15,-31 62 16,31 32-16,0-31 15,0-32-15,0 31 0,0 1 16,0-1-16,0 1 16,0-1-16,0 0 15,0 32-15,0-63 16,0 63-16,0-32 0,0 32 16,0 0-1,0 0-15,0-1 16,0 1-1,0-31-15,0 30 16,0-30-16,0-1 16,0 1-16,0 30 0,0 1 15,31-63-15,-31 0 16,0 63-16,32-32 16,-32 1-16,31 62 15,-31-125-15,0 93 0,0-30 16,0 31-16,0-32 15,0-31-15,0 63 16,0 0-16,31-32 16,-31 32-16,0-94 15,0 62-15,0 1 16,0-32-16,0 0 0,0 31 16,0-62-16,0 63 15,0-1-15,0-31 16,0-31-16,0 94 15,0-63-15,0 0 16,0 63-16,0-32 0,0 32 16,0-32-16,0-30 15,0 30-15,0 1 16,0-32-16,32 31 16,-32-31-16,0 0 15,0 1-15,0 30 0,0-31 16,0 32-1,62-32-15,-62 31 16,0 1-16,0-1 16,32 32-16,-32-63 15,0 0-15,0 32 0,0-32 16,0 0-16,31 0 16,-31 31-16,0-30 15,0-1-15,0 31 16,31-31-16,-31 63 15,0-31-15,0-1 0,31 0 16,-31 32-16,0-31 16,0 30-16,0-62 15,32 1-15,-32 61 16,0 1 0,0 0 15,0-32 0,0-31-31,0 1 16,31-1-16,-31 62 0,0-30 15,0 31-15,31-1 16,-31 1 0,0-32 15,63 1-16,-63 31 1,31-63-16,-31 31 16,0 32-16,0 0 15,32-1 1,-32-30 0,31 62-16,-31-31 15,31-32-15,-31 32 31,0-1-15,0 1 47,31-31-48,1-1-15,-32 32 0,31-32 16,-31 32 31,0 0-16,-31 31 0,-1-32-15,-30 32-16,31 0 15,-63-31-15,0 31 0,0 0 16,63 0-16,-95 0 16,95-63-16,0 63 15,-32 0-15,-62 0 16,62-31-16,-31 31 16,63 0-16,-63 0 0,-31 0 15,-31 0-15,30 0 16,-30 0-16,93 0 15,-31 0-15,63 0 16,-63 0-16,32 0 16,-64 0-16,64 0 15,-32 0-15,63 0 16,-63 0-16,-157 0 16,32 0-16,125 0 15,-125 0-15,125 0 16,-125 0-16,94 0 0,-32 0 15,64 0-15,-33 0 16,-30 0-16,62 0 16,-63 0-16,95-31 15,-63 31-15,-1-31 16,33 31-16,30-32 0,-31 32 16,0-31-16,63 31 15,0 0-15,-1 0 16,1 0 15,-32 0-15,-62 0-1,94 0-15,-63 0 16,31 0-16,1 0 16,30 0-1,-30 0-15,-63 0 16,62 0-16,-31 0 0,32 0 15,30 0-15,1 0 16,-32 31-16,-93-31 16,125 0-16,-32 0 15,32 0-15,-32 32 0,32-32 16,-63 31 0,-63 0-16,63-31 15,32 0-15,-1 0 16,1 0-16,30 63 15,-124-63-15,-32 31 0,125-31 16,-30 0-16,-1 0 16,-32 0-1,-30 0-15,125 0 16,-63 0-16,62 0 16,-30 0-16,31 0 0,-1 0 15,-124 0-15,-63 0 16,125 31-16,0-31 15,0 0-15,-63 0 16,-30 0-16,93 0 16,-63 0-16,-62 0 15,0 63-15,-63-94 0,126 31 16,-1 0-16,32 0 16,31 0-16,0 0 15,32 0-15,-1 0 16,32 0-1,0 0 17,-1 0-32,-30 0 15,-1 0 1,32 0-16,-1 0 31,-30 0 0,31 0 48,31 31-64,-63 0 48,63 0-63,-31 1 15,-1-1-15,32 0 0,-31-31 16,31 32-16,-31-1 16,-1 0-1,32 0-15,0 1 47,0-1-31,0 0-16,0 1 15,0-1-15,0 0 16,0 0-16,0 1 16,0 30 62,0-31-16,32 1-31,-32-1-15,31-31 0,0 31-1,-31 1 1,32-32-16,-1 62 31,0-62-15,-31 31-16,32-31 15,-32 32 32,62-32-47,-62 31 47,0 0-47,31-31 16,1 0-16,-32 32 15,31-1-15,-31 0 16,0 0 15,0 1 16,31-32-31,1 31 15,-32 0-31,62 32 16,-30 31-16</inkml:trace>
  <inkml:trace contextRef="#ctx0" brushRef="#br0" timeOffset="87922.53">13803 8633 0,'-62'0'234,"30"0"-218,-61-31-16,-1 31 16,-32-31-16,95 31 0,-94-32 15,62 1-15,32 0 16,-32 31-16,-30-31 15,30-1-15,63 1 16,-63 31-16,32-31 16,31-1-1,-31 32-15,-32-31 0,32 31 47,31-31-31,-63 0-1,32-1 1,0 32-16,-1 0 16,1-62-16,0 62 15,31-32-15,-32 32 16,1 0 0,0-31 15,-32 0-16,32 0-15,0-1 16,-1 32-16,-30-31 16,-1-31-16,1-1 15,30 63-15,1 0 16,0 0-16,31-31 16,-32 31 15,32-32-31,-31 32 31,0-31-15,-1 0-16,-30 0 15,31-32-15,-32-31 16,0 32-16,32-1 16,0 32-1,31-1 1,-94-30-1,63-1 1,31 32 0,-32 0-16,1-63 15,31 63-15,-31-1 16,31 1-16,0 0 31,0 0 0,-32-32-15,-30 32 0,62-1-16,-32 1 0,32-31 15,-31 30-15,0-30 16,0 30 0,31 1-16,0 0 46,0 0-30,-32-1 0,32-30-16,0 30 15,0-30 1,-31 62-16,31-31 0,0-1 16,0-61-16,0 30 15,0 0-15,0 1 16,0-63-16,0 93 15,0-30-15,0-63 16,0 93-16,0-30 16,-63-1-16,63 1 0,0-32 15,0 63-15,0-1 16,0-61-16,0 61 16,0-62-16,32 32 15,-32-32-15,0 63 16,0-63-16,0 63 0,0-1 15,31-30-15,-31-32 16,31 94 0,-31-63-16,0 32 15,0 0-15,32-32 16,-32-31-16,31 63 0,-31 0 16,31-32-16,-31 32 15,31-63-15,-31 63 16,0 0-16,0-1 15,63 1-15,-63 0 16,0-1-16,31 32 16,-31-31-1,0 0 1,32 31 0,-1-31-1,0 31-15,-31-32 16,32 1-16,-1 31 15,31 0-15,-30-31 16,-1-32-16,32 63 16,-32 0-16,63-31 15,-63 31-15,-31-31 0,63 31 16,-1-32-16,-30 32 16,30 0-16,-30-31 15,-1 31-15,0 0 16,0 0-1,1-31-15,-1 31 16,0 0-16,32-31 16,0-1-1,-63 1 1,62 31-16,-31-31 0,1-1 16,-1 32-16,0 0 15,1 0-15,-1-31 16,0 0-16,1 31 15,30-31-15,-31-1 16,32 32-16,0 0 16,-1-62-16,1 62 0,31-32 15,-63 1-15,0 31 16,63-31-16,0 31 16,-31 0-1,62-31-15,-31-1 16,-63 32-16,0 0 15,32-31-15,-32 31 16,32 0-16,-32 0 16,1-31-16,61 31 15,-61 0-15,30 0 16,1 0-16,31 0 0,-32 0 16,32 0-16,0 0 15,0 0-15,0 0 16,-63 0-16,95 0 15,-64 0-15,1 0 16,31 0-16,-32 0 0,-30 0 16,-1 0-16,0 0 15,0 0-15,32 0 16,-32 0 0,1 0-16,-1 0 15,0 0-15,1 0 16,-32 31-16,62-31 15,-31 0-15,32 0 16,-63 31 0,63-31-16,-32 32 15,32-1-15,-32-31 0,31 31 16,-30 32-16,30-1 16,32-62-16,-62 32 15,-1-1-15,31 0 16,-30 32-16,30-32 15,-30 32-15,-1-32 0,-31 0 16,63-31-16,-63 31 16,31 1-16,-31-1 15,31 31 1,0-62-16,-31 32 16,63-1-16,-63 32 15,31-63-15,1 31 16,-1 31-16,-31-30 15,31 30-15,1 1 16,-1-32 0,0 32-16,-31-32 0,31 0 15,1 1-15,-32-1 16,0 0-16,0 0 16,31 32-16,-31-32 15,31-31-15,1 32 16,-32-1-16,0 0 0,31 32 15,-31-32-15,63 31 16,-63-30-16,31-1 16,-31 0-1,0 1 1,31 30 0,-31-31-1,31 1 1,-31-1-16,32 0 15,-32 1-15,0-1 16,0 31-16,31-30 0,-31-1 16,31 94-16,-31-31 15,0-32-15,63 1 16,-63 0-16,0-1 16,0 32-16,0-31 15,0-32-15,0 0 0,0 0 16,0 1-16,0-1 15,0 32-15,0-1 32,0-31-17,0 63-15,0-62 16,-31-1-16,31 31 16,0-30-1,0-1-15,0 0 16,0 0-16,0 1 15,0-1 1,0 0 0,-32 1-1,32 61-15,-31-30 16,31-32-16,0 63 16,-31 0-16,31-31 0,0-1 15,-32 1-15,32-1 16,0 1-16,-31-32 15,31 32-15,0-32 16,0 0-16,0 32 16,-31-32-16,31 0 15,-63 1 1,63-1 15,0 0-15,0 32-16,-31-63 15,0 31-15,-1 32 16,1-1 0,0-31-16,-1 32 15,1-32-15,0 32 16,0-63-16,-1 31 16,32 0-1,0 1-15,-31-32 16,0 62-1,31-31-15,-32-31 16,-62 32-16,94-1 0,-62 0 16,-1-31-16,63 32 15,-125-1-15,94 31 16,-1-62-16,-30 32 16,-1-1-16,63 0 15,-94-31-15,94 32 0,-62-32 16,30 0-16,1 31 15,0 0-15,-32-31 16,32 31-16,-32-31 16,1 32-1,30-1-15,-30 0 0,31-31 16,-1 0-16,-30 32 16,-1-32-16,32 31 15,-32-31-15,1 62 16,30-30-1,-30-32-15,30 0 0,1 0 16,-32 0-16,63 31 16,-31-31-16,0 0 15,0 0-15,-32 31 16,32-31-16,-1 0 16,-30 0-16,62 31 0,-63-31 15,1 0-15,30 0 16,1 0-16,0 0 15,-1 0 1,1 0-16,-32 0 16,32 0-16,0 0 15,0 0 1,-1 0 0,1 0-16,0 0 15,-1 0-15,1 0 16,0 0-16,-1 0 47,1 0-32,0 0 1,0 0-16,-1 0 0,1 0 16,0 0-1,-1 0-15,1 0 16,0 0-1,-1 0-15,1 0 16,0 0 31,0 0-31,31-31-1,-32 31-15,1 0 16,0 0-1,-1-31-15,1 31 16,0 0 0,-1 0-1,1 0 32,0 0-47,0-31 31,-32-32-31,32 63 32,-1 0-17,1 0 1,31-31-16,0 0 31,-31 31-31,-1 0 31,32-32-15,-62 1 15,31 31 1,31-31-32,-32 31 31,1 0 0,31-32-15,-31 32-1,31-31-15,-32 31 16,-30-31-16,-1 31 16,32-31-16,0 31 15,-1-32 1,1 1-16,0 31 15,-1 0-15,1 0 16,0 0-16,31-63 16,-32 63-1,1 0-15,31-31 16,-31 31 46,0 0 1,31-31 15,-63 0-47,0-1-15,32 1-16,0 31 16,-1-31-16,1-32 15,0 63 16,0-31 1,-1 31-32,1-31 15,0-32 1,-1 32-16,1-32 16,31 32-1,-31 31-15,-32-31 16,63-1 15</inkml:trace>
  <inkml:trace contextRef="#ctx0" brushRef="#br0" timeOffset="92552.6">13522 9353 0,'-32'0'234,"-30"31"-234,-32-31 16,0 31-1,63 1-15,31-1 16,-32-31-16,1 0 16,31 31-1,-31 32 16,-1-32-15,1-31-16,31 31 0,-31 1 31,31-1-15,0 0 15,62-31 110,-30 63-141,-1-63 15,32 31-15,-32-31 16,32 0 0,-32 0-16,0 31 15,0-31-15,1 0 16,-1 0 0,0 0-16,1 31 15,-1-31 1,0 32 15,1-32 0,-1 0 1,-31 31-1,0 0 16,0 1-16,0-1-31,0 0 16,0 0-16,-31 32 15,31-32-15,-32-31 16,32 32-1,-31 61 1,0-93 15,-1 0 1,32 32-32,-31-32 15,0 31 1,-1-31-1,1 0 1,0 0 0,-32 0 46</inkml:trace>
  <inkml:trace contextRef="#ctx0" brushRef="#br0" timeOffset="95158.8">14398 9666 0,'-31'0'250,"-32"-32"-234,1 1-16,62 0 16,-94 31-16,62 0 15,1 0 1,0 0-1,-1 0 32,1 0-15,-31 0 30,30 0-31,1 0 126,31 31-142,0 0-15,0 1 16,0-1-16,-31 0 15,31 0-15,0 1 0,0-1 47,0 0-15,0 0 14,31-31-30,-31 32 0,0-1-16,31-31 15,-31 31 1,63-31-16,-63 32 16,31-32 46,-31 31-46,31-31 15,1 62-15,-1-62-1,0 0 1,32 0-1,-32 32 1,1-32 15,-1 0 16,0 0 31,0 0-46,1 0-1</inkml:trace>
  <inkml:trace contextRef="#ctx0" brushRef="#br0" timeOffset="96899.19">14742 9666 0,'0'62'265,"0"1"-249,0-32-16,0 31 16,0-30-16,0-1 31,0 0 16,0 1-16,0-1 0,0 0-15,0 0 0,0 1 15,0-1 16</inkml:trace>
  <inkml:trace contextRef="#ctx0" brushRef="#br0" timeOffset="99626.7">14742 9759 0,'0'-31'328,"0"0"-281,0 0 47,0-1-63,32 1-31,-32-63 16,31 63-16,-31 0 15,0-32-15,31 63 16,-31-31-16,0-1 15,0 1 17,0 0-1,32 0 16,-32-1-32,0 1-15,0 0 16,31 31-16,-31-32 31,31 32-15,-31-31 0,63 94 77,-32-32-93,0 32 16,-31-32-16,32 63 16,-1-63-16,0 0 15,-31 1 1,32-1 15,-32 63 32,0-63-32,0 0-16,0 1 17,0-1 46,0 0-47,-32-31 63,1 0-47,0 0 15,-1 0-46,1 0 15,0 0 0,-1 0 16,1 0 0,0 0 16,0 0-17</inkml:trace>
  <inkml:trace contextRef="#ctx0" brushRef="#br0" timeOffset="118539.21">12708 5192 0,'31'0'328,"0"0"-328,1 0 16,30 0-16,1 0 15,0 0-15,-32 0 16,0 0-16,32 0 16,62 0-16,-94 0 0,32 0 15,31 0-15,-32 0 16,1 0-16,0 0 16,-1 0-16,1 0 15,-32 0-15,32 0 16,-32 0-16,0 0 0,1 0 15,-1 0-15,0 0 16,0 0-16,1 0 16,-1 0-16,0 0 15,1 0-15,62 0 16,-63 0-16,31 0 0,1 0 16,0 0-16,-1 0 15,-30 0-15,-1 0 16,0-31-1,0 31 17,-62 0 61,0 0-93,0 0 32,-1 0-32,-62 0 15,63 0 1,0 0 15,-1 0-31,1 31 31,0-31-31,0 0 0,-1 0 16,-30 0-16,30 0 16,1 0-1,-63 0 1,63 0-16,-32 0 16,32 0-1,0 0 1,-1 0 31,1 0-16,0 0 0,-1 0-15,32 32-16,-31-32 0,0 0 15,0 31 17,-1-31-32,1 0 15,0 0 1,-1 31 0,1-31 62,0 0-31,31 31 78,0 32-110,0-32 1,0 1-16,0-1 15,0 31-15,0-30 16,0-1-16,0 63 16,31-94-16,-31 31 15,0 0-15,0 1 16,0 30 0,31-62-16,-31 63 31,0-32 31,0 0 1,0 1-1,0-1 16,0 0-46,-31-31-17,31 32 1,-31-32 15,-1 31-31,1-31 31,31 31-31,-31-31 32,0 0-17,-1 0-15,1 0 16,0 0 0,-32 0-16,32-31 15,-32 31 1,32-31-1,0 31-15,-1 0 47,32-32-31,0 1 15,0 0 47,0-1-31</inkml:trace>
  <inkml:trace contextRef="#ctx0" brushRef="#br0" timeOffset="121892.29">13991 5943 0,'-31'0'282,"0"0"-282,-1-31 15,-30 31-15,30 0 0,1 0 16,0 0-16,-1 0 15,1 0 32,0 0-31,0 0 46,-32 0-46,63 31 15,-31-31-15,31 31 0,-32-31 15,32 32 31,0-1-15,32 0-47,-32 1 31,62-32-31,-62 62 16,32-62 0,-32 31-1,31 1 48,0-32-48,-31 31 1,31-31-16,1 0 16,-1 31-1,0-31 17,1 0-1,-1 0 47,0 0 0,-31-31 141,0 0-219,0-1 62,0-30-15,0 31 16,32 31 280,-32 62-327,0-31 0,31 1-16,0-1 15,0 0-15,-31 0 32,0 1-17,32-32-15,-1 31 47,-31 0-16</inkml:trace>
  <inkml:trace contextRef="#ctx0" brushRef="#br0" timeOffset="124746.83">14304 6006 0,'31'31'250,"1"32"-234,-1-63-16,-31 31 16,0 0-16,31 0 15,-31 1-15,0-1 32,32 0 30,-1-31-31,-31 31-31,0 1 16,63-32 31,-63 31-32,0 0 32,31-31-47,0 0 94,0 0-63,1 0 47,-32-31-62,31 31 15,-31-31 16,31 31-47,-31-32 47,32 32 0,-32-31-16,0 0 0,0 0 32,0-1-32,31 32-15,-31-31-16,31 0 15,-31 0 1,0-1-16,32 1 16,-32 0-1,31-1-15,-31 1 78</inkml:trace>
  <inkml:trace contextRef="#ctx0" brushRef="#br0" timeOffset="128191.77">15494 5912 0,'-32'0'266,"1"0"-251,0 0 17,-1 0 46,32 31-63,-31-31 32,0 31-15,-1 1-17,1-1 16,0 0 16,31 32-47,0-32 16,-31 0-16,31 1 16,-32-1-16,32 0 15,-31 0-15,31 1 16,0-1-16,0 0 15,0 1 64,31-32 14,1 0-15,-1 0-31,0 0 16,32 0 15,-63-32-62,0 1 62,0 0-47,31 31-15,-31-32-1,0 1 48,31 31-48,1 0 1,-32-31 0,0 0-1,0-1-15,0 1 78,0-31-46,31 62 186,-31-32-202,0 1 15,0 62 219,0 32-250,0-32 16,0 0-16,0 1 15,31-1-15,-31 0 16,0 0 31,0 1-16,0-1 79,32-31-95,-32 31 16,31-31 48,0 0-48,0 32-31,63-32 15,0 0-15,-62 0 16,61 0-16,-61 0 16,62 0-16,-63 0 15,0 0 1,1 0-16,-1 0 31</inkml:trace>
  <inkml:trace contextRef="#ctx0" brushRef="#br0" timeOffset="131059.9">15963 5849 0,'125'0'250,"94"-31"-235,0 31-15,63 0 16,-31-31-16,-32-1 16,62 32-16,-30 0 0,124-62 15,-156 31-15,94 31 16,-62-32-16,-63 32 16,31-31-16,-63 31 15,63-94-15,-62 94 16,62-31-16,63 31 0,-126 0 15,63-31-15,-125 31 16,31 0-16,1 0 16,-1 0-16,31 0 15,-62 0-15,125 0 16,-62 0-16,62 0 0,-63 0 16,1 0-16,-1-32 15,-30 32-15,-1 0 16,31 0-16,-31 0 15,1 0-15,61 32 16,33-32-16,-64 0 0,-62 0 16,62 31-16,-30-31 15,-64 0-15,1 0 16,-32 0-16,0 0 16</inkml:trace>
  <inkml:trace contextRef="#ctx0" brushRef="#br0" timeOffset="133012.64">24038 4848 0,'32'63'234,"62"31"-218,-32 0-16,32-1 0,-31-61 16,-1 61-16,-30 1 15,93-31-15,-63 31 16,32 0-16,32-1 16,-33-30-16,-30-32 15,-32 1-15,1-1 16,30 0-16,-30 0 0,-1 1 15,-31-1 17,31-31-17,-31 31 142,-62-31-157,-1 0 15,32 0 1,-32 0-1,32 0-15,-32 0 16,1 32-16,-1-32 16,-31 31-16,63-31 15,-94 31-15,62 0 0,0-31 16,32 32-16,-32-32 16,1 62-16,-1-62 15,1 31 1</inkml:trace>
  <inkml:trace contextRef="#ctx0" brushRef="#br0" timeOffset="136314.73">26949 5443 0,'-31'-32'250,"-32"32"-235,1-31-15,-32 0 16,31 31 0,32-32-16,0 32 0,-32-31 15,-31 31 1,63 0-16,0 0 15,-1 0-15,1 0 16,0 0-16,-32 0 16,32 0-16,0 0 15,-32 0 1,32 0-16,-32 0 16,32 0-1,-32 0-15,32 0 16,0 0-1,-1 0-15,32 31 32,-31-31-17,0 0 17,31 32-17,0 62 48,62-1-48,-62-61 1,0 93-16,32-31 16,-32-32-16,31 32 15,-31-63 16,31-31-15,0 0 15,1 0 47,-1 0-46,0 0-17,32 0 1,-32 0-16,1-31 16,-1 31-16,31-62 0,1 62 15,0-32-15,31 32 16,-1 0-1,-30 0 1,-32 0-16,1 0 16,30 0-1,-30 0 1,30 0-16,-31 0 16,1 0-1,-1 63 1,-31-32 31,31 0 15,-31 1-46,0-1 31,0 0-47,0 1 15,0 30-15,0-31 16,-31-31-16,31 32 16,-31 30-16,-1-62 15,32 31-15,-31 1 16,0-1-16,0 0 15,-1 1 32,-30-32-47,62 31 0,-32-31 16,-30 0 0,-1 31-16,32-31 15,-32 31-15,32-31 16,0 32-16,-32-1 15,32-31-15,-1 0 0,1 31 16,0-31 0,0 32-16,-1-32 31,1 0 0,0 31-31,-32-31 16,32 0-16,-1 0 15,-30 0-15,31 0 16,-32 0-16,0 0 16,32 0-1,0 0-15,-1 0 63,32-31 15,0-1-47,32 1 16,-32 0-16,31 31-15,0 0 31,1 0-32,-1 0 1,0-32-16,1 32 31,-1 0 32,0 0-32,0 0-15,1 32-1,-1-1-15,32 32 16,-32-1-16,0-31 16,1 32-16,-32 0 15,31-1-15,-31 1 0,0-32 16,0 31-16,0-30 15,0 30-15,0 1 16,0-32-16,0 0 16,0 32-16,0-32 0,0 32 15,0-32-15,0 0 47</inkml:trace>
  <inkml:trace contextRef="#ctx0" brushRef="#br0" timeOffset="157208.76">15869 5881 0,'63'0'250,"62"31"-250,31 31 0,32 1 16,63-32-16,30 1 15,-62 93-15,63-94 16,0 63-16,-157-63 15,94 32-15,-31-1 16,125 63-16,-94-93 0,0 93 16,63-31-16,-94-63 15,31 63-15,-94-63 16,31 63-16,1-32 16,-1 1-16,-30-32 15,93 94-15,-94-93 0,63 30 16,-63-31-16,-31 1 15,0-1-15,0 0 16,0-31-16,-1 63 16,-30-32-16,0 0 0,31 1 15,-1-1-15,-30 32 16,31-32-16,31 0 16,-62 0-16,31 1 15,0-1-15,-32 0 16,32 32-16,-31-32 15,-1-31-15,-30 31 0,30-31 16,1 63 0,-1-32-16,-62 0 15,63-31-15,-32 0 16,1 32-16,-1-32 16,0 31-16,0 0 15,1 1-15,30-32 16,-30 62-16,30-62 15,-30 31-15,30 1 16,32-1-16,0 0 16,-63 1-16,32-1 0,31 0 15,-63 0-15,32-31 16,-1 32-16,32-1 16,-63 0-16,1 0 15,-1-31-15,32 32 16,-32-32-16,32 0 0,-32 31 15,0-31-15,0 31 16,1 32-16,-1-63 16,0 0-16,1 0 15,-1 31-15,0-31 16,-31 31-16,32-31 47</inkml:trace>
  <inkml:trace contextRef="#ctx0" brushRef="#br0" timeOffset="159723.74">24571 8633 0,'31'0'266,"31"63"-266,-62-32 15,63 0-15,-32 1 16,32 30-16,-32-31 15,1-31 1,-32 32-16,31-32 47,-31 31-31,31-31-1,-31 31 1,31-31-1,32 32-15,-32 30 32,1-62-32,-32 31 15,31-31-15,-31 32 47,31-32-16,-31 31-31,0 0 79,0 1 217,-31-1-280,0-31 0,-1 0-1,-30 0 1,30 0-16,1 0 16,0 0-1,0 62 1,-1-62-16,1 0 15,0 0 1,-1 0 0,1 0-16,0 0 31,-1 0-31,32 32 0,-31-32 16,0 0 30,0 0-14,-1 0 46,1 0-31</inkml:trace>
  <inkml:trace contextRef="#ctx0" brushRef="#br0" timeOffset="162133.54">26480 8665 0,'-31'-32'219,"-63"1"-203,-63 0-16,63-1 15,32 1-15,-32 0 16,31 31-16,1-31 16,30 31-16,1 0 15,0 0-15,-1 0 0,1 0 16,0 0-16,-1 0 31,1 0-15,0 0 15,0 31-31,-1-31 31,32 31 0,-31-31-31,31 31 47,0 1-15,0 30-17,63 32 1,-63-63-16,0 63 15,31-94 1,0 31-16,-31 1 16,31-32-16,-31 31 31,32-31-15,-32 31-1,31-31 1,32 32-16,-32-32 15,0 0 1,32 0-16,-1 0 16,1 0-1,-32 0 1,1 0-16,-1 0 16,0 0-1,1 62 1,30-62-1,-31 31 1,1-31 15,-1 0-15,-31 32 0,31-1 15,-31 0 0,32-31-31,-32 32 16,0-1-1,0 0-15,0 0 16,0 1 0,0-1 15,-32-31-31,32 31 15,0 1-15,-31-32 16,0 93-16,-1-93 16,-30 32-1,-1-1-15,1 0 16,30-31 0,-62 32-16,63-32 0,0 0 15,-32 0-15,1 31 16,30-31-16,1 0 15,0 0-15,-1 0 32,1 0 15,62 0 140</inkml:trace>
  <inkml:trace contextRef="#ctx0" brushRef="#br0" timeOffset="166083.82">27450 8883 0,'-31'-31'313,"0"0"-298,31 0-15,0-32 16,0-31 0,0 63-16,0 0 15,0-32-15,31 32 16,0 0 0,-31-1-1,0 1 16,31 31-15,1 0-16,-1-31 16,0 31-1,1 0-15,-1 0 16,0 0-16,1 0 16,-1 0 15,0 0-16,0 0 32,-31 31-31,0 0-16,32 32 0,-32-32 16,62 0-16,-62 1 15,32 30-15,-32-30 16,0 30-16,0-31 15,0 1-15,0 30 16,0 1-16,-63-1 16,63-30-16,-31 30 15,31 32-15,-32-63 16,32 32-16,0-32 16,-31 0-16,0 32 15,0 0-15,-1-32 0,1 31 16,31-30-16,-31-1 15,-1 32-15,1-32 16,0 0-16,31 0 16,-32 1-16,1-32 15,0 62-15,0 1 16,-1-63 0,32 31 30,-31-31-46,0 0 16,-1 0 0,1 0-1,0 0-15,-1 0 16,1 0-16,0 0 16,0 0-1,-1 0 1,1-63-1,31 1 1,-63 31 0,63-1-16,0 1 15,-31 31-15,31-94 16,0 63 0,0 0-1,0-1 1,31 1-1,-31 0-15,32 31 16,-32-31-16,31 31 31,0-63 16,-31 32 0,63 31-31,-32 0-16,63 0 31,-63 0-15,1 0-1,-1 0-15,0 0 16,1 0-16,-32 62 15,31-62 1,0 32-16,0-32 16,-31 31-16,32-31 15,-1 31-15,32-31 32,-32 31-32,-31 1 0,31-32 15,1 0-15,-32 31 16,31-31-16,0 0 15,-31 63 1,31-63 0,1 0 31,-1 0-32,0 0-15,1 0 16,-1 0-16,0 0 15,1 0 17,-1 0 15,0 0-16,0 0-16,1 0 1,30 0 0,-30 0-16,30 0 47</inkml:trace>
  <inkml:trace contextRef="#ctx0" brushRef="#br0" timeOffset="197132.83">15024 11605 0,'31'-31'266,"32"31"-266,0 0 16,62 0-16,-63 0 15,1-32-15,0 32 0,-1 0 16,1 0-16,-32 0 16,0 0-1,1 0-15,30 0 31,-30 0 1,-1 0-17,0 0-15,0 0 16,1 0 0,-1 0-16,0 0 0,1 0 15,-1-31-15,0 31 16,1 0-1,-1 0 1,-62 0 156,-1 0-172,1 0 16,-63 0-16,63 0 15,-63 0-15,31 0 16,1 0-16,-32 0 15,31 0-15,32 0 16,0 0-16,-32 0 0,32 0 16,-1 0-1,1 0 1,0 0 62,31 31 31,0 1-109,0 30 0,0 1 16,0 62 0,0-94-16,0 0 15,0 32-15,31-32 16,-31 1 0,0-1-1,0 0 16,0 0 1,0 1-1,0-1-31,31 0 16,1 32-1,-1-1-15,-31-30 16,31-32-1,-31 31-15,0 0 79,0 1-33,0-1 48,-31-31-78,0 0 15,-1 0 0,-30 0-15,62 31-16,-32-31 16,-30 0-1,31 0 32,-1 0-31,-30-31-1,30 31-15,1 0 16,0-31-16,-1 31 16,32-32-16,-31 32 0,31-31 46,-31 31-30,31-31 15</inkml:trace>
  <inkml:trace contextRef="#ctx0" brushRef="#br0" timeOffset="199766.89">16245 12231 0,'0'-32'282,"-32"32"-267,1 0-15,0 0 16,0 0 0,-1 0-1,1 0 32,0 0-16,-1 32 16,1-1-31,0-31-1,31 31 1,0 0 15,0 1 1,0 30-17,0-30 1,0-1-16,0 0 15,0 32 1,0-32-16,31 31 16,0 1-16,1 0 15,30-1 1,-30-31-16,-32 1 16,0-1-1,31-31 1,-31 31-1,31-31 17,0 0-1,1 0 78,-1 0-31,-31-31-78,0 0 16,0-1-16,0-30 16,31 62-16,-31-31 15,0-32 1,32 0 0,-32 32-16,0 0 0,0-32 15,0 1 1,0 31-16,0-32 15,0 0-15,0 32 16,0 0 0,0 0-1,0 93 220,0-31-235,31 32 15,0 0-15,-31-32 16,32 31-16,-32 1 16,31-32-16,31 0 15,-62 32-15,32 0 16,-1-32-1,0 0 32,1-31-15,-1 31-17,0-31 1,1 32-16,-1-32 15,0 62-15,0-62 0,1 0 16,-1 0 31</inkml:trace>
  <inkml:trace contextRef="#ctx0" brushRef="#br0" timeOffset="201732.77">16871 12262 0,'31'0'297,"-31"31"-297,31-31 16,1 31-16,-32 1 31,31-32 0,-31 31 0,31 0-15,-31 1-16,63 30 16,-63-31-16,31 1 15,0-1-15,-31 0 0,0 0 16,0 1-16,32-32 15,-32 31-15,31 0 32,0-31 61,-31-31 126,32 0-203,-32-32-16,0 1 0,62 62 15,-62-32-15,0 1 16,0 0 0,0 0-16,0-1 47,32 1-32,-32 0 1,0-1-16,31 1 15,-31-31 1,31 62-16,-31-32 0,0 1 16,0 0 46</inkml:trace>
  <inkml:trace contextRef="#ctx0" brushRef="#br0" timeOffset="204069.82">17935 12137 0,'-63'0'266,"32"0"-266,0 0 16,-1 0-16,1 0 0,0 0 15,0 0 32,31 31-31,-32-31-1,32 31 1,0 1 0,-31-32-1,0 62 1,-1 32-16,32-63 15,-62 1 1,62 30 0,0 32-1,-32-63-15,32 32 16,0-1-16,0-30 0,0 93 16,63-63-16,-32-30 15,-31-1-15,0 0 16,0 0-16,32-31 15,-32 32 1,31-32 15,-31 31-31,31-31 63,1 0-32,-1 0-31,31 0 16,-30-63-16,-1 63 15,0 0-15,1-31 16,-32 0 0,31 31-16,0-31 15,1-1 1,-32 1-16,0-32 15,0 32-15,31 0 16,-31 0 0,0-1-16,0 1 15,0 0 1,0-32-16,0 32 16,0-32-16,0 32 15,0 0-15,0 0 16,0-1-1,0 1-15,0-32 16,0 32-16,0 0 16,0-32-16,-31 32 15,-1-32-15,1 32 47,31 0-31,0 62 140,0 63-156,31 0 0,1 0 16,-1-63-16,0 94 15,-31-94-15,31 32 16,-31-32 0,0 0 15,32-31 16,-1 0 15,0 0-31,-31 63-15,32-63 0,-1 31-16,32-31 15,-32 0 1,0 32 0,32-32-16,-32 0 31</inkml:trace>
  <inkml:trace contextRef="#ctx0" brushRef="#br0" timeOffset="205419.7">18530 12450 0,'250'0'234,"63"31"-218,63-31-16,-63 31 0,62 0 16,1-31-16,31 63 15,-32-32-15,-156-31 16,94 31-16,-31 1 16,-125-32-16,93 0 15,63 62-15,-94-62 0,63 63 16,-32-63-16,-93 0 15,-32 31-15,63-31 16,-32 31-16,1-31 16,-32 32-16,0-32 15,-62 31-15,31-31 16,-63 31-16,32-31 0,-32 0 16</inkml:trace>
  <inkml:trace contextRef="#ctx0" brushRef="#br0" timeOffset="207070.86">24445 12387 0,'0'31'250,"63"1"-250,0-1 0,-32 0 15,63 0-15,-32 63 16,-30-63-16,30-31 16,63 63-16,-62-32 15,0 1-15,-32-1 16,63 0-16,-32 32 15,1-63-15,-32 31 16,1 0-16,30 1 31,-30-32-15,-95 0 140,32 0-140,-1 31-1,1-31-15,0 0 16,-1 31-16,-61 0 16,30 32-16,0-63 15,1 31-15,-126 32 0,157-32 16,-32 32-16,-62-32 16,62 31-16,63-30 15,-62-32-15,30 31 16,1 0-16,31 1 15,-31-32 17,-1 0 15</inkml:trace>
  <inkml:trace contextRef="#ctx0" brushRef="#br0" timeOffset="209006.21">27106 12575 0,'-63'0'235,"-62"0"-235,31 0 15,0 31-15,0-31 16,32 31-16,30-31 16,1 0-1,0 0 1,31 31-1,0 1 32,0-1 16,31 32-48,32-32-15,-32 0 16,63 32-16,-31-32 16,-1 0-16,63 1 15,-62 30-15,31-31 16,0 1-16,-32-32 16,32 31-16,0-31 0,-31 0 15,-32 0-15,0 0 16,1 31-16,30-31 15,-30 0 17,-32 32 61,0-1-46,-63-31-31,32 31-16,-32 32 0,32-32 16,-94-31-16,62 0 15,0 31-15,1 0 16,-1-31-16,-31 0 15,63 32-15,-94-32 16,62 31-16,32-31 16,-32 0-16,32 0 0,-32 0 15,32 0-15,0 0 16,-32 0-16,32 0 16,0 0-16,-32 0 15,32 0-15,-32-31 16,32 31-16,-1-32 15,-61 32-15,61 0 32,32-31-32,-31 31 15</inkml:trace>
  <inkml:trace contextRef="#ctx0" brushRef="#br0" timeOffset="211940.79">28733 12700 0,'0'-32'234,"-62"32"-218,31-31-16,-32 31 0,0 0 15,32 0-15,-32 0 16,32-31-16,0 31 16,0 0-16,-1 0 15,1 0 1,0 0 15,-1 0-15,1 0-1,0 0 1,-1 0-16,-61 0 0,61 0 16,1 31-1,0-31 16,-1 0 1,32 31 30,0 63-46,0-62-16,0-1 15,0 94-15,0-94 16,32 1 0,-32-1-1,31-31 17,-31 31 30,31-31-46,1 31-1,-1-31 1,0 0-16,0 0 16,-31 32-16,63-32 15,-63 31-15,31-31 16,1 0 31,-32 31-47,31-31 0,0 0 15,1 0-15,-1 0 16,0 0 0,0 0-16,1 0 15,-1 0 1,0 0-1,1 0 32,-32 32 0,0-1 78,-32 31-94,1-30-15,31 30-16,-31-62 16,31 31-16,0 1 15,0-1 48,-32-31-48,1 31-15,0 1 16,-63-1 0,63 31-1,-1-62 1,1 0 0,31 32-16,-31-32 62,-1 0-15,1 0-16,-31 0 63,30 0-32,32-63-46,-31 63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E73A1-BB76-40C2-A38B-A0FB9BE17F7B}" type="datetimeFigureOut">
              <a:rPr lang="en-IN" smtClean="0"/>
              <a:t>05-10-2026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24EDA-1E9A-4CFF-9A5E-9DD5FDB5D3C2}" type="slidenum">
              <a:rPr lang="en-IN" smtClean="0"/>
              <a:t>‹#›</a:t>
            </a:fld>
            <a:endParaRPr lang="en-IN"/>
          </a:p>
        </p:txBody>
      </p:sp>
    </p:spTree>
    <p:extLst>
      <p:ext uri="{BB962C8B-B14F-4D97-AF65-F5344CB8AC3E}">
        <p14:creationId xmlns:p14="http://schemas.microsoft.com/office/powerpoint/2010/main" val="322051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83319B9-5952-40B4-9FDF-875D747C50DC}" type="slidenum">
              <a:rPr lang="en-IN" smtClean="0"/>
              <a:t>4</a:t>
            </a:fld>
            <a:endParaRPr lang="en-IN" dirty="0"/>
          </a:p>
        </p:txBody>
      </p:sp>
    </p:spTree>
    <p:extLst>
      <p:ext uri="{BB962C8B-B14F-4D97-AF65-F5344CB8AC3E}">
        <p14:creationId xmlns:p14="http://schemas.microsoft.com/office/powerpoint/2010/main" val="280757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70CB-ED54-D741-27E0-392C321174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B5AF22-1504-704F-82B1-27C273DD57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D62491-1816-887D-7102-9585FEB99354}"/>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5" name="Footer Placeholder 4">
            <a:extLst>
              <a:ext uri="{FF2B5EF4-FFF2-40B4-BE49-F238E27FC236}">
                <a16:creationId xmlns:a16="http://schemas.microsoft.com/office/drawing/2014/main" id="{619F9D31-C748-4C88-AA5F-9A810248E5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E0C20-D791-712A-90D7-ABEF0195D0B7}"/>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2810737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8C14-1529-6460-D2C1-289058AC84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C54C5D-360E-82FC-65AE-92CCFE48DB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A141D8-847C-EDF0-61CE-D9808A7EF295}"/>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5" name="Footer Placeholder 4">
            <a:extLst>
              <a:ext uri="{FF2B5EF4-FFF2-40B4-BE49-F238E27FC236}">
                <a16:creationId xmlns:a16="http://schemas.microsoft.com/office/drawing/2014/main" id="{8BF0FFB7-6572-8BC0-EBAE-325566230E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E1E11C-D5E5-73CA-DE8C-477234F0601A}"/>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1377638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5C45-B3B9-8DE8-C8BC-D2893FD2BD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22E146-0D3D-ED9A-3E75-5CD9F231D5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7496CA-DAD5-5455-CE8B-ECA26C707160}"/>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5" name="Footer Placeholder 4">
            <a:extLst>
              <a:ext uri="{FF2B5EF4-FFF2-40B4-BE49-F238E27FC236}">
                <a16:creationId xmlns:a16="http://schemas.microsoft.com/office/drawing/2014/main" id="{C6C085A6-DBBD-1627-59E8-6C630B0D88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59D05E-B5F6-AD3C-2441-431C1CAD1172}"/>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1707715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8A14-2D54-69AE-2990-F44AB497D4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B9DEC3-9469-27F1-6366-6E003013D1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C7D582-BD9C-5C9F-D1D6-2FD7D17E34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FF3E9C-81C8-29E8-AD9E-D982A7B57079}"/>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6" name="Footer Placeholder 5">
            <a:extLst>
              <a:ext uri="{FF2B5EF4-FFF2-40B4-BE49-F238E27FC236}">
                <a16:creationId xmlns:a16="http://schemas.microsoft.com/office/drawing/2014/main" id="{B5F7D7C8-4CC9-6B21-648A-10C99F99A8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5D9561-0D5C-BE06-2273-61F784C71ACC}"/>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3144406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B74E1-75DA-CD68-E961-6A8432E5D5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4EDB07-4A81-AA91-C867-3C9F1958F0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0E4AEE-9317-0C84-22B1-97002883FE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2E9DB0-3DEE-9EE0-5CC5-346389B117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8D01C4-0161-2AC7-DF0C-F7595380FA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E4DDA6-CBE2-EFE6-A756-5E1D9A1B1AB6}"/>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8" name="Footer Placeholder 7">
            <a:extLst>
              <a:ext uri="{FF2B5EF4-FFF2-40B4-BE49-F238E27FC236}">
                <a16:creationId xmlns:a16="http://schemas.microsoft.com/office/drawing/2014/main" id="{C81B4C99-DBC9-C5D4-131A-0C5EA71AC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8ED31C-2D12-2D75-502B-9F93248054FD}"/>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415174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78E6B-0F2B-9AB8-3E45-8185A84042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090D16-AF0D-6FB5-E02F-354C9DA4F8D2}"/>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4" name="Footer Placeholder 3">
            <a:extLst>
              <a:ext uri="{FF2B5EF4-FFF2-40B4-BE49-F238E27FC236}">
                <a16:creationId xmlns:a16="http://schemas.microsoft.com/office/drawing/2014/main" id="{E519D659-7086-08B2-4A6B-D065947236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3E0E6A-FD1A-8A88-CC83-58F05D83A4DD}"/>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42750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E23431-D363-E06B-E419-97FAC69759E8}"/>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3" name="Footer Placeholder 2">
            <a:extLst>
              <a:ext uri="{FF2B5EF4-FFF2-40B4-BE49-F238E27FC236}">
                <a16:creationId xmlns:a16="http://schemas.microsoft.com/office/drawing/2014/main" id="{39275694-6C15-5284-7C32-B345F231FB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021B7B-9883-6A9B-B010-E4937B06DA20}"/>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2609233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343C-155F-6BFF-8A65-FB02CF23E6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ED9721-C370-DE88-4BEA-C674FFF55D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245EFC-8AC3-5812-6737-A1274D3395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60736-F1E4-CCF4-CB77-846FC7BC50B1}"/>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6" name="Footer Placeholder 5">
            <a:extLst>
              <a:ext uri="{FF2B5EF4-FFF2-40B4-BE49-F238E27FC236}">
                <a16:creationId xmlns:a16="http://schemas.microsoft.com/office/drawing/2014/main" id="{B7943847-BD84-CF2C-259C-4B3DFB747A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A36016-63A2-25FA-7CF2-0D0930BD6F9F}"/>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294502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6B4C-6CC8-039A-3187-AF45F5837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910806-C367-1BB0-CA14-EDB88E236C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02838F-FD2A-0F77-8A9C-9075C0262F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2449E7-6154-0B85-7FCB-9941221C3350}"/>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6" name="Footer Placeholder 5">
            <a:extLst>
              <a:ext uri="{FF2B5EF4-FFF2-40B4-BE49-F238E27FC236}">
                <a16:creationId xmlns:a16="http://schemas.microsoft.com/office/drawing/2014/main" id="{D36323A0-0A0C-BF4D-55EA-181670A8F3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1AD597-78D7-AD25-9EE7-91F33A12162F}"/>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618753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9666-DDF2-A63F-4FF1-6DD6D0EBC4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CE65B0-B45B-3C87-BC6B-9C6B62FCE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D7337-1EAA-15CB-8BCA-5DBD46EE715C}"/>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5" name="Footer Placeholder 4">
            <a:extLst>
              <a:ext uri="{FF2B5EF4-FFF2-40B4-BE49-F238E27FC236}">
                <a16:creationId xmlns:a16="http://schemas.microsoft.com/office/drawing/2014/main" id="{A65100BA-BE1D-F7DF-9467-06639EAC58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1D1E53-AE86-4BA7-4ED1-3CEC30D6185A}"/>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334732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372537-2213-4F44-3141-52374146D0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98C0C5-D5C6-3FB6-103C-56A8447BA3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0E696A-E47F-A446-33F9-83799853116A}"/>
              </a:ext>
            </a:extLst>
          </p:cNvPr>
          <p:cNvSpPr>
            <a:spLocks noGrp="1"/>
          </p:cNvSpPr>
          <p:nvPr>
            <p:ph type="dt" sz="half" idx="10"/>
          </p:nvPr>
        </p:nvSpPr>
        <p:spPr/>
        <p:txBody>
          <a:bodyPr/>
          <a:lstStyle/>
          <a:p>
            <a:fld id="{FD7B2D89-F4B1-48C0-8D79-61F9E7BA3330}" type="datetimeFigureOut">
              <a:rPr lang="en-IN" smtClean="0"/>
              <a:t>05-10-2026</a:t>
            </a:fld>
            <a:endParaRPr lang="en-IN"/>
          </a:p>
        </p:txBody>
      </p:sp>
      <p:sp>
        <p:nvSpPr>
          <p:cNvPr id="5" name="Footer Placeholder 4">
            <a:extLst>
              <a:ext uri="{FF2B5EF4-FFF2-40B4-BE49-F238E27FC236}">
                <a16:creationId xmlns:a16="http://schemas.microsoft.com/office/drawing/2014/main" id="{22156773-16FD-EBFC-3346-D41EAAB55C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288329-5702-BE75-CF2C-69555A6D448E}"/>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71009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2C536-C6A8-1AA9-4A36-DF861FA2B1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3AC018-0239-7D96-B19A-9EBBABE3EC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02D3F1-6297-F5A1-A85E-7AF08066FD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7B2D89-F4B1-48C0-8D79-61F9E7BA3330}" type="datetimeFigureOut">
              <a:rPr lang="en-IN" smtClean="0"/>
              <a:t>05-10-2026</a:t>
            </a:fld>
            <a:endParaRPr lang="en-IN"/>
          </a:p>
        </p:txBody>
      </p:sp>
      <p:sp>
        <p:nvSpPr>
          <p:cNvPr id="5" name="Footer Placeholder 4">
            <a:extLst>
              <a:ext uri="{FF2B5EF4-FFF2-40B4-BE49-F238E27FC236}">
                <a16:creationId xmlns:a16="http://schemas.microsoft.com/office/drawing/2014/main" id="{7BFA0AB6-E56E-D46E-507C-2212A55EAF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9E9A29-B1E0-3B21-1098-EE231ABFBA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1B042-3C92-4926-AEE6-FD52457EE07B}" type="slidenum">
              <a:rPr lang="en-IN" smtClean="0"/>
              <a:t>‹#›</a:t>
            </a:fld>
            <a:endParaRPr lang="en-IN"/>
          </a:p>
        </p:txBody>
      </p:sp>
    </p:spTree>
    <p:extLst>
      <p:ext uri="{BB962C8B-B14F-4D97-AF65-F5344CB8AC3E}">
        <p14:creationId xmlns:p14="http://schemas.microsoft.com/office/powerpoint/2010/main" val="2412809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mailto:!@#$%^&amp;*)-+:&#8221;&lt;&gt;?*/.,;&#8217;[]{}|"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javatpoint.com/interface-in-java" TargetMode="External"/><Relationship Id="rId2" Type="http://schemas.openxmlformats.org/officeDocument/2006/relationships/hyperlink" Target="https://www.javatpoint.com/object-and-class-in-java" TargetMode="External"/><Relationship Id="rId1" Type="http://schemas.openxmlformats.org/officeDocument/2006/relationships/slideLayout" Target="../slideLayouts/slideLayout2.xml"/><Relationship Id="rId4" Type="http://schemas.openxmlformats.org/officeDocument/2006/relationships/hyperlink" Target="https://www.javatpoint.com/array-in-java"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javatpoint.com/java-if-else"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javatpoint.com/cpp-tutorial" TargetMode="External"/><Relationship Id="rId2" Type="http://schemas.openxmlformats.org/officeDocument/2006/relationships/hyperlink" Target="https://www.javatpoint.com/c-programming-language-tutorial" TargetMode="External"/><Relationship Id="rId1" Type="http://schemas.openxmlformats.org/officeDocument/2006/relationships/slideLayout" Target="../slideLayouts/slideLayout2.xml"/><Relationship Id="rId4" Type="http://schemas.openxmlformats.org/officeDocument/2006/relationships/hyperlink" Target="https://www.javatpoint.com/java-variable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javatpoint.com/programs-list" TargetMode="External"/><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javatpoint.com/java-switch"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140.png"/><Relationship Id="rId7" Type="http://schemas.openxmlformats.org/officeDocument/2006/relationships/customXml" Target="../ink/ink8.xml"/><Relationship Id="rId12" Type="http://schemas.openxmlformats.org/officeDocument/2006/relationships/customXml" Target="../ink/ink13.xml"/><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customXml" Target="../ink/ink12.xml"/><Relationship Id="rId5" Type="http://schemas.openxmlformats.org/officeDocument/2006/relationships/image" Target="../media/image30.png"/><Relationship Id="rId10" Type="http://schemas.openxmlformats.org/officeDocument/2006/relationships/customXml" Target="../ink/ink11.xml"/><Relationship Id="rId4" Type="http://schemas.openxmlformats.org/officeDocument/2006/relationships/customXml" Target="../ink/ink6.xml"/><Relationship Id="rId9" Type="http://schemas.openxmlformats.org/officeDocument/2006/relationships/customXml" Target="../ink/ink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javatpoint.com/interface-in-java"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www.javatpoint.com/jvm-java-virtual-machine"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hyperlink" Target="https://www.javatpoint.com/object-and-class-in-java"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hyperlink" Target="https://www.javatpoint.com/interface-in-java" TargetMode="External"/><Relationship Id="rId2" Type="http://schemas.openxmlformats.org/officeDocument/2006/relationships/hyperlink" Target="https://www.javatpoint.com/object-and-class-in-java" TargetMode="Externa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4048-A79C-D85E-9DAC-5F2DF4BD1CAF}"/>
              </a:ext>
            </a:extLst>
          </p:cNvPr>
          <p:cNvSpPr>
            <a:spLocks noGrp="1"/>
          </p:cNvSpPr>
          <p:nvPr>
            <p:ph type="ctrTitle"/>
          </p:nvPr>
        </p:nvSpPr>
        <p:spPr/>
        <p:txBody>
          <a:bodyPr/>
          <a:lstStyle/>
          <a:p>
            <a:r>
              <a:rPr lang="en-IN" dirty="0"/>
              <a:t>JAVA</a:t>
            </a:r>
          </a:p>
        </p:txBody>
      </p:sp>
      <p:pic>
        <p:nvPicPr>
          <p:cNvPr id="4" name="Picture 3">
            <a:extLst>
              <a:ext uri="{FF2B5EF4-FFF2-40B4-BE49-F238E27FC236}">
                <a16:creationId xmlns:a16="http://schemas.microsoft.com/office/drawing/2014/main" id="{4CD5B6F3-78A9-3469-8AC4-7BEF37F2D2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300" y="3589866"/>
            <a:ext cx="1803400" cy="1346200"/>
          </a:xfrm>
          <a:prstGeom prst="rect">
            <a:avLst/>
          </a:prstGeom>
        </p:spPr>
      </p:pic>
    </p:spTree>
    <p:extLst>
      <p:ext uri="{BB962C8B-B14F-4D97-AF65-F5344CB8AC3E}">
        <p14:creationId xmlns:p14="http://schemas.microsoft.com/office/powerpoint/2010/main" val="1018652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PROGRAMMING LANGUAGE</a:t>
            </a:r>
            <a:endParaRPr lang="en-IN" dirty="0"/>
          </a:p>
        </p:txBody>
      </p:sp>
    </p:spTree>
    <p:extLst>
      <p:ext uri="{BB962C8B-B14F-4D97-AF65-F5344CB8AC3E}">
        <p14:creationId xmlns:p14="http://schemas.microsoft.com/office/powerpoint/2010/main" val="39772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rPr>
              <a:t>Types of languages:</a:t>
            </a:r>
            <a:endParaRPr lang="en-IN" dirty="0">
              <a:solidFill>
                <a:srgbClr val="7030A0"/>
              </a:solidFill>
            </a:endParaRPr>
          </a:p>
        </p:txBody>
      </p:sp>
      <p:sp>
        <p:nvSpPr>
          <p:cNvPr id="3" name="Content Placeholder 2"/>
          <p:cNvSpPr>
            <a:spLocks noGrp="1"/>
          </p:cNvSpPr>
          <p:nvPr>
            <p:ph idx="1"/>
          </p:nvPr>
        </p:nvSpPr>
        <p:spPr/>
        <p:txBody>
          <a:bodyPr>
            <a:normAutofit/>
          </a:bodyPr>
          <a:lstStyle/>
          <a:p>
            <a:pPr>
              <a:buFont typeface="Wingdings" pitchFamily="2" charset="2"/>
              <a:buChar char="§"/>
            </a:pPr>
            <a:r>
              <a:rPr lang="en-US" b="1" dirty="0">
                <a:solidFill>
                  <a:srgbClr val="7030A0"/>
                </a:solidFill>
              </a:rPr>
              <a:t>Low level or machine level language  </a:t>
            </a:r>
            <a:r>
              <a:rPr lang="en-US" dirty="0">
                <a:sym typeface="Wingdings" pitchFamily="2" charset="2"/>
              </a:rPr>
              <a:t>--&gt;</a:t>
            </a:r>
            <a:r>
              <a:rPr lang="en-US" b="1" dirty="0">
                <a:sym typeface="Wingdings" pitchFamily="2" charset="2"/>
              </a:rPr>
              <a:t> 0’</a:t>
            </a:r>
            <a:r>
              <a:rPr lang="en-US" dirty="0"/>
              <a:t>s, </a:t>
            </a:r>
            <a:r>
              <a:rPr lang="en-US" b="1" dirty="0"/>
              <a:t>1</a:t>
            </a:r>
            <a:r>
              <a:rPr lang="en-US" dirty="0"/>
              <a:t>’s 							(binary)</a:t>
            </a:r>
          </a:p>
          <a:p>
            <a:pPr>
              <a:buFont typeface="Wingdings" pitchFamily="2" charset="2"/>
              <a:buChar char="§"/>
            </a:pPr>
            <a:r>
              <a:rPr lang="en-US" b="1" dirty="0">
                <a:solidFill>
                  <a:srgbClr val="7030A0"/>
                </a:solidFill>
              </a:rPr>
              <a:t>Middle</a:t>
            </a:r>
            <a:r>
              <a:rPr lang="en-US" b="1" dirty="0"/>
              <a:t> </a:t>
            </a:r>
            <a:r>
              <a:rPr lang="en-US" b="1" dirty="0">
                <a:solidFill>
                  <a:srgbClr val="7030A0"/>
                </a:solidFill>
              </a:rPr>
              <a:t>level  or assembly language  </a:t>
            </a:r>
            <a:r>
              <a:rPr lang="en-US" dirty="0">
                <a:sym typeface="Wingdings" pitchFamily="2" charset="2"/>
              </a:rPr>
              <a:t>--&gt;</a:t>
            </a:r>
          </a:p>
          <a:p>
            <a:pPr marL="0" indent="0">
              <a:buNone/>
            </a:pPr>
            <a:r>
              <a:rPr lang="en-US" dirty="0">
                <a:sym typeface="Wingdings" pitchFamily="2" charset="2"/>
              </a:rPr>
              <a:t>         C </a:t>
            </a:r>
            <a:r>
              <a:rPr lang="en-US" dirty="0"/>
              <a:t>language 					</a:t>
            </a:r>
          </a:p>
          <a:p>
            <a:pPr>
              <a:buNone/>
            </a:pPr>
            <a:r>
              <a:rPr lang="en-US" dirty="0"/>
              <a:t>	( It also known as the intermediate programming language )</a:t>
            </a:r>
          </a:p>
          <a:p>
            <a:pPr>
              <a:buFont typeface="Wingdings" pitchFamily="2" charset="2"/>
              <a:buChar char="§"/>
            </a:pPr>
            <a:r>
              <a:rPr lang="en-US" b="1" dirty="0">
                <a:solidFill>
                  <a:srgbClr val="7030A0"/>
                </a:solidFill>
              </a:rPr>
              <a:t>High level language </a:t>
            </a:r>
            <a:r>
              <a:rPr lang="en-US" dirty="0"/>
              <a:t>--&gt; human friendly language </a:t>
            </a:r>
          </a:p>
          <a:p>
            <a:pPr>
              <a:buFont typeface="Wingdings" pitchFamily="2" charset="2"/>
              <a:buChar char="§"/>
            </a:pPr>
            <a:endParaRPr lang="en-US" dirty="0"/>
          </a:p>
          <a:p>
            <a:endParaRPr lang="en-IN" dirty="0"/>
          </a:p>
        </p:txBody>
      </p:sp>
    </p:spTree>
    <p:extLst>
      <p:ext uri="{BB962C8B-B14F-4D97-AF65-F5344CB8AC3E}">
        <p14:creationId xmlns:p14="http://schemas.microsoft.com/office/powerpoint/2010/main" val="2037803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7652"/>
          </a:xfrm>
        </p:spPr>
        <p:txBody>
          <a:bodyPr/>
          <a:lstStyle/>
          <a:p>
            <a:r>
              <a:rPr lang="en-US" b="1" dirty="0">
                <a:solidFill>
                  <a:srgbClr val="7030A0"/>
                </a:solidFill>
              </a:rPr>
              <a:t>HISTORY OF JAVA</a:t>
            </a:r>
            <a:endParaRPr lang="en-IN" b="1" dirty="0">
              <a:solidFill>
                <a:srgbClr val="7030A0"/>
              </a:solidFill>
            </a:endParaRPr>
          </a:p>
        </p:txBody>
      </p:sp>
      <p:sp>
        <p:nvSpPr>
          <p:cNvPr id="3" name="Content Placeholder 2"/>
          <p:cNvSpPr>
            <a:spLocks noGrp="1"/>
          </p:cNvSpPr>
          <p:nvPr>
            <p:ph idx="1"/>
          </p:nvPr>
        </p:nvSpPr>
        <p:spPr>
          <a:xfrm>
            <a:off x="838201" y="1412777"/>
            <a:ext cx="9372600" cy="4713387"/>
          </a:xfrm>
        </p:spPr>
        <p:txBody>
          <a:bodyPr>
            <a:normAutofit/>
          </a:bodyPr>
          <a:lstStyle/>
          <a:p>
            <a:pPr algn="just"/>
            <a:r>
              <a:rPr lang="en-US" dirty="0"/>
              <a:t>The history of Java starts with the </a:t>
            </a:r>
            <a:r>
              <a:rPr lang="en-US" dirty="0">
                <a:solidFill>
                  <a:srgbClr val="7030A0"/>
                </a:solidFill>
              </a:rPr>
              <a:t>Green Team</a:t>
            </a:r>
            <a:r>
              <a:rPr lang="en-US" dirty="0"/>
              <a:t>. Java team members (also known as Green Team), initiated this project to develop a language for digital devices such as set-top boxes, televisions, etc.</a:t>
            </a:r>
          </a:p>
          <a:p>
            <a:pPr algn="just"/>
            <a:r>
              <a:rPr lang="en-US" dirty="0"/>
              <a:t>Firstly, it was called </a:t>
            </a:r>
            <a:r>
              <a:rPr lang="en-US" dirty="0">
                <a:solidFill>
                  <a:srgbClr val="7030A0"/>
                </a:solidFill>
              </a:rPr>
              <a:t>"Green talk" </a:t>
            </a:r>
            <a:r>
              <a:rPr lang="en-US" dirty="0"/>
              <a:t>by </a:t>
            </a:r>
            <a:r>
              <a:rPr lang="en-US" b="1" dirty="0">
                <a:solidFill>
                  <a:srgbClr val="7030A0"/>
                </a:solidFill>
              </a:rPr>
              <a:t>James Gosling</a:t>
            </a:r>
            <a:r>
              <a:rPr lang="en-US" dirty="0"/>
              <a:t>. After that, it was called </a:t>
            </a:r>
            <a:r>
              <a:rPr lang="en-US" dirty="0">
                <a:solidFill>
                  <a:srgbClr val="7030A0"/>
                </a:solidFill>
              </a:rPr>
              <a:t>Oak </a:t>
            </a:r>
            <a:r>
              <a:rPr lang="en-US" dirty="0"/>
              <a:t>and was developed as a part of the Green project.</a:t>
            </a:r>
          </a:p>
          <a:p>
            <a:pPr algn="just"/>
            <a:r>
              <a:rPr lang="en-US" dirty="0"/>
              <a:t>In 1995, Oak was renamed as </a:t>
            </a:r>
            <a:r>
              <a:rPr lang="en-US" dirty="0">
                <a:solidFill>
                  <a:srgbClr val="7030A0"/>
                </a:solidFill>
              </a:rPr>
              <a:t>"Java"</a:t>
            </a:r>
            <a:r>
              <a:rPr lang="en-US" dirty="0"/>
              <a:t> because it was already a trademark by Oak Technologies.</a:t>
            </a:r>
          </a:p>
          <a:p>
            <a:endParaRPr lang="en-IN" dirty="0"/>
          </a:p>
          <a:p>
            <a:endParaRPr lang="en-IN" dirty="0"/>
          </a:p>
        </p:txBody>
      </p:sp>
    </p:spTree>
    <p:extLst>
      <p:ext uri="{BB962C8B-B14F-4D97-AF65-F5344CB8AC3E}">
        <p14:creationId xmlns:p14="http://schemas.microsoft.com/office/powerpoint/2010/main" val="853590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GET C FILE EXECUTED</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7608" y="1513988"/>
            <a:ext cx="5688632" cy="4309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415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7030A0"/>
                </a:solidFill>
              </a:rPr>
              <a:t>HOW JAVA PROGRAM GET EXECUTED</a:t>
            </a:r>
            <a:endParaRPr lang="en-IN" b="1" dirty="0">
              <a:solidFill>
                <a:srgbClr val="7030A0"/>
              </a:solidFill>
            </a:endParaRPr>
          </a:p>
        </p:txBody>
      </p:sp>
      <p:sp>
        <p:nvSpPr>
          <p:cNvPr id="4" name="Rectangle 3"/>
          <p:cNvSpPr/>
          <p:nvPr/>
        </p:nvSpPr>
        <p:spPr>
          <a:xfrm>
            <a:off x="2207568" y="3212976"/>
            <a:ext cx="1008112"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Source </a:t>
            </a:r>
          </a:p>
          <a:p>
            <a:pPr algn="ctr"/>
            <a:r>
              <a:rPr lang="en-US" dirty="0"/>
              <a:t>code</a:t>
            </a:r>
            <a:endParaRPr lang="en-IN" dirty="0"/>
          </a:p>
        </p:txBody>
      </p:sp>
      <p:sp>
        <p:nvSpPr>
          <p:cNvPr id="5" name="Rectangle 4"/>
          <p:cNvSpPr/>
          <p:nvPr/>
        </p:nvSpPr>
        <p:spPr>
          <a:xfrm>
            <a:off x="3935760" y="3356992"/>
            <a:ext cx="1008112" cy="64807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Java</a:t>
            </a:r>
          </a:p>
          <a:p>
            <a:pPr algn="ctr"/>
            <a:r>
              <a:rPr lang="en-US" dirty="0"/>
              <a:t>compiler</a:t>
            </a:r>
            <a:endParaRPr lang="en-IN" dirty="0"/>
          </a:p>
        </p:txBody>
      </p:sp>
      <p:sp>
        <p:nvSpPr>
          <p:cNvPr id="6" name="Rectangle 5"/>
          <p:cNvSpPr/>
          <p:nvPr/>
        </p:nvSpPr>
        <p:spPr>
          <a:xfrm>
            <a:off x="5663952" y="3356992"/>
            <a:ext cx="1584176"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Byte code in JVM</a:t>
            </a:r>
            <a:endParaRPr lang="en-IN" dirty="0"/>
          </a:p>
        </p:txBody>
      </p:sp>
      <p:sp>
        <p:nvSpPr>
          <p:cNvPr id="7" name="Rectangle 6"/>
          <p:cNvSpPr/>
          <p:nvPr/>
        </p:nvSpPr>
        <p:spPr>
          <a:xfrm>
            <a:off x="7896200" y="3366323"/>
            <a:ext cx="1440160"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Java</a:t>
            </a:r>
          </a:p>
          <a:p>
            <a:pPr algn="ctr"/>
            <a:r>
              <a:rPr lang="en-US" dirty="0"/>
              <a:t>Interpreter</a:t>
            </a:r>
          </a:p>
        </p:txBody>
      </p:sp>
      <p:sp>
        <p:nvSpPr>
          <p:cNvPr id="8" name="Rectangle 7"/>
          <p:cNvSpPr/>
          <p:nvPr/>
        </p:nvSpPr>
        <p:spPr>
          <a:xfrm>
            <a:off x="8040216" y="4941168"/>
            <a:ext cx="1440160"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Mechine</a:t>
            </a:r>
            <a:r>
              <a:rPr lang="en-US" dirty="0"/>
              <a:t> code</a:t>
            </a:r>
            <a:endParaRPr lang="en-IN" dirty="0"/>
          </a:p>
        </p:txBody>
      </p:sp>
      <p:cxnSp>
        <p:nvCxnSpPr>
          <p:cNvPr id="10" name="Straight Arrow Connector 9"/>
          <p:cNvCxnSpPr/>
          <p:nvPr/>
        </p:nvCxnSpPr>
        <p:spPr>
          <a:xfrm>
            <a:off x="3215680" y="3609020"/>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5" idx="3"/>
          </p:cNvCxnSpPr>
          <p:nvPr/>
        </p:nvCxnSpPr>
        <p:spPr>
          <a:xfrm>
            <a:off x="4943872" y="3681028"/>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3"/>
            <a:endCxn id="7" idx="1"/>
          </p:cNvCxnSpPr>
          <p:nvPr/>
        </p:nvCxnSpPr>
        <p:spPr>
          <a:xfrm>
            <a:off x="7248128" y="3753036"/>
            <a:ext cx="648072" cy="93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2"/>
          </p:cNvCxnSpPr>
          <p:nvPr/>
        </p:nvCxnSpPr>
        <p:spPr>
          <a:xfrm>
            <a:off x="8616280" y="4158411"/>
            <a:ext cx="0"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089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64D83-769F-949E-8771-5ABAE88B004F}"/>
              </a:ext>
            </a:extLst>
          </p:cNvPr>
          <p:cNvSpPr>
            <a:spLocks noGrp="1"/>
          </p:cNvSpPr>
          <p:nvPr>
            <p:ph type="title"/>
          </p:nvPr>
        </p:nvSpPr>
        <p:spPr>
          <a:xfrm>
            <a:off x="838200" y="318472"/>
            <a:ext cx="10515600" cy="1325563"/>
          </a:xfrm>
        </p:spPr>
        <p:txBody>
          <a:bodyPr/>
          <a:lstStyle/>
          <a:p>
            <a:r>
              <a:rPr lang="en-US" b="1" dirty="0">
                <a:solidFill>
                  <a:srgbClr val="7030A0"/>
                </a:solidFill>
              </a:rPr>
              <a:t>COMPILER VS INTERPRETER</a:t>
            </a:r>
            <a:endParaRPr lang="en-IN" b="1" dirty="0">
              <a:solidFill>
                <a:srgbClr val="7030A0"/>
              </a:solidFill>
            </a:endParaRPr>
          </a:p>
        </p:txBody>
      </p:sp>
      <p:graphicFrame>
        <p:nvGraphicFramePr>
          <p:cNvPr id="4" name="Table 4">
            <a:extLst>
              <a:ext uri="{FF2B5EF4-FFF2-40B4-BE49-F238E27FC236}">
                <a16:creationId xmlns:a16="http://schemas.microsoft.com/office/drawing/2014/main" id="{1FFA090B-4BB8-40CA-8E11-6DB187EB9D84}"/>
              </a:ext>
            </a:extLst>
          </p:cNvPr>
          <p:cNvGraphicFramePr>
            <a:graphicFrameLocks noGrp="1"/>
          </p:cNvGraphicFramePr>
          <p:nvPr>
            <p:ph idx="1"/>
            <p:extLst>
              <p:ext uri="{D42A27DB-BD31-4B8C-83A1-F6EECF244321}">
                <p14:modId xmlns:p14="http://schemas.microsoft.com/office/powerpoint/2010/main" val="3280577813"/>
              </p:ext>
            </p:extLst>
          </p:nvPr>
        </p:nvGraphicFramePr>
        <p:xfrm>
          <a:off x="838200" y="1825625"/>
          <a:ext cx="10274560" cy="2865120"/>
        </p:xfrm>
        <a:graphic>
          <a:graphicData uri="http://schemas.openxmlformats.org/drawingml/2006/table">
            <a:tbl>
              <a:tblPr firstRow="1" bandRow="1">
                <a:tableStyleId>{F5AB1C69-6EDB-4FF4-983F-18BD219EF322}</a:tableStyleId>
              </a:tblPr>
              <a:tblGrid>
                <a:gridCol w="5137280">
                  <a:extLst>
                    <a:ext uri="{9D8B030D-6E8A-4147-A177-3AD203B41FA5}">
                      <a16:colId xmlns:a16="http://schemas.microsoft.com/office/drawing/2014/main" val="1534875262"/>
                    </a:ext>
                  </a:extLst>
                </a:gridCol>
                <a:gridCol w="5137280">
                  <a:extLst>
                    <a:ext uri="{9D8B030D-6E8A-4147-A177-3AD203B41FA5}">
                      <a16:colId xmlns:a16="http://schemas.microsoft.com/office/drawing/2014/main" val="3874134663"/>
                    </a:ext>
                  </a:extLst>
                </a:gridCol>
              </a:tblGrid>
              <a:tr h="370840">
                <a:tc>
                  <a:txBody>
                    <a:bodyPr/>
                    <a:lstStyle/>
                    <a:p>
                      <a:r>
                        <a:rPr lang="en-IN" dirty="0"/>
                        <a:t>Compiler</a:t>
                      </a:r>
                    </a:p>
                  </a:txBody>
                  <a:tcPr/>
                </a:tc>
                <a:tc>
                  <a:txBody>
                    <a:bodyPr/>
                    <a:lstStyle/>
                    <a:p>
                      <a:r>
                        <a:rPr lang="en-IN" dirty="0"/>
                        <a:t>Interpreter</a:t>
                      </a:r>
                    </a:p>
                  </a:txBody>
                  <a:tcPr/>
                </a:tc>
                <a:extLst>
                  <a:ext uri="{0D108BD9-81ED-4DB2-BD59-A6C34878D82A}">
                    <a16:rowId xmlns:a16="http://schemas.microsoft.com/office/drawing/2014/main" val="2890684076"/>
                  </a:ext>
                </a:extLst>
              </a:tr>
              <a:tr h="370840">
                <a:tc>
                  <a:txBody>
                    <a:bodyPr/>
                    <a:lstStyle/>
                    <a:p>
                      <a:r>
                        <a:rPr lang="en-IN" dirty="0"/>
                        <a:t>A compiler translate  the source program in  a single line.</a:t>
                      </a:r>
                    </a:p>
                  </a:txBody>
                  <a:tcPr/>
                </a:tc>
                <a:tc>
                  <a:txBody>
                    <a:bodyPr/>
                    <a:lstStyle/>
                    <a:p>
                      <a:r>
                        <a:rPr lang="en-IN" dirty="0"/>
                        <a:t>A Interpreter translate the  source code in line by line</a:t>
                      </a:r>
                    </a:p>
                  </a:txBody>
                  <a:tcPr/>
                </a:tc>
                <a:extLst>
                  <a:ext uri="{0D108BD9-81ED-4DB2-BD59-A6C34878D82A}">
                    <a16:rowId xmlns:a16="http://schemas.microsoft.com/office/drawing/2014/main" val="2270916932"/>
                  </a:ext>
                </a:extLst>
              </a:tr>
              <a:tr h="370840">
                <a:tc>
                  <a:txBody>
                    <a:bodyPr/>
                    <a:lstStyle/>
                    <a:p>
                      <a:r>
                        <a:rPr lang="en-IN" dirty="0"/>
                        <a:t>It is faster</a:t>
                      </a:r>
                    </a:p>
                  </a:txBody>
                  <a:tcPr/>
                </a:tc>
                <a:tc>
                  <a:txBody>
                    <a:bodyPr/>
                    <a:lstStyle/>
                    <a:p>
                      <a:r>
                        <a:rPr lang="en-IN" dirty="0"/>
                        <a:t>It is slower</a:t>
                      </a:r>
                    </a:p>
                  </a:txBody>
                  <a:tcPr/>
                </a:tc>
                <a:extLst>
                  <a:ext uri="{0D108BD9-81ED-4DB2-BD59-A6C34878D82A}">
                    <a16:rowId xmlns:a16="http://schemas.microsoft.com/office/drawing/2014/main" val="2609111393"/>
                  </a:ext>
                </a:extLst>
              </a:tr>
              <a:tr h="370840">
                <a:tc>
                  <a:txBody>
                    <a:bodyPr/>
                    <a:lstStyle/>
                    <a:p>
                      <a:r>
                        <a:rPr lang="en-IN" dirty="0"/>
                        <a:t>It consumes less time </a:t>
                      </a:r>
                    </a:p>
                  </a:txBody>
                  <a:tcPr/>
                </a:tc>
                <a:tc>
                  <a:txBody>
                    <a:bodyPr/>
                    <a:lstStyle/>
                    <a:p>
                      <a:r>
                        <a:rPr lang="en-IN" dirty="0"/>
                        <a:t>It consumes more time</a:t>
                      </a:r>
                    </a:p>
                  </a:txBody>
                  <a:tcPr/>
                </a:tc>
                <a:extLst>
                  <a:ext uri="{0D108BD9-81ED-4DB2-BD59-A6C34878D82A}">
                    <a16:rowId xmlns:a16="http://schemas.microsoft.com/office/drawing/2014/main" val="1714417034"/>
                  </a:ext>
                </a:extLst>
              </a:tr>
              <a:tr h="370840">
                <a:tc>
                  <a:txBody>
                    <a:bodyPr/>
                    <a:lstStyle/>
                    <a:p>
                      <a:r>
                        <a:rPr lang="en-IN" dirty="0"/>
                        <a:t>It is more efficient</a:t>
                      </a:r>
                    </a:p>
                  </a:txBody>
                  <a:tcPr/>
                </a:tc>
                <a:tc>
                  <a:txBody>
                    <a:bodyPr/>
                    <a:lstStyle/>
                    <a:p>
                      <a:r>
                        <a:rPr lang="en-IN" dirty="0"/>
                        <a:t>It is less efficient</a:t>
                      </a:r>
                    </a:p>
                  </a:txBody>
                  <a:tcPr/>
                </a:tc>
                <a:extLst>
                  <a:ext uri="{0D108BD9-81ED-4DB2-BD59-A6C34878D82A}">
                    <a16:rowId xmlns:a16="http://schemas.microsoft.com/office/drawing/2014/main" val="1200474456"/>
                  </a:ext>
                </a:extLst>
              </a:tr>
              <a:tr h="370840">
                <a:tc>
                  <a:txBody>
                    <a:bodyPr/>
                    <a:lstStyle/>
                    <a:p>
                      <a:r>
                        <a:rPr lang="en-IN" dirty="0"/>
                        <a:t>Compilers are large size</a:t>
                      </a:r>
                    </a:p>
                  </a:txBody>
                  <a:tcPr/>
                </a:tc>
                <a:tc>
                  <a:txBody>
                    <a:bodyPr/>
                    <a:lstStyle/>
                    <a:p>
                      <a:r>
                        <a:rPr lang="en-IN" dirty="0"/>
                        <a:t>Interpreters are smaller than compiler</a:t>
                      </a:r>
                    </a:p>
                  </a:txBody>
                  <a:tcPr/>
                </a:tc>
                <a:extLst>
                  <a:ext uri="{0D108BD9-81ED-4DB2-BD59-A6C34878D82A}">
                    <a16:rowId xmlns:a16="http://schemas.microsoft.com/office/drawing/2014/main" val="2249750301"/>
                  </a:ext>
                </a:extLst>
              </a:tr>
              <a:tr h="370840">
                <a:tc>
                  <a:txBody>
                    <a:bodyPr/>
                    <a:lstStyle/>
                    <a:p>
                      <a:r>
                        <a:rPr lang="en-IN" dirty="0"/>
                        <a:t>It creates object code file </a:t>
                      </a:r>
                    </a:p>
                  </a:txBody>
                  <a:tcPr/>
                </a:tc>
                <a:tc>
                  <a:txBody>
                    <a:bodyPr/>
                    <a:lstStyle/>
                    <a:p>
                      <a:r>
                        <a:rPr lang="en-IN" dirty="0"/>
                        <a:t>It does not creates object code file</a:t>
                      </a:r>
                    </a:p>
                  </a:txBody>
                  <a:tcPr/>
                </a:tc>
                <a:extLst>
                  <a:ext uri="{0D108BD9-81ED-4DB2-BD59-A6C34878D82A}">
                    <a16:rowId xmlns:a16="http://schemas.microsoft.com/office/drawing/2014/main" val="391173532"/>
                  </a:ext>
                </a:extLst>
              </a:tr>
            </a:tbl>
          </a:graphicData>
        </a:graphic>
      </p:graphicFrame>
    </p:spTree>
    <p:extLst>
      <p:ext uri="{BB962C8B-B14F-4D97-AF65-F5344CB8AC3E}">
        <p14:creationId xmlns:p14="http://schemas.microsoft.com/office/powerpoint/2010/main" val="1233788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B717-E3C3-AF18-8222-573AF04628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819295-FBAC-6A1E-1911-2B1C6B38347A}"/>
              </a:ext>
            </a:extLst>
          </p:cNvPr>
          <p:cNvSpPr>
            <a:spLocks noGrp="1"/>
          </p:cNvSpPr>
          <p:nvPr>
            <p:ph idx="1"/>
          </p:nvPr>
        </p:nvSpPr>
        <p:spPr/>
        <p:txBody>
          <a:bodyPr/>
          <a:lstStyle/>
          <a:p>
            <a:endParaRPr lang="en-IN"/>
          </a:p>
        </p:txBody>
      </p:sp>
      <p:pic>
        <p:nvPicPr>
          <p:cNvPr id="4" name="Content Placeholder 7">
            <a:extLst>
              <a:ext uri="{FF2B5EF4-FFF2-40B4-BE49-F238E27FC236}">
                <a16:creationId xmlns:a16="http://schemas.microsoft.com/office/drawing/2014/main" id="{6F424B3A-6104-B88F-91A5-33D9505E2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563" y="476672"/>
            <a:ext cx="10716237" cy="5577483"/>
          </a:xfrm>
          <a:prstGeom prst="rect">
            <a:avLst/>
          </a:prstGeom>
        </p:spPr>
      </p:pic>
    </p:spTree>
    <p:extLst>
      <p:ext uri="{BB962C8B-B14F-4D97-AF65-F5344CB8AC3E}">
        <p14:creationId xmlns:p14="http://schemas.microsoft.com/office/powerpoint/2010/main" val="1924401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C/C++ PLATFORM DEPENDENT</a:t>
            </a:r>
            <a:endParaRPr lang="en-IN" dirty="0"/>
          </a:p>
        </p:txBody>
      </p:sp>
      <p:sp>
        <p:nvSpPr>
          <p:cNvPr id="3" name="Content Placeholder 2"/>
          <p:cNvSpPr>
            <a:spLocks noGrp="1"/>
          </p:cNvSpPr>
          <p:nvPr>
            <p:ph idx="1"/>
          </p:nvPr>
        </p:nvSpPr>
        <p:spPr/>
        <p:txBody>
          <a:bodyPr/>
          <a:lstStyle/>
          <a:p>
            <a:r>
              <a:rPr lang="en-US" dirty="0"/>
              <a:t>C/C++ programs are platform dependent.</a:t>
            </a:r>
          </a:p>
          <a:p>
            <a:pPr marL="0" indent="0">
              <a:buNone/>
            </a:pPr>
            <a:r>
              <a:rPr lang="en-US" dirty="0"/>
              <a:t>    because,</a:t>
            </a:r>
          </a:p>
          <a:p>
            <a:pPr marL="0" indent="0">
              <a:buNone/>
            </a:pPr>
            <a:r>
              <a:rPr lang="en-US" dirty="0"/>
              <a:t>  </a:t>
            </a:r>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2924944"/>
            <a:ext cx="6264696"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5348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WORA</a:t>
            </a:r>
            <a:br>
              <a:rPr lang="en-US" dirty="0"/>
            </a:br>
            <a:r>
              <a:rPr lang="en-US" dirty="0"/>
              <a:t>(Write Once Run Anywhere) </a:t>
            </a:r>
            <a:endParaRPr lang="en-IN"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5600" y="1988841"/>
            <a:ext cx="7344816" cy="352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794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B456-3CAB-861C-382A-363076AD4C19}"/>
              </a:ext>
            </a:extLst>
          </p:cNvPr>
          <p:cNvSpPr>
            <a:spLocks noGrp="1"/>
          </p:cNvSpPr>
          <p:nvPr>
            <p:ph type="title"/>
          </p:nvPr>
        </p:nvSpPr>
        <p:spPr>
          <a:xfrm>
            <a:off x="838200" y="365125"/>
            <a:ext cx="10515600" cy="1127773"/>
          </a:xfrm>
        </p:spPr>
        <p:txBody>
          <a:bodyPr/>
          <a:lstStyle/>
          <a:p>
            <a:r>
              <a:rPr lang="en-US" dirty="0"/>
              <a:t>JAVA ARCHITECTURE</a:t>
            </a:r>
            <a:endParaRPr lang="en-IN" dirty="0"/>
          </a:p>
        </p:txBody>
      </p:sp>
      <p:sp>
        <p:nvSpPr>
          <p:cNvPr id="3" name="Content Placeholder 2">
            <a:extLst>
              <a:ext uri="{FF2B5EF4-FFF2-40B4-BE49-F238E27FC236}">
                <a16:creationId xmlns:a16="http://schemas.microsoft.com/office/drawing/2014/main" id="{9DCECAFF-AF26-B67C-38D6-42ECFEE15567}"/>
              </a:ext>
            </a:extLst>
          </p:cNvPr>
          <p:cNvSpPr>
            <a:spLocks noGrp="1"/>
          </p:cNvSpPr>
          <p:nvPr>
            <p:ph idx="1"/>
          </p:nvPr>
        </p:nvSpPr>
        <p:spPr>
          <a:xfrm>
            <a:off x="838200" y="1690688"/>
            <a:ext cx="10515600" cy="4486275"/>
          </a:xfrm>
        </p:spPr>
        <p:txBody>
          <a:bodyPr/>
          <a:lstStyle/>
          <a:p>
            <a:pPr>
              <a:lnSpc>
                <a:spcPct val="150000"/>
              </a:lnSpc>
            </a:pPr>
            <a:r>
              <a:rPr lang="en-US" b="1" i="0" dirty="0">
                <a:solidFill>
                  <a:srgbClr val="7030A0"/>
                </a:solidFill>
                <a:effectLst/>
              </a:rPr>
              <a:t>Java Architecture</a:t>
            </a:r>
            <a:r>
              <a:rPr lang="en-US" b="0" i="0" dirty="0">
                <a:solidFill>
                  <a:srgbClr val="7030A0"/>
                </a:solidFill>
                <a:effectLst/>
              </a:rPr>
              <a:t> </a:t>
            </a:r>
            <a:r>
              <a:rPr lang="en-US" b="0" i="0" dirty="0">
                <a:solidFill>
                  <a:srgbClr val="333333"/>
                </a:solidFill>
                <a:effectLst/>
              </a:rPr>
              <a:t>is a collection of components, i.e., </a:t>
            </a:r>
            <a:r>
              <a:rPr lang="en-US" b="1" i="0" dirty="0">
                <a:solidFill>
                  <a:srgbClr val="7030A0"/>
                </a:solidFill>
                <a:effectLst/>
              </a:rPr>
              <a:t>JVM, JRE,</a:t>
            </a:r>
            <a:r>
              <a:rPr lang="en-US" b="0" i="0" dirty="0">
                <a:solidFill>
                  <a:srgbClr val="7030A0"/>
                </a:solidFill>
                <a:effectLst/>
              </a:rPr>
              <a:t> and </a:t>
            </a:r>
            <a:r>
              <a:rPr lang="en-US" b="1" i="0" dirty="0">
                <a:solidFill>
                  <a:srgbClr val="7030A0"/>
                </a:solidFill>
                <a:effectLst/>
              </a:rPr>
              <a:t>JDK</a:t>
            </a:r>
            <a:r>
              <a:rPr lang="en-US" b="0" i="0" dirty="0">
                <a:solidFill>
                  <a:srgbClr val="7030A0"/>
                </a:solidFill>
                <a:effectLst/>
              </a:rPr>
              <a:t>.</a:t>
            </a:r>
          </a:p>
          <a:p>
            <a:pPr>
              <a:lnSpc>
                <a:spcPct val="150000"/>
              </a:lnSpc>
            </a:pPr>
            <a:r>
              <a:rPr lang="en-US" b="0" i="0" dirty="0">
                <a:solidFill>
                  <a:srgbClr val="333333"/>
                </a:solidFill>
                <a:effectLst/>
              </a:rPr>
              <a:t> </a:t>
            </a:r>
            <a:r>
              <a:rPr lang="en-US" b="1" dirty="0">
                <a:solidFill>
                  <a:srgbClr val="333333"/>
                </a:solidFill>
              </a:rPr>
              <a:t>It</a:t>
            </a:r>
            <a:r>
              <a:rPr lang="en-US" b="0" i="0" dirty="0">
                <a:solidFill>
                  <a:srgbClr val="333333"/>
                </a:solidFill>
                <a:effectLst/>
              </a:rPr>
              <a:t> integrates the process of </a:t>
            </a:r>
            <a:r>
              <a:rPr lang="en-US" b="1" i="0" dirty="0">
                <a:solidFill>
                  <a:srgbClr val="7030A0"/>
                </a:solidFill>
                <a:effectLst/>
              </a:rPr>
              <a:t>interpretation and compilation</a:t>
            </a:r>
            <a:r>
              <a:rPr lang="en-US" b="0" i="0" dirty="0">
                <a:solidFill>
                  <a:srgbClr val="333333"/>
                </a:solidFill>
                <a:effectLst/>
              </a:rPr>
              <a:t>. It defines all the processes involved in creating a Java program.</a:t>
            </a:r>
          </a:p>
        </p:txBody>
      </p:sp>
    </p:spTree>
    <p:extLst>
      <p:ext uri="{BB962C8B-B14F-4D97-AF65-F5344CB8AC3E}">
        <p14:creationId xmlns:p14="http://schemas.microsoft.com/office/powerpoint/2010/main" val="3875563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E6753-C35A-FF6B-F91E-7DEF1AF09F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A33E91-9DAE-38C2-4CB9-A79B5BEE846C}"/>
              </a:ext>
            </a:extLst>
          </p:cNvPr>
          <p:cNvSpPr>
            <a:spLocks noGrp="1"/>
          </p:cNvSpPr>
          <p:nvPr>
            <p:ph idx="1"/>
          </p:nvPr>
        </p:nvSpPr>
        <p:spPr/>
        <p:txBody>
          <a:bodyPr/>
          <a:lstStyle/>
          <a:p>
            <a:endParaRPr lang="en-IN"/>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4729"/>
            <a:ext cx="10515600" cy="639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8338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33FAA-BB00-864C-D185-683A4010D98A}"/>
              </a:ext>
            </a:extLst>
          </p:cNvPr>
          <p:cNvSpPr>
            <a:spLocks noGrp="1"/>
          </p:cNvSpPr>
          <p:nvPr>
            <p:ph idx="1"/>
          </p:nvPr>
        </p:nvSpPr>
        <p:spPr>
          <a:xfrm>
            <a:off x="838200" y="578498"/>
            <a:ext cx="10515600" cy="5635787"/>
          </a:xfrm>
        </p:spPr>
        <p:txBody>
          <a:bodyPr/>
          <a:lstStyle/>
          <a:p>
            <a:pPr marL="0" indent="0" algn="just">
              <a:lnSpc>
                <a:spcPct val="150000"/>
              </a:lnSpc>
              <a:buNone/>
            </a:pPr>
            <a:r>
              <a:rPr lang="en-US" b="1" i="0" dirty="0">
                <a:solidFill>
                  <a:srgbClr val="7030A0"/>
                </a:solidFill>
                <a:effectLst/>
              </a:rPr>
              <a:t>Java Architecture can be explained by using the following steps:</a:t>
            </a:r>
          </a:p>
          <a:p>
            <a:pPr algn="just">
              <a:lnSpc>
                <a:spcPct val="150000"/>
              </a:lnSpc>
              <a:buFont typeface="Arial" panose="020B0604020202020204" pitchFamily="34" charset="0"/>
              <a:buChar char="•"/>
            </a:pPr>
            <a:r>
              <a:rPr lang="en-US" b="0" i="0" dirty="0">
                <a:solidFill>
                  <a:srgbClr val="000000"/>
                </a:solidFill>
                <a:effectLst/>
              </a:rPr>
              <a:t>There is a process of compilation and interpretation in Java.</a:t>
            </a:r>
          </a:p>
          <a:p>
            <a:pPr algn="just">
              <a:lnSpc>
                <a:spcPct val="150000"/>
              </a:lnSpc>
              <a:buFont typeface="Arial" panose="020B0604020202020204" pitchFamily="34" charset="0"/>
              <a:buChar char="•"/>
            </a:pPr>
            <a:r>
              <a:rPr lang="en-US" b="0" i="0" dirty="0">
                <a:solidFill>
                  <a:srgbClr val="000000"/>
                </a:solidFill>
                <a:effectLst/>
              </a:rPr>
              <a:t>Java compiler converts the Java code into byte code.</a:t>
            </a:r>
          </a:p>
          <a:p>
            <a:pPr algn="just">
              <a:lnSpc>
                <a:spcPct val="150000"/>
              </a:lnSpc>
              <a:buFont typeface="Arial" panose="020B0604020202020204" pitchFamily="34" charset="0"/>
              <a:buChar char="•"/>
            </a:pPr>
            <a:r>
              <a:rPr lang="en-US" b="0" i="0" dirty="0">
                <a:solidFill>
                  <a:srgbClr val="000000"/>
                </a:solidFill>
                <a:effectLst/>
              </a:rPr>
              <a:t>After that, the JVM converts the byte code into machine code.</a:t>
            </a:r>
          </a:p>
          <a:p>
            <a:pPr algn="just">
              <a:lnSpc>
                <a:spcPct val="150000"/>
              </a:lnSpc>
              <a:buFont typeface="Arial" panose="020B0604020202020204" pitchFamily="34" charset="0"/>
              <a:buChar char="•"/>
            </a:pPr>
            <a:r>
              <a:rPr lang="en-US" b="0" i="0" dirty="0">
                <a:solidFill>
                  <a:srgbClr val="000000"/>
                </a:solidFill>
                <a:effectLst/>
              </a:rPr>
              <a:t>The machine code is then executed by the machine.</a:t>
            </a:r>
          </a:p>
          <a:p>
            <a:endParaRPr lang="en-IN" dirty="0"/>
          </a:p>
        </p:txBody>
      </p:sp>
    </p:spTree>
    <p:extLst>
      <p:ext uri="{BB962C8B-B14F-4D97-AF65-F5344CB8AC3E}">
        <p14:creationId xmlns:p14="http://schemas.microsoft.com/office/powerpoint/2010/main" val="3742123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99FEA-CABD-9CB2-65E2-2B6C78DB493F}"/>
              </a:ext>
            </a:extLst>
          </p:cNvPr>
          <p:cNvSpPr>
            <a:spLocks noGrp="1"/>
          </p:cNvSpPr>
          <p:nvPr>
            <p:ph idx="1"/>
          </p:nvPr>
        </p:nvSpPr>
        <p:spPr>
          <a:xfrm>
            <a:off x="838200" y="475861"/>
            <a:ext cx="10515600" cy="5701102"/>
          </a:xfrm>
        </p:spPr>
        <p:txBody>
          <a:bodyPr/>
          <a:lstStyle/>
          <a:p>
            <a:pPr marL="0" indent="0" algn="just">
              <a:lnSpc>
                <a:spcPct val="150000"/>
              </a:lnSpc>
              <a:buNone/>
            </a:pPr>
            <a:r>
              <a:rPr lang="en-IN" b="1" i="0" dirty="0">
                <a:solidFill>
                  <a:srgbClr val="7030A0"/>
                </a:solidFill>
                <a:effectLst/>
              </a:rPr>
              <a:t>Components of Java Architecture</a:t>
            </a:r>
          </a:p>
          <a:p>
            <a:pPr marL="0" indent="0" algn="just">
              <a:lnSpc>
                <a:spcPct val="150000"/>
              </a:lnSpc>
              <a:buNone/>
            </a:pPr>
            <a:r>
              <a:rPr lang="en-IN" b="0" i="0" dirty="0">
                <a:solidFill>
                  <a:srgbClr val="333333"/>
                </a:solidFill>
                <a:effectLst/>
              </a:rPr>
              <a:t>The Java architecture includes the three main components:</a:t>
            </a:r>
          </a:p>
          <a:p>
            <a:pPr algn="just">
              <a:lnSpc>
                <a:spcPct val="150000"/>
              </a:lnSpc>
              <a:buFont typeface="Arial" panose="020B0604020202020204" pitchFamily="34" charset="0"/>
              <a:buChar char="•"/>
            </a:pPr>
            <a:r>
              <a:rPr lang="en-IN" b="0" i="0" dirty="0">
                <a:solidFill>
                  <a:srgbClr val="7030A0"/>
                </a:solidFill>
                <a:effectLst/>
              </a:rPr>
              <a:t>Java Virtual Machine (JVM)</a:t>
            </a:r>
          </a:p>
          <a:p>
            <a:pPr algn="just">
              <a:lnSpc>
                <a:spcPct val="150000"/>
              </a:lnSpc>
              <a:buFont typeface="Arial" panose="020B0604020202020204" pitchFamily="34" charset="0"/>
              <a:buChar char="•"/>
            </a:pPr>
            <a:r>
              <a:rPr lang="en-IN" b="0" i="0" dirty="0">
                <a:solidFill>
                  <a:srgbClr val="7030A0"/>
                </a:solidFill>
                <a:effectLst/>
              </a:rPr>
              <a:t>Java Runtime Environment (JRE)</a:t>
            </a:r>
          </a:p>
          <a:p>
            <a:pPr algn="just">
              <a:lnSpc>
                <a:spcPct val="150000"/>
              </a:lnSpc>
              <a:buFont typeface="Arial" panose="020B0604020202020204" pitchFamily="34" charset="0"/>
              <a:buChar char="•"/>
            </a:pPr>
            <a:r>
              <a:rPr lang="en-IN" b="0" i="0" dirty="0">
                <a:solidFill>
                  <a:srgbClr val="7030A0"/>
                </a:solidFill>
                <a:effectLst/>
              </a:rPr>
              <a:t>Java Development Kit (JDK)</a:t>
            </a:r>
          </a:p>
          <a:p>
            <a:endParaRPr lang="en-IN" dirty="0"/>
          </a:p>
        </p:txBody>
      </p:sp>
    </p:spTree>
    <p:extLst>
      <p:ext uri="{BB962C8B-B14F-4D97-AF65-F5344CB8AC3E}">
        <p14:creationId xmlns:p14="http://schemas.microsoft.com/office/powerpoint/2010/main" val="280775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8BE8D2-C05F-DDB5-C7E3-E8C08E1D3390}"/>
              </a:ext>
            </a:extLst>
          </p:cNvPr>
          <p:cNvSpPr>
            <a:spLocks noGrp="1"/>
          </p:cNvSpPr>
          <p:nvPr>
            <p:ph idx="1"/>
          </p:nvPr>
        </p:nvSpPr>
        <p:spPr>
          <a:xfrm>
            <a:off x="838200" y="578498"/>
            <a:ext cx="10515600" cy="5598465"/>
          </a:xfrm>
        </p:spPr>
        <p:txBody>
          <a:bodyPr/>
          <a:lstStyle/>
          <a:p>
            <a:pPr marL="0" indent="0" algn="just">
              <a:lnSpc>
                <a:spcPct val="150000"/>
              </a:lnSpc>
              <a:buNone/>
            </a:pPr>
            <a:r>
              <a:rPr lang="en-IN" b="1" i="0" dirty="0">
                <a:solidFill>
                  <a:srgbClr val="7030A0"/>
                </a:solidFill>
                <a:effectLst/>
              </a:rPr>
              <a:t>JVM (Java Virtual Machine) Architecture</a:t>
            </a:r>
          </a:p>
          <a:p>
            <a:pPr algn="just">
              <a:lnSpc>
                <a:spcPct val="150000"/>
              </a:lnSpc>
            </a:pPr>
            <a:r>
              <a:rPr lang="en-IN" b="0" i="0" dirty="0">
                <a:solidFill>
                  <a:srgbClr val="333333"/>
                </a:solidFill>
                <a:effectLst/>
              </a:rPr>
              <a:t>JVM (Java Virtual Machine) is an abstract machine. </a:t>
            </a:r>
          </a:p>
          <a:p>
            <a:pPr algn="just">
              <a:lnSpc>
                <a:spcPct val="150000"/>
              </a:lnSpc>
            </a:pPr>
            <a:r>
              <a:rPr lang="en-IN" b="0" i="0" dirty="0">
                <a:solidFill>
                  <a:srgbClr val="333333"/>
                </a:solidFill>
                <a:effectLst/>
              </a:rPr>
              <a:t>It is a specification </a:t>
            </a:r>
            <a:r>
              <a:rPr lang="en-IN" b="0" i="0" dirty="0">
                <a:solidFill>
                  <a:srgbClr val="7030A0"/>
                </a:solidFill>
                <a:effectLst/>
              </a:rPr>
              <a:t>that provides runtime environment in which java bytecode can be executed.</a:t>
            </a:r>
          </a:p>
          <a:p>
            <a:pPr algn="just">
              <a:lnSpc>
                <a:spcPct val="150000"/>
              </a:lnSpc>
            </a:pPr>
            <a:r>
              <a:rPr lang="en-IN" b="0" i="0" dirty="0">
                <a:solidFill>
                  <a:srgbClr val="333333"/>
                </a:solidFill>
                <a:effectLst/>
              </a:rPr>
              <a:t>JVMs are available for many hardware and software platforms (i.e. </a:t>
            </a:r>
            <a:r>
              <a:rPr lang="en-IN" b="1" i="0" dirty="0">
                <a:solidFill>
                  <a:srgbClr val="7030A0"/>
                </a:solidFill>
                <a:effectLst/>
              </a:rPr>
              <a:t>JVM is platform dependent</a:t>
            </a:r>
            <a:r>
              <a:rPr lang="en-IN" b="0" i="0" dirty="0">
                <a:solidFill>
                  <a:srgbClr val="333333"/>
                </a:solidFill>
                <a:effectLst/>
              </a:rPr>
              <a:t>).</a:t>
            </a:r>
          </a:p>
          <a:p>
            <a:endParaRPr lang="en-IN" dirty="0"/>
          </a:p>
        </p:txBody>
      </p:sp>
    </p:spTree>
    <p:extLst>
      <p:ext uri="{BB962C8B-B14F-4D97-AF65-F5344CB8AC3E}">
        <p14:creationId xmlns:p14="http://schemas.microsoft.com/office/powerpoint/2010/main" val="4045129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3E516-D740-EAB5-1897-500D95F2CDA3}"/>
              </a:ext>
            </a:extLst>
          </p:cNvPr>
          <p:cNvSpPr>
            <a:spLocks noGrp="1"/>
          </p:cNvSpPr>
          <p:nvPr>
            <p:ph idx="1"/>
          </p:nvPr>
        </p:nvSpPr>
        <p:spPr>
          <a:xfrm>
            <a:off x="838200" y="513184"/>
            <a:ext cx="10515600" cy="5663779"/>
          </a:xfrm>
        </p:spPr>
        <p:txBody>
          <a:bodyPr/>
          <a:lstStyle/>
          <a:p>
            <a:pPr marL="0" indent="0">
              <a:lnSpc>
                <a:spcPct val="150000"/>
              </a:lnSpc>
              <a:buNone/>
            </a:pPr>
            <a:r>
              <a:rPr lang="en-IN" b="1" i="0" dirty="0">
                <a:solidFill>
                  <a:srgbClr val="7030A0"/>
                </a:solidFill>
                <a:effectLst/>
              </a:rPr>
              <a:t>JVM Architecture</a:t>
            </a:r>
          </a:p>
          <a:p>
            <a:pPr marL="0" indent="0" algn="just">
              <a:lnSpc>
                <a:spcPct val="150000"/>
              </a:lnSpc>
              <a:buNone/>
            </a:pPr>
            <a:r>
              <a:rPr lang="en-US" b="0" i="0" dirty="0">
                <a:solidFill>
                  <a:srgbClr val="333333"/>
                </a:solidFill>
                <a:effectLst/>
                <a:latin typeface="inter-regular"/>
              </a:rPr>
              <a:t>It contains:</a:t>
            </a:r>
          </a:p>
          <a:p>
            <a:pPr algn="just">
              <a:lnSpc>
                <a:spcPct val="150000"/>
              </a:lnSpc>
              <a:buFont typeface="+mj-lt"/>
              <a:buAutoNum type="arabicPeriod"/>
            </a:pPr>
            <a:r>
              <a:rPr lang="en-US" b="1" i="0" dirty="0">
                <a:solidFill>
                  <a:srgbClr val="000000"/>
                </a:solidFill>
                <a:effectLst/>
                <a:latin typeface="inter-bold"/>
              </a:rPr>
              <a:t>A virtual processor</a:t>
            </a:r>
            <a:endParaRPr lang="en-US" b="0" i="0" dirty="0">
              <a:solidFill>
                <a:srgbClr val="000000"/>
              </a:solidFill>
              <a:effectLst/>
              <a:latin typeface="inter-regular"/>
            </a:endParaRPr>
          </a:p>
          <a:p>
            <a:pPr algn="just">
              <a:lnSpc>
                <a:spcPct val="150000"/>
              </a:lnSpc>
              <a:buFont typeface="+mj-lt"/>
              <a:buAutoNum type="arabicPeriod"/>
            </a:pPr>
            <a:r>
              <a:rPr lang="en-US" b="1" i="0" dirty="0">
                <a:solidFill>
                  <a:srgbClr val="000000"/>
                </a:solidFill>
                <a:effectLst/>
                <a:latin typeface="inter-bold"/>
              </a:rPr>
              <a:t>Interpreter:</a:t>
            </a:r>
            <a:r>
              <a:rPr lang="en-US" b="0" i="0" dirty="0">
                <a:solidFill>
                  <a:srgbClr val="000000"/>
                </a:solidFill>
                <a:effectLst/>
                <a:latin typeface="inter-regular"/>
              </a:rPr>
              <a:t> Read bytecode stream then execute the instructions.</a:t>
            </a:r>
          </a:p>
          <a:p>
            <a:pPr marL="514350" indent="-514350">
              <a:buFont typeface="+mj-lt"/>
              <a:buAutoNum type="arabicPeriod"/>
            </a:pPr>
            <a:r>
              <a:rPr lang="en-US" b="1" i="0" dirty="0">
                <a:solidFill>
                  <a:srgbClr val="000000"/>
                </a:solidFill>
                <a:effectLst/>
                <a:latin typeface="inter-bold"/>
              </a:rPr>
              <a:t>Just-In-Time(JIT) compiler</a:t>
            </a:r>
            <a:endParaRPr lang="en-IN" dirty="0"/>
          </a:p>
        </p:txBody>
      </p:sp>
    </p:spTree>
    <p:extLst>
      <p:ext uri="{BB962C8B-B14F-4D97-AF65-F5344CB8AC3E}">
        <p14:creationId xmlns:p14="http://schemas.microsoft.com/office/powerpoint/2010/main" val="296967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30BB4-CD44-7ADB-8E55-C3D809B6A76D}"/>
              </a:ext>
            </a:extLst>
          </p:cNvPr>
          <p:cNvSpPr>
            <a:spLocks noGrp="1"/>
          </p:cNvSpPr>
          <p:nvPr>
            <p:ph idx="1"/>
          </p:nvPr>
        </p:nvSpPr>
        <p:spPr>
          <a:xfrm>
            <a:off x="838200" y="643812"/>
            <a:ext cx="10515600" cy="5533151"/>
          </a:xfrm>
        </p:spPr>
        <p:txBody>
          <a:bodyPr>
            <a:normAutofit lnSpcReduction="10000"/>
          </a:bodyPr>
          <a:lstStyle/>
          <a:p>
            <a:pPr marL="0" indent="0">
              <a:lnSpc>
                <a:spcPct val="150000"/>
              </a:lnSpc>
              <a:buNone/>
            </a:pPr>
            <a:r>
              <a:rPr lang="en-US" b="1" i="0" dirty="0">
                <a:solidFill>
                  <a:srgbClr val="7030A0"/>
                </a:solidFill>
                <a:effectLst/>
              </a:rPr>
              <a:t>Just-In-Time(JIT) compiler:</a:t>
            </a:r>
          </a:p>
          <a:p>
            <a:pPr>
              <a:lnSpc>
                <a:spcPct val="150000"/>
              </a:lnSpc>
            </a:pPr>
            <a:r>
              <a:rPr lang="en-US" b="0" i="0" dirty="0">
                <a:solidFill>
                  <a:srgbClr val="000000"/>
                </a:solidFill>
                <a:effectLst/>
              </a:rPr>
              <a:t> </a:t>
            </a:r>
            <a:r>
              <a:rPr lang="en-US" b="1" i="0" dirty="0">
                <a:solidFill>
                  <a:srgbClr val="7030A0"/>
                </a:solidFill>
                <a:effectLst/>
              </a:rPr>
              <a:t>It is used to improve the performance.</a:t>
            </a:r>
          </a:p>
          <a:p>
            <a:pPr>
              <a:lnSpc>
                <a:spcPct val="150000"/>
              </a:lnSpc>
            </a:pPr>
            <a:r>
              <a:rPr lang="en-US" b="0" i="0" dirty="0">
                <a:solidFill>
                  <a:srgbClr val="000000"/>
                </a:solidFill>
                <a:effectLst/>
              </a:rPr>
              <a:t> JIT compiles parts of the byte code that have similar functionality at the same time, and hence reduces the amount of time needed for compilation.</a:t>
            </a:r>
          </a:p>
          <a:p>
            <a:pPr>
              <a:lnSpc>
                <a:spcPct val="150000"/>
              </a:lnSpc>
            </a:pPr>
            <a:r>
              <a:rPr lang="en-US" b="0" i="0" dirty="0">
                <a:solidFill>
                  <a:srgbClr val="000000"/>
                </a:solidFill>
                <a:effectLst/>
              </a:rPr>
              <a:t> Here, the term "compiler" refers to a translator from the instruction set of a Java virtual machine (JVM) to the instruction set of a specific CPU.</a:t>
            </a:r>
          </a:p>
          <a:p>
            <a:endParaRPr lang="en-IN" dirty="0"/>
          </a:p>
        </p:txBody>
      </p:sp>
    </p:spTree>
    <p:extLst>
      <p:ext uri="{BB962C8B-B14F-4D97-AF65-F5344CB8AC3E}">
        <p14:creationId xmlns:p14="http://schemas.microsoft.com/office/powerpoint/2010/main" val="1665296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JRE</a:t>
            </a:r>
          </a:p>
        </p:txBody>
      </p:sp>
      <p:sp>
        <p:nvSpPr>
          <p:cNvPr id="3" name="Content Placeholder 2"/>
          <p:cNvSpPr>
            <a:spLocks noGrp="1"/>
          </p:cNvSpPr>
          <p:nvPr>
            <p:ph idx="1"/>
          </p:nvPr>
        </p:nvSpPr>
        <p:spPr/>
        <p:txBody>
          <a:bodyPr>
            <a:normAutofit/>
          </a:bodyPr>
          <a:lstStyle/>
          <a:p>
            <a:pPr marL="285750" indent="-285750">
              <a:buFont typeface="Wingdings" pitchFamily="2" charset="2"/>
              <a:buChar char="ü"/>
            </a:pPr>
            <a:r>
              <a:rPr lang="en-US" dirty="0"/>
              <a:t>JRE is an acronym for </a:t>
            </a:r>
            <a:r>
              <a:rPr lang="en-US" b="1" dirty="0">
                <a:solidFill>
                  <a:srgbClr val="7030A0"/>
                </a:solidFill>
              </a:rPr>
              <a:t>Java Runtime Environment. </a:t>
            </a:r>
            <a:r>
              <a:rPr lang="en-US" dirty="0"/>
              <a:t>It is also written as Java RTE.</a:t>
            </a:r>
          </a:p>
          <a:p>
            <a:pPr marL="285750" indent="-285750">
              <a:buFont typeface="Wingdings" pitchFamily="2" charset="2"/>
              <a:buChar char="ü"/>
            </a:pPr>
            <a:r>
              <a:rPr lang="en-US" dirty="0"/>
              <a:t> The Java Runtime Environment is a set of </a:t>
            </a:r>
            <a:r>
              <a:rPr lang="en-US" b="1" dirty="0">
                <a:solidFill>
                  <a:srgbClr val="7030A0"/>
                </a:solidFill>
              </a:rPr>
              <a:t>software tools which are used for developing Java applications. </a:t>
            </a:r>
            <a:r>
              <a:rPr lang="en-US" dirty="0"/>
              <a:t>It is used to provide the runtime environment. It is the </a:t>
            </a:r>
            <a:r>
              <a:rPr lang="en-US" b="1" dirty="0">
                <a:solidFill>
                  <a:srgbClr val="7030A0"/>
                </a:solidFill>
              </a:rPr>
              <a:t>implementation of JVM.</a:t>
            </a:r>
          </a:p>
          <a:p>
            <a:pPr marL="285750" indent="-285750">
              <a:buFont typeface="Wingdings" pitchFamily="2" charset="2"/>
              <a:buChar char="ü"/>
            </a:pPr>
            <a:r>
              <a:rPr lang="en-US" dirty="0"/>
              <a:t> It physically exists. It </a:t>
            </a:r>
            <a:r>
              <a:rPr lang="en-US" b="1" dirty="0">
                <a:solidFill>
                  <a:srgbClr val="7030A0"/>
                </a:solidFill>
              </a:rPr>
              <a:t>contains a set of libraries + other files that JVM uses at runtime</a:t>
            </a:r>
            <a:endParaRPr lang="en-IN" b="1" dirty="0">
              <a:solidFill>
                <a:srgbClr val="7030A0"/>
              </a:solidFill>
            </a:endParaRPr>
          </a:p>
        </p:txBody>
      </p:sp>
    </p:spTree>
    <p:extLst>
      <p:ext uri="{BB962C8B-B14F-4D97-AF65-F5344CB8AC3E}">
        <p14:creationId xmlns:p14="http://schemas.microsoft.com/office/powerpoint/2010/main" val="4151174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JDK</a:t>
            </a:r>
            <a:endParaRPr lang="en-IN" dirty="0"/>
          </a:p>
        </p:txBody>
      </p:sp>
      <p:sp>
        <p:nvSpPr>
          <p:cNvPr id="3" name="Content Placeholder 2"/>
          <p:cNvSpPr>
            <a:spLocks noGrp="1"/>
          </p:cNvSpPr>
          <p:nvPr>
            <p:ph idx="1"/>
          </p:nvPr>
        </p:nvSpPr>
        <p:spPr/>
        <p:txBody>
          <a:bodyPr>
            <a:normAutofit/>
          </a:bodyPr>
          <a:lstStyle/>
          <a:p>
            <a:pPr>
              <a:buFont typeface="Wingdings" pitchFamily="2" charset="2"/>
              <a:buChar char="ü"/>
            </a:pPr>
            <a:r>
              <a:rPr lang="en-US" dirty="0"/>
              <a:t>JDK is an acronym for </a:t>
            </a:r>
            <a:r>
              <a:rPr lang="en-US" b="1" dirty="0">
                <a:solidFill>
                  <a:srgbClr val="7030A0"/>
                </a:solidFill>
              </a:rPr>
              <a:t>Java Development Kit. </a:t>
            </a:r>
          </a:p>
          <a:p>
            <a:pPr>
              <a:buFont typeface="Wingdings" pitchFamily="2" charset="2"/>
              <a:buChar char="ü"/>
            </a:pPr>
            <a:r>
              <a:rPr lang="en-US" dirty="0"/>
              <a:t>It contains </a:t>
            </a:r>
            <a:r>
              <a:rPr lang="en-US" b="1" dirty="0">
                <a:solidFill>
                  <a:srgbClr val="7030A0"/>
                </a:solidFill>
              </a:rPr>
              <a:t>JRE + development tools.</a:t>
            </a:r>
          </a:p>
          <a:p>
            <a:pPr>
              <a:buFont typeface="Wingdings" pitchFamily="2" charset="2"/>
              <a:buChar char="ü"/>
            </a:pPr>
            <a:r>
              <a:rPr lang="en-IN" dirty="0"/>
              <a:t>The JDK contains a private Java Virtual Machine </a:t>
            </a:r>
            <a:r>
              <a:rPr lang="en-IN" b="1" dirty="0">
                <a:solidFill>
                  <a:srgbClr val="7030A0"/>
                </a:solidFill>
              </a:rPr>
              <a:t>(JVM) </a:t>
            </a:r>
            <a:r>
              <a:rPr lang="en-IN" dirty="0"/>
              <a:t>and a few other resources such as </a:t>
            </a:r>
            <a:r>
              <a:rPr lang="en-IN" b="1" dirty="0">
                <a:solidFill>
                  <a:srgbClr val="7030A0"/>
                </a:solidFill>
              </a:rPr>
              <a:t>an interpreter/loader (java), a compiler (javac), an archiver (jar), a documentation generator (Java doc), etc. </a:t>
            </a:r>
            <a:r>
              <a:rPr lang="en-IN" dirty="0"/>
              <a:t>to complete the development of a Java Application.</a:t>
            </a:r>
          </a:p>
          <a:p>
            <a:endParaRPr lang="en-IN" dirty="0"/>
          </a:p>
        </p:txBody>
      </p:sp>
    </p:spTree>
    <p:extLst>
      <p:ext uri="{BB962C8B-B14F-4D97-AF65-F5344CB8AC3E}">
        <p14:creationId xmlns:p14="http://schemas.microsoft.com/office/powerpoint/2010/main" val="1653163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JAVA</a:t>
            </a:r>
            <a:endParaRPr lang="en-IN" dirty="0"/>
          </a:p>
        </p:txBody>
      </p:sp>
      <p:sp>
        <p:nvSpPr>
          <p:cNvPr id="3" name="Content Placeholder 2"/>
          <p:cNvSpPr>
            <a:spLocks noGrp="1"/>
          </p:cNvSpPr>
          <p:nvPr>
            <p:ph idx="1"/>
          </p:nvPr>
        </p:nvSpPr>
        <p:spPr/>
        <p:txBody>
          <a:bodyPr/>
          <a:lstStyle/>
          <a:p>
            <a:pPr marL="355600" marR="5080" indent="-343535">
              <a:lnSpc>
                <a:spcPts val="3310"/>
              </a:lnSpc>
              <a:spcBef>
                <a:spcPts val="660"/>
              </a:spcBef>
              <a:buFont typeface="Arial"/>
              <a:buChar char="•"/>
              <a:tabLst>
                <a:tab pos="355600" algn="l"/>
                <a:tab pos="356235" algn="l"/>
              </a:tabLst>
            </a:pPr>
            <a:r>
              <a:rPr lang="en-IN" spc="-10" dirty="0">
                <a:latin typeface="Carlito"/>
                <a:cs typeface="Carlito"/>
              </a:rPr>
              <a:t>Mobile applications </a:t>
            </a:r>
            <a:r>
              <a:rPr lang="en-IN" spc="-5" dirty="0">
                <a:latin typeface="Carlito"/>
                <a:cs typeface="Carlito"/>
              </a:rPr>
              <a:t>(specially </a:t>
            </a:r>
            <a:r>
              <a:rPr lang="en-IN" spc="-20" dirty="0">
                <a:latin typeface="Carlito"/>
                <a:cs typeface="Carlito"/>
              </a:rPr>
              <a:t>Android </a:t>
            </a:r>
            <a:r>
              <a:rPr lang="en-IN" dirty="0">
                <a:latin typeface="Carlito"/>
                <a:cs typeface="Carlito"/>
              </a:rPr>
              <a:t>apps)  Desktop</a:t>
            </a:r>
            <a:r>
              <a:rPr lang="en-IN" spc="-90" dirty="0">
                <a:latin typeface="Carlito"/>
                <a:cs typeface="Carlito"/>
              </a:rPr>
              <a:t> </a:t>
            </a:r>
            <a:r>
              <a:rPr lang="en-IN" spc="-10" dirty="0">
                <a:latin typeface="Carlito"/>
                <a:cs typeface="Carlito"/>
              </a:rPr>
              <a:t>applications</a:t>
            </a:r>
            <a:endParaRPr lang="en-IN" dirty="0">
              <a:latin typeface="Carlito"/>
              <a:cs typeface="Carlito"/>
            </a:endParaRPr>
          </a:p>
          <a:p>
            <a:pPr marL="355600" indent="-343535">
              <a:spcBef>
                <a:spcPts val="235"/>
              </a:spcBef>
              <a:buFont typeface="Arial"/>
              <a:buChar char="•"/>
              <a:tabLst>
                <a:tab pos="355600" algn="l"/>
                <a:tab pos="356235" algn="l"/>
              </a:tabLst>
            </a:pPr>
            <a:r>
              <a:rPr lang="en-IN" spc="-15" dirty="0">
                <a:latin typeface="Carlito"/>
                <a:cs typeface="Carlito"/>
              </a:rPr>
              <a:t>Web</a:t>
            </a:r>
            <a:r>
              <a:rPr lang="en-IN" spc="-75" dirty="0">
                <a:latin typeface="Carlito"/>
                <a:cs typeface="Carlito"/>
              </a:rPr>
              <a:t> </a:t>
            </a:r>
            <a:r>
              <a:rPr lang="en-IN" spc="-10" dirty="0">
                <a:latin typeface="Carlito"/>
                <a:cs typeface="Carlito"/>
              </a:rPr>
              <a:t>applications</a:t>
            </a:r>
            <a:endParaRPr lang="en-IN" dirty="0">
              <a:latin typeface="Carlito"/>
              <a:cs typeface="Carlito"/>
            </a:endParaRPr>
          </a:p>
          <a:p>
            <a:pPr marL="355600" indent="-343535">
              <a:spcBef>
                <a:spcPts val="380"/>
              </a:spcBef>
              <a:buFont typeface="Arial"/>
              <a:buChar char="•"/>
              <a:tabLst>
                <a:tab pos="355600" algn="l"/>
                <a:tab pos="356235" algn="l"/>
              </a:tabLst>
            </a:pPr>
            <a:r>
              <a:rPr lang="en-IN" dirty="0">
                <a:latin typeface="Carlito"/>
                <a:cs typeface="Carlito"/>
              </a:rPr>
              <a:t>Enterprise</a:t>
            </a:r>
            <a:r>
              <a:rPr lang="en-IN" spc="-145" dirty="0">
                <a:latin typeface="Carlito"/>
                <a:cs typeface="Carlito"/>
              </a:rPr>
              <a:t> </a:t>
            </a:r>
            <a:r>
              <a:rPr lang="en-IN" spc="-10" dirty="0">
                <a:latin typeface="Carlito"/>
                <a:cs typeface="Carlito"/>
              </a:rPr>
              <a:t>application</a:t>
            </a:r>
            <a:endParaRPr lang="en-IN" dirty="0">
              <a:latin typeface="Carlito"/>
              <a:cs typeface="Carlito"/>
            </a:endParaRPr>
          </a:p>
          <a:p>
            <a:pPr marL="355600" indent="-343535">
              <a:spcBef>
                <a:spcPts val="380"/>
              </a:spcBef>
              <a:buFont typeface="Arial"/>
              <a:buChar char="•"/>
              <a:tabLst>
                <a:tab pos="355600" algn="l"/>
                <a:tab pos="356235" algn="l"/>
              </a:tabLst>
            </a:pPr>
            <a:r>
              <a:rPr lang="en-IN" spc="-15" dirty="0">
                <a:latin typeface="Carlito"/>
                <a:cs typeface="Carlito"/>
              </a:rPr>
              <a:t>Scientific </a:t>
            </a:r>
            <a:r>
              <a:rPr lang="en-IN" spc="-10" dirty="0">
                <a:latin typeface="Carlito"/>
                <a:cs typeface="Carlito"/>
              </a:rPr>
              <a:t>application</a:t>
            </a:r>
            <a:r>
              <a:rPr lang="en-IN" spc="20" dirty="0">
                <a:latin typeface="Carlito"/>
                <a:cs typeface="Carlito"/>
              </a:rPr>
              <a:t> </a:t>
            </a:r>
            <a:endParaRPr lang="en-IN" dirty="0">
              <a:latin typeface="Carlito"/>
              <a:cs typeface="Carlito"/>
            </a:endParaRPr>
          </a:p>
          <a:p>
            <a:pPr marL="355600" indent="-343535">
              <a:spcBef>
                <a:spcPts val="380"/>
              </a:spcBef>
              <a:buFont typeface="Arial"/>
              <a:buChar char="•"/>
              <a:tabLst>
                <a:tab pos="355600" algn="l"/>
                <a:tab pos="356235" algn="l"/>
              </a:tabLst>
            </a:pPr>
            <a:r>
              <a:rPr lang="en-IN" spc="-10" dirty="0">
                <a:latin typeface="Carlito"/>
                <a:cs typeface="Carlito"/>
              </a:rPr>
              <a:t>Gaming</a:t>
            </a:r>
            <a:r>
              <a:rPr lang="en-IN" dirty="0">
                <a:latin typeface="Carlito"/>
                <a:cs typeface="Carlito"/>
              </a:rPr>
              <a:t> </a:t>
            </a:r>
            <a:r>
              <a:rPr lang="en-IN" spc="-15" dirty="0">
                <a:latin typeface="Carlito"/>
                <a:cs typeface="Carlito"/>
              </a:rPr>
              <a:t>application</a:t>
            </a:r>
            <a:endParaRPr lang="en-IN" dirty="0">
              <a:latin typeface="Carlito"/>
              <a:cs typeface="Carlito"/>
            </a:endParaRPr>
          </a:p>
          <a:p>
            <a:pPr marL="355600" indent="-343535">
              <a:spcBef>
                <a:spcPts val="380"/>
              </a:spcBef>
              <a:buFont typeface="Arial"/>
              <a:buChar char="•"/>
              <a:tabLst>
                <a:tab pos="355600" algn="l"/>
                <a:tab pos="356235" algn="l"/>
              </a:tabLst>
            </a:pPr>
            <a:r>
              <a:rPr lang="en-IN" spc="-5" dirty="0">
                <a:latin typeface="Carlito"/>
                <a:cs typeface="Carlito"/>
              </a:rPr>
              <a:t>Database</a:t>
            </a:r>
            <a:r>
              <a:rPr lang="en-IN" spc="-75" dirty="0">
                <a:latin typeface="Carlito"/>
                <a:cs typeface="Carlito"/>
              </a:rPr>
              <a:t> </a:t>
            </a:r>
            <a:r>
              <a:rPr lang="en-IN" spc="-5" dirty="0">
                <a:latin typeface="Carlito"/>
                <a:cs typeface="Carlito"/>
              </a:rPr>
              <a:t>connection</a:t>
            </a:r>
            <a:endParaRPr lang="en-IN" dirty="0">
              <a:latin typeface="Carlito"/>
              <a:cs typeface="Carlito"/>
            </a:endParaRPr>
          </a:p>
          <a:p>
            <a:pPr marL="355600" indent="-343535">
              <a:spcBef>
                <a:spcPts val="310"/>
              </a:spcBef>
              <a:buFont typeface="Arial"/>
              <a:buChar char="•"/>
              <a:tabLst>
                <a:tab pos="355600" algn="l"/>
                <a:tab pos="356235" algn="l"/>
              </a:tabLst>
            </a:pPr>
            <a:r>
              <a:rPr lang="en-IN" dirty="0">
                <a:latin typeface="Carlito"/>
                <a:cs typeface="Carlito"/>
              </a:rPr>
              <a:t>Business</a:t>
            </a:r>
            <a:r>
              <a:rPr lang="en-IN" spc="-60" dirty="0">
                <a:latin typeface="Carlito"/>
                <a:cs typeface="Carlito"/>
              </a:rPr>
              <a:t> </a:t>
            </a:r>
            <a:r>
              <a:rPr lang="en-IN" spc="-10" dirty="0">
                <a:latin typeface="Carlito"/>
                <a:cs typeface="Carlito"/>
              </a:rPr>
              <a:t>application</a:t>
            </a:r>
            <a:endParaRPr lang="en-IN" dirty="0">
              <a:latin typeface="Carlito"/>
              <a:cs typeface="Carlito"/>
            </a:endParaRPr>
          </a:p>
          <a:p>
            <a:endParaRPr lang="en-IN" dirty="0"/>
          </a:p>
          <a:p>
            <a:endParaRPr lang="en-IN" dirty="0"/>
          </a:p>
        </p:txBody>
      </p:sp>
    </p:spTree>
    <p:extLst>
      <p:ext uri="{BB962C8B-B14F-4D97-AF65-F5344CB8AC3E}">
        <p14:creationId xmlns:p14="http://schemas.microsoft.com/office/powerpoint/2010/main" val="902233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JAVA</a:t>
            </a:r>
          </a:p>
        </p:txBody>
      </p:sp>
      <p:pic>
        <p:nvPicPr>
          <p:cNvPr id="4" name="Picture 2" descr="C:\Users\STAFF\Desktop\Kokila\java-featur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95699" y="892114"/>
            <a:ext cx="6112195" cy="5262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68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563" y="187844"/>
            <a:ext cx="10515600" cy="1325563"/>
          </a:xfrm>
        </p:spPr>
        <p:txBody>
          <a:bodyPr/>
          <a:lstStyle/>
          <a:p>
            <a:r>
              <a:rPr lang="en-US" dirty="0"/>
              <a:t>TYPES OF JAVA</a:t>
            </a:r>
            <a:endParaRPr lang="en-IN" dirty="0"/>
          </a:p>
        </p:txBody>
      </p:sp>
      <p:sp>
        <p:nvSpPr>
          <p:cNvPr id="3" name="Content Placeholder 2"/>
          <p:cNvSpPr>
            <a:spLocks noGrp="1"/>
          </p:cNvSpPr>
          <p:nvPr>
            <p:ph idx="1"/>
          </p:nvPr>
        </p:nvSpPr>
        <p:spPr>
          <a:xfrm>
            <a:off x="838200" y="1296955"/>
            <a:ext cx="10515600" cy="4880008"/>
          </a:xfrm>
        </p:spPr>
        <p:txBody>
          <a:bodyPr>
            <a:normAutofit/>
          </a:bodyPr>
          <a:lstStyle/>
          <a:p>
            <a:pPr>
              <a:lnSpc>
                <a:spcPct val="150000"/>
              </a:lnSpc>
            </a:pPr>
            <a:r>
              <a:rPr lang="en-IN" dirty="0">
                <a:solidFill>
                  <a:srgbClr val="7030A0"/>
                </a:solidFill>
              </a:rPr>
              <a:t>Java SE (Java Standard Edition) </a:t>
            </a:r>
            <a:r>
              <a:rPr lang="en-IN" dirty="0"/>
              <a:t>- It is a Java  programming platform.</a:t>
            </a:r>
          </a:p>
          <a:p>
            <a:pPr>
              <a:lnSpc>
                <a:spcPct val="150000"/>
              </a:lnSpc>
            </a:pPr>
            <a:r>
              <a:rPr lang="en-IN" dirty="0">
                <a:solidFill>
                  <a:srgbClr val="7030A0"/>
                </a:solidFill>
              </a:rPr>
              <a:t>Java EE (Java Enterprise Edition) </a:t>
            </a:r>
            <a:r>
              <a:rPr lang="en-IN" dirty="0"/>
              <a:t>-	used to  develop web and enterprise applications.</a:t>
            </a:r>
          </a:p>
          <a:p>
            <a:pPr>
              <a:lnSpc>
                <a:spcPct val="150000"/>
              </a:lnSpc>
            </a:pPr>
            <a:r>
              <a:rPr lang="en-IN" dirty="0">
                <a:solidFill>
                  <a:srgbClr val="7030A0"/>
                </a:solidFill>
              </a:rPr>
              <a:t>Java ME (Java Micro Edition)</a:t>
            </a:r>
            <a:r>
              <a:rPr lang="en-IN" dirty="0"/>
              <a:t> - used to develop  mobile applications.</a:t>
            </a:r>
          </a:p>
          <a:p>
            <a:pPr>
              <a:lnSpc>
                <a:spcPct val="150000"/>
              </a:lnSpc>
            </a:pPr>
            <a:r>
              <a:rPr lang="en-IN" dirty="0">
                <a:solidFill>
                  <a:srgbClr val="7030A0"/>
                </a:solidFill>
              </a:rPr>
              <a:t>JavaFX </a:t>
            </a:r>
            <a:r>
              <a:rPr lang="en-IN" dirty="0"/>
              <a:t> -It is used to develop rich internet  applications. It uses a light-weight user interface  API(application programming interface).</a:t>
            </a:r>
          </a:p>
          <a:p>
            <a:endParaRPr lang="en-IN" dirty="0"/>
          </a:p>
        </p:txBody>
      </p:sp>
    </p:spTree>
    <p:extLst>
      <p:ext uri="{BB962C8B-B14F-4D97-AF65-F5344CB8AC3E}">
        <p14:creationId xmlns:p14="http://schemas.microsoft.com/office/powerpoint/2010/main" val="3109024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MAIN() METHOD</a:t>
            </a:r>
            <a:endParaRPr lang="en-IN" dirty="0"/>
          </a:p>
        </p:txBody>
      </p:sp>
      <p:sp>
        <p:nvSpPr>
          <p:cNvPr id="4" name="Content Placeholder 3"/>
          <p:cNvSpPr>
            <a:spLocks noGrp="1"/>
          </p:cNvSpPr>
          <p:nvPr>
            <p:ph idx="1"/>
          </p:nvPr>
        </p:nvSpPr>
        <p:spPr/>
        <p:txBody>
          <a:bodyPr/>
          <a:lstStyle/>
          <a:p>
            <a:r>
              <a:rPr lang="en-US" spc="20" dirty="0">
                <a:solidFill>
                  <a:srgbClr val="333333"/>
                </a:solidFill>
                <a:cs typeface="Carlito"/>
              </a:rPr>
              <a:t>The </a:t>
            </a:r>
            <a:r>
              <a:rPr lang="en-US" b="1" spc="15" dirty="0">
                <a:solidFill>
                  <a:srgbClr val="7030A0"/>
                </a:solidFill>
                <a:cs typeface="Carlito"/>
              </a:rPr>
              <a:t>main() </a:t>
            </a:r>
            <a:r>
              <a:rPr lang="en-US" b="1" spc="5" dirty="0">
                <a:solidFill>
                  <a:srgbClr val="7030A0"/>
                </a:solidFill>
                <a:cs typeface="Carlito"/>
              </a:rPr>
              <a:t>is </a:t>
            </a:r>
            <a:r>
              <a:rPr lang="en-US" b="1" spc="10" dirty="0">
                <a:solidFill>
                  <a:srgbClr val="7030A0"/>
                </a:solidFill>
                <a:cs typeface="Carlito"/>
              </a:rPr>
              <a:t>the </a:t>
            </a:r>
            <a:r>
              <a:rPr lang="en-US" b="1" dirty="0">
                <a:solidFill>
                  <a:srgbClr val="7030A0"/>
                </a:solidFill>
                <a:cs typeface="Carlito"/>
              </a:rPr>
              <a:t>starting </a:t>
            </a:r>
            <a:r>
              <a:rPr lang="en-US" b="1" spc="25" dirty="0">
                <a:solidFill>
                  <a:srgbClr val="7030A0"/>
                </a:solidFill>
                <a:cs typeface="Carlito"/>
              </a:rPr>
              <a:t>point </a:t>
            </a:r>
            <a:r>
              <a:rPr lang="en-US" b="1" spc="-10" dirty="0">
                <a:solidFill>
                  <a:srgbClr val="7030A0"/>
                </a:solidFill>
                <a:cs typeface="Carlito"/>
              </a:rPr>
              <a:t>for </a:t>
            </a:r>
            <a:r>
              <a:rPr lang="en-US" b="1" spc="10" dirty="0">
                <a:solidFill>
                  <a:srgbClr val="7030A0"/>
                </a:solidFill>
                <a:cs typeface="Carlito"/>
              </a:rPr>
              <a:t>JVM</a:t>
            </a:r>
            <a:r>
              <a:rPr lang="en-US" spc="10" dirty="0">
                <a:solidFill>
                  <a:srgbClr val="333333"/>
                </a:solidFill>
                <a:cs typeface="Carlito"/>
              </a:rPr>
              <a:t> </a:t>
            </a:r>
            <a:r>
              <a:rPr lang="en-US" spc="-5" dirty="0">
                <a:solidFill>
                  <a:srgbClr val="333333"/>
                </a:solidFill>
                <a:cs typeface="Carlito"/>
              </a:rPr>
              <a:t>to  </a:t>
            </a:r>
            <a:r>
              <a:rPr lang="en-US" spc="-10" dirty="0">
                <a:solidFill>
                  <a:srgbClr val="333333"/>
                </a:solidFill>
                <a:cs typeface="Carlito"/>
              </a:rPr>
              <a:t>start execution </a:t>
            </a:r>
            <a:r>
              <a:rPr lang="en-US" spc="20" dirty="0">
                <a:solidFill>
                  <a:srgbClr val="333333"/>
                </a:solidFill>
                <a:cs typeface="Carlito"/>
              </a:rPr>
              <a:t>of </a:t>
            </a:r>
            <a:r>
              <a:rPr lang="en-US" spc="10" dirty="0">
                <a:solidFill>
                  <a:srgbClr val="333333"/>
                </a:solidFill>
                <a:cs typeface="Carlito"/>
              </a:rPr>
              <a:t>a </a:t>
            </a:r>
            <a:r>
              <a:rPr lang="en-US" spc="-25" dirty="0">
                <a:solidFill>
                  <a:srgbClr val="333333"/>
                </a:solidFill>
                <a:cs typeface="Carlito"/>
              </a:rPr>
              <a:t>Java </a:t>
            </a:r>
            <a:r>
              <a:rPr lang="en-US" spc="-5" dirty="0">
                <a:solidFill>
                  <a:srgbClr val="333333"/>
                </a:solidFill>
                <a:cs typeface="Carlito"/>
              </a:rPr>
              <a:t>program.</a:t>
            </a:r>
          </a:p>
          <a:p>
            <a:r>
              <a:rPr lang="en-US" spc="-5" dirty="0">
                <a:solidFill>
                  <a:srgbClr val="333333"/>
                </a:solidFill>
                <a:cs typeface="Carlito"/>
              </a:rPr>
              <a:t> </a:t>
            </a:r>
            <a:r>
              <a:rPr lang="en-US" b="1" spc="15" dirty="0">
                <a:solidFill>
                  <a:srgbClr val="7030A0"/>
                </a:solidFill>
                <a:cs typeface="Carlito"/>
              </a:rPr>
              <a:t>Without</a:t>
            </a:r>
            <a:r>
              <a:rPr lang="en-US" b="1" spc="-415" dirty="0">
                <a:solidFill>
                  <a:srgbClr val="7030A0"/>
                </a:solidFill>
                <a:cs typeface="Carlito"/>
              </a:rPr>
              <a:t> </a:t>
            </a:r>
            <a:r>
              <a:rPr lang="en-US" b="1" spc="5" dirty="0">
                <a:solidFill>
                  <a:srgbClr val="7030A0"/>
                </a:solidFill>
                <a:cs typeface="Carlito"/>
              </a:rPr>
              <a:t>the  </a:t>
            </a:r>
            <a:r>
              <a:rPr lang="en-US" b="1" spc="15" dirty="0">
                <a:solidFill>
                  <a:srgbClr val="7030A0"/>
                </a:solidFill>
                <a:cs typeface="Carlito"/>
              </a:rPr>
              <a:t>main() </a:t>
            </a:r>
            <a:r>
              <a:rPr lang="en-US" b="1" spc="10" dirty="0">
                <a:solidFill>
                  <a:srgbClr val="7030A0"/>
                </a:solidFill>
                <a:cs typeface="Carlito"/>
              </a:rPr>
              <a:t>method, </a:t>
            </a:r>
            <a:r>
              <a:rPr lang="en-US" b="1" spc="5" dirty="0">
                <a:solidFill>
                  <a:srgbClr val="7030A0"/>
                </a:solidFill>
                <a:cs typeface="Carlito"/>
              </a:rPr>
              <a:t>JVM </a:t>
            </a:r>
            <a:r>
              <a:rPr lang="en-US" b="1" spc="15" dirty="0">
                <a:solidFill>
                  <a:srgbClr val="7030A0"/>
                </a:solidFill>
                <a:cs typeface="Carlito"/>
              </a:rPr>
              <a:t>will </a:t>
            </a:r>
            <a:r>
              <a:rPr lang="en-US" b="1" spc="25" dirty="0">
                <a:solidFill>
                  <a:srgbClr val="7030A0"/>
                </a:solidFill>
                <a:cs typeface="Carlito"/>
              </a:rPr>
              <a:t>not </a:t>
            </a:r>
            <a:r>
              <a:rPr lang="en-US" b="1" spc="-20" dirty="0">
                <a:solidFill>
                  <a:srgbClr val="7030A0"/>
                </a:solidFill>
                <a:cs typeface="Carlito"/>
              </a:rPr>
              <a:t>execute </a:t>
            </a:r>
            <a:r>
              <a:rPr lang="en-US" b="1" spc="5" dirty="0">
                <a:solidFill>
                  <a:srgbClr val="7030A0"/>
                </a:solidFill>
                <a:cs typeface="Carlito"/>
              </a:rPr>
              <a:t>the  </a:t>
            </a:r>
            <a:r>
              <a:rPr lang="en-US" b="1" spc="-5" dirty="0">
                <a:solidFill>
                  <a:srgbClr val="7030A0"/>
                </a:solidFill>
                <a:cs typeface="Carlito"/>
              </a:rPr>
              <a:t>program. </a:t>
            </a:r>
            <a:r>
              <a:rPr lang="en-US" spc="20" dirty="0">
                <a:solidFill>
                  <a:srgbClr val="333333"/>
                </a:solidFill>
                <a:cs typeface="Carlito"/>
              </a:rPr>
              <a:t>The </a:t>
            </a:r>
            <a:r>
              <a:rPr lang="en-US" spc="-15" dirty="0">
                <a:solidFill>
                  <a:srgbClr val="333333"/>
                </a:solidFill>
                <a:cs typeface="Carlito"/>
              </a:rPr>
              <a:t>syntax </a:t>
            </a:r>
            <a:r>
              <a:rPr lang="en-US" spc="20" dirty="0">
                <a:solidFill>
                  <a:srgbClr val="333333"/>
                </a:solidFill>
                <a:cs typeface="Carlito"/>
              </a:rPr>
              <a:t>of </a:t>
            </a:r>
            <a:r>
              <a:rPr lang="en-US" spc="10" dirty="0">
                <a:solidFill>
                  <a:srgbClr val="333333"/>
                </a:solidFill>
                <a:cs typeface="Carlito"/>
              </a:rPr>
              <a:t>the </a:t>
            </a:r>
            <a:r>
              <a:rPr lang="en-US" spc="15" dirty="0">
                <a:solidFill>
                  <a:srgbClr val="333333"/>
                </a:solidFill>
                <a:cs typeface="Carlito"/>
              </a:rPr>
              <a:t>main() </a:t>
            </a:r>
            <a:r>
              <a:rPr lang="en-US" spc="5" dirty="0">
                <a:solidFill>
                  <a:srgbClr val="333333"/>
                </a:solidFill>
                <a:cs typeface="Carlito"/>
              </a:rPr>
              <a:t>method</a:t>
            </a:r>
            <a:r>
              <a:rPr lang="en-US" spc="-530" dirty="0">
                <a:solidFill>
                  <a:srgbClr val="333333"/>
                </a:solidFill>
                <a:cs typeface="Carlito"/>
              </a:rPr>
              <a:t> </a:t>
            </a:r>
            <a:r>
              <a:rPr lang="en-US" spc="10" dirty="0">
                <a:solidFill>
                  <a:srgbClr val="333333"/>
                </a:solidFill>
                <a:cs typeface="Carlito"/>
              </a:rPr>
              <a:t>is:</a:t>
            </a:r>
            <a:endParaRPr lang="en-US" dirty="0">
              <a:cs typeface="Carlito"/>
            </a:endParaRPr>
          </a:p>
          <a:p>
            <a:endParaRPr lang="en-IN" dirty="0"/>
          </a:p>
        </p:txBody>
      </p:sp>
      <p:sp>
        <p:nvSpPr>
          <p:cNvPr id="7" name="object 4"/>
          <p:cNvSpPr/>
          <p:nvPr/>
        </p:nvSpPr>
        <p:spPr>
          <a:xfrm>
            <a:off x="2518318" y="4138532"/>
            <a:ext cx="6408712" cy="17281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30477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505" y="821094"/>
            <a:ext cx="10627567" cy="5305071"/>
          </a:xfrm>
        </p:spPr>
        <p:txBody>
          <a:bodyPr/>
          <a:lstStyle/>
          <a:p>
            <a:pPr>
              <a:lnSpc>
                <a:spcPct val="150000"/>
              </a:lnSpc>
            </a:pPr>
            <a:r>
              <a:rPr lang="en-US" b="1" dirty="0">
                <a:solidFill>
                  <a:srgbClr val="7030A0"/>
                </a:solidFill>
              </a:rPr>
              <a:t>class</a:t>
            </a:r>
            <a:r>
              <a:rPr lang="en-US" dirty="0"/>
              <a:t> : keyword is used to declare a class in Java.</a:t>
            </a:r>
          </a:p>
          <a:p>
            <a:pPr>
              <a:lnSpc>
                <a:spcPct val="150000"/>
              </a:lnSpc>
            </a:pPr>
            <a:r>
              <a:rPr lang="en-IN" b="1" dirty="0">
                <a:solidFill>
                  <a:srgbClr val="7030A0"/>
                </a:solidFill>
              </a:rPr>
              <a:t>public</a:t>
            </a:r>
            <a:r>
              <a:rPr lang="en-IN" b="1" dirty="0"/>
              <a:t>:</a:t>
            </a:r>
            <a:r>
              <a:rPr lang="en-IN" dirty="0"/>
              <a:t> keyword is an access modifier that represents visibility. It means it is visible to all.</a:t>
            </a:r>
          </a:p>
          <a:p>
            <a:pPr>
              <a:lnSpc>
                <a:spcPct val="150000"/>
              </a:lnSpc>
            </a:pPr>
            <a:r>
              <a:rPr lang="en-US" b="1" dirty="0">
                <a:solidFill>
                  <a:srgbClr val="7030A0"/>
                </a:solidFill>
              </a:rPr>
              <a:t>static</a:t>
            </a:r>
            <a:r>
              <a:rPr lang="en-US" b="1" dirty="0"/>
              <a:t>:</a:t>
            </a:r>
            <a:r>
              <a:rPr lang="en-US" dirty="0"/>
              <a:t> Static methods are the method which invokes without creating the objects, so we do not need any object to call the main() method.</a:t>
            </a:r>
            <a:endParaRPr lang="en-IN" dirty="0"/>
          </a:p>
          <a:p>
            <a:pPr>
              <a:lnSpc>
                <a:spcPct val="150000"/>
              </a:lnSpc>
            </a:pPr>
            <a:endParaRPr lang="en-US" dirty="0"/>
          </a:p>
          <a:p>
            <a:endParaRPr lang="en-IN" dirty="0"/>
          </a:p>
        </p:txBody>
      </p:sp>
    </p:spTree>
    <p:extLst>
      <p:ext uri="{BB962C8B-B14F-4D97-AF65-F5344CB8AC3E}">
        <p14:creationId xmlns:p14="http://schemas.microsoft.com/office/powerpoint/2010/main" val="1893962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9085" y="488842"/>
            <a:ext cx="9843796" cy="6120680"/>
          </a:xfrm>
        </p:spPr>
        <p:txBody>
          <a:bodyPr/>
          <a:lstStyle/>
          <a:p>
            <a:pPr>
              <a:lnSpc>
                <a:spcPct val="150000"/>
              </a:lnSpc>
            </a:pPr>
            <a:r>
              <a:rPr lang="en-US" b="1" dirty="0">
                <a:solidFill>
                  <a:srgbClr val="7030A0"/>
                </a:solidFill>
              </a:rPr>
              <a:t>void</a:t>
            </a:r>
            <a:r>
              <a:rPr lang="en-US" dirty="0"/>
              <a:t> : is the return type of the method. It means it doesn't return any value.</a:t>
            </a:r>
          </a:p>
          <a:p>
            <a:pPr>
              <a:lnSpc>
                <a:spcPct val="150000"/>
              </a:lnSpc>
            </a:pPr>
            <a:r>
              <a:rPr lang="en-IN" b="1" dirty="0">
                <a:solidFill>
                  <a:srgbClr val="7030A0"/>
                </a:solidFill>
              </a:rPr>
              <a:t>main</a:t>
            </a:r>
            <a:r>
              <a:rPr lang="en-IN" b="1" dirty="0"/>
              <a:t> </a:t>
            </a:r>
            <a:r>
              <a:rPr lang="en-IN" b="1" dirty="0">
                <a:sym typeface="Wingdings" panose="05000000000000000000" pitchFamily="2" charset="2"/>
              </a:rPr>
              <a:t>:</a:t>
            </a:r>
            <a:r>
              <a:rPr lang="en-IN" dirty="0"/>
              <a:t> represents the starting point of the program.</a:t>
            </a:r>
          </a:p>
          <a:p>
            <a:pPr>
              <a:lnSpc>
                <a:spcPct val="150000"/>
              </a:lnSpc>
            </a:pPr>
            <a:r>
              <a:rPr lang="en-IN" b="1" dirty="0">
                <a:solidFill>
                  <a:srgbClr val="7030A0"/>
                </a:solidFill>
              </a:rPr>
              <a:t>String[] args</a:t>
            </a:r>
            <a:r>
              <a:rPr lang="en-IN" dirty="0">
                <a:solidFill>
                  <a:srgbClr val="7030A0"/>
                </a:solidFill>
              </a:rPr>
              <a:t> or </a:t>
            </a:r>
            <a:r>
              <a:rPr lang="en-IN" b="1" dirty="0">
                <a:solidFill>
                  <a:srgbClr val="7030A0"/>
                </a:solidFill>
              </a:rPr>
              <a:t>String args[]</a:t>
            </a:r>
            <a:r>
              <a:rPr lang="en-IN" dirty="0">
                <a:solidFill>
                  <a:srgbClr val="7030A0"/>
                </a:solidFill>
              </a:rPr>
              <a:t> </a:t>
            </a:r>
            <a:r>
              <a:rPr lang="en-IN" dirty="0"/>
              <a:t>:</a:t>
            </a:r>
            <a:r>
              <a:rPr lang="en-US" dirty="0"/>
              <a:t>It accepts a group of strings, which is called a string array.</a:t>
            </a:r>
          </a:p>
          <a:p>
            <a:pPr>
              <a:lnSpc>
                <a:spcPct val="150000"/>
              </a:lnSpc>
            </a:pPr>
            <a:r>
              <a:rPr lang="en-US" dirty="0"/>
              <a:t> It is used to hold the command line arguments in the form of string values.</a:t>
            </a:r>
            <a:endParaRPr lang="en-IN" dirty="0"/>
          </a:p>
          <a:p>
            <a:pPr marL="0" indent="0">
              <a:lnSpc>
                <a:spcPct val="150000"/>
              </a:lnSpc>
              <a:buNone/>
            </a:pPr>
            <a:endParaRPr lang="en-US" dirty="0"/>
          </a:p>
          <a:p>
            <a:endParaRPr lang="en-US" dirty="0"/>
          </a:p>
        </p:txBody>
      </p:sp>
    </p:spTree>
    <p:extLst>
      <p:ext uri="{BB962C8B-B14F-4D97-AF65-F5344CB8AC3E}">
        <p14:creationId xmlns:p14="http://schemas.microsoft.com/office/powerpoint/2010/main" val="975487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3061" y="1380932"/>
            <a:ext cx="10049070" cy="4198774"/>
          </a:xfrm>
        </p:spPr>
        <p:txBody>
          <a:bodyPr>
            <a:normAutofit/>
          </a:bodyPr>
          <a:lstStyle/>
          <a:p>
            <a:pPr>
              <a:lnSpc>
                <a:spcPct val="150000"/>
              </a:lnSpc>
            </a:pPr>
            <a:r>
              <a:rPr lang="en-US" dirty="0"/>
              <a:t>System.out.println() is used to print statement.</a:t>
            </a:r>
          </a:p>
          <a:p>
            <a:pPr>
              <a:lnSpc>
                <a:spcPct val="150000"/>
              </a:lnSpc>
            </a:pPr>
            <a:r>
              <a:rPr lang="en-US" dirty="0"/>
              <a:t>System is a class.</a:t>
            </a:r>
          </a:p>
          <a:p>
            <a:pPr>
              <a:lnSpc>
                <a:spcPct val="150000"/>
              </a:lnSpc>
            </a:pPr>
            <a:r>
              <a:rPr lang="en-US" dirty="0"/>
              <a:t>out is an object of the PrintStream class,</a:t>
            </a:r>
          </a:p>
          <a:p>
            <a:pPr>
              <a:lnSpc>
                <a:spcPct val="150000"/>
              </a:lnSpc>
            </a:pPr>
            <a:r>
              <a:rPr lang="en-US" dirty="0"/>
              <a:t>println() is a method of the PrintStream class. </a:t>
            </a:r>
          </a:p>
          <a:p>
            <a:pPr marL="0" indent="0">
              <a:buNone/>
            </a:pPr>
            <a:endParaRPr lang="en-IN" dirty="0"/>
          </a:p>
        </p:txBody>
      </p:sp>
    </p:spTree>
    <p:extLst>
      <p:ext uri="{BB962C8B-B14F-4D97-AF65-F5344CB8AC3E}">
        <p14:creationId xmlns:p14="http://schemas.microsoft.com/office/powerpoint/2010/main" val="813948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E992B0-6DD7-D8A0-D99E-BBC5F466B607}"/>
              </a:ext>
            </a:extLst>
          </p:cNvPr>
          <p:cNvSpPr>
            <a:spLocks noGrp="1"/>
          </p:cNvSpPr>
          <p:nvPr>
            <p:ph idx="1"/>
          </p:nvPr>
        </p:nvSpPr>
        <p:spPr>
          <a:xfrm>
            <a:off x="726232" y="755780"/>
            <a:ext cx="10515600" cy="5514489"/>
          </a:xfrm>
        </p:spPr>
        <p:txBody>
          <a:bodyPr/>
          <a:lstStyle/>
          <a:p>
            <a:pPr marL="0" indent="0">
              <a:lnSpc>
                <a:spcPct val="100000"/>
              </a:lnSpc>
              <a:buNone/>
            </a:pPr>
            <a:r>
              <a:rPr lang="en-US" dirty="0"/>
              <a:t> </a:t>
            </a:r>
            <a:r>
              <a:rPr lang="en-US" b="1" dirty="0">
                <a:solidFill>
                  <a:srgbClr val="7030A0"/>
                </a:solidFill>
              </a:rPr>
              <a:t>Example  Program</a:t>
            </a:r>
            <a:r>
              <a:rPr lang="en-US" dirty="0"/>
              <a:t>:</a:t>
            </a:r>
          </a:p>
          <a:p>
            <a:pPr marL="137160" indent="0">
              <a:lnSpc>
                <a:spcPct val="100000"/>
              </a:lnSpc>
              <a:buNone/>
            </a:pPr>
            <a:r>
              <a:rPr lang="en-IN" dirty="0"/>
              <a:t>class Kokila{  </a:t>
            </a:r>
          </a:p>
          <a:p>
            <a:pPr marL="137160" indent="0">
              <a:lnSpc>
                <a:spcPct val="100000"/>
              </a:lnSpc>
              <a:buNone/>
            </a:pPr>
            <a:r>
              <a:rPr lang="en-IN" dirty="0"/>
              <a:t>    public static void main(String </a:t>
            </a:r>
            <a:r>
              <a:rPr lang="en-IN" dirty="0" err="1"/>
              <a:t>args</a:t>
            </a:r>
            <a:r>
              <a:rPr lang="en-IN" dirty="0"/>
              <a:t>[]){  </a:t>
            </a:r>
          </a:p>
          <a:p>
            <a:pPr marL="137160" indent="0">
              <a:lnSpc>
                <a:spcPct val="100000"/>
              </a:lnSpc>
              <a:buNone/>
            </a:pPr>
            <a:r>
              <a:rPr lang="en-IN" dirty="0"/>
              <a:t>     </a:t>
            </a:r>
            <a:r>
              <a:rPr lang="en-IN" dirty="0" err="1"/>
              <a:t>System.out.println</a:t>
            </a:r>
            <a:r>
              <a:rPr lang="en-IN" dirty="0"/>
              <a:t>("Hello Java");  </a:t>
            </a:r>
          </a:p>
          <a:p>
            <a:pPr marL="137160" indent="0">
              <a:lnSpc>
                <a:spcPct val="100000"/>
              </a:lnSpc>
              <a:buNone/>
            </a:pPr>
            <a:r>
              <a:rPr lang="en-IN" dirty="0"/>
              <a:t>    }  </a:t>
            </a:r>
          </a:p>
          <a:p>
            <a:pPr marL="137160" indent="0">
              <a:lnSpc>
                <a:spcPct val="100000"/>
              </a:lnSpc>
              <a:buNone/>
            </a:pPr>
            <a:r>
              <a:rPr lang="en-IN" dirty="0"/>
              <a:t>} </a:t>
            </a:r>
          </a:p>
          <a:p>
            <a:pPr marL="137160" indent="0">
              <a:lnSpc>
                <a:spcPct val="100000"/>
              </a:lnSpc>
              <a:buNone/>
            </a:pPr>
            <a:r>
              <a:rPr lang="en-IN" dirty="0"/>
              <a:t> To compile: </a:t>
            </a:r>
            <a:r>
              <a:rPr lang="en-IN" dirty="0" err="1"/>
              <a:t>javac</a:t>
            </a:r>
            <a:r>
              <a:rPr lang="en-IN" dirty="0"/>
              <a:t> Kokila.java</a:t>
            </a:r>
          </a:p>
          <a:p>
            <a:pPr marL="137160" indent="0">
              <a:lnSpc>
                <a:spcPct val="100000"/>
              </a:lnSpc>
              <a:buNone/>
            </a:pPr>
            <a:r>
              <a:rPr lang="en-US" dirty="0"/>
              <a:t>To run          :java Kokila</a:t>
            </a:r>
            <a:endParaRPr lang="en-IN" dirty="0"/>
          </a:p>
          <a:p>
            <a:endParaRPr lang="en-IN" dirty="0"/>
          </a:p>
        </p:txBody>
      </p:sp>
    </p:spTree>
    <p:extLst>
      <p:ext uri="{BB962C8B-B14F-4D97-AF65-F5344CB8AC3E}">
        <p14:creationId xmlns:p14="http://schemas.microsoft.com/office/powerpoint/2010/main" val="2356826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1898B-C1A3-2A0E-684C-511957B2CC04}"/>
              </a:ext>
            </a:extLst>
          </p:cNvPr>
          <p:cNvSpPr>
            <a:spLocks noGrp="1"/>
          </p:cNvSpPr>
          <p:nvPr>
            <p:ph type="title"/>
          </p:nvPr>
        </p:nvSpPr>
        <p:spPr>
          <a:xfrm>
            <a:off x="940836" y="2305893"/>
            <a:ext cx="10515600" cy="1325563"/>
          </a:xfrm>
        </p:spPr>
        <p:txBody>
          <a:bodyPr/>
          <a:lstStyle/>
          <a:p>
            <a:pPr algn="ctr"/>
            <a:r>
              <a:rPr lang="en-US" dirty="0"/>
              <a:t>FUNDAMENTALS OF JAVA </a:t>
            </a:r>
            <a:endParaRPr lang="en-IN" dirty="0"/>
          </a:p>
        </p:txBody>
      </p:sp>
    </p:spTree>
    <p:extLst>
      <p:ext uri="{BB962C8B-B14F-4D97-AF65-F5344CB8AC3E}">
        <p14:creationId xmlns:p14="http://schemas.microsoft.com/office/powerpoint/2010/main" val="2022399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OF JAVA </a:t>
            </a:r>
            <a:endParaRPr lang="en-IN" dirty="0"/>
          </a:p>
        </p:txBody>
      </p:sp>
      <p:sp>
        <p:nvSpPr>
          <p:cNvPr id="3" name="Content Placeholder 2"/>
          <p:cNvSpPr>
            <a:spLocks noGrp="1"/>
          </p:cNvSpPr>
          <p:nvPr>
            <p:ph idx="1"/>
          </p:nvPr>
        </p:nvSpPr>
        <p:spPr/>
        <p:txBody>
          <a:bodyPr>
            <a:normAutofit lnSpcReduction="10000"/>
          </a:bodyPr>
          <a:lstStyle/>
          <a:p>
            <a:r>
              <a:rPr lang="en-IN" dirty="0">
                <a:sym typeface="Wingdings" pitchFamily="2" charset="2"/>
              </a:rPr>
              <a:t>Variables/Identifiers</a:t>
            </a:r>
          </a:p>
          <a:p>
            <a:endParaRPr lang="en-IN" dirty="0">
              <a:sym typeface="Wingdings" pitchFamily="2" charset="2"/>
            </a:endParaRPr>
          </a:p>
          <a:p>
            <a:r>
              <a:rPr lang="en-IN" dirty="0">
                <a:sym typeface="Wingdings" pitchFamily="2" charset="2"/>
              </a:rPr>
              <a:t>Keywords</a:t>
            </a:r>
          </a:p>
          <a:p>
            <a:endParaRPr lang="en-IN" dirty="0">
              <a:sym typeface="Wingdings" pitchFamily="2" charset="2"/>
            </a:endParaRPr>
          </a:p>
          <a:p>
            <a:r>
              <a:rPr lang="en-IN" dirty="0">
                <a:sym typeface="Wingdings" pitchFamily="2" charset="2"/>
              </a:rPr>
              <a:t>Data types</a:t>
            </a:r>
          </a:p>
          <a:p>
            <a:endParaRPr lang="en-IN" dirty="0">
              <a:sym typeface="Wingdings" pitchFamily="2" charset="2"/>
            </a:endParaRPr>
          </a:p>
          <a:p>
            <a:r>
              <a:rPr lang="en-IN" dirty="0">
                <a:sym typeface="Wingdings" pitchFamily="2" charset="2"/>
              </a:rPr>
              <a:t>Operators</a:t>
            </a:r>
          </a:p>
          <a:p>
            <a:endParaRPr lang="en-IN" dirty="0">
              <a:sym typeface="Wingdings" pitchFamily="2" charset="2"/>
            </a:endParaRPr>
          </a:p>
          <a:p>
            <a:r>
              <a:rPr lang="en-IN" dirty="0">
                <a:sym typeface="Wingdings" pitchFamily="2" charset="2"/>
              </a:rPr>
              <a:t>Comments</a:t>
            </a:r>
            <a:endParaRPr lang="en-IN" dirty="0"/>
          </a:p>
          <a:p>
            <a:pPr marL="0" indent="0">
              <a:buNone/>
            </a:pPr>
            <a:endParaRPr lang="en-IN" dirty="0"/>
          </a:p>
        </p:txBody>
      </p:sp>
    </p:spTree>
    <p:extLst>
      <p:ext uri="{BB962C8B-B14F-4D97-AF65-F5344CB8AC3E}">
        <p14:creationId xmlns:p14="http://schemas.microsoft.com/office/powerpoint/2010/main" val="2192417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2612" y="386060"/>
            <a:ext cx="5901894" cy="701040"/>
          </a:xfrm>
          <a:prstGeom prst="rect">
            <a:avLst/>
          </a:prstGeom>
        </p:spPr>
        <p:txBody>
          <a:bodyPr vert="horz" wrap="square" lIns="0" tIns="16510" rIns="0" bIns="0" rtlCol="0" anchor="ctr">
            <a:spAutoFit/>
          </a:bodyPr>
          <a:lstStyle/>
          <a:p>
            <a:pPr marL="12700">
              <a:lnSpc>
                <a:spcPct val="100000"/>
              </a:lnSpc>
              <a:spcBef>
                <a:spcPts val="130"/>
              </a:spcBef>
            </a:pPr>
            <a:r>
              <a:rPr dirty="0"/>
              <a:t>Identifiers</a:t>
            </a:r>
            <a:r>
              <a:rPr lang="en-US" dirty="0"/>
              <a:t> or Variables</a:t>
            </a:r>
            <a:endParaRPr dirty="0"/>
          </a:p>
        </p:txBody>
      </p:sp>
      <p:sp>
        <p:nvSpPr>
          <p:cNvPr id="3" name="object 3"/>
          <p:cNvSpPr txBox="1"/>
          <p:nvPr/>
        </p:nvSpPr>
        <p:spPr>
          <a:xfrm>
            <a:off x="998376" y="1170513"/>
            <a:ext cx="10655559" cy="4540410"/>
          </a:xfrm>
          <a:prstGeom prst="rect">
            <a:avLst/>
          </a:prstGeom>
        </p:spPr>
        <p:txBody>
          <a:bodyPr vert="horz" wrap="square" lIns="0" tIns="33655" rIns="0" bIns="0" rtlCol="0">
            <a:spAutoFit/>
          </a:bodyPr>
          <a:lstStyle/>
          <a:p>
            <a:pPr marL="355600" marR="5080" indent="-343535">
              <a:lnSpc>
                <a:spcPct val="150000"/>
              </a:lnSpc>
              <a:spcBef>
                <a:spcPts val="265"/>
              </a:spcBef>
              <a:buFont typeface="Arial"/>
              <a:buChar char="•"/>
              <a:tabLst>
                <a:tab pos="355600" algn="l"/>
                <a:tab pos="356235" algn="l"/>
              </a:tabLst>
            </a:pPr>
            <a:r>
              <a:rPr lang="en-IN" sz="3200" dirty="0">
                <a:latin typeface="Carlito"/>
                <a:cs typeface="Carlito"/>
              </a:rPr>
              <a:t>Variables </a:t>
            </a:r>
            <a:r>
              <a:rPr lang="en-IN" sz="3200" dirty="0">
                <a:latin typeface="Carlito"/>
                <a:cs typeface="Carlito"/>
                <a:sym typeface="Wingdings" pitchFamily="2" charset="2"/>
              </a:rPr>
              <a:t> to store the value and allocate memory space for that value.</a:t>
            </a:r>
          </a:p>
          <a:p>
            <a:pPr marL="355600" marR="5080" indent="-343535">
              <a:lnSpc>
                <a:spcPct val="150000"/>
              </a:lnSpc>
              <a:spcBef>
                <a:spcPts val="265"/>
              </a:spcBef>
              <a:buFont typeface="Arial"/>
              <a:buChar char="•"/>
              <a:tabLst>
                <a:tab pos="355600" algn="l"/>
                <a:tab pos="356235" algn="l"/>
              </a:tabLst>
            </a:pPr>
            <a:r>
              <a:rPr lang="en-IN" sz="3200" dirty="0">
                <a:latin typeface="Carlito"/>
                <a:cs typeface="Carlito"/>
                <a:sym typeface="Wingdings" pitchFamily="2" charset="2"/>
              </a:rPr>
              <a:t>Ex: int a=10;</a:t>
            </a:r>
          </a:p>
          <a:p>
            <a:pPr marL="12065" marR="5080">
              <a:lnSpc>
                <a:spcPct val="150000"/>
              </a:lnSpc>
              <a:spcBef>
                <a:spcPts val="265"/>
              </a:spcBef>
              <a:tabLst>
                <a:tab pos="355600" algn="l"/>
                <a:tab pos="356235" algn="l"/>
              </a:tabLst>
            </a:pPr>
            <a:r>
              <a:rPr lang="en-IN" sz="3200" dirty="0">
                <a:latin typeface="Carlito"/>
                <a:cs typeface="Carlito"/>
                <a:sym typeface="Wingdings" pitchFamily="2" charset="2"/>
              </a:rPr>
              <a:t>Syntax</a:t>
            </a:r>
          </a:p>
          <a:p>
            <a:pPr marL="12065" marR="5080">
              <a:lnSpc>
                <a:spcPct val="150000"/>
              </a:lnSpc>
              <a:spcBef>
                <a:spcPts val="265"/>
              </a:spcBef>
              <a:tabLst>
                <a:tab pos="355600" algn="l"/>
                <a:tab pos="356235" algn="l"/>
              </a:tabLst>
            </a:pPr>
            <a:r>
              <a:rPr lang="en-IN" sz="3200" dirty="0">
                <a:latin typeface="Carlito"/>
                <a:cs typeface="Carlito"/>
                <a:sym typeface="Wingdings" pitchFamily="2" charset="2"/>
              </a:rPr>
              <a:t>Data-type variable=value;</a:t>
            </a:r>
          </a:p>
          <a:p>
            <a:pPr marL="355600" marR="5080" indent="-343535">
              <a:lnSpc>
                <a:spcPct val="150000"/>
              </a:lnSpc>
              <a:spcBef>
                <a:spcPts val="265"/>
              </a:spcBef>
              <a:buFont typeface="Arial"/>
              <a:buChar char="•"/>
              <a:tabLst>
                <a:tab pos="355600" algn="l"/>
                <a:tab pos="356235" algn="l"/>
              </a:tabLst>
            </a:pPr>
            <a:r>
              <a:rPr lang="en-IN" sz="3200" dirty="0">
                <a:latin typeface="Carlito"/>
                <a:cs typeface="Carlito"/>
                <a:sym typeface="Wingdings" pitchFamily="2" charset="2"/>
              </a:rPr>
              <a:t>Identifiers  set of rules and conditions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11EAC6-A067-9284-E4E5-2876082172EF}"/>
              </a:ext>
            </a:extLst>
          </p:cNvPr>
          <p:cNvSpPr>
            <a:spLocks noGrp="1"/>
          </p:cNvSpPr>
          <p:nvPr>
            <p:ph idx="1"/>
          </p:nvPr>
        </p:nvSpPr>
        <p:spPr>
          <a:xfrm>
            <a:off x="838200" y="774441"/>
            <a:ext cx="10515600" cy="5402522"/>
          </a:xfrm>
        </p:spPr>
        <p:txBody>
          <a:bodyPr/>
          <a:lstStyle/>
          <a:p>
            <a:pPr marL="355600" marR="5080" indent="-343535">
              <a:lnSpc>
                <a:spcPct val="150000"/>
              </a:lnSpc>
              <a:spcBef>
                <a:spcPts val="265"/>
              </a:spcBef>
              <a:buFont typeface="Arial"/>
              <a:buChar char="•"/>
              <a:tabLst>
                <a:tab pos="355600" algn="l"/>
                <a:tab pos="356235" algn="l"/>
              </a:tabLst>
            </a:pPr>
            <a:r>
              <a:rPr lang="en-IN" sz="2800" dirty="0">
                <a:latin typeface="Carlito"/>
                <a:cs typeface="Carlito"/>
                <a:sym typeface="Wingdings" pitchFamily="2" charset="2"/>
              </a:rPr>
              <a:t>Do’s</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1.lower case  ex: </a:t>
            </a:r>
            <a:r>
              <a:rPr lang="en-IN" sz="2800" dirty="0" err="1">
                <a:latin typeface="Carlito"/>
                <a:cs typeface="Carlito"/>
                <a:sym typeface="Wingdings" pitchFamily="2" charset="2"/>
              </a:rPr>
              <a:t>a,..,z</a:t>
            </a:r>
            <a:r>
              <a:rPr lang="en-IN" sz="2800" dirty="0">
                <a:latin typeface="Carlito"/>
                <a:cs typeface="Carlito"/>
                <a:sym typeface="Wingdings" pitchFamily="2" charset="2"/>
              </a:rPr>
              <a:t> or yoga=10</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2. uppercase  </a:t>
            </a:r>
            <a:r>
              <a:rPr lang="en-IN" sz="2800" dirty="0" err="1">
                <a:latin typeface="Carlito"/>
                <a:cs typeface="Carlito"/>
                <a:sym typeface="Wingdings" pitchFamily="2" charset="2"/>
              </a:rPr>
              <a:t>ex:A</a:t>
            </a:r>
            <a:r>
              <a:rPr lang="en-IN" sz="2800" dirty="0">
                <a:latin typeface="Carlito"/>
                <a:cs typeface="Carlito"/>
                <a:sym typeface="Wingdings" pitchFamily="2" charset="2"/>
              </a:rPr>
              <a:t>,..,Z or YOGA=2</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3. Both upper and lower  ex: Yoga=9</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4. Underscore (_) </a:t>
            </a:r>
            <a:r>
              <a:rPr lang="en-IN" sz="2800" dirty="0" err="1">
                <a:latin typeface="Carlito"/>
                <a:cs typeface="Carlito"/>
                <a:sym typeface="Wingdings" pitchFamily="2" charset="2"/>
              </a:rPr>
              <a:t>yo_ga</a:t>
            </a:r>
            <a:r>
              <a:rPr lang="en-IN" sz="2800" dirty="0">
                <a:latin typeface="Carlito"/>
                <a:cs typeface="Carlito"/>
                <a:sym typeface="Wingdings" pitchFamily="2" charset="2"/>
              </a:rPr>
              <a:t>=1</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5. Variable after number  a=10, a1=3</a:t>
            </a:r>
          </a:p>
          <a:p>
            <a:endParaRPr lang="en-IN" dirty="0"/>
          </a:p>
        </p:txBody>
      </p:sp>
    </p:spTree>
    <p:extLst>
      <p:ext uri="{BB962C8B-B14F-4D97-AF65-F5344CB8AC3E}">
        <p14:creationId xmlns:p14="http://schemas.microsoft.com/office/powerpoint/2010/main" val="2835533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02738" y="858416"/>
            <a:ext cx="9398053" cy="4440948"/>
          </a:xfrm>
        </p:spPr>
        <p:txBody>
          <a:bodyPr>
            <a:normAutofit fontScale="92500"/>
          </a:bodyPr>
          <a:lstStyle/>
          <a:p>
            <a:r>
              <a:rPr lang="en-IN" sz="3900" dirty="0"/>
              <a:t>Don’ts</a:t>
            </a:r>
          </a:p>
          <a:p>
            <a:pPr marL="0" indent="0">
              <a:lnSpc>
                <a:spcPct val="150000"/>
              </a:lnSpc>
              <a:buNone/>
            </a:pPr>
            <a:r>
              <a:rPr lang="en-IN" sz="3600" dirty="0"/>
              <a:t>1.Blank/white space not allowed</a:t>
            </a:r>
          </a:p>
          <a:p>
            <a:pPr marL="0" indent="0">
              <a:lnSpc>
                <a:spcPct val="150000"/>
              </a:lnSpc>
              <a:buNone/>
            </a:pPr>
            <a:r>
              <a:rPr lang="en-IN" sz="3600" dirty="0"/>
              <a:t>2. Keywords not allowed if=10</a:t>
            </a:r>
          </a:p>
          <a:p>
            <a:pPr marL="0" indent="0">
              <a:lnSpc>
                <a:spcPct val="150000"/>
              </a:lnSpc>
              <a:buNone/>
            </a:pPr>
            <a:r>
              <a:rPr lang="en-IN" sz="3600" dirty="0"/>
              <a:t>3.Special symbols (</a:t>
            </a:r>
            <a:r>
              <a:rPr lang="en-IN" sz="3600" dirty="0">
                <a:hlinkClick r:id="rId2"/>
              </a:rPr>
              <a:t>!@#%^&amp;*)-+:”&lt;&gt;?*/.,;’[]{}|</a:t>
            </a:r>
            <a:r>
              <a:rPr lang="en-IN" sz="3600" dirty="0"/>
              <a:t> @=3</a:t>
            </a:r>
          </a:p>
          <a:p>
            <a:pPr marL="0" indent="0">
              <a:lnSpc>
                <a:spcPct val="150000"/>
              </a:lnSpc>
              <a:buNone/>
            </a:pPr>
            <a:r>
              <a:rPr lang="en-IN" sz="3600" dirty="0"/>
              <a:t>4.can’t start with digit ex: 1=10, 2agcd=9</a:t>
            </a:r>
          </a:p>
        </p:txBody>
      </p:sp>
    </p:spTree>
    <p:extLst>
      <p:ext uri="{BB962C8B-B14F-4D97-AF65-F5344CB8AC3E}">
        <p14:creationId xmlns:p14="http://schemas.microsoft.com/office/powerpoint/2010/main" val="3923044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KEYWORDS</a:t>
            </a:r>
            <a:endParaRPr lang="en-IN" dirty="0"/>
          </a:p>
        </p:txBody>
      </p:sp>
      <p:sp>
        <p:nvSpPr>
          <p:cNvPr id="3" name="Content Placeholder 2"/>
          <p:cNvSpPr>
            <a:spLocks noGrp="1"/>
          </p:cNvSpPr>
          <p:nvPr>
            <p:ph idx="1"/>
          </p:nvPr>
        </p:nvSpPr>
        <p:spPr>
          <a:xfrm>
            <a:off x="838199" y="1539551"/>
            <a:ext cx="10153261" cy="4953324"/>
          </a:xfrm>
        </p:spPr>
        <p:txBody>
          <a:bodyPr>
            <a:normAutofit/>
          </a:bodyPr>
          <a:lstStyle/>
          <a:p>
            <a:pPr marL="469265" marR="5080" indent="-457200">
              <a:lnSpc>
                <a:spcPct val="98200"/>
              </a:lnSpc>
              <a:spcBef>
                <a:spcPts val="180"/>
              </a:spcBef>
              <a:buClr>
                <a:srgbClr val="0D0D0D"/>
              </a:buClr>
              <a:tabLst>
                <a:tab pos="355600" algn="l"/>
                <a:tab pos="356235" algn="l"/>
              </a:tabLst>
            </a:pPr>
            <a:r>
              <a:rPr lang="en-US" sz="3000" spc="-135" dirty="0">
                <a:solidFill>
                  <a:srgbClr val="0D0D0D"/>
                </a:solidFill>
                <a:cs typeface="Lucida Sans Unicode"/>
              </a:rPr>
              <a:t>Keywords </a:t>
            </a:r>
            <a:r>
              <a:rPr lang="en-US" sz="3000" spc="-105" dirty="0">
                <a:solidFill>
                  <a:srgbClr val="0D0D0D"/>
                </a:solidFill>
                <a:cs typeface="Lucida Sans Unicode"/>
              </a:rPr>
              <a:t>are already reserved words and they have predefined meaning. </a:t>
            </a:r>
          </a:p>
          <a:p>
            <a:pPr marL="469265" marR="5080" indent="-457200">
              <a:lnSpc>
                <a:spcPct val="98200"/>
              </a:lnSpc>
              <a:spcBef>
                <a:spcPts val="180"/>
              </a:spcBef>
              <a:buClr>
                <a:srgbClr val="0D0D0D"/>
              </a:buClr>
              <a:tabLst>
                <a:tab pos="355600" algn="l"/>
                <a:tab pos="356235" algn="l"/>
              </a:tabLst>
            </a:pPr>
            <a:r>
              <a:rPr lang="en-US" sz="3000" spc="-105" dirty="0">
                <a:solidFill>
                  <a:srgbClr val="0D0D0D"/>
                </a:solidFill>
                <a:cs typeface="Lucida Sans Unicode"/>
              </a:rPr>
              <a:t> Defining the syntax and structure of program.</a:t>
            </a:r>
          </a:p>
          <a:p>
            <a:pPr marL="12065" marR="5080" indent="0">
              <a:lnSpc>
                <a:spcPct val="98200"/>
              </a:lnSpc>
              <a:spcBef>
                <a:spcPts val="180"/>
              </a:spcBef>
              <a:buClr>
                <a:srgbClr val="0D0D0D"/>
              </a:buClr>
              <a:buNone/>
              <a:tabLst>
                <a:tab pos="355600" algn="l"/>
                <a:tab pos="356235" algn="l"/>
              </a:tabLst>
            </a:pPr>
            <a:endParaRPr lang="en-US" sz="3000" spc="-105" dirty="0">
              <a:solidFill>
                <a:srgbClr val="0D0D0D"/>
              </a:solidFill>
              <a:latin typeface="Lucida Sans Unicode"/>
              <a:cs typeface="Lucida Sans Unicode"/>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522" y="3199588"/>
            <a:ext cx="10646229"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8119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Types in Java</a:t>
            </a:r>
          </a:p>
        </p:txBody>
      </p:sp>
      <p:sp>
        <p:nvSpPr>
          <p:cNvPr id="3" name="Content Placeholder 2"/>
          <p:cNvSpPr>
            <a:spLocks noGrp="1"/>
          </p:cNvSpPr>
          <p:nvPr>
            <p:ph idx="1"/>
          </p:nvPr>
        </p:nvSpPr>
        <p:spPr/>
        <p:txBody>
          <a:bodyPr>
            <a:normAutofit/>
          </a:bodyPr>
          <a:lstStyle/>
          <a:p>
            <a:r>
              <a:rPr lang="en-US" dirty="0"/>
              <a:t>Data types specify the different sizes and values that can be stored in the variable. </a:t>
            </a:r>
          </a:p>
          <a:p>
            <a:r>
              <a:rPr lang="en-US" dirty="0"/>
              <a:t>There are two types of data types in Java:</a:t>
            </a:r>
          </a:p>
          <a:p>
            <a:r>
              <a:rPr lang="en-US" b="1" dirty="0">
                <a:solidFill>
                  <a:srgbClr val="7030A0"/>
                </a:solidFill>
              </a:rPr>
              <a:t>Primitive data types</a:t>
            </a:r>
            <a:r>
              <a:rPr lang="en-US" b="1" dirty="0"/>
              <a:t>:</a:t>
            </a:r>
            <a:r>
              <a:rPr lang="en-US" dirty="0"/>
              <a:t> The primitive data types include boolean, char, byte, short, int, long, float and double.</a:t>
            </a:r>
          </a:p>
          <a:p>
            <a:r>
              <a:rPr lang="en-US" b="1" dirty="0">
                <a:solidFill>
                  <a:srgbClr val="7030A0"/>
                </a:solidFill>
              </a:rPr>
              <a:t>Non-primitive data types</a:t>
            </a:r>
            <a:r>
              <a:rPr lang="en-US" b="1" dirty="0"/>
              <a:t>:</a:t>
            </a:r>
            <a:r>
              <a:rPr lang="en-US" dirty="0"/>
              <a:t> The non-primitive data types include </a:t>
            </a:r>
            <a:r>
              <a:rPr lang="en-US" dirty="0">
                <a:hlinkClick r:id="rId2"/>
              </a:rPr>
              <a:t>Classes</a:t>
            </a:r>
            <a:r>
              <a:rPr lang="en-US" dirty="0"/>
              <a:t>, </a:t>
            </a:r>
            <a:r>
              <a:rPr lang="en-US" dirty="0">
                <a:hlinkClick r:id="rId3"/>
              </a:rPr>
              <a:t>Interfaces</a:t>
            </a:r>
            <a:r>
              <a:rPr lang="en-US" dirty="0"/>
              <a:t>, and </a:t>
            </a:r>
            <a:r>
              <a:rPr lang="en-US" dirty="0">
                <a:hlinkClick r:id="rId4"/>
              </a:rPr>
              <a:t>Arrays</a:t>
            </a:r>
            <a:r>
              <a:rPr lang="en-US" dirty="0"/>
              <a:t>.</a:t>
            </a:r>
            <a:br>
              <a:rPr lang="en-US" dirty="0"/>
            </a:br>
            <a:endParaRPr lang="en-IN" dirty="0"/>
          </a:p>
          <a:p>
            <a:endParaRPr lang="en-IN" dirty="0"/>
          </a:p>
        </p:txBody>
      </p:sp>
    </p:spTree>
    <p:extLst>
      <p:ext uri="{BB962C8B-B14F-4D97-AF65-F5344CB8AC3E}">
        <p14:creationId xmlns:p14="http://schemas.microsoft.com/office/powerpoint/2010/main" val="3975428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8253" y="548681"/>
            <a:ext cx="3806890" cy="5577483"/>
          </a:xfrm>
        </p:spPr>
        <p:txBody>
          <a:bodyPr>
            <a:normAutofit lnSpcReduction="10000"/>
          </a:bodyPr>
          <a:lstStyle/>
          <a:p>
            <a:r>
              <a:rPr lang="en-IN" b="1" dirty="0">
                <a:solidFill>
                  <a:srgbClr val="7030A0"/>
                </a:solidFill>
              </a:rPr>
              <a:t>Primitive data types</a:t>
            </a:r>
          </a:p>
          <a:p>
            <a:pPr marL="0" indent="0">
              <a:buNone/>
            </a:pPr>
            <a:r>
              <a:rPr lang="en-IN" b="1" dirty="0">
                <a:solidFill>
                  <a:srgbClr val="7030A0"/>
                </a:solidFill>
              </a:rPr>
              <a:t>or standard datatype</a:t>
            </a:r>
          </a:p>
          <a:p>
            <a:endParaRPr lang="en-IN" dirty="0"/>
          </a:p>
          <a:p>
            <a:r>
              <a:rPr lang="en-IN" dirty="0"/>
              <a:t>boolean data type</a:t>
            </a:r>
          </a:p>
          <a:p>
            <a:r>
              <a:rPr lang="en-IN" dirty="0"/>
              <a:t>byte data type</a:t>
            </a:r>
          </a:p>
          <a:p>
            <a:r>
              <a:rPr lang="en-IN" dirty="0"/>
              <a:t>char data type</a:t>
            </a:r>
          </a:p>
          <a:p>
            <a:r>
              <a:rPr lang="en-IN" dirty="0"/>
              <a:t>short data type</a:t>
            </a:r>
          </a:p>
          <a:p>
            <a:r>
              <a:rPr lang="en-IN" dirty="0"/>
              <a:t>int data type</a:t>
            </a:r>
          </a:p>
          <a:p>
            <a:r>
              <a:rPr lang="en-IN" dirty="0"/>
              <a:t>long data type</a:t>
            </a:r>
          </a:p>
          <a:p>
            <a:r>
              <a:rPr lang="en-IN" dirty="0"/>
              <a:t>float data type</a:t>
            </a:r>
          </a:p>
          <a:p>
            <a:r>
              <a:rPr lang="en-IN" dirty="0"/>
              <a:t>double data type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9373" y="548681"/>
            <a:ext cx="4090987"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0955" y="3501008"/>
            <a:ext cx="4671452" cy="298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9212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7787" y="548681"/>
            <a:ext cx="10133045" cy="5577483"/>
          </a:xfrm>
        </p:spPr>
        <p:txBody>
          <a:bodyPr/>
          <a:lstStyle/>
          <a:p>
            <a:pPr marL="137160" indent="0">
              <a:buNone/>
            </a:pPr>
            <a:r>
              <a:rPr lang="en-US" b="1" dirty="0">
                <a:solidFill>
                  <a:srgbClr val="7030A0"/>
                </a:solidFill>
              </a:rPr>
              <a:t>Non-primitive data types:</a:t>
            </a:r>
          </a:p>
          <a:p>
            <a:r>
              <a:rPr lang="en-US" sz="3000" b="1" dirty="0">
                <a:solidFill>
                  <a:srgbClr val="7030A0"/>
                </a:solidFill>
              </a:rPr>
              <a:t>It is derived data type</a:t>
            </a:r>
          </a:p>
          <a:p>
            <a:pPr marL="469265" marR="563880" indent="-457200">
              <a:lnSpc>
                <a:spcPct val="101400"/>
              </a:lnSpc>
              <a:spcBef>
                <a:spcPts val="60"/>
              </a:spcBef>
              <a:tabLst>
                <a:tab pos="356235" algn="l"/>
              </a:tabLst>
            </a:pPr>
            <a:r>
              <a:rPr lang="en-US" sz="3000" b="1" dirty="0">
                <a:solidFill>
                  <a:srgbClr val="7030A0"/>
                </a:solidFill>
                <a:cs typeface="Calibri"/>
              </a:rPr>
              <a:t>Class,</a:t>
            </a:r>
            <a:r>
              <a:rPr lang="en-US" sz="3000" b="1" spc="90" dirty="0">
                <a:solidFill>
                  <a:srgbClr val="7030A0"/>
                </a:solidFill>
                <a:cs typeface="Calibri"/>
              </a:rPr>
              <a:t> </a:t>
            </a:r>
            <a:r>
              <a:rPr lang="en-US" sz="3000" b="1" spc="10" dirty="0">
                <a:solidFill>
                  <a:srgbClr val="7030A0"/>
                </a:solidFill>
                <a:cs typeface="Calibri"/>
              </a:rPr>
              <a:t>object,</a:t>
            </a:r>
            <a:r>
              <a:rPr lang="en-US" sz="3000" b="1" spc="90" dirty="0">
                <a:solidFill>
                  <a:srgbClr val="7030A0"/>
                </a:solidFill>
                <a:cs typeface="Calibri"/>
              </a:rPr>
              <a:t> </a:t>
            </a:r>
            <a:r>
              <a:rPr lang="en-US" sz="3000" b="1" spc="-60" dirty="0">
                <a:solidFill>
                  <a:srgbClr val="7030A0"/>
                </a:solidFill>
                <a:cs typeface="Calibri"/>
              </a:rPr>
              <a:t>array,</a:t>
            </a:r>
            <a:r>
              <a:rPr lang="en-US" sz="3000" b="1" spc="25" dirty="0">
                <a:solidFill>
                  <a:srgbClr val="7030A0"/>
                </a:solidFill>
                <a:cs typeface="Calibri"/>
              </a:rPr>
              <a:t> </a:t>
            </a:r>
            <a:r>
              <a:rPr lang="en-US" sz="3000" b="1" spc="-5" dirty="0">
                <a:solidFill>
                  <a:srgbClr val="7030A0"/>
                </a:solidFill>
                <a:cs typeface="Calibri"/>
              </a:rPr>
              <a:t>string,</a:t>
            </a:r>
            <a:r>
              <a:rPr lang="en-US" sz="3000" b="1" spc="165" dirty="0">
                <a:solidFill>
                  <a:srgbClr val="7030A0"/>
                </a:solidFill>
                <a:cs typeface="Calibri"/>
              </a:rPr>
              <a:t> </a:t>
            </a:r>
            <a:r>
              <a:rPr lang="en-US" sz="3000" b="1" spc="-5" dirty="0">
                <a:solidFill>
                  <a:srgbClr val="7030A0"/>
                </a:solidFill>
                <a:cs typeface="Calibri"/>
              </a:rPr>
              <a:t>and </a:t>
            </a:r>
            <a:r>
              <a:rPr lang="en-US" sz="3000" b="1" dirty="0">
                <a:solidFill>
                  <a:srgbClr val="7030A0"/>
                </a:solidFill>
                <a:cs typeface="Calibri"/>
              </a:rPr>
              <a:t> </a:t>
            </a:r>
            <a:r>
              <a:rPr lang="en-US" sz="3000" b="1" spc="-15" dirty="0">
                <a:solidFill>
                  <a:srgbClr val="7030A0"/>
                </a:solidFill>
                <a:cs typeface="Calibri"/>
              </a:rPr>
              <a:t>interface</a:t>
            </a:r>
            <a:r>
              <a:rPr lang="en-US" sz="3000" b="1" spc="95" dirty="0">
                <a:solidFill>
                  <a:srgbClr val="7030A0"/>
                </a:solidFill>
                <a:cs typeface="Calibri"/>
              </a:rPr>
              <a:t> </a:t>
            </a:r>
            <a:r>
              <a:rPr lang="en-US" sz="3000" spc="-35" dirty="0">
                <a:cs typeface="Calibri"/>
              </a:rPr>
              <a:t>are</a:t>
            </a:r>
            <a:r>
              <a:rPr lang="en-US" sz="3000" spc="120" dirty="0">
                <a:cs typeface="Calibri"/>
              </a:rPr>
              <a:t> </a:t>
            </a:r>
            <a:r>
              <a:rPr lang="en-US" sz="3000" spc="-10" dirty="0">
                <a:cs typeface="Calibri"/>
              </a:rPr>
              <a:t>called</a:t>
            </a:r>
            <a:r>
              <a:rPr lang="en-US" sz="3000" spc="150" dirty="0">
                <a:cs typeface="Calibri"/>
              </a:rPr>
              <a:t> </a:t>
            </a:r>
            <a:r>
              <a:rPr lang="en-US" sz="3000" dirty="0">
                <a:cs typeface="Calibri"/>
              </a:rPr>
              <a:t>non-primitive </a:t>
            </a:r>
            <a:r>
              <a:rPr lang="en-US" sz="3000" spc="-875" dirty="0">
                <a:cs typeface="Calibri"/>
              </a:rPr>
              <a:t> </a:t>
            </a:r>
            <a:r>
              <a:rPr lang="en-US" sz="3000" spc="-10" dirty="0">
                <a:cs typeface="Calibri"/>
              </a:rPr>
              <a:t>data</a:t>
            </a:r>
            <a:r>
              <a:rPr lang="en-US" sz="3000" spc="45" dirty="0">
                <a:cs typeface="Calibri"/>
              </a:rPr>
              <a:t> </a:t>
            </a:r>
            <a:r>
              <a:rPr lang="en-US" sz="3000" spc="10" dirty="0">
                <a:cs typeface="Calibri"/>
              </a:rPr>
              <a:t>types</a:t>
            </a:r>
            <a:r>
              <a:rPr lang="en-US" sz="3000" spc="15" dirty="0">
                <a:cs typeface="Calibri"/>
              </a:rPr>
              <a:t> </a:t>
            </a:r>
            <a:r>
              <a:rPr lang="en-US" sz="3000" dirty="0">
                <a:cs typeface="Calibri"/>
              </a:rPr>
              <a:t>in</a:t>
            </a:r>
            <a:r>
              <a:rPr lang="en-US" sz="3000" spc="10" dirty="0">
                <a:cs typeface="Calibri"/>
              </a:rPr>
              <a:t> </a:t>
            </a:r>
            <a:r>
              <a:rPr lang="en-US" sz="3000" spc="-30" dirty="0">
                <a:cs typeface="Calibri"/>
              </a:rPr>
              <a:t>Java.</a:t>
            </a:r>
            <a:endParaRPr lang="en-US" sz="3000" dirty="0">
              <a:cs typeface="Calibri"/>
            </a:endParaRPr>
          </a:p>
          <a:p>
            <a:pPr marL="469265" marR="5080" indent="-457200">
              <a:lnSpc>
                <a:spcPct val="101400"/>
              </a:lnSpc>
              <a:spcBef>
                <a:spcPts val="980"/>
              </a:spcBef>
              <a:tabLst>
                <a:tab pos="356235" algn="l"/>
              </a:tabLst>
            </a:pPr>
            <a:r>
              <a:rPr lang="en-US" sz="3000" spc="10" dirty="0">
                <a:cs typeface="Calibri"/>
              </a:rPr>
              <a:t>These</a:t>
            </a:r>
            <a:r>
              <a:rPr lang="en-US" sz="3000" spc="40" dirty="0">
                <a:cs typeface="Calibri"/>
              </a:rPr>
              <a:t> </a:t>
            </a:r>
            <a:r>
              <a:rPr lang="en-US" sz="3000" spc="-10" dirty="0">
                <a:cs typeface="Calibri"/>
              </a:rPr>
              <a:t>data</a:t>
            </a:r>
            <a:r>
              <a:rPr lang="en-US" sz="3000" spc="45" dirty="0">
                <a:cs typeface="Calibri"/>
              </a:rPr>
              <a:t> </a:t>
            </a:r>
            <a:r>
              <a:rPr lang="en-US" sz="3000" spc="10" dirty="0">
                <a:cs typeface="Calibri"/>
              </a:rPr>
              <a:t>types</a:t>
            </a:r>
            <a:r>
              <a:rPr lang="en-US" sz="3000" spc="15" dirty="0">
                <a:cs typeface="Calibri"/>
              </a:rPr>
              <a:t> </a:t>
            </a:r>
            <a:r>
              <a:rPr lang="en-US" sz="3000" spc="-40" dirty="0">
                <a:cs typeface="Calibri"/>
              </a:rPr>
              <a:t>are</a:t>
            </a:r>
            <a:r>
              <a:rPr lang="en-US" sz="3000" spc="120" dirty="0">
                <a:cs typeface="Calibri"/>
              </a:rPr>
              <a:t> </a:t>
            </a:r>
            <a:r>
              <a:rPr lang="en-US" sz="3000" spc="10" dirty="0">
                <a:cs typeface="Calibri"/>
              </a:rPr>
              <a:t>not</a:t>
            </a:r>
            <a:r>
              <a:rPr lang="en-US" sz="3000" spc="15" dirty="0">
                <a:cs typeface="Calibri"/>
              </a:rPr>
              <a:t> </a:t>
            </a:r>
            <a:r>
              <a:rPr lang="en-US" sz="3000" spc="-10" dirty="0">
                <a:cs typeface="Calibri"/>
              </a:rPr>
              <a:t>predefined </a:t>
            </a:r>
            <a:r>
              <a:rPr lang="en-US" sz="3000" spc="-875" dirty="0">
                <a:cs typeface="Calibri"/>
              </a:rPr>
              <a:t> </a:t>
            </a:r>
            <a:r>
              <a:rPr lang="en-US" sz="3000" dirty="0">
                <a:cs typeface="Calibri"/>
              </a:rPr>
              <a:t>in</a:t>
            </a:r>
            <a:r>
              <a:rPr lang="en-US" sz="3000" spc="-5" dirty="0">
                <a:cs typeface="Calibri"/>
              </a:rPr>
              <a:t> </a:t>
            </a:r>
            <a:r>
              <a:rPr lang="en-US" sz="3000" spc="-30" dirty="0">
                <a:cs typeface="Calibri"/>
              </a:rPr>
              <a:t>Java.</a:t>
            </a:r>
            <a:endParaRPr lang="en-US" sz="3000" dirty="0">
              <a:cs typeface="Calibri"/>
            </a:endParaRPr>
          </a:p>
          <a:p>
            <a:pPr marL="469265" indent="-457200">
              <a:spcBef>
                <a:spcPts val="1045"/>
              </a:spcBef>
              <a:tabLst>
                <a:tab pos="356235" algn="l"/>
              </a:tabLst>
            </a:pPr>
            <a:r>
              <a:rPr lang="en-US" sz="3000" spc="10" dirty="0">
                <a:cs typeface="Calibri"/>
              </a:rPr>
              <a:t>They</a:t>
            </a:r>
            <a:r>
              <a:rPr lang="en-US" sz="3000" spc="-5" dirty="0">
                <a:cs typeface="Calibri"/>
              </a:rPr>
              <a:t> </a:t>
            </a:r>
            <a:r>
              <a:rPr lang="en-US" sz="3000" spc="-40" dirty="0">
                <a:cs typeface="Calibri"/>
              </a:rPr>
              <a:t>are</a:t>
            </a:r>
            <a:r>
              <a:rPr lang="en-US" sz="3000" spc="114" dirty="0">
                <a:cs typeface="Calibri"/>
              </a:rPr>
              <a:t> </a:t>
            </a:r>
            <a:r>
              <a:rPr lang="en-US" sz="3000" spc="-30" dirty="0">
                <a:cs typeface="Calibri"/>
              </a:rPr>
              <a:t>created</a:t>
            </a:r>
            <a:r>
              <a:rPr lang="en-US" sz="3000" spc="225" dirty="0">
                <a:cs typeface="Calibri"/>
              </a:rPr>
              <a:t> </a:t>
            </a:r>
            <a:r>
              <a:rPr lang="en-US" sz="3000" spc="15" dirty="0">
                <a:cs typeface="Calibri"/>
              </a:rPr>
              <a:t>by</a:t>
            </a:r>
            <a:r>
              <a:rPr lang="en-US" sz="3000" spc="-5" dirty="0">
                <a:cs typeface="Calibri"/>
              </a:rPr>
              <a:t> </a:t>
            </a:r>
            <a:r>
              <a:rPr lang="en-US" sz="3000" spc="-25" dirty="0">
                <a:cs typeface="Calibri"/>
              </a:rPr>
              <a:t>programmers.</a:t>
            </a:r>
            <a:endParaRPr lang="en-US" sz="3000" dirty="0">
              <a:cs typeface="Calibri"/>
            </a:endParaRPr>
          </a:p>
          <a:p>
            <a:endParaRPr lang="en-IN" sz="3000" dirty="0"/>
          </a:p>
        </p:txBody>
      </p:sp>
      <p:pic>
        <p:nvPicPr>
          <p:cNvPr id="4" name="Picture 3">
            <a:extLst>
              <a:ext uri="{FF2B5EF4-FFF2-40B4-BE49-F238E27FC236}">
                <a16:creationId xmlns:a16="http://schemas.microsoft.com/office/drawing/2014/main" id="{458635DA-5DF4-C416-F632-EAFE2D34549A}"/>
              </a:ext>
            </a:extLst>
          </p:cNvPr>
          <p:cNvPicPr>
            <a:picLocks noChangeAspect="1"/>
          </p:cNvPicPr>
          <p:nvPr/>
        </p:nvPicPr>
        <p:blipFill>
          <a:blip r:embed="rId2"/>
          <a:stretch>
            <a:fillRect/>
          </a:stretch>
        </p:blipFill>
        <p:spPr>
          <a:xfrm>
            <a:off x="864301" y="4306110"/>
            <a:ext cx="3368332" cy="853514"/>
          </a:xfrm>
          <a:prstGeom prst="rect">
            <a:avLst/>
          </a:prstGeom>
        </p:spPr>
      </p:pic>
    </p:spTree>
    <p:extLst>
      <p:ext uri="{BB962C8B-B14F-4D97-AF65-F5344CB8AC3E}">
        <p14:creationId xmlns:p14="http://schemas.microsoft.com/office/powerpoint/2010/main" val="1232349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CASTING</a:t>
            </a:r>
            <a:endParaRPr lang="en-IN" dirty="0"/>
          </a:p>
        </p:txBody>
      </p:sp>
      <p:sp>
        <p:nvSpPr>
          <p:cNvPr id="3" name="Content Placeholder 2"/>
          <p:cNvSpPr>
            <a:spLocks noGrp="1"/>
          </p:cNvSpPr>
          <p:nvPr>
            <p:ph idx="1"/>
          </p:nvPr>
        </p:nvSpPr>
        <p:spPr/>
        <p:txBody>
          <a:bodyPr>
            <a:normAutofit/>
          </a:bodyPr>
          <a:lstStyle/>
          <a:p>
            <a:pPr marL="355600" marR="5080" indent="-343535">
              <a:lnSpc>
                <a:spcPts val="3829"/>
              </a:lnSpc>
              <a:spcBef>
                <a:spcPts val="265"/>
              </a:spcBef>
              <a:buFont typeface="Arial"/>
              <a:buChar char="•"/>
              <a:tabLst>
                <a:tab pos="355600" algn="l"/>
                <a:tab pos="356235" algn="l"/>
              </a:tabLst>
            </a:pPr>
            <a:r>
              <a:rPr lang="en-US" sz="3000" spc="10" dirty="0">
                <a:latin typeface="Carlito"/>
                <a:cs typeface="Carlito"/>
              </a:rPr>
              <a:t>One </a:t>
            </a:r>
            <a:r>
              <a:rPr lang="en-US" sz="3000" dirty="0">
                <a:latin typeface="Carlito"/>
                <a:cs typeface="Carlito"/>
              </a:rPr>
              <a:t>type </a:t>
            </a:r>
            <a:r>
              <a:rPr lang="en-US" sz="3000" spc="20" dirty="0">
                <a:latin typeface="Carlito"/>
                <a:cs typeface="Carlito"/>
              </a:rPr>
              <a:t>of </a:t>
            </a:r>
            <a:r>
              <a:rPr lang="en-US" sz="3000" spc="-5" dirty="0">
                <a:latin typeface="Carlito"/>
                <a:cs typeface="Carlito"/>
              </a:rPr>
              <a:t>data </a:t>
            </a:r>
            <a:r>
              <a:rPr lang="en-US" sz="3000" spc="5" dirty="0">
                <a:latin typeface="Carlito"/>
                <a:cs typeface="Carlito"/>
              </a:rPr>
              <a:t>is </a:t>
            </a:r>
            <a:r>
              <a:rPr lang="en-US" sz="3000" spc="-15" dirty="0">
                <a:latin typeface="Carlito"/>
                <a:cs typeface="Carlito"/>
              </a:rPr>
              <a:t>getting </a:t>
            </a:r>
            <a:r>
              <a:rPr lang="en-US" sz="3000" spc="-10" dirty="0">
                <a:latin typeface="Carlito"/>
                <a:cs typeface="Carlito"/>
              </a:rPr>
              <a:t>converted</a:t>
            </a:r>
            <a:r>
              <a:rPr lang="en-US" sz="3000" spc="-250" dirty="0">
                <a:latin typeface="Carlito"/>
                <a:cs typeface="Carlito"/>
              </a:rPr>
              <a:t> </a:t>
            </a:r>
            <a:r>
              <a:rPr lang="en-US" sz="3000" spc="10" dirty="0">
                <a:latin typeface="Carlito"/>
                <a:cs typeface="Carlito"/>
              </a:rPr>
              <a:t>into  </a:t>
            </a:r>
            <a:r>
              <a:rPr lang="en-US" sz="3000" spc="15" dirty="0">
                <a:latin typeface="Carlito"/>
                <a:cs typeface="Carlito"/>
              </a:rPr>
              <a:t>another </a:t>
            </a:r>
            <a:r>
              <a:rPr lang="en-US" sz="3000" dirty="0">
                <a:latin typeface="Carlito"/>
                <a:cs typeface="Carlito"/>
              </a:rPr>
              <a:t>type </a:t>
            </a:r>
            <a:r>
              <a:rPr lang="en-US" sz="3000" spc="20" dirty="0">
                <a:latin typeface="Carlito"/>
                <a:cs typeface="Carlito"/>
              </a:rPr>
              <a:t>of</a:t>
            </a:r>
            <a:r>
              <a:rPr lang="en-US" sz="3000" spc="-215" dirty="0">
                <a:latin typeface="Carlito"/>
                <a:cs typeface="Carlito"/>
              </a:rPr>
              <a:t> </a:t>
            </a:r>
            <a:r>
              <a:rPr lang="en-US" sz="3000" spc="5" dirty="0">
                <a:latin typeface="Carlito"/>
                <a:cs typeface="Carlito"/>
              </a:rPr>
              <a:t>data.</a:t>
            </a:r>
          </a:p>
          <a:p>
            <a:pPr marL="0" marR="1402080" indent="0">
              <a:lnSpc>
                <a:spcPts val="4580"/>
              </a:lnSpc>
              <a:spcBef>
                <a:spcPts val="225"/>
              </a:spcBef>
              <a:buNone/>
            </a:pPr>
            <a:r>
              <a:rPr lang="en-US" sz="3000" spc="10" dirty="0">
                <a:latin typeface="Carlito"/>
                <a:cs typeface="Carlito"/>
              </a:rPr>
              <a:t>1.Implicit </a:t>
            </a:r>
            <a:r>
              <a:rPr lang="en-US" sz="3000" dirty="0">
                <a:latin typeface="Carlito"/>
                <a:cs typeface="Carlito"/>
              </a:rPr>
              <a:t>type </a:t>
            </a:r>
            <a:r>
              <a:rPr lang="en-US" sz="3000" spc="10" dirty="0">
                <a:latin typeface="Carlito"/>
                <a:cs typeface="Carlito"/>
              </a:rPr>
              <a:t>casting </a:t>
            </a:r>
            <a:r>
              <a:rPr lang="en-US" sz="3000" spc="20" dirty="0">
                <a:latin typeface="Carlito"/>
                <a:cs typeface="Carlito"/>
              </a:rPr>
              <a:t>or widening </a:t>
            </a:r>
          </a:p>
          <a:p>
            <a:pPr marL="0" marR="1402080" indent="0">
              <a:lnSpc>
                <a:spcPts val="4580"/>
              </a:lnSpc>
              <a:spcBef>
                <a:spcPts val="225"/>
              </a:spcBef>
              <a:buNone/>
            </a:pPr>
            <a:r>
              <a:rPr lang="en-US" sz="3000" spc="15" dirty="0">
                <a:latin typeface="Carlito"/>
                <a:cs typeface="Carlito"/>
              </a:rPr>
              <a:t>2.Explicit </a:t>
            </a:r>
            <a:r>
              <a:rPr lang="en-US" sz="3000" dirty="0">
                <a:latin typeface="Carlito"/>
                <a:cs typeface="Carlito"/>
              </a:rPr>
              <a:t>type </a:t>
            </a:r>
            <a:r>
              <a:rPr lang="en-US" sz="3000" spc="10" dirty="0">
                <a:latin typeface="Carlito"/>
                <a:cs typeface="Carlito"/>
              </a:rPr>
              <a:t>casting </a:t>
            </a:r>
            <a:r>
              <a:rPr lang="en-US" sz="3000" spc="20" dirty="0">
                <a:latin typeface="Carlito"/>
                <a:cs typeface="Carlito"/>
              </a:rPr>
              <a:t>or</a:t>
            </a:r>
            <a:r>
              <a:rPr lang="en-US" sz="3000" spc="-409" dirty="0">
                <a:latin typeface="Carlito"/>
                <a:cs typeface="Carlito"/>
              </a:rPr>
              <a:t> </a:t>
            </a:r>
            <a:r>
              <a:rPr lang="en-US" sz="3000" spc="15" dirty="0">
                <a:latin typeface="Carlito"/>
                <a:cs typeface="Carlito"/>
              </a:rPr>
              <a:t>narrowing</a:t>
            </a:r>
            <a:endParaRPr lang="en-US" sz="3000" dirty="0">
              <a:latin typeface="Carlito"/>
              <a:cs typeface="Carlito"/>
            </a:endParaRPr>
          </a:p>
          <a:p>
            <a:endParaRPr lang="en-IN" sz="3000" dirty="0"/>
          </a:p>
        </p:txBody>
      </p:sp>
      <p:pic>
        <p:nvPicPr>
          <p:cNvPr id="2050" name="Picture 2" descr="C:\Users\STAFF\Desktop\Kokila\type-casting-in-jav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4077072"/>
            <a:ext cx="7488833"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4389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COMMENTS</a:t>
            </a:r>
            <a:endParaRPr lang="en-IN" dirty="0"/>
          </a:p>
        </p:txBody>
      </p:sp>
      <p:sp>
        <p:nvSpPr>
          <p:cNvPr id="3" name="Content Placeholder 2"/>
          <p:cNvSpPr>
            <a:spLocks noGrp="1"/>
          </p:cNvSpPr>
          <p:nvPr>
            <p:ph idx="1"/>
          </p:nvPr>
        </p:nvSpPr>
        <p:spPr>
          <a:xfrm>
            <a:off x="838200" y="1614196"/>
            <a:ext cx="9372600" cy="4511968"/>
          </a:xfrm>
        </p:spPr>
        <p:txBody>
          <a:bodyPr>
            <a:normAutofit/>
          </a:bodyPr>
          <a:lstStyle/>
          <a:p>
            <a:pPr marL="0" indent="0">
              <a:buNone/>
            </a:pPr>
            <a:r>
              <a:rPr lang="en-IN" b="1" dirty="0">
                <a:solidFill>
                  <a:srgbClr val="7030A0"/>
                </a:solidFill>
              </a:rPr>
              <a:t>Java Single Line Comment</a:t>
            </a:r>
          </a:p>
          <a:p>
            <a:r>
              <a:rPr lang="en-US" sz="3000" dirty="0"/>
              <a:t>Single line comments starts with two forward slashes </a:t>
            </a:r>
            <a:r>
              <a:rPr lang="en-US" sz="3000" b="1" dirty="0"/>
              <a:t>(//)</a:t>
            </a:r>
            <a:r>
              <a:rPr lang="en-US" sz="3000" dirty="0"/>
              <a:t>. Any text in front of // is not executed by Java.</a:t>
            </a:r>
            <a:endParaRPr lang="en-IN" sz="3000" b="1" dirty="0">
              <a:solidFill>
                <a:srgbClr val="7030A0"/>
              </a:solidFill>
            </a:endParaRPr>
          </a:p>
          <a:p>
            <a:pPr marL="0" indent="0">
              <a:buNone/>
            </a:pPr>
            <a:r>
              <a:rPr lang="en-IN" b="1" dirty="0">
                <a:solidFill>
                  <a:srgbClr val="7030A0"/>
                </a:solidFill>
              </a:rPr>
              <a:t>Java Multi Line Comment</a:t>
            </a:r>
          </a:p>
          <a:p>
            <a:r>
              <a:rPr lang="en-US" dirty="0"/>
              <a:t>Multi-line comments are placed between /* and */. Any text between /* and */ is not executed by Java.</a:t>
            </a:r>
            <a:endParaRPr lang="en-IN" b="1" dirty="0">
              <a:solidFill>
                <a:srgbClr val="7030A0"/>
              </a:solidFill>
            </a:endParaRPr>
          </a:p>
        </p:txBody>
      </p:sp>
    </p:spTree>
    <p:extLst>
      <p:ext uri="{BB962C8B-B14F-4D97-AF65-F5344CB8AC3E}">
        <p14:creationId xmlns:p14="http://schemas.microsoft.com/office/powerpoint/2010/main" val="7068092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E6F5E-A044-08E7-2637-8A30AD268D29}"/>
              </a:ext>
            </a:extLst>
          </p:cNvPr>
          <p:cNvSpPr>
            <a:spLocks noGrp="1"/>
          </p:cNvSpPr>
          <p:nvPr>
            <p:ph idx="1"/>
          </p:nvPr>
        </p:nvSpPr>
        <p:spPr>
          <a:xfrm>
            <a:off x="838200" y="690465"/>
            <a:ext cx="10515600" cy="5486498"/>
          </a:xfrm>
        </p:spPr>
        <p:txBody>
          <a:bodyPr>
            <a:normAutofit/>
          </a:bodyPr>
          <a:lstStyle/>
          <a:p>
            <a:pPr marL="0" indent="0">
              <a:buNone/>
            </a:pPr>
            <a:r>
              <a:rPr lang="en-US" b="1" dirty="0">
                <a:solidFill>
                  <a:srgbClr val="7030A0"/>
                </a:solidFill>
              </a:rPr>
              <a:t>Operators</a:t>
            </a:r>
            <a:endParaRPr lang="en-US" b="1" i="0" dirty="0">
              <a:solidFill>
                <a:srgbClr val="7030A0"/>
              </a:solidFill>
              <a:effectLst/>
            </a:endParaRPr>
          </a:p>
          <a:p>
            <a:r>
              <a:rPr lang="en-US" b="0" i="0" dirty="0">
                <a:effectLst/>
              </a:rPr>
              <a:t>Operators are symbols that perform operations on  and values.</a:t>
            </a:r>
          </a:p>
          <a:p>
            <a:pPr algn="l"/>
            <a:r>
              <a:rPr lang="en-US" b="0" i="0" dirty="0">
                <a:effectLst/>
              </a:rPr>
              <a:t>Operators in Java can be classified into 7 types:</a:t>
            </a:r>
          </a:p>
          <a:p>
            <a:pPr algn="l">
              <a:buFont typeface="+mj-lt"/>
              <a:buAutoNum type="arabicPeriod"/>
            </a:pPr>
            <a:r>
              <a:rPr lang="en-US" b="0" i="0" dirty="0">
                <a:effectLst/>
              </a:rPr>
              <a:t>Arithmetic Operators</a:t>
            </a:r>
          </a:p>
          <a:p>
            <a:pPr algn="l">
              <a:buFont typeface="+mj-lt"/>
              <a:buAutoNum type="arabicPeriod"/>
            </a:pPr>
            <a:r>
              <a:rPr lang="en-US" b="0" i="0" dirty="0">
                <a:effectLst/>
              </a:rPr>
              <a:t>Assignment Operators</a:t>
            </a:r>
          </a:p>
          <a:p>
            <a:pPr algn="l">
              <a:buFont typeface="+mj-lt"/>
              <a:buAutoNum type="arabicPeriod"/>
            </a:pPr>
            <a:r>
              <a:rPr lang="en-US" b="0" i="0" dirty="0">
                <a:effectLst/>
              </a:rPr>
              <a:t>Relational Operators</a:t>
            </a:r>
          </a:p>
          <a:p>
            <a:pPr algn="l">
              <a:buFont typeface="+mj-lt"/>
              <a:buAutoNum type="arabicPeriod"/>
            </a:pPr>
            <a:r>
              <a:rPr lang="en-US" b="0" i="0" dirty="0">
                <a:effectLst/>
              </a:rPr>
              <a:t>Logical Operators</a:t>
            </a:r>
          </a:p>
          <a:p>
            <a:pPr algn="l">
              <a:buFont typeface="+mj-lt"/>
              <a:buAutoNum type="arabicPeriod"/>
            </a:pPr>
            <a:r>
              <a:rPr lang="en-US" b="0" i="0" dirty="0">
                <a:effectLst/>
              </a:rPr>
              <a:t>Unary Operators</a:t>
            </a:r>
          </a:p>
          <a:p>
            <a:pPr algn="l">
              <a:buFont typeface="+mj-lt"/>
              <a:buAutoNum type="arabicPeriod"/>
            </a:pPr>
            <a:r>
              <a:rPr lang="en-US" b="0" i="0" dirty="0">
                <a:effectLst/>
              </a:rPr>
              <a:t>Bitwise Operators</a:t>
            </a:r>
          </a:p>
          <a:p>
            <a:pPr marL="0" indent="0">
              <a:buNone/>
            </a:pPr>
            <a:r>
              <a:rPr lang="en-US" dirty="0"/>
              <a:t>7.Ternary operator</a:t>
            </a:r>
            <a:br>
              <a:rPr lang="en-US" dirty="0"/>
            </a:br>
            <a:r>
              <a:rPr lang="en-US" b="0" i="0" dirty="0">
                <a:effectLst/>
                <a:latin typeface="euclid_circular_a"/>
              </a:rPr>
              <a:t> </a:t>
            </a:r>
            <a:endParaRPr lang="en-IN" dirty="0"/>
          </a:p>
        </p:txBody>
      </p:sp>
    </p:spTree>
    <p:extLst>
      <p:ext uri="{BB962C8B-B14F-4D97-AF65-F5344CB8AC3E}">
        <p14:creationId xmlns:p14="http://schemas.microsoft.com/office/powerpoint/2010/main" val="4258199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91919-EE97-3C5E-8DE2-27E0B25F8044}"/>
              </a:ext>
            </a:extLst>
          </p:cNvPr>
          <p:cNvSpPr>
            <a:spLocks noGrp="1"/>
          </p:cNvSpPr>
          <p:nvPr>
            <p:ph idx="1"/>
          </p:nvPr>
        </p:nvSpPr>
        <p:spPr>
          <a:xfrm>
            <a:off x="838200" y="541176"/>
            <a:ext cx="10515600" cy="5635787"/>
          </a:xfrm>
        </p:spPr>
        <p:txBody>
          <a:bodyPr/>
          <a:lstStyle/>
          <a:p>
            <a:pPr marL="0" indent="0" algn="just">
              <a:buNone/>
            </a:pPr>
            <a:r>
              <a:rPr lang="en-US" b="1" i="0" dirty="0">
                <a:solidFill>
                  <a:srgbClr val="7030A0"/>
                </a:solidFill>
                <a:effectLst/>
              </a:rPr>
              <a:t>Java Arithmetic Operators</a:t>
            </a:r>
          </a:p>
          <a:p>
            <a:pPr algn="just">
              <a:lnSpc>
                <a:spcPct val="150000"/>
              </a:lnSpc>
            </a:pPr>
            <a:r>
              <a:rPr lang="en-US" b="0" i="0" dirty="0">
                <a:solidFill>
                  <a:srgbClr val="333333"/>
                </a:solidFill>
                <a:effectLst/>
                <a:latin typeface="inter-regular"/>
              </a:rPr>
              <a:t>Java arithmetic operators are used to perform addition, subtraction, multiplication, and division.</a:t>
            </a:r>
          </a:p>
          <a:p>
            <a:pPr algn="just">
              <a:lnSpc>
                <a:spcPct val="150000"/>
              </a:lnSpc>
            </a:pPr>
            <a:r>
              <a:rPr lang="en-US" b="0" i="0" dirty="0">
                <a:solidFill>
                  <a:srgbClr val="333333"/>
                </a:solidFill>
                <a:effectLst/>
                <a:latin typeface="inter-regular"/>
              </a:rPr>
              <a:t> They act as basic mathematical operations.</a:t>
            </a:r>
          </a:p>
          <a:p>
            <a:endParaRPr lang="en-IN" dirty="0"/>
          </a:p>
        </p:txBody>
      </p:sp>
    </p:spTree>
    <p:extLst>
      <p:ext uri="{BB962C8B-B14F-4D97-AF65-F5344CB8AC3E}">
        <p14:creationId xmlns:p14="http://schemas.microsoft.com/office/powerpoint/2010/main" val="86006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0CC8C-1032-00F4-6323-643F80B24BF0}"/>
              </a:ext>
            </a:extLst>
          </p:cNvPr>
          <p:cNvSpPr>
            <a:spLocks noGrp="1"/>
          </p:cNvSpPr>
          <p:nvPr>
            <p:ph idx="1"/>
          </p:nvPr>
        </p:nvSpPr>
        <p:spPr>
          <a:xfrm>
            <a:off x="838200" y="447869"/>
            <a:ext cx="10515600" cy="5887715"/>
          </a:xfrm>
        </p:spPr>
        <p:txBody>
          <a:bodyPr>
            <a:normAutofit/>
          </a:bodyPr>
          <a:lstStyle/>
          <a:p>
            <a:pPr marL="0" indent="0" algn="just">
              <a:buNone/>
            </a:pPr>
            <a:r>
              <a:rPr lang="en-IN" b="1" i="0" dirty="0">
                <a:solidFill>
                  <a:srgbClr val="7030A0"/>
                </a:solidFill>
                <a:effectLst/>
              </a:rPr>
              <a:t>Java Arithmetic Operator Example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OperatorExample</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1" i="0" dirty="0">
                <a:solidFill>
                  <a:srgbClr val="006699"/>
                </a:solidFill>
                <a:effectLst/>
              </a:rPr>
              <a:t>int</a:t>
            </a:r>
            <a:r>
              <a:rPr lang="en-IN" b="0" i="0" dirty="0">
                <a:solidFill>
                  <a:srgbClr val="000000"/>
                </a:solidFill>
                <a:effectLst/>
              </a:rPr>
              <a:t> a=</a:t>
            </a:r>
            <a:r>
              <a:rPr lang="en-IN" b="0" i="0" dirty="0">
                <a:solidFill>
                  <a:srgbClr val="C00000"/>
                </a:solidFill>
                <a:effectLst/>
              </a:rPr>
              <a:t>10</a:t>
            </a:r>
            <a:r>
              <a:rPr lang="en-IN" b="0" i="0" dirty="0">
                <a:solidFill>
                  <a:srgbClr val="000000"/>
                </a:solidFill>
                <a:effectLst/>
              </a:rPr>
              <a:t>;  </a:t>
            </a:r>
          </a:p>
          <a:p>
            <a:pPr marL="0" indent="0" algn="just">
              <a:buNone/>
            </a:pPr>
            <a:r>
              <a:rPr lang="en-IN" b="1" i="0" dirty="0">
                <a:solidFill>
                  <a:srgbClr val="006699"/>
                </a:solidFill>
                <a:effectLst/>
              </a:rPr>
              <a:t>int</a:t>
            </a:r>
            <a:r>
              <a:rPr lang="en-IN" b="0" i="0" dirty="0">
                <a:solidFill>
                  <a:srgbClr val="000000"/>
                </a:solidFill>
                <a:effectLst/>
              </a:rPr>
              <a:t> b=</a:t>
            </a:r>
            <a:r>
              <a:rPr lang="en-IN" b="0" i="0" dirty="0">
                <a:solidFill>
                  <a:srgbClr val="C00000"/>
                </a:solidFill>
                <a:effectLst/>
              </a:rPr>
              <a:t>5</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a+b</a:t>
            </a:r>
            <a:r>
              <a:rPr lang="en-IN" b="0" i="0" dirty="0">
                <a:solidFill>
                  <a:srgbClr val="000000"/>
                </a:solidFill>
                <a:effectLst/>
              </a:rPr>
              <a:t>);</a:t>
            </a:r>
            <a:r>
              <a:rPr lang="en-IN" b="0" i="0" dirty="0">
                <a:solidFill>
                  <a:srgbClr val="008200"/>
                </a:solidFill>
                <a:effectLst/>
              </a:rPr>
              <a:t>//15</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(a-b);</a:t>
            </a:r>
            <a:r>
              <a:rPr lang="en-IN" b="0" i="0" dirty="0">
                <a:solidFill>
                  <a:srgbClr val="008200"/>
                </a:solidFill>
                <a:effectLst/>
              </a:rPr>
              <a:t>//5</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(a*b);</a:t>
            </a:r>
            <a:r>
              <a:rPr lang="en-IN" b="0" i="0" dirty="0">
                <a:solidFill>
                  <a:srgbClr val="008200"/>
                </a:solidFill>
                <a:effectLst/>
              </a:rPr>
              <a:t>//50</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(a/b);</a:t>
            </a:r>
            <a:r>
              <a:rPr lang="en-IN" b="0" i="0" dirty="0">
                <a:solidFill>
                  <a:srgbClr val="008200"/>
                </a:solidFill>
                <a:effectLst/>
              </a:rPr>
              <a:t>//2</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a%b</a:t>
            </a:r>
            <a:r>
              <a:rPr lang="en-IN" b="0" i="0" dirty="0">
                <a:solidFill>
                  <a:srgbClr val="000000"/>
                </a:solidFill>
                <a:effectLst/>
              </a:rPr>
              <a:t>);</a:t>
            </a:r>
            <a:r>
              <a:rPr lang="en-IN" b="0" i="0" dirty="0">
                <a:solidFill>
                  <a:srgbClr val="008200"/>
                </a:solidFill>
                <a:effectLst/>
              </a:rPr>
              <a:t>//0</a:t>
            </a: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4069191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86BD42-E3EB-F89D-03D2-F0EB99DB8686}"/>
              </a:ext>
            </a:extLst>
          </p:cNvPr>
          <p:cNvSpPr>
            <a:spLocks noGrp="1"/>
          </p:cNvSpPr>
          <p:nvPr>
            <p:ph idx="1"/>
          </p:nvPr>
        </p:nvSpPr>
        <p:spPr>
          <a:xfrm>
            <a:off x="838200" y="522514"/>
            <a:ext cx="10515600" cy="6055568"/>
          </a:xfrm>
        </p:spPr>
        <p:txBody>
          <a:bodyPr>
            <a:normAutofit/>
          </a:bodyPr>
          <a:lstStyle/>
          <a:p>
            <a:pPr marL="0" indent="0" algn="just">
              <a:buNone/>
            </a:pPr>
            <a:r>
              <a:rPr lang="en-US" b="1" i="0" dirty="0">
                <a:solidFill>
                  <a:srgbClr val="7030A0"/>
                </a:solidFill>
                <a:effectLst/>
              </a:rPr>
              <a:t>Java Assignment Operator</a:t>
            </a:r>
          </a:p>
          <a:p>
            <a:pPr algn="just"/>
            <a:r>
              <a:rPr lang="en-US" b="0" i="0" dirty="0">
                <a:solidFill>
                  <a:srgbClr val="333333"/>
                </a:solidFill>
                <a:effectLst/>
              </a:rPr>
              <a:t>Java assignment operator is one of the most common operators. It is used to assign the value on its right to the operand on its left.</a:t>
            </a:r>
          </a:p>
          <a:p>
            <a:pPr marL="0" indent="0" algn="just">
              <a:buNone/>
            </a:pPr>
            <a:r>
              <a:rPr lang="en-US" b="1" i="0" dirty="0">
                <a:solidFill>
                  <a:srgbClr val="7030A0"/>
                </a:solidFill>
                <a:effectLst/>
              </a:rPr>
              <a:t>Java Assignment Operator Example</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a:t>
            </a:r>
            <a:r>
              <a:rPr lang="en-US" b="0" i="0" dirty="0" err="1">
                <a:solidFill>
                  <a:srgbClr val="000000"/>
                </a:solidFill>
                <a:effectLst/>
              </a:rPr>
              <a:t>OperatorExample</a:t>
            </a:r>
            <a:r>
              <a:rPr lang="en-US" b="0" i="0" dirty="0">
                <a:solidFill>
                  <a:srgbClr val="000000"/>
                </a:solidFill>
                <a:effectLst/>
              </a:rPr>
              <a:t>{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marL="0" indent="0" algn="just">
              <a:buNone/>
            </a:pPr>
            <a:r>
              <a:rPr lang="en-US" b="1" i="0" dirty="0">
                <a:solidFill>
                  <a:srgbClr val="006699"/>
                </a:solidFill>
                <a:effectLst/>
              </a:rPr>
              <a:t>int</a:t>
            </a:r>
            <a:r>
              <a:rPr lang="en-US" b="0" i="0" dirty="0">
                <a:solidFill>
                  <a:srgbClr val="000000"/>
                </a:solidFill>
                <a:effectLst/>
              </a:rPr>
              <a:t> a=</a:t>
            </a:r>
            <a:r>
              <a:rPr lang="en-US" b="0" i="0" dirty="0">
                <a:solidFill>
                  <a:srgbClr val="C00000"/>
                </a:solidFill>
                <a:effectLst/>
              </a:rPr>
              <a:t>10</a:t>
            </a:r>
            <a:r>
              <a:rPr lang="en-US" b="0" i="0" dirty="0">
                <a:solidFill>
                  <a:srgbClr val="000000"/>
                </a:solidFill>
                <a:effectLst/>
              </a:rPr>
              <a:t>;  </a:t>
            </a:r>
          </a:p>
          <a:p>
            <a:pPr marL="0" indent="0" algn="just">
              <a:buNone/>
            </a:pPr>
            <a:r>
              <a:rPr lang="en-US" b="1" i="0" dirty="0">
                <a:solidFill>
                  <a:srgbClr val="006699"/>
                </a:solidFill>
                <a:effectLst/>
              </a:rPr>
              <a:t>int</a:t>
            </a:r>
            <a:r>
              <a:rPr lang="en-US" b="0" i="0" dirty="0">
                <a:solidFill>
                  <a:srgbClr val="000000"/>
                </a:solidFill>
                <a:effectLst/>
              </a:rPr>
              <a:t> b=</a:t>
            </a:r>
            <a:r>
              <a:rPr lang="en-US" b="0" i="0" dirty="0">
                <a:solidFill>
                  <a:srgbClr val="C00000"/>
                </a:solidFill>
                <a:effectLst/>
              </a:rPr>
              <a:t>20</a:t>
            </a:r>
            <a:r>
              <a:rPr lang="en-US" b="0" i="0" dirty="0">
                <a:solidFill>
                  <a:srgbClr val="000000"/>
                </a:solidFill>
                <a:effectLst/>
              </a:rPr>
              <a:t>;  </a:t>
            </a:r>
          </a:p>
          <a:p>
            <a:pPr marL="0" indent="0" algn="just">
              <a:buNone/>
            </a:pPr>
            <a:r>
              <a:rPr lang="en-US" b="0" i="0" dirty="0">
                <a:solidFill>
                  <a:srgbClr val="000000"/>
                </a:solidFill>
                <a:effectLst/>
              </a:rPr>
              <a:t>a+=</a:t>
            </a:r>
            <a:r>
              <a:rPr lang="en-US" b="0" i="0" dirty="0">
                <a:solidFill>
                  <a:srgbClr val="C00000"/>
                </a:solidFill>
                <a:effectLst/>
              </a:rPr>
              <a:t>4</a:t>
            </a:r>
            <a:r>
              <a:rPr lang="en-US" b="0" i="0" dirty="0">
                <a:solidFill>
                  <a:srgbClr val="000000"/>
                </a:solidFill>
                <a:effectLst/>
              </a:rPr>
              <a:t>;</a:t>
            </a:r>
            <a:r>
              <a:rPr lang="en-US" b="0" i="0" dirty="0">
                <a:solidFill>
                  <a:srgbClr val="008200"/>
                </a:solidFill>
                <a:effectLst/>
              </a:rPr>
              <a:t>//a=a+4 (a=10+4)</a:t>
            </a:r>
            <a:r>
              <a:rPr lang="en-US" b="0" i="0" dirty="0">
                <a:solidFill>
                  <a:srgbClr val="000000"/>
                </a:solidFill>
                <a:effectLst/>
              </a:rPr>
              <a:t>  </a:t>
            </a:r>
          </a:p>
          <a:p>
            <a:pPr marL="0" indent="0" algn="just">
              <a:buNone/>
            </a:pPr>
            <a:r>
              <a:rPr lang="en-US" b="0" i="0" dirty="0">
                <a:solidFill>
                  <a:srgbClr val="000000"/>
                </a:solidFill>
                <a:effectLst/>
              </a:rPr>
              <a:t>b-=</a:t>
            </a:r>
            <a:r>
              <a:rPr lang="en-US" b="0" i="0" dirty="0">
                <a:solidFill>
                  <a:srgbClr val="C00000"/>
                </a:solidFill>
                <a:effectLst/>
              </a:rPr>
              <a:t>4</a:t>
            </a:r>
            <a:r>
              <a:rPr lang="en-US" b="0" i="0" dirty="0">
                <a:solidFill>
                  <a:srgbClr val="000000"/>
                </a:solidFill>
                <a:effectLst/>
              </a:rPr>
              <a:t>;</a:t>
            </a:r>
            <a:r>
              <a:rPr lang="en-US" b="0" i="0" dirty="0">
                <a:solidFill>
                  <a:srgbClr val="008200"/>
                </a:solidFill>
                <a:effectLst/>
              </a:rPr>
              <a:t>//b=b-4 (b=20-4)</a:t>
            </a:r>
            <a:r>
              <a:rPr lang="en-US" b="0" i="0" dirty="0">
                <a:solidFill>
                  <a:srgbClr val="000000"/>
                </a:solidFill>
                <a:effectLst/>
              </a:rPr>
              <a:t>  </a:t>
            </a:r>
          </a:p>
          <a:p>
            <a:pPr marL="0" indent="0" algn="just">
              <a:buNone/>
            </a:pPr>
            <a:r>
              <a:rPr lang="en-US" b="0" i="0" dirty="0" err="1">
                <a:solidFill>
                  <a:srgbClr val="000000"/>
                </a:solidFill>
                <a:effectLst/>
              </a:rPr>
              <a:t>System.out.println</a:t>
            </a:r>
            <a:r>
              <a:rPr lang="en-US" b="0" i="0" dirty="0">
                <a:solidFill>
                  <a:srgbClr val="000000"/>
                </a:solidFill>
                <a:effectLst/>
              </a:rPr>
              <a:t>(a);  </a:t>
            </a:r>
          </a:p>
          <a:p>
            <a:pPr marL="0" indent="0" algn="just">
              <a:buNone/>
            </a:pPr>
            <a:r>
              <a:rPr lang="en-US" b="0" i="0" dirty="0" err="1">
                <a:solidFill>
                  <a:srgbClr val="000000"/>
                </a:solidFill>
                <a:effectLst/>
              </a:rPr>
              <a:t>System.out.println</a:t>
            </a:r>
            <a:r>
              <a:rPr lang="en-US" b="0" i="0" dirty="0">
                <a:solidFill>
                  <a:srgbClr val="000000"/>
                </a:solidFill>
                <a:effectLst/>
              </a:rPr>
              <a:t>(b); }} </a:t>
            </a:r>
          </a:p>
          <a:p>
            <a:endParaRPr lang="en-IN" dirty="0"/>
          </a:p>
        </p:txBody>
      </p:sp>
    </p:spTree>
    <p:extLst>
      <p:ext uri="{BB962C8B-B14F-4D97-AF65-F5344CB8AC3E}">
        <p14:creationId xmlns:p14="http://schemas.microsoft.com/office/powerpoint/2010/main" val="1202979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B76CFE-C2DF-F73A-C2A2-FC5ECEB651BD}"/>
              </a:ext>
            </a:extLst>
          </p:cNvPr>
          <p:cNvGraphicFramePr>
            <a:graphicFrameLocks noGrp="1"/>
          </p:cNvGraphicFramePr>
          <p:nvPr>
            <p:ph idx="1"/>
            <p:extLst>
              <p:ext uri="{D42A27DB-BD31-4B8C-83A1-F6EECF244321}">
                <p14:modId xmlns:p14="http://schemas.microsoft.com/office/powerpoint/2010/main" val="1451159565"/>
              </p:ext>
            </p:extLst>
          </p:nvPr>
        </p:nvGraphicFramePr>
        <p:xfrm>
          <a:off x="1212979" y="1903446"/>
          <a:ext cx="8684381" cy="3516576"/>
        </p:xfrm>
        <a:graphic>
          <a:graphicData uri="http://schemas.openxmlformats.org/drawingml/2006/table">
            <a:tbl>
              <a:tblPr/>
              <a:tblGrid>
                <a:gridCol w="1077151">
                  <a:extLst>
                    <a:ext uri="{9D8B030D-6E8A-4147-A177-3AD203B41FA5}">
                      <a16:colId xmlns:a16="http://schemas.microsoft.com/office/drawing/2014/main" val="4095363669"/>
                    </a:ext>
                  </a:extLst>
                </a:gridCol>
                <a:gridCol w="7607230">
                  <a:extLst>
                    <a:ext uri="{9D8B030D-6E8A-4147-A177-3AD203B41FA5}">
                      <a16:colId xmlns:a16="http://schemas.microsoft.com/office/drawing/2014/main" val="414855161"/>
                    </a:ext>
                  </a:extLst>
                </a:gridCol>
              </a:tblGrid>
              <a:tr h="755778">
                <a:tc>
                  <a:txBody>
                    <a:bodyPr/>
                    <a:lstStyle/>
                    <a:p>
                      <a:pPr algn="l"/>
                      <a:r>
                        <a:rPr lang="en-IN" b="0">
                          <a:solidFill>
                            <a:srgbClr val="FFFFFF"/>
                          </a:solidFill>
                          <a:effectLst/>
                        </a:rPr>
                        <a:t>Operator</a:t>
                      </a:r>
                    </a:p>
                  </a:txBody>
                  <a:tcPr anchor="ctr">
                    <a:lnL w="12700" cap="flat" cmpd="sng" algn="ctr">
                      <a:solidFill>
                        <a:srgbClr val="253545"/>
                      </a:solidFill>
                      <a:prstDash val="solid"/>
                      <a:round/>
                      <a:headEnd type="none" w="med" len="med"/>
                      <a:tailEnd type="none" w="med" len="med"/>
                    </a:lnL>
                    <a:lnR w="12700" cap="flat" cmpd="sng" algn="ctr">
                      <a:solidFill>
                        <a:srgbClr val="253545"/>
                      </a:solidFill>
                      <a:prstDash val="solid"/>
                      <a:round/>
                      <a:headEnd type="none" w="med" len="med"/>
                      <a:tailEnd type="none" w="med" len="med"/>
                    </a:lnR>
                    <a:lnT w="12700" cap="flat" cmpd="sng" algn="ctr">
                      <a:solidFill>
                        <a:srgbClr val="253545"/>
                      </a:solidFill>
                      <a:prstDash val="solid"/>
                      <a:round/>
                      <a:headEnd type="none" w="med" len="med"/>
                      <a:tailEnd type="none" w="med" len="med"/>
                    </a:lnT>
                    <a:lnB w="12700" cap="flat" cmpd="sng" algn="ctr">
                      <a:solidFill>
                        <a:srgbClr val="A013F9"/>
                      </a:solidFill>
                      <a:prstDash val="solid"/>
                      <a:round/>
                      <a:headEnd type="none" w="med" len="med"/>
                      <a:tailEnd type="none" w="med" len="med"/>
                    </a:lnB>
                    <a:solidFill>
                      <a:srgbClr val="2C3E50"/>
                    </a:solidFill>
                  </a:tcPr>
                </a:tc>
                <a:tc>
                  <a:txBody>
                    <a:bodyPr/>
                    <a:lstStyle/>
                    <a:p>
                      <a:pPr algn="l"/>
                      <a:r>
                        <a:rPr lang="en-IN" b="0" dirty="0">
                          <a:solidFill>
                            <a:srgbClr val="FFFFFF"/>
                          </a:solidFill>
                          <a:effectLst/>
                        </a:rPr>
                        <a:t>Meaning</a:t>
                      </a:r>
                    </a:p>
                  </a:txBody>
                  <a:tcPr anchor="ctr">
                    <a:lnL w="12700" cap="flat" cmpd="sng" algn="ctr">
                      <a:solidFill>
                        <a:srgbClr val="253545"/>
                      </a:solidFill>
                      <a:prstDash val="solid"/>
                      <a:round/>
                      <a:headEnd type="none" w="med" len="med"/>
                      <a:tailEnd type="none" w="med" len="med"/>
                    </a:lnL>
                    <a:lnR w="12700" cap="flat" cmpd="sng" algn="ctr">
                      <a:solidFill>
                        <a:srgbClr val="253545"/>
                      </a:solidFill>
                      <a:prstDash val="solid"/>
                      <a:round/>
                      <a:headEnd type="none" w="med" len="med"/>
                      <a:tailEnd type="none" w="med" len="med"/>
                    </a:lnR>
                    <a:lnT w="12700" cap="flat" cmpd="sng" algn="ctr">
                      <a:solidFill>
                        <a:srgbClr val="253545"/>
                      </a:solidFill>
                      <a:prstDash val="solid"/>
                      <a:round/>
                      <a:headEnd type="none" w="med" len="med"/>
                      <a:tailEnd type="none" w="med" len="med"/>
                    </a:lnT>
                    <a:lnB w="12700" cap="flat" cmpd="sng" algn="ctr">
                      <a:solidFill>
                        <a:srgbClr val="A011F9"/>
                      </a:solidFill>
                      <a:prstDash val="solid"/>
                      <a:round/>
                      <a:headEnd type="none" w="med" len="med"/>
                      <a:tailEnd type="none" w="med" len="med"/>
                    </a:lnB>
                    <a:solidFill>
                      <a:srgbClr val="2C3E50"/>
                    </a:solidFill>
                  </a:tcPr>
                </a:tc>
                <a:extLst>
                  <a:ext uri="{0D108BD9-81ED-4DB2-BD59-A6C34878D82A}">
                    <a16:rowId xmlns:a16="http://schemas.microsoft.com/office/drawing/2014/main" val="3260836274"/>
                  </a:ext>
                </a:extLst>
              </a:tr>
              <a:tr h="460133">
                <a:tc>
                  <a:txBody>
                    <a:bodyPr/>
                    <a:lstStyle/>
                    <a:p>
                      <a:pPr algn="ctr" fontAlgn="t"/>
                      <a:r>
                        <a:rPr lang="en-IN">
                          <a:effectLst/>
                        </a:rPr>
                        <a:t>==</a:t>
                      </a:r>
                    </a:p>
                  </a:txBody>
                  <a:tcPr>
                    <a:lnL w="12700" cap="flat" cmpd="sng" algn="ctr">
                      <a:solidFill>
                        <a:srgbClr val="A013F9"/>
                      </a:solidFill>
                      <a:prstDash val="solid"/>
                      <a:round/>
                      <a:headEnd type="none" w="med" len="med"/>
                      <a:tailEnd type="none" w="med" len="med"/>
                    </a:lnL>
                    <a:lnR w="12700" cap="flat" cmpd="sng" algn="ctr">
                      <a:solidFill>
                        <a:srgbClr val="A011F9"/>
                      </a:solidFill>
                      <a:prstDash val="solid"/>
                      <a:round/>
                      <a:headEnd type="none" w="med" len="med"/>
                      <a:tailEnd type="none" w="med" len="med"/>
                    </a:lnR>
                    <a:lnT w="12700" cap="flat" cmpd="sng" algn="ctr">
                      <a:solidFill>
                        <a:srgbClr val="A013F9"/>
                      </a:solidFill>
                      <a:prstDash val="solid"/>
                      <a:round/>
                      <a:headEnd type="none" w="med" len="med"/>
                      <a:tailEnd type="none" w="med" len="med"/>
                    </a:lnT>
                    <a:lnB w="12700" cap="flat" cmpd="sng" algn="ctr">
                      <a:solidFill>
                        <a:srgbClr val="E013F9"/>
                      </a:solidFill>
                      <a:prstDash val="solid"/>
                      <a:round/>
                      <a:headEnd type="none" w="med" len="med"/>
                      <a:tailEnd type="none" w="med" len="med"/>
                    </a:lnB>
                    <a:solidFill>
                      <a:srgbClr val="FFFFFF"/>
                    </a:solidFill>
                  </a:tcPr>
                </a:tc>
                <a:tc>
                  <a:txBody>
                    <a:bodyPr/>
                    <a:lstStyle/>
                    <a:p>
                      <a:pPr fontAlgn="t"/>
                      <a:r>
                        <a:rPr lang="en-IN" dirty="0">
                          <a:effectLst/>
                        </a:rPr>
                        <a:t>Is equal to</a:t>
                      </a:r>
                    </a:p>
                  </a:txBody>
                  <a:tcPr>
                    <a:lnL w="12700" cap="flat" cmpd="sng" algn="ctr">
                      <a:solidFill>
                        <a:srgbClr val="A011F9"/>
                      </a:solidFill>
                      <a:prstDash val="solid"/>
                      <a:round/>
                      <a:headEnd type="none" w="med" len="med"/>
                      <a:tailEnd type="none" w="med" len="med"/>
                    </a:lnL>
                    <a:lnR w="12700" cap="flat" cmpd="sng" algn="ctr">
                      <a:solidFill>
                        <a:srgbClr val="A011F9"/>
                      </a:solidFill>
                      <a:prstDash val="solid"/>
                      <a:round/>
                      <a:headEnd type="none" w="med" len="med"/>
                      <a:tailEnd type="none" w="med" len="med"/>
                    </a:lnR>
                    <a:lnT w="12700" cap="flat" cmpd="sng" algn="ctr">
                      <a:solidFill>
                        <a:srgbClr val="A011F9"/>
                      </a:solidFill>
                      <a:prstDash val="solid"/>
                      <a:round/>
                      <a:headEnd type="none" w="med" len="med"/>
                      <a:tailEnd type="none" w="med" len="med"/>
                    </a:lnT>
                    <a:lnB w="12700" cap="flat" cmpd="sng" algn="ctr">
                      <a:solidFill>
                        <a:srgbClr val="E013F9"/>
                      </a:solidFill>
                      <a:prstDash val="solid"/>
                      <a:round/>
                      <a:headEnd type="none" w="med" len="med"/>
                      <a:tailEnd type="none" w="med" len="med"/>
                    </a:lnB>
                    <a:solidFill>
                      <a:srgbClr val="FFFFFF"/>
                    </a:solidFill>
                  </a:tcPr>
                </a:tc>
                <a:extLst>
                  <a:ext uri="{0D108BD9-81ED-4DB2-BD59-A6C34878D82A}">
                    <a16:rowId xmlns:a16="http://schemas.microsoft.com/office/drawing/2014/main" val="1593668682"/>
                  </a:ext>
                </a:extLst>
              </a:tr>
              <a:tr h="460133">
                <a:tc>
                  <a:txBody>
                    <a:bodyPr/>
                    <a:lstStyle/>
                    <a:p>
                      <a:pPr algn="ctr" fontAlgn="t"/>
                      <a:r>
                        <a:rPr lang="en-IN">
                          <a:effectLst/>
                        </a:rPr>
                        <a:t>!=</a:t>
                      </a:r>
                    </a:p>
                  </a:txBody>
                  <a:tcPr>
                    <a:lnL w="12700" cap="flat" cmpd="sng" algn="ctr">
                      <a:solidFill>
                        <a:srgbClr val="E013F9"/>
                      </a:solidFill>
                      <a:prstDash val="solid"/>
                      <a:round/>
                      <a:headEnd type="none" w="med" len="med"/>
                      <a:tailEnd type="none" w="med" len="med"/>
                    </a:lnL>
                    <a:lnR w="12700" cap="flat" cmpd="sng" algn="ctr">
                      <a:solidFill>
                        <a:srgbClr val="E013F9"/>
                      </a:solidFill>
                      <a:prstDash val="solid"/>
                      <a:round/>
                      <a:headEnd type="none" w="med" len="med"/>
                      <a:tailEnd type="none" w="med" len="med"/>
                    </a:lnR>
                    <a:lnT w="12700" cap="flat" cmpd="sng" algn="ctr">
                      <a:solidFill>
                        <a:srgbClr val="E013F9"/>
                      </a:solidFill>
                      <a:prstDash val="solid"/>
                      <a:round/>
                      <a:headEnd type="none" w="med" len="med"/>
                      <a:tailEnd type="none" w="med" len="med"/>
                    </a:lnT>
                    <a:lnB w="12700" cap="flat" cmpd="sng" algn="ctr">
                      <a:solidFill>
                        <a:srgbClr val="E02FF9"/>
                      </a:solidFill>
                      <a:prstDash val="solid"/>
                      <a:round/>
                      <a:headEnd type="none" w="med" len="med"/>
                      <a:tailEnd type="none" w="med" len="med"/>
                    </a:lnB>
                    <a:solidFill>
                      <a:srgbClr val="FFFFFF"/>
                    </a:solidFill>
                  </a:tcPr>
                </a:tc>
                <a:tc>
                  <a:txBody>
                    <a:bodyPr/>
                    <a:lstStyle/>
                    <a:p>
                      <a:pPr fontAlgn="t"/>
                      <a:r>
                        <a:rPr lang="en-IN" dirty="0">
                          <a:effectLst/>
                        </a:rPr>
                        <a:t>Is not equal to</a:t>
                      </a:r>
                    </a:p>
                  </a:txBody>
                  <a:tcPr>
                    <a:lnL w="12700" cap="flat" cmpd="sng" algn="ctr">
                      <a:solidFill>
                        <a:srgbClr val="E013F9"/>
                      </a:solidFill>
                      <a:prstDash val="solid"/>
                      <a:round/>
                      <a:headEnd type="none" w="med" len="med"/>
                      <a:tailEnd type="none" w="med" len="med"/>
                    </a:lnL>
                    <a:lnR w="12700" cap="flat" cmpd="sng" algn="ctr">
                      <a:solidFill>
                        <a:srgbClr val="E013F9"/>
                      </a:solidFill>
                      <a:prstDash val="solid"/>
                      <a:round/>
                      <a:headEnd type="none" w="med" len="med"/>
                      <a:tailEnd type="none" w="med" len="med"/>
                    </a:lnR>
                    <a:lnT w="12700" cap="flat" cmpd="sng" algn="ctr">
                      <a:solidFill>
                        <a:srgbClr val="E013F9"/>
                      </a:solidFill>
                      <a:prstDash val="solid"/>
                      <a:round/>
                      <a:headEnd type="none" w="med" len="med"/>
                      <a:tailEnd type="none" w="med" len="med"/>
                    </a:lnT>
                    <a:lnB w="12700" cap="flat" cmpd="sng" algn="ctr">
                      <a:solidFill>
                        <a:srgbClr val="A026F9"/>
                      </a:solidFill>
                      <a:prstDash val="solid"/>
                      <a:round/>
                      <a:headEnd type="none" w="med" len="med"/>
                      <a:tailEnd type="none" w="med" len="med"/>
                    </a:lnB>
                    <a:solidFill>
                      <a:srgbClr val="FFFFFF"/>
                    </a:solidFill>
                  </a:tcPr>
                </a:tc>
                <a:extLst>
                  <a:ext uri="{0D108BD9-81ED-4DB2-BD59-A6C34878D82A}">
                    <a16:rowId xmlns:a16="http://schemas.microsoft.com/office/drawing/2014/main" val="676973143"/>
                  </a:ext>
                </a:extLst>
              </a:tr>
              <a:tr h="460133">
                <a:tc>
                  <a:txBody>
                    <a:bodyPr/>
                    <a:lstStyle/>
                    <a:p>
                      <a:pPr algn="ctr" fontAlgn="t"/>
                      <a:r>
                        <a:rPr lang="en-IN">
                          <a:effectLst/>
                        </a:rPr>
                        <a:t>&gt;</a:t>
                      </a:r>
                    </a:p>
                  </a:txBody>
                  <a:tcPr>
                    <a:lnL w="12700" cap="flat" cmpd="sng" algn="ctr">
                      <a:solidFill>
                        <a:srgbClr val="E02FF9"/>
                      </a:solidFill>
                      <a:prstDash val="solid"/>
                      <a:round/>
                      <a:headEnd type="none" w="med" len="med"/>
                      <a:tailEnd type="none" w="med" len="med"/>
                    </a:lnL>
                    <a:lnR w="12700" cap="flat" cmpd="sng" algn="ctr">
                      <a:solidFill>
                        <a:srgbClr val="A026F9"/>
                      </a:solidFill>
                      <a:prstDash val="solid"/>
                      <a:round/>
                      <a:headEnd type="none" w="med" len="med"/>
                      <a:tailEnd type="none" w="med" len="med"/>
                    </a:lnR>
                    <a:lnT w="12700" cap="flat" cmpd="sng" algn="ctr">
                      <a:solidFill>
                        <a:srgbClr val="E02FF9"/>
                      </a:solidFill>
                      <a:prstDash val="solid"/>
                      <a:round/>
                      <a:headEnd type="none" w="med" len="med"/>
                      <a:tailEnd type="none" w="med" len="med"/>
                    </a:lnT>
                    <a:lnB w="12700" cap="flat" cmpd="sng" algn="ctr">
                      <a:solidFill>
                        <a:srgbClr val="602BF9"/>
                      </a:solidFill>
                      <a:prstDash val="solid"/>
                      <a:round/>
                      <a:headEnd type="none" w="med" len="med"/>
                      <a:tailEnd type="none" w="med" len="med"/>
                    </a:lnB>
                    <a:solidFill>
                      <a:srgbClr val="FFFFFF"/>
                    </a:solidFill>
                  </a:tcPr>
                </a:tc>
                <a:tc>
                  <a:txBody>
                    <a:bodyPr/>
                    <a:lstStyle/>
                    <a:p>
                      <a:pPr fontAlgn="t"/>
                      <a:r>
                        <a:rPr lang="en-IN" dirty="0">
                          <a:effectLst/>
                        </a:rPr>
                        <a:t>Greater than</a:t>
                      </a:r>
                    </a:p>
                  </a:txBody>
                  <a:tcPr>
                    <a:lnL w="12700" cap="flat" cmpd="sng" algn="ctr">
                      <a:solidFill>
                        <a:srgbClr val="A026F9"/>
                      </a:solidFill>
                      <a:prstDash val="solid"/>
                      <a:round/>
                      <a:headEnd type="none" w="med" len="med"/>
                      <a:tailEnd type="none" w="med" len="med"/>
                    </a:lnL>
                    <a:lnR w="12700" cap="flat" cmpd="sng" algn="ctr">
                      <a:solidFill>
                        <a:srgbClr val="A026F9"/>
                      </a:solidFill>
                      <a:prstDash val="solid"/>
                      <a:round/>
                      <a:headEnd type="none" w="med" len="med"/>
                      <a:tailEnd type="none" w="med" len="med"/>
                    </a:lnR>
                    <a:lnT w="12700" cap="flat" cmpd="sng" algn="ctr">
                      <a:solidFill>
                        <a:srgbClr val="A026F9"/>
                      </a:solidFill>
                      <a:prstDash val="solid"/>
                      <a:round/>
                      <a:headEnd type="none" w="med" len="med"/>
                      <a:tailEnd type="none" w="med" len="med"/>
                    </a:lnT>
                    <a:lnB w="12700" cap="flat" cmpd="sng" algn="ctr">
                      <a:solidFill>
                        <a:srgbClr val="6022F9"/>
                      </a:solidFill>
                      <a:prstDash val="solid"/>
                      <a:round/>
                      <a:headEnd type="none" w="med" len="med"/>
                      <a:tailEnd type="none" w="med" len="med"/>
                    </a:lnB>
                    <a:solidFill>
                      <a:srgbClr val="FFFFFF"/>
                    </a:solidFill>
                  </a:tcPr>
                </a:tc>
                <a:extLst>
                  <a:ext uri="{0D108BD9-81ED-4DB2-BD59-A6C34878D82A}">
                    <a16:rowId xmlns:a16="http://schemas.microsoft.com/office/drawing/2014/main" val="1976891872"/>
                  </a:ext>
                </a:extLst>
              </a:tr>
              <a:tr h="460133">
                <a:tc>
                  <a:txBody>
                    <a:bodyPr/>
                    <a:lstStyle/>
                    <a:p>
                      <a:pPr algn="ctr" fontAlgn="t"/>
                      <a:r>
                        <a:rPr lang="en-IN" dirty="0">
                          <a:effectLst/>
                        </a:rPr>
                        <a:t>&lt;</a:t>
                      </a:r>
                    </a:p>
                  </a:txBody>
                  <a:tcPr>
                    <a:lnL w="12700" cap="flat" cmpd="sng" algn="ctr">
                      <a:solidFill>
                        <a:srgbClr val="602BF9"/>
                      </a:solidFill>
                      <a:prstDash val="solid"/>
                      <a:round/>
                      <a:headEnd type="none" w="med" len="med"/>
                      <a:tailEnd type="none" w="med" len="med"/>
                    </a:lnL>
                    <a:lnR w="12700" cap="flat" cmpd="sng" algn="ctr">
                      <a:solidFill>
                        <a:srgbClr val="6022F9"/>
                      </a:solidFill>
                      <a:prstDash val="solid"/>
                      <a:round/>
                      <a:headEnd type="none" w="med" len="med"/>
                      <a:tailEnd type="none" w="med" len="med"/>
                    </a:lnR>
                    <a:lnT w="12700" cap="flat" cmpd="sng" algn="ctr">
                      <a:solidFill>
                        <a:srgbClr val="602BF9"/>
                      </a:solidFill>
                      <a:prstDash val="solid"/>
                      <a:round/>
                      <a:headEnd type="none" w="med" len="med"/>
                      <a:tailEnd type="none" w="med" len="med"/>
                    </a:lnT>
                    <a:lnB w="12700" cap="flat" cmpd="sng" algn="ctr">
                      <a:solidFill>
                        <a:srgbClr val="E03AF9"/>
                      </a:solidFill>
                      <a:prstDash val="solid"/>
                      <a:round/>
                      <a:headEnd type="none" w="med" len="med"/>
                      <a:tailEnd type="none" w="med" len="med"/>
                    </a:lnB>
                    <a:solidFill>
                      <a:srgbClr val="FFFFFF"/>
                    </a:solidFill>
                  </a:tcPr>
                </a:tc>
                <a:tc>
                  <a:txBody>
                    <a:bodyPr/>
                    <a:lstStyle/>
                    <a:p>
                      <a:pPr fontAlgn="t"/>
                      <a:r>
                        <a:rPr lang="en-IN" dirty="0">
                          <a:effectLst/>
                        </a:rPr>
                        <a:t>Less than</a:t>
                      </a:r>
                    </a:p>
                  </a:txBody>
                  <a:tcPr>
                    <a:lnL w="12700" cap="flat" cmpd="sng" algn="ctr">
                      <a:solidFill>
                        <a:srgbClr val="6022F9"/>
                      </a:solidFill>
                      <a:prstDash val="solid"/>
                      <a:round/>
                      <a:headEnd type="none" w="med" len="med"/>
                      <a:tailEnd type="none" w="med" len="med"/>
                    </a:lnL>
                    <a:lnR w="12700" cap="flat" cmpd="sng" algn="ctr">
                      <a:solidFill>
                        <a:srgbClr val="6022F9"/>
                      </a:solidFill>
                      <a:prstDash val="solid"/>
                      <a:round/>
                      <a:headEnd type="none" w="med" len="med"/>
                      <a:tailEnd type="none" w="med" len="med"/>
                    </a:lnR>
                    <a:lnT w="12700" cap="flat" cmpd="sng" algn="ctr">
                      <a:solidFill>
                        <a:srgbClr val="6022F9"/>
                      </a:solidFill>
                      <a:prstDash val="solid"/>
                      <a:round/>
                      <a:headEnd type="none" w="med" len="med"/>
                      <a:tailEnd type="none" w="med" len="med"/>
                    </a:lnT>
                    <a:lnB w="12700" cap="flat" cmpd="sng" algn="ctr">
                      <a:solidFill>
                        <a:srgbClr val="6036F9"/>
                      </a:solidFill>
                      <a:prstDash val="solid"/>
                      <a:round/>
                      <a:headEnd type="none" w="med" len="med"/>
                      <a:tailEnd type="none" w="med" len="med"/>
                    </a:lnB>
                    <a:solidFill>
                      <a:srgbClr val="FFFFFF"/>
                    </a:solidFill>
                  </a:tcPr>
                </a:tc>
                <a:extLst>
                  <a:ext uri="{0D108BD9-81ED-4DB2-BD59-A6C34878D82A}">
                    <a16:rowId xmlns:a16="http://schemas.microsoft.com/office/drawing/2014/main" val="380678357"/>
                  </a:ext>
                </a:extLst>
              </a:tr>
              <a:tr h="460133">
                <a:tc>
                  <a:txBody>
                    <a:bodyPr/>
                    <a:lstStyle/>
                    <a:p>
                      <a:pPr algn="ctr" fontAlgn="t"/>
                      <a:r>
                        <a:rPr lang="en-IN">
                          <a:effectLst/>
                        </a:rPr>
                        <a:t>&gt;=</a:t>
                      </a:r>
                    </a:p>
                  </a:txBody>
                  <a:tcPr>
                    <a:lnL w="12700" cap="flat" cmpd="sng" algn="ctr">
                      <a:solidFill>
                        <a:srgbClr val="E03AF9"/>
                      </a:solidFill>
                      <a:prstDash val="solid"/>
                      <a:round/>
                      <a:headEnd type="none" w="med" len="med"/>
                      <a:tailEnd type="none" w="med" len="med"/>
                    </a:lnL>
                    <a:lnR w="12700" cap="flat" cmpd="sng" algn="ctr">
                      <a:solidFill>
                        <a:srgbClr val="6036F9"/>
                      </a:solidFill>
                      <a:prstDash val="solid"/>
                      <a:round/>
                      <a:headEnd type="none" w="med" len="med"/>
                      <a:tailEnd type="none" w="med" len="med"/>
                    </a:lnR>
                    <a:lnT w="12700" cap="flat" cmpd="sng" algn="ctr">
                      <a:solidFill>
                        <a:srgbClr val="E03A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tc>
                  <a:txBody>
                    <a:bodyPr/>
                    <a:lstStyle/>
                    <a:p>
                      <a:pPr fontAlgn="t"/>
                      <a:r>
                        <a:rPr lang="en-US" dirty="0">
                          <a:effectLst/>
                        </a:rPr>
                        <a:t>Greater than or equal to</a:t>
                      </a:r>
                    </a:p>
                  </a:txBody>
                  <a:tcPr>
                    <a:lnL w="12700" cap="flat" cmpd="sng" algn="ctr">
                      <a:solidFill>
                        <a:srgbClr val="6036F9"/>
                      </a:solidFill>
                      <a:prstDash val="solid"/>
                      <a:round/>
                      <a:headEnd type="none" w="med" len="med"/>
                      <a:tailEnd type="none" w="med" len="med"/>
                    </a:lnL>
                    <a:lnR w="12700" cap="flat" cmpd="sng" algn="ctr">
                      <a:solidFill>
                        <a:srgbClr val="6036F9"/>
                      </a:solidFill>
                      <a:prstDash val="solid"/>
                      <a:round/>
                      <a:headEnd type="none" w="med" len="med"/>
                      <a:tailEnd type="none" w="med" len="med"/>
                    </a:lnR>
                    <a:lnT w="12700" cap="flat" cmpd="sng" algn="ctr">
                      <a:solidFill>
                        <a:srgbClr val="6036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extLst>
                  <a:ext uri="{0D108BD9-81ED-4DB2-BD59-A6C34878D82A}">
                    <a16:rowId xmlns:a16="http://schemas.microsoft.com/office/drawing/2014/main" val="2313812995"/>
                  </a:ext>
                </a:extLst>
              </a:tr>
              <a:tr h="460133">
                <a:tc>
                  <a:txBody>
                    <a:bodyPr/>
                    <a:lstStyle/>
                    <a:p>
                      <a:pPr algn="ctr" fontAlgn="t"/>
                      <a:r>
                        <a:rPr lang="en-IN">
                          <a:effectLst/>
                        </a:rPr>
                        <a:t>&lt;=</a:t>
                      </a:r>
                    </a:p>
                  </a:txBody>
                  <a:tcPr>
                    <a:lnL w="12700" cap="flat" cmpd="sng" algn="ctr">
                      <a:solidFill>
                        <a:srgbClr val="E038F9"/>
                      </a:solidFill>
                      <a:prstDash val="solid"/>
                      <a:round/>
                      <a:headEnd type="none" w="med" len="med"/>
                      <a:tailEnd type="none" w="med" len="med"/>
                    </a:lnL>
                    <a:lnR w="12700" cap="flat" cmpd="sng" algn="ctr">
                      <a:solidFill>
                        <a:srgbClr val="E038F9"/>
                      </a:solidFill>
                      <a:prstDash val="solid"/>
                      <a:round/>
                      <a:headEnd type="none" w="med" len="med"/>
                      <a:tailEnd type="none" w="med" len="med"/>
                    </a:lnR>
                    <a:lnT w="12700" cap="flat" cmpd="sng" algn="ctr">
                      <a:solidFill>
                        <a:srgbClr val="E038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tc>
                  <a:txBody>
                    <a:bodyPr/>
                    <a:lstStyle/>
                    <a:p>
                      <a:pPr fontAlgn="t"/>
                      <a:r>
                        <a:rPr lang="en-US" dirty="0">
                          <a:effectLst/>
                        </a:rPr>
                        <a:t>Less than or equal to</a:t>
                      </a:r>
                    </a:p>
                  </a:txBody>
                  <a:tcPr>
                    <a:lnL w="12700" cap="flat" cmpd="sng" algn="ctr">
                      <a:solidFill>
                        <a:srgbClr val="E038F9"/>
                      </a:solidFill>
                      <a:prstDash val="solid"/>
                      <a:round/>
                      <a:headEnd type="none" w="med" len="med"/>
                      <a:tailEnd type="none" w="med" len="med"/>
                    </a:lnL>
                    <a:lnR w="12700" cap="flat" cmpd="sng" algn="ctr">
                      <a:solidFill>
                        <a:srgbClr val="E038F9"/>
                      </a:solidFill>
                      <a:prstDash val="solid"/>
                      <a:round/>
                      <a:headEnd type="none" w="med" len="med"/>
                      <a:tailEnd type="none" w="med" len="med"/>
                    </a:lnR>
                    <a:lnT w="12700" cap="flat" cmpd="sng" algn="ctr">
                      <a:solidFill>
                        <a:srgbClr val="E038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extLst>
                  <a:ext uri="{0D108BD9-81ED-4DB2-BD59-A6C34878D82A}">
                    <a16:rowId xmlns:a16="http://schemas.microsoft.com/office/drawing/2014/main" val="2082820638"/>
                  </a:ext>
                </a:extLst>
              </a:tr>
            </a:tbl>
          </a:graphicData>
        </a:graphic>
      </p:graphicFrame>
      <p:sp>
        <p:nvSpPr>
          <p:cNvPr id="6" name="TextBox 5">
            <a:extLst>
              <a:ext uri="{FF2B5EF4-FFF2-40B4-BE49-F238E27FC236}">
                <a16:creationId xmlns:a16="http://schemas.microsoft.com/office/drawing/2014/main" id="{E76FD3D0-34C6-5F62-98DA-7D25C212051D}"/>
              </a:ext>
            </a:extLst>
          </p:cNvPr>
          <p:cNvSpPr txBox="1"/>
          <p:nvPr/>
        </p:nvSpPr>
        <p:spPr>
          <a:xfrm>
            <a:off x="1212979" y="809285"/>
            <a:ext cx="6097554" cy="523220"/>
          </a:xfrm>
          <a:prstGeom prst="rect">
            <a:avLst/>
          </a:prstGeom>
          <a:noFill/>
        </p:spPr>
        <p:txBody>
          <a:bodyPr wrap="square">
            <a:spAutoFit/>
          </a:bodyPr>
          <a:lstStyle/>
          <a:p>
            <a:pPr algn="l"/>
            <a:r>
              <a:rPr lang="en-IN" sz="2800" b="1" i="0" dirty="0">
                <a:solidFill>
                  <a:srgbClr val="7030A0"/>
                </a:solidFill>
                <a:effectLst/>
              </a:rPr>
              <a:t>Relational Operators</a:t>
            </a:r>
          </a:p>
        </p:txBody>
      </p:sp>
    </p:spTree>
    <p:extLst>
      <p:ext uri="{BB962C8B-B14F-4D97-AF65-F5344CB8AC3E}">
        <p14:creationId xmlns:p14="http://schemas.microsoft.com/office/powerpoint/2010/main" val="489117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3958B-5C4C-08C5-C2B5-0FE04726BA04}"/>
              </a:ext>
            </a:extLst>
          </p:cNvPr>
          <p:cNvSpPr>
            <a:spLocks noGrp="1"/>
          </p:cNvSpPr>
          <p:nvPr>
            <p:ph idx="1"/>
          </p:nvPr>
        </p:nvSpPr>
        <p:spPr>
          <a:xfrm>
            <a:off x="838200" y="429208"/>
            <a:ext cx="10515600" cy="5747755"/>
          </a:xfrm>
        </p:spPr>
        <p:txBody>
          <a:bodyPr/>
          <a:lstStyle/>
          <a:p>
            <a:r>
              <a:rPr lang="en-IN" b="1" i="0">
                <a:solidFill>
                  <a:srgbClr val="7030A0"/>
                </a:solidFill>
                <a:effectLst/>
              </a:rPr>
              <a:t>Unary Operators</a:t>
            </a:r>
          </a:p>
          <a:p>
            <a:endParaRPr lang="en-IN" dirty="0"/>
          </a:p>
        </p:txBody>
      </p:sp>
      <p:pic>
        <p:nvPicPr>
          <p:cNvPr id="4" name="Picture 3">
            <a:extLst>
              <a:ext uri="{FF2B5EF4-FFF2-40B4-BE49-F238E27FC236}">
                <a16:creationId xmlns:a16="http://schemas.microsoft.com/office/drawing/2014/main" id="{327C2F51-730C-6F25-EDA1-1F9FA9AE6C9F}"/>
              </a:ext>
            </a:extLst>
          </p:cNvPr>
          <p:cNvPicPr>
            <a:picLocks noChangeAspect="1"/>
          </p:cNvPicPr>
          <p:nvPr/>
        </p:nvPicPr>
        <p:blipFill>
          <a:blip r:embed="rId2"/>
          <a:stretch>
            <a:fillRect/>
          </a:stretch>
        </p:blipFill>
        <p:spPr>
          <a:xfrm>
            <a:off x="1211235" y="1420565"/>
            <a:ext cx="8785925" cy="4485712"/>
          </a:xfrm>
          <a:prstGeom prst="rect">
            <a:avLst/>
          </a:prstGeom>
        </p:spPr>
      </p:pic>
    </p:spTree>
    <p:extLst>
      <p:ext uri="{BB962C8B-B14F-4D97-AF65-F5344CB8AC3E}">
        <p14:creationId xmlns:p14="http://schemas.microsoft.com/office/powerpoint/2010/main" val="25294183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004308-2607-7200-1884-798BC8630471}"/>
              </a:ext>
            </a:extLst>
          </p:cNvPr>
          <p:cNvSpPr>
            <a:spLocks noGrp="1"/>
          </p:cNvSpPr>
          <p:nvPr>
            <p:ph idx="1"/>
          </p:nvPr>
        </p:nvSpPr>
        <p:spPr>
          <a:xfrm>
            <a:off x="838200" y="578498"/>
            <a:ext cx="10515600" cy="5598465"/>
          </a:xfrm>
        </p:spPr>
        <p:txBody>
          <a:bodyPr/>
          <a:lstStyle/>
          <a:p>
            <a:pPr marL="0" indent="0">
              <a:buNone/>
            </a:pPr>
            <a:r>
              <a:rPr lang="en-IN" b="1" i="0" dirty="0">
                <a:solidFill>
                  <a:srgbClr val="7030A0"/>
                </a:solidFill>
                <a:effectLst/>
              </a:rPr>
              <a:t>Bitwise Operator</a:t>
            </a:r>
          </a:p>
          <a:p>
            <a:endParaRPr lang="en-IN" dirty="0"/>
          </a:p>
        </p:txBody>
      </p:sp>
      <p:pic>
        <p:nvPicPr>
          <p:cNvPr id="5" name="Picture 4">
            <a:extLst>
              <a:ext uri="{FF2B5EF4-FFF2-40B4-BE49-F238E27FC236}">
                <a16:creationId xmlns:a16="http://schemas.microsoft.com/office/drawing/2014/main" id="{2729D073-08DB-BFF0-6091-AC9F20907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51" y="1519948"/>
            <a:ext cx="9987529" cy="4236097"/>
          </a:xfrm>
          <a:prstGeom prst="rect">
            <a:avLst/>
          </a:prstGeom>
        </p:spPr>
      </p:pic>
    </p:spTree>
    <p:extLst>
      <p:ext uri="{BB962C8B-B14F-4D97-AF65-F5344CB8AC3E}">
        <p14:creationId xmlns:p14="http://schemas.microsoft.com/office/powerpoint/2010/main" val="1701892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1BD00-75F0-E292-321F-1A6AC9CF7118}"/>
              </a:ext>
            </a:extLst>
          </p:cNvPr>
          <p:cNvSpPr>
            <a:spLocks noGrp="1"/>
          </p:cNvSpPr>
          <p:nvPr>
            <p:ph idx="1"/>
          </p:nvPr>
        </p:nvSpPr>
        <p:spPr>
          <a:xfrm>
            <a:off x="838200" y="475861"/>
            <a:ext cx="10515600" cy="5701102"/>
          </a:xfrm>
        </p:spPr>
        <p:txBody>
          <a:bodyPr/>
          <a:lstStyle/>
          <a:p>
            <a:pPr marL="0" indent="0">
              <a:buNone/>
            </a:pPr>
            <a:r>
              <a:rPr lang="en-IN" b="1" dirty="0">
                <a:solidFill>
                  <a:srgbClr val="7030A0"/>
                </a:solidFill>
              </a:rPr>
              <a:t>Bitwise AND                                              Bitwise XOR</a:t>
            </a: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r>
              <a:rPr lang="en-IN" b="1" dirty="0">
                <a:solidFill>
                  <a:srgbClr val="7030A0"/>
                </a:solidFill>
              </a:rPr>
              <a:t>Bitwise OR                                                  Bitwise complement</a:t>
            </a: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p:txBody>
      </p:sp>
      <p:graphicFrame>
        <p:nvGraphicFramePr>
          <p:cNvPr id="4" name="Table 4">
            <a:extLst>
              <a:ext uri="{FF2B5EF4-FFF2-40B4-BE49-F238E27FC236}">
                <a16:creationId xmlns:a16="http://schemas.microsoft.com/office/drawing/2014/main" id="{9B679C6C-5C08-C6FC-C065-CF0CDB9EF9EB}"/>
              </a:ext>
            </a:extLst>
          </p:cNvPr>
          <p:cNvGraphicFramePr>
            <a:graphicFrameLocks noGrp="1"/>
          </p:cNvGraphicFramePr>
          <p:nvPr>
            <p:extLst>
              <p:ext uri="{D42A27DB-BD31-4B8C-83A1-F6EECF244321}">
                <p14:modId xmlns:p14="http://schemas.microsoft.com/office/powerpoint/2010/main" val="2137528703"/>
              </p:ext>
            </p:extLst>
          </p:nvPr>
        </p:nvGraphicFramePr>
        <p:xfrm>
          <a:off x="1259632" y="1366984"/>
          <a:ext cx="2108719" cy="1828800"/>
        </p:xfrm>
        <a:graphic>
          <a:graphicData uri="http://schemas.openxmlformats.org/drawingml/2006/table">
            <a:tbl>
              <a:tblPr firstRow="1" bandRow="1">
                <a:tableStyleId>{5C22544A-7EE6-4342-B048-85BDC9FD1C3A}</a:tableStyleId>
              </a:tblPr>
              <a:tblGrid>
                <a:gridCol w="699797">
                  <a:extLst>
                    <a:ext uri="{9D8B030D-6E8A-4147-A177-3AD203B41FA5}">
                      <a16:colId xmlns:a16="http://schemas.microsoft.com/office/drawing/2014/main" val="2405027821"/>
                    </a:ext>
                  </a:extLst>
                </a:gridCol>
                <a:gridCol w="597159">
                  <a:extLst>
                    <a:ext uri="{9D8B030D-6E8A-4147-A177-3AD203B41FA5}">
                      <a16:colId xmlns:a16="http://schemas.microsoft.com/office/drawing/2014/main" val="1650349800"/>
                    </a:ext>
                  </a:extLst>
                </a:gridCol>
                <a:gridCol w="811763">
                  <a:extLst>
                    <a:ext uri="{9D8B030D-6E8A-4147-A177-3AD203B41FA5}">
                      <a16:colId xmlns:a16="http://schemas.microsoft.com/office/drawing/2014/main" val="3381561785"/>
                    </a:ext>
                  </a:extLst>
                </a:gridCol>
              </a:tblGrid>
              <a:tr h="307634">
                <a:tc>
                  <a:txBody>
                    <a:bodyPr/>
                    <a:lstStyle/>
                    <a:p>
                      <a:r>
                        <a:rPr lang="en-IN" dirty="0"/>
                        <a:t>X</a:t>
                      </a:r>
                    </a:p>
                  </a:txBody>
                  <a:tcPr/>
                </a:tc>
                <a:tc>
                  <a:txBody>
                    <a:bodyPr/>
                    <a:lstStyle/>
                    <a:p>
                      <a:r>
                        <a:rPr lang="en-IN" dirty="0"/>
                        <a:t>Y</a:t>
                      </a:r>
                    </a:p>
                  </a:txBody>
                  <a:tcPr/>
                </a:tc>
                <a:tc>
                  <a:txBody>
                    <a:bodyPr/>
                    <a:lstStyle/>
                    <a:p>
                      <a:r>
                        <a:rPr lang="en-IN" dirty="0"/>
                        <a:t>X&amp;Y</a:t>
                      </a:r>
                    </a:p>
                  </a:txBody>
                  <a:tcPr/>
                </a:tc>
                <a:extLst>
                  <a:ext uri="{0D108BD9-81ED-4DB2-BD59-A6C34878D82A}">
                    <a16:rowId xmlns:a16="http://schemas.microsoft.com/office/drawing/2014/main" val="4151877088"/>
                  </a:ext>
                </a:extLst>
              </a:tr>
              <a:tr h="271195">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413654614"/>
                  </a:ext>
                </a:extLst>
              </a:tr>
              <a:tr h="307634">
                <a:tc>
                  <a:txBody>
                    <a:bodyPr/>
                    <a:lstStyle/>
                    <a:p>
                      <a:r>
                        <a:rPr lang="en-IN" dirty="0"/>
                        <a:t>0</a:t>
                      </a:r>
                    </a:p>
                  </a:txBody>
                  <a:tcPr/>
                </a:tc>
                <a:tc>
                  <a:txBody>
                    <a:bodyPr/>
                    <a:lstStyle/>
                    <a:p>
                      <a:r>
                        <a:rPr lang="en-US" dirty="0"/>
                        <a:t>1</a:t>
                      </a:r>
                      <a:endParaRPr lang="en-IN" dirty="0"/>
                    </a:p>
                  </a:txBody>
                  <a:tcPr/>
                </a:tc>
                <a:tc>
                  <a:txBody>
                    <a:bodyPr/>
                    <a:lstStyle/>
                    <a:p>
                      <a:r>
                        <a:rPr lang="en-IN" dirty="0"/>
                        <a:t>0</a:t>
                      </a:r>
                    </a:p>
                  </a:txBody>
                  <a:tcPr/>
                </a:tc>
                <a:extLst>
                  <a:ext uri="{0D108BD9-81ED-4DB2-BD59-A6C34878D82A}">
                    <a16:rowId xmlns:a16="http://schemas.microsoft.com/office/drawing/2014/main" val="1751244868"/>
                  </a:ext>
                </a:extLst>
              </a:tr>
              <a:tr h="307634">
                <a:tc>
                  <a:txBody>
                    <a:bodyPr/>
                    <a:lstStyle/>
                    <a:p>
                      <a:r>
                        <a:rPr lang="en-IN" dirty="0"/>
                        <a:t>1</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261288220"/>
                  </a:ext>
                </a:extLst>
              </a:tr>
              <a:tr h="307634">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3193444549"/>
                  </a:ext>
                </a:extLst>
              </a:tr>
            </a:tbl>
          </a:graphicData>
        </a:graphic>
      </p:graphicFrame>
      <p:graphicFrame>
        <p:nvGraphicFramePr>
          <p:cNvPr id="5" name="Table 5">
            <a:extLst>
              <a:ext uri="{FF2B5EF4-FFF2-40B4-BE49-F238E27FC236}">
                <a16:creationId xmlns:a16="http://schemas.microsoft.com/office/drawing/2014/main" id="{F4EB51D9-8AA4-D5E6-C2B5-9EDE8FF6581F}"/>
              </a:ext>
            </a:extLst>
          </p:cNvPr>
          <p:cNvGraphicFramePr>
            <a:graphicFrameLocks noGrp="1"/>
          </p:cNvGraphicFramePr>
          <p:nvPr>
            <p:extLst>
              <p:ext uri="{D42A27DB-BD31-4B8C-83A1-F6EECF244321}">
                <p14:modId xmlns:p14="http://schemas.microsoft.com/office/powerpoint/2010/main" val="1905316333"/>
              </p:ext>
            </p:extLst>
          </p:nvPr>
        </p:nvGraphicFramePr>
        <p:xfrm>
          <a:off x="1651518" y="4181323"/>
          <a:ext cx="1931437" cy="1850814"/>
        </p:xfrm>
        <a:graphic>
          <a:graphicData uri="http://schemas.openxmlformats.org/drawingml/2006/table">
            <a:tbl>
              <a:tblPr firstRow="1" bandRow="1">
                <a:tableStyleId>{5C22544A-7EE6-4342-B048-85BDC9FD1C3A}</a:tableStyleId>
              </a:tblPr>
              <a:tblGrid>
                <a:gridCol w="625151">
                  <a:extLst>
                    <a:ext uri="{9D8B030D-6E8A-4147-A177-3AD203B41FA5}">
                      <a16:colId xmlns:a16="http://schemas.microsoft.com/office/drawing/2014/main" val="904908514"/>
                    </a:ext>
                  </a:extLst>
                </a:gridCol>
                <a:gridCol w="606490">
                  <a:extLst>
                    <a:ext uri="{9D8B030D-6E8A-4147-A177-3AD203B41FA5}">
                      <a16:colId xmlns:a16="http://schemas.microsoft.com/office/drawing/2014/main" val="195832007"/>
                    </a:ext>
                  </a:extLst>
                </a:gridCol>
                <a:gridCol w="699796">
                  <a:extLst>
                    <a:ext uri="{9D8B030D-6E8A-4147-A177-3AD203B41FA5}">
                      <a16:colId xmlns:a16="http://schemas.microsoft.com/office/drawing/2014/main" val="748597831"/>
                    </a:ext>
                  </a:extLst>
                </a:gridCol>
              </a:tblGrid>
              <a:tr h="370840">
                <a:tc>
                  <a:txBody>
                    <a:bodyPr/>
                    <a:lstStyle/>
                    <a:p>
                      <a:r>
                        <a:rPr lang="en-IN" dirty="0"/>
                        <a:t>X</a:t>
                      </a:r>
                    </a:p>
                  </a:txBody>
                  <a:tcPr/>
                </a:tc>
                <a:tc>
                  <a:txBody>
                    <a:bodyPr/>
                    <a:lstStyle/>
                    <a:p>
                      <a:r>
                        <a:rPr lang="en-IN" dirty="0"/>
                        <a:t>Y</a:t>
                      </a:r>
                    </a:p>
                  </a:txBody>
                  <a:tcPr/>
                </a:tc>
                <a:tc>
                  <a:txBody>
                    <a:bodyPr/>
                    <a:lstStyle/>
                    <a:p>
                      <a:r>
                        <a:rPr lang="en-IN" dirty="0"/>
                        <a:t>X|Y</a:t>
                      </a:r>
                    </a:p>
                  </a:txBody>
                  <a:tcPr/>
                </a:tc>
                <a:extLst>
                  <a:ext uri="{0D108BD9-81ED-4DB2-BD59-A6C34878D82A}">
                    <a16:rowId xmlns:a16="http://schemas.microsoft.com/office/drawing/2014/main" val="188313778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363101693"/>
                  </a:ext>
                </a:extLst>
              </a:tr>
              <a:tr h="367454">
                <a:tc>
                  <a:txBody>
                    <a:bodyPr/>
                    <a:lstStyle/>
                    <a:p>
                      <a:r>
                        <a:rPr lang="en-IN" dirty="0"/>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3295509565"/>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4273786262"/>
                  </a:ext>
                </a:extLst>
              </a:tr>
              <a:tr h="370840">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45754715"/>
                  </a:ext>
                </a:extLst>
              </a:tr>
            </a:tbl>
          </a:graphicData>
        </a:graphic>
      </p:graphicFrame>
      <p:graphicFrame>
        <p:nvGraphicFramePr>
          <p:cNvPr id="6" name="Table 6">
            <a:extLst>
              <a:ext uri="{FF2B5EF4-FFF2-40B4-BE49-F238E27FC236}">
                <a16:creationId xmlns:a16="http://schemas.microsoft.com/office/drawing/2014/main" id="{01CB05A5-FF6A-1AF9-3E21-80FA2BB28834}"/>
              </a:ext>
            </a:extLst>
          </p:cNvPr>
          <p:cNvGraphicFramePr>
            <a:graphicFrameLocks noGrp="1"/>
          </p:cNvGraphicFramePr>
          <p:nvPr>
            <p:extLst>
              <p:ext uri="{D42A27DB-BD31-4B8C-83A1-F6EECF244321}">
                <p14:modId xmlns:p14="http://schemas.microsoft.com/office/powerpoint/2010/main" val="55601316"/>
              </p:ext>
            </p:extLst>
          </p:nvPr>
        </p:nvGraphicFramePr>
        <p:xfrm>
          <a:off x="6323047" y="1341584"/>
          <a:ext cx="1906553" cy="1854200"/>
        </p:xfrm>
        <a:graphic>
          <a:graphicData uri="http://schemas.openxmlformats.org/drawingml/2006/table">
            <a:tbl>
              <a:tblPr firstRow="1" bandRow="1">
                <a:tableStyleId>{5C22544A-7EE6-4342-B048-85BDC9FD1C3A}</a:tableStyleId>
              </a:tblPr>
              <a:tblGrid>
                <a:gridCol w="656251">
                  <a:extLst>
                    <a:ext uri="{9D8B030D-6E8A-4147-A177-3AD203B41FA5}">
                      <a16:colId xmlns:a16="http://schemas.microsoft.com/office/drawing/2014/main" val="44181157"/>
                    </a:ext>
                  </a:extLst>
                </a:gridCol>
                <a:gridCol w="625151">
                  <a:extLst>
                    <a:ext uri="{9D8B030D-6E8A-4147-A177-3AD203B41FA5}">
                      <a16:colId xmlns:a16="http://schemas.microsoft.com/office/drawing/2014/main" val="352614614"/>
                    </a:ext>
                  </a:extLst>
                </a:gridCol>
                <a:gridCol w="625151">
                  <a:extLst>
                    <a:ext uri="{9D8B030D-6E8A-4147-A177-3AD203B41FA5}">
                      <a16:colId xmlns:a16="http://schemas.microsoft.com/office/drawing/2014/main" val="3857125014"/>
                    </a:ext>
                  </a:extLst>
                </a:gridCol>
              </a:tblGrid>
              <a:tr h="370840">
                <a:tc>
                  <a:txBody>
                    <a:bodyPr/>
                    <a:lstStyle/>
                    <a:p>
                      <a:r>
                        <a:rPr lang="en-IN" dirty="0"/>
                        <a:t>X</a:t>
                      </a:r>
                    </a:p>
                  </a:txBody>
                  <a:tcPr/>
                </a:tc>
                <a:tc>
                  <a:txBody>
                    <a:bodyPr/>
                    <a:lstStyle/>
                    <a:p>
                      <a:r>
                        <a:rPr lang="en-IN" dirty="0"/>
                        <a:t>Y</a:t>
                      </a:r>
                    </a:p>
                  </a:txBody>
                  <a:tcPr/>
                </a:tc>
                <a:tc>
                  <a:txBody>
                    <a:bodyPr/>
                    <a:lstStyle/>
                    <a:p>
                      <a:r>
                        <a:rPr lang="en-IN" dirty="0"/>
                        <a:t>X^Y</a:t>
                      </a:r>
                    </a:p>
                  </a:txBody>
                  <a:tcPr/>
                </a:tc>
                <a:extLst>
                  <a:ext uri="{0D108BD9-81ED-4DB2-BD59-A6C34878D82A}">
                    <a16:rowId xmlns:a16="http://schemas.microsoft.com/office/drawing/2014/main" val="373337893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923165227"/>
                  </a:ext>
                </a:extLst>
              </a:tr>
              <a:tr h="370840">
                <a:tc>
                  <a:txBody>
                    <a:bodyPr/>
                    <a:lstStyle/>
                    <a:p>
                      <a:r>
                        <a:rPr lang="en-IN" dirty="0"/>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4218570082"/>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72380081"/>
                  </a:ext>
                </a:extLst>
              </a:tr>
              <a:tr h="370840">
                <a:tc>
                  <a:txBody>
                    <a:bodyPr/>
                    <a:lstStyle/>
                    <a:p>
                      <a:r>
                        <a:rPr lang="en-IN" dirty="0"/>
                        <a:t>1</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828332458"/>
                  </a:ext>
                </a:extLst>
              </a:tr>
            </a:tbl>
          </a:graphicData>
        </a:graphic>
      </p:graphicFrame>
      <p:graphicFrame>
        <p:nvGraphicFramePr>
          <p:cNvPr id="7" name="Table 7">
            <a:extLst>
              <a:ext uri="{FF2B5EF4-FFF2-40B4-BE49-F238E27FC236}">
                <a16:creationId xmlns:a16="http://schemas.microsoft.com/office/drawing/2014/main" id="{E40B277D-8446-8258-9D7C-87D496EEEDAE}"/>
              </a:ext>
            </a:extLst>
          </p:cNvPr>
          <p:cNvGraphicFramePr>
            <a:graphicFrameLocks noGrp="1"/>
          </p:cNvGraphicFramePr>
          <p:nvPr>
            <p:extLst>
              <p:ext uri="{D42A27DB-BD31-4B8C-83A1-F6EECF244321}">
                <p14:modId xmlns:p14="http://schemas.microsoft.com/office/powerpoint/2010/main" val="2274930996"/>
              </p:ext>
            </p:extLst>
          </p:nvPr>
        </p:nvGraphicFramePr>
        <p:xfrm>
          <a:off x="7172133" y="4550470"/>
          <a:ext cx="1436914" cy="1112520"/>
        </p:xfrm>
        <a:graphic>
          <a:graphicData uri="http://schemas.openxmlformats.org/drawingml/2006/table">
            <a:tbl>
              <a:tblPr firstRow="1" bandRow="1">
                <a:tableStyleId>{5C22544A-7EE6-4342-B048-85BDC9FD1C3A}</a:tableStyleId>
              </a:tblPr>
              <a:tblGrid>
                <a:gridCol w="729083">
                  <a:extLst>
                    <a:ext uri="{9D8B030D-6E8A-4147-A177-3AD203B41FA5}">
                      <a16:colId xmlns:a16="http://schemas.microsoft.com/office/drawing/2014/main" val="2129824509"/>
                    </a:ext>
                  </a:extLst>
                </a:gridCol>
                <a:gridCol w="707831">
                  <a:extLst>
                    <a:ext uri="{9D8B030D-6E8A-4147-A177-3AD203B41FA5}">
                      <a16:colId xmlns:a16="http://schemas.microsoft.com/office/drawing/2014/main" val="1701335062"/>
                    </a:ext>
                  </a:extLst>
                </a:gridCol>
              </a:tblGrid>
              <a:tr h="370840">
                <a:tc>
                  <a:txBody>
                    <a:bodyPr/>
                    <a:lstStyle/>
                    <a:p>
                      <a:r>
                        <a:rPr lang="en-IN" dirty="0"/>
                        <a:t>X</a:t>
                      </a:r>
                    </a:p>
                  </a:txBody>
                  <a:tcPr/>
                </a:tc>
                <a:tc>
                  <a:txBody>
                    <a:bodyPr/>
                    <a:lstStyle/>
                    <a:p>
                      <a:r>
                        <a:rPr lang="en-IN" dirty="0"/>
                        <a:t>~X</a:t>
                      </a:r>
                    </a:p>
                  </a:txBody>
                  <a:tcPr/>
                </a:tc>
                <a:extLst>
                  <a:ext uri="{0D108BD9-81ED-4DB2-BD59-A6C34878D82A}">
                    <a16:rowId xmlns:a16="http://schemas.microsoft.com/office/drawing/2014/main" val="1813311966"/>
                  </a:ext>
                </a:extLst>
              </a:tr>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23392900"/>
                  </a:ext>
                </a:extLst>
              </a:tr>
              <a:tr h="370840">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3356175113"/>
                  </a:ext>
                </a:extLst>
              </a:tr>
            </a:tbl>
          </a:graphicData>
        </a:graphic>
      </p:graphicFrame>
    </p:spTree>
    <p:extLst>
      <p:ext uri="{BB962C8B-B14F-4D97-AF65-F5344CB8AC3E}">
        <p14:creationId xmlns:p14="http://schemas.microsoft.com/office/powerpoint/2010/main" val="35768490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904FEB-E54B-206D-2416-7E5F76D64C4A}"/>
              </a:ext>
            </a:extLst>
          </p:cNvPr>
          <p:cNvSpPr>
            <a:spLocks noGrp="1"/>
          </p:cNvSpPr>
          <p:nvPr>
            <p:ph idx="1"/>
          </p:nvPr>
        </p:nvSpPr>
        <p:spPr>
          <a:xfrm>
            <a:off x="838200" y="541176"/>
            <a:ext cx="10515600" cy="5635787"/>
          </a:xfrm>
        </p:spPr>
        <p:txBody>
          <a:bodyPr/>
          <a:lstStyle/>
          <a:p>
            <a:pPr marL="0" indent="0">
              <a:buNone/>
            </a:pPr>
            <a:r>
              <a:rPr lang="en-IN" b="1" dirty="0">
                <a:solidFill>
                  <a:srgbClr val="7030A0"/>
                </a:solidFill>
              </a:rPr>
              <a:t>Shift Operators</a:t>
            </a:r>
          </a:p>
          <a:p>
            <a:r>
              <a:rPr lang="en-IN" i="0" dirty="0">
                <a:effectLst/>
              </a:rPr>
              <a:t>Left Shift Operator (&lt;&lt;)</a:t>
            </a:r>
          </a:p>
          <a:p>
            <a:r>
              <a:rPr lang="en-IN" i="0" dirty="0">
                <a:effectLst/>
              </a:rPr>
              <a:t> Right Shift Operator (&gt;&gt;)</a:t>
            </a:r>
          </a:p>
          <a:p>
            <a:pPr marL="0" indent="0">
              <a:buNone/>
            </a:pPr>
            <a:r>
              <a:rPr lang="en-IN" b="1" i="0" dirty="0">
                <a:solidFill>
                  <a:srgbClr val="7030A0"/>
                </a:solidFill>
                <a:effectLst/>
              </a:rPr>
              <a:t>Left Shift Operator (&lt;&lt;)</a:t>
            </a:r>
          </a:p>
          <a:p>
            <a:pPr marL="0" indent="0">
              <a:lnSpc>
                <a:spcPct val="150000"/>
              </a:lnSpc>
              <a:buNone/>
            </a:pPr>
            <a:r>
              <a:rPr lang="en-US" b="0" i="0" dirty="0">
                <a:solidFill>
                  <a:srgbClr val="333333"/>
                </a:solidFill>
                <a:effectLst/>
              </a:rPr>
              <a:t>The signed left shift operator (&lt;&lt;) shifts a bit pattern to the left. It is represented by the symbol </a:t>
            </a:r>
            <a:r>
              <a:rPr lang="en-US" b="1" i="0" dirty="0">
                <a:solidFill>
                  <a:srgbClr val="333333"/>
                </a:solidFill>
                <a:effectLst/>
              </a:rPr>
              <a:t>&lt;&lt;.</a:t>
            </a:r>
          </a:p>
          <a:p>
            <a:pPr marL="0" indent="0">
              <a:lnSpc>
                <a:spcPct val="150000"/>
              </a:lnSpc>
              <a:buNone/>
            </a:pPr>
            <a:r>
              <a:rPr lang="en-US" b="0" i="0" dirty="0">
                <a:solidFill>
                  <a:srgbClr val="333333"/>
                </a:solidFill>
                <a:effectLst/>
              </a:rPr>
              <a:t> It also preserves the leftmost bit (sign bit). It does not preserve the sign bit.</a:t>
            </a:r>
            <a:endParaRPr lang="en-IN" b="1" i="0" dirty="0">
              <a:solidFill>
                <a:srgbClr val="7030A0"/>
              </a:solidFill>
              <a:effectLst/>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29116656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CFF5F-E7F3-6DF5-DF50-3570A902692D}"/>
              </a:ext>
            </a:extLst>
          </p:cNvPr>
          <p:cNvSpPr>
            <a:spLocks noGrp="1"/>
          </p:cNvSpPr>
          <p:nvPr>
            <p:ph idx="1"/>
          </p:nvPr>
        </p:nvSpPr>
        <p:spPr>
          <a:xfrm>
            <a:off x="838200" y="485192"/>
            <a:ext cx="10515600" cy="5691771"/>
          </a:xfrm>
        </p:spPr>
        <p:txBody>
          <a:bodyPr/>
          <a:lstStyle/>
          <a:p>
            <a:pPr marL="0" indent="0">
              <a:buNone/>
            </a:pPr>
            <a:r>
              <a:rPr lang="en-IN" b="1" i="0" dirty="0">
                <a:solidFill>
                  <a:srgbClr val="7030A0"/>
                </a:solidFill>
                <a:effectLst/>
              </a:rPr>
              <a:t>Right Shift Operator (&gt;&gt;)</a:t>
            </a:r>
          </a:p>
          <a:p>
            <a:r>
              <a:rPr lang="en-US" b="0" i="0" dirty="0">
                <a:solidFill>
                  <a:srgbClr val="333333"/>
                </a:solidFill>
                <a:effectLst/>
              </a:rPr>
              <a:t>It shifts a zero at the leftmost position and fills 0. It is denoted by the symbol </a:t>
            </a:r>
            <a:r>
              <a:rPr lang="en-US" b="1" i="0" dirty="0">
                <a:solidFill>
                  <a:srgbClr val="333333"/>
                </a:solidFill>
                <a:effectLst/>
              </a:rPr>
              <a:t>&gt;&gt;&gt;.</a:t>
            </a:r>
          </a:p>
          <a:p>
            <a:r>
              <a:rPr lang="en-US" b="0" i="0" dirty="0">
                <a:solidFill>
                  <a:srgbClr val="333333"/>
                </a:solidFill>
                <a:effectLst/>
              </a:rPr>
              <a:t> the  leftmost position after &gt;&gt; depends on the sign bit. It does not preserve the sign bit.</a:t>
            </a:r>
            <a:endParaRPr lang="en-IN" b="1" dirty="0">
              <a:solidFill>
                <a:srgbClr val="7030A0"/>
              </a:solidFill>
            </a:endParaRPr>
          </a:p>
        </p:txBody>
      </p:sp>
    </p:spTree>
    <p:extLst>
      <p:ext uri="{BB962C8B-B14F-4D97-AF65-F5344CB8AC3E}">
        <p14:creationId xmlns:p14="http://schemas.microsoft.com/office/powerpoint/2010/main" val="16930215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F848EB-65CF-C2E9-6E69-406A18254AF2}"/>
              </a:ext>
            </a:extLst>
          </p:cNvPr>
          <p:cNvSpPr>
            <a:spLocks noGrp="1"/>
          </p:cNvSpPr>
          <p:nvPr>
            <p:ph idx="1"/>
          </p:nvPr>
        </p:nvSpPr>
        <p:spPr>
          <a:xfrm>
            <a:off x="838200" y="457200"/>
            <a:ext cx="10515600" cy="5719763"/>
          </a:xfrm>
        </p:spPr>
        <p:txBody>
          <a:bodyPr/>
          <a:lstStyle/>
          <a:p>
            <a:pPr marL="0" indent="0">
              <a:lnSpc>
                <a:spcPct val="150000"/>
              </a:lnSpc>
              <a:buNone/>
            </a:pPr>
            <a:r>
              <a:rPr lang="en-IN" b="1" i="0" dirty="0">
                <a:solidFill>
                  <a:srgbClr val="7030A0"/>
                </a:solidFill>
                <a:effectLst/>
              </a:rPr>
              <a:t>Logical operators</a:t>
            </a:r>
            <a:endParaRPr lang="en-US" b="1" i="0" dirty="0">
              <a:solidFill>
                <a:srgbClr val="7030A0"/>
              </a:solidFill>
              <a:effectLst/>
            </a:endParaRPr>
          </a:p>
          <a:p>
            <a:pPr>
              <a:lnSpc>
                <a:spcPct val="150000"/>
              </a:lnSpc>
            </a:pPr>
            <a:r>
              <a:rPr lang="en-US" b="0" i="0" dirty="0">
                <a:solidFill>
                  <a:srgbClr val="333333"/>
                </a:solidFill>
                <a:effectLst/>
              </a:rPr>
              <a:t>Logical operators are generally used for combining two or more relational statements. They return Boolean values.</a:t>
            </a:r>
          </a:p>
          <a:p>
            <a:pPr marL="0" indent="0">
              <a:lnSpc>
                <a:spcPct val="150000"/>
              </a:lnSpc>
              <a:buNone/>
            </a:pPr>
            <a:r>
              <a:rPr lang="en-IN" b="1" i="0" dirty="0">
                <a:solidFill>
                  <a:srgbClr val="7030A0"/>
                </a:solidFill>
                <a:effectLst/>
              </a:rPr>
              <a:t>&amp;&amp; (Logical AND)</a:t>
            </a:r>
          </a:p>
          <a:p>
            <a:pPr>
              <a:lnSpc>
                <a:spcPct val="150000"/>
              </a:lnSpc>
            </a:pPr>
            <a:r>
              <a:rPr lang="en-US" b="0" i="0" dirty="0">
                <a:solidFill>
                  <a:srgbClr val="333333"/>
                </a:solidFill>
                <a:effectLst/>
              </a:rPr>
              <a:t>The logical &amp;&amp; operator doesn't check the second condition if first condition is false. It checks the second condition only if the first one is true</a:t>
            </a:r>
            <a:r>
              <a:rPr lang="en-US"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35898407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8014F-F830-C17D-5148-9719CEA590AA}"/>
              </a:ext>
            </a:extLst>
          </p:cNvPr>
          <p:cNvSpPr>
            <a:spLocks noGrp="1"/>
          </p:cNvSpPr>
          <p:nvPr>
            <p:ph idx="1"/>
          </p:nvPr>
        </p:nvSpPr>
        <p:spPr>
          <a:xfrm>
            <a:off x="606490" y="503853"/>
            <a:ext cx="10747310" cy="5673110"/>
          </a:xfrm>
        </p:spPr>
        <p:txBody>
          <a:bodyPr/>
          <a:lstStyle/>
          <a:p>
            <a:pPr marL="0" indent="0" algn="just">
              <a:lnSpc>
                <a:spcPct val="150000"/>
              </a:lnSpc>
              <a:buNone/>
            </a:pPr>
            <a:r>
              <a:rPr lang="en-US" b="1" i="0" dirty="0">
                <a:solidFill>
                  <a:srgbClr val="7030A0"/>
                </a:solidFill>
                <a:effectLst/>
              </a:rPr>
              <a:t>|| (Logical OR)</a:t>
            </a:r>
          </a:p>
          <a:p>
            <a:pPr algn="just">
              <a:lnSpc>
                <a:spcPct val="150000"/>
              </a:lnSpc>
            </a:pPr>
            <a:r>
              <a:rPr lang="en-US" b="0" i="0" dirty="0">
                <a:solidFill>
                  <a:srgbClr val="333333"/>
                </a:solidFill>
                <a:effectLst/>
              </a:rPr>
              <a:t>The Logical OR operator is represented with the two vertical line symbols.</a:t>
            </a:r>
          </a:p>
          <a:p>
            <a:pPr algn="just">
              <a:lnSpc>
                <a:spcPct val="150000"/>
              </a:lnSpc>
            </a:pPr>
            <a:r>
              <a:rPr lang="en-US" b="0" i="0" dirty="0">
                <a:solidFill>
                  <a:srgbClr val="333333"/>
                </a:solidFill>
                <a:effectLst/>
              </a:rPr>
              <a:t> It works opposite to the logical AND operator, as it only gives </a:t>
            </a:r>
            <a:r>
              <a:rPr lang="en-US" b="1" i="1" dirty="0">
                <a:solidFill>
                  <a:srgbClr val="333333"/>
                </a:solidFill>
                <a:effectLst/>
              </a:rPr>
              <a:t>false</a:t>
            </a:r>
            <a:r>
              <a:rPr lang="en-US" b="0" i="0" dirty="0">
                <a:solidFill>
                  <a:srgbClr val="333333"/>
                </a:solidFill>
                <a:effectLst/>
              </a:rPr>
              <a:t> when both statements of the expression are not true. Otherwise, it returns true.</a:t>
            </a:r>
          </a:p>
          <a:p>
            <a:endParaRPr lang="en-IN" dirty="0"/>
          </a:p>
        </p:txBody>
      </p:sp>
    </p:spTree>
    <p:extLst>
      <p:ext uri="{BB962C8B-B14F-4D97-AF65-F5344CB8AC3E}">
        <p14:creationId xmlns:p14="http://schemas.microsoft.com/office/powerpoint/2010/main" val="1554317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72D8C7-D4D3-3967-0FA3-0FA1DEED6DE0}"/>
              </a:ext>
            </a:extLst>
          </p:cNvPr>
          <p:cNvSpPr>
            <a:spLocks noGrp="1"/>
          </p:cNvSpPr>
          <p:nvPr>
            <p:ph idx="1"/>
          </p:nvPr>
        </p:nvSpPr>
        <p:spPr>
          <a:xfrm>
            <a:off x="838200" y="429209"/>
            <a:ext cx="10515600" cy="5747754"/>
          </a:xfrm>
        </p:spPr>
        <p:txBody>
          <a:bodyPr/>
          <a:lstStyle/>
          <a:p>
            <a:pPr marL="0" indent="0" algn="just">
              <a:lnSpc>
                <a:spcPct val="150000"/>
              </a:lnSpc>
              <a:buNone/>
            </a:pPr>
            <a:r>
              <a:rPr lang="en-US" b="1" i="0" dirty="0">
                <a:solidFill>
                  <a:srgbClr val="7030A0"/>
                </a:solidFill>
                <a:effectLst/>
              </a:rPr>
              <a:t>! (Logical NOT operator)</a:t>
            </a:r>
          </a:p>
          <a:p>
            <a:pPr algn="just">
              <a:lnSpc>
                <a:spcPct val="150000"/>
              </a:lnSpc>
            </a:pPr>
            <a:r>
              <a:rPr lang="en-US" b="0" i="0" dirty="0">
                <a:solidFill>
                  <a:srgbClr val="333333"/>
                </a:solidFill>
                <a:effectLst/>
              </a:rPr>
              <a:t>This logical operator is represented as an exclamation sign (!). This operator accepts a single argument and returns the inverse value of the corresponding argument.</a:t>
            </a:r>
          </a:p>
          <a:p>
            <a:endParaRPr lang="en-IN" dirty="0"/>
          </a:p>
        </p:txBody>
      </p:sp>
    </p:spTree>
    <p:extLst>
      <p:ext uri="{BB962C8B-B14F-4D97-AF65-F5344CB8AC3E}">
        <p14:creationId xmlns:p14="http://schemas.microsoft.com/office/powerpoint/2010/main" val="3700728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F53FB-2CD2-89AD-2EFE-7D9A241309EA}"/>
              </a:ext>
            </a:extLst>
          </p:cNvPr>
          <p:cNvSpPr>
            <a:spLocks noGrp="1"/>
          </p:cNvSpPr>
          <p:nvPr>
            <p:ph idx="1"/>
          </p:nvPr>
        </p:nvSpPr>
        <p:spPr>
          <a:xfrm>
            <a:off x="838200" y="531845"/>
            <a:ext cx="10515600" cy="5645118"/>
          </a:xfrm>
        </p:spPr>
        <p:txBody>
          <a:bodyPr/>
          <a:lstStyle/>
          <a:p>
            <a:pPr marL="0" indent="0">
              <a:lnSpc>
                <a:spcPct val="150000"/>
              </a:lnSpc>
              <a:buNone/>
            </a:pPr>
            <a:r>
              <a:rPr lang="en-IN" b="1" i="0" dirty="0">
                <a:solidFill>
                  <a:srgbClr val="7030A0"/>
                </a:solidFill>
                <a:effectLst/>
              </a:rPr>
              <a:t>Ternary Operator</a:t>
            </a:r>
          </a:p>
          <a:p>
            <a:pPr>
              <a:lnSpc>
                <a:spcPct val="150000"/>
              </a:lnSpc>
            </a:pPr>
            <a:r>
              <a:rPr lang="en-US" b="0" i="0" dirty="0">
                <a:solidFill>
                  <a:srgbClr val="333333"/>
                </a:solidFill>
                <a:effectLst/>
              </a:rPr>
              <a:t>In Java, the</a:t>
            </a:r>
            <a:r>
              <a:rPr lang="en-US" b="0" i="0" dirty="0">
                <a:solidFill>
                  <a:srgbClr val="7030A0"/>
                </a:solidFill>
                <a:effectLst/>
              </a:rPr>
              <a:t> </a:t>
            </a:r>
            <a:r>
              <a:rPr lang="en-US" b="1" i="0" dirty="0">
                <a:solidFill>
                  <a:srgbClr val="7030A0"/>
                </a:solidFill>
                <a:effectLst/>
              </a:rPr>
              <a:t>ternary operator</a:t>
            </a:r>
            <a:r>
              <a:rPr lang="en-US" b="0" i="0" dirty="0">
                <a:solidFill>
                  <a:srgbClr val="7030A0"/>
                </a:solidFill>
                <a:effectLst/>
              </a:rPr>
              <a:t> </a:t>
            </a:r>
            <a:r>
              <a:rPr lang="en-US" b="0" i="0" dirty="0">
                <a:solidFill>
                  <a:srgbClr val="333333"/>
                </a:solidFill>
                <a:effectLst/>
              </a:rPr>
              <a:t>is a type of </a:t>
            </a:r>
            <a:r>
              <a:rPr lang="en-US" b="1" i="0" dirty="0">
                <a:solidFill>
                  <a:srgbClr val="7030A0"/>
                </a:solidFill>
                <a:effectLst/>
              </a:rPr>
              <a:t>Java conditional operator</a:t>
            </a:r>
            <a:r>
              <a:rPr lang="en-US" b="0" i="0" dirty="0">
                <a:solidFill>
                  <a:srgbClr val="333333"/>
                </a:solidFill>
                <a:effectLst/>
              </a:rPr>
              <a:t>.</a:t>
            </a:r>
          </a:p>
          <a:p>
            <a:pPr>
              <a:lnSpc>
                <a:spcPct val="150000"/>
              </a:lnSpc>
            </a:pPr>
            <a:r>
              <a:rPr lang="en-US" b="0" i="0" dirty="0">
                <a:solidFill>
                  <a:srgbClr val="333333"/>
                </a:solidFill>
                <a:effectLst/>
              </a:rPr>
              <a:t>The meaning of </a:t>
            </a:r>
            <a:r>
              <a:rPr lang="en-US" b="1" i="0" dirty="0">
                <a:solidFill>
                  <a:srgbClr val="7030A0"/>
                </a:solidFill>
                <a:effectLst/>
              </a:rPr>
              <a:t>ternary</a:t>
            </a:r>
            <a:r>
              <a:rPr lang="en-US" b="0" i="0" dirty="0">
                <a:solidFill>
                  <a:srgbClr val="333333"/>
                </a:solidFill>
                <a:effectLst/>
              </a:rPr>
              <a:t> is composed of </a:t>
            </a:r>
            <a:r>
              <a:rPr lang="en-US" b="1" i="0" dirty="0">
                <a:solidFill>
                  <a:srgbClr val="7030A0"/>
                </a:solidFill>
                <a:effectLst/>
              </a:rPr>
              <a:t>three parts</a:t>
            </a:r>
            <a:r>
              <a:rPr lang="en-US" b="0" i="0" dirty="0">
                <a:solidFill>
                  <a:srgbClr val="333333"/>
                </a:solidFill>
                <a:effectLst/>
              </a:rPr>
              <a:t>. </a:t>
            </a:r>
          </a:p>
          <a:p>
            <a:pPr>
              <a:lnSpc>
                <a:spcPct val="150000"/>
              </a:lnSpc>
            </a:pPr>
            <a:r>
              <a:rPr lang="en-US" b="0" i="0" dirty="0">
                <a:solidFill>
                  <a:srgbClr val="333333"/>
                </a:solidFill>
                <a:effectLst/>
              </a:rPr>
              <a:t>The </a:t>
            </a:r>
            <a:r>
              <a:rPr lang="en-US" b="1" i="0" dirty="0">
                <a:solidFill>
                  <a:srgbClr val="7030A0"/>
                </a:solidFill>
                <a:effectLst/>
              </a:rPr>
              <a:t>ternary operator (? :)</a:t>
            </a:r>
            <a:r>
              <a:rPr lang="en-US" b="0" i="0" dirty="0">
                <a:solidFill>
                  <a:srgbClr val="7030A0"/>
                </a:solidFill>
                <a:effectLst/>
              </a:rPr>
              <a:t> </a:t>
            </a:r>
            <a:r>
              <a:rPr lang="en-US" b="0" i="0" dirty="0">
                <a:solidFill>
                  <a:srgbClr val="333333"/>
                </a:solidFill>
                <a:effectLst/>
              </a:rPr>
              <a:t>consists of three operands.</a:t>
            </a:r>
          </a:p>
          <a:p>
            <a:pPr>
              <a:lnSpc>
                <a:spcPct val="150000"/>
              </a:lnSpc>
            </a:pPr>
            <a:r>
              <a:rPr lang="en-US" b="0" i="0" dirty="0">
                <a:solidFill>
                  <a:srgbClr val="333333"/>
                </a:solidFill>
                <a:effectLst/>
              </a:rPr>
              <a:t> It is used to </a:t>
            </a:r>
            <a:r>
              <a:rPr lang="en-US" b="1" i="0" dirty="0">
                <a:solidFill>
                  <a:srgbClr val="7030A0"/>
                </a:solidFill>
                <a:effectLst/>
              </a:rPr>
              <a:t>evaluate Boolean expressions</a:t>
            </a:r>
            <a:r>
              <a:rPr lang="en-US" b="0" i="0" dirty="0">
                <a:solidFill>
                  <a:srgbClr val="333333"/>
                </a:solidFill>
                <a:effectLst/>
              </a:rPr>
              <a:t>.</a:t>
            </a:r>
            <a:endParaRPr lang="en-US" dirty="0">
              <a:solidFill>
                <a:srgbClr val="333333"/>
              </a:solidFill>
            </a:endParaRPr>
          </a:p>
          <a:p>
            <a:pPr marL="0" indent="0" algn="just">
              <a:lnSpc>
                <a:spcPct val="150000"/>
              </a:lnSpc>
              <a:buNone/>
            </a:pPr>
            <a:r>
              <a:rPr lang="fr-FR" b="1" i="0" dirty="0" err="1">
                <a:solidFill>
                  <a:srgbClr val="7030A0"/>
                </a:solidFill>
                <a:effectLst/>
              </a:rPr>
              <a:t>Syntax</a:t>
            </a:r>
            <a:r>
              <a:rPr lang="fr-FR" b="1" i="0" dirty="0">
                <a:solidFill>
                  <a:srgbClr val="7030A0"/>
                </a:solidFill>
                <a:effectLst/>
              </a:rPr>
              <a:t>:</a:t>
            </a:r>
          </a:p>
          <a:p>
            <a:pPr marL="0" indent="0" algn="just">
              <a:lnSpc>
                <a:spcPct val="150000"/>
              </a:lnSpc>
              <a:buNone/>
            </a:pPr>
            <a:r>
              <a:rPr lang="fr-FR" b="0" i="0" dirty="0">
                <a:solidFill>
                  <a:srgbClr val="000000"/>
                </a:solidFill>
                <a:effectLst/>
              </a:rPr>
              <a:t>variable = (condition) ? expression1 : expression2  </a:t>
            </a:r>
          </a:p>
          <a:p>
            <a:endParaRPr lang="en-IN" dirty="0"/>
          </a:p>
        </p:txBody>
      </p:sp>
    </p:spTree>
    <p:extLst>
      <p:ext uri="{BB962C8B-B14F-4D97-AF65-F5344CB8AC3E}">
        <p14:creationId xmlns:p14="http://schemas.microsoft.com/office/powerpoint/2010/main" val="1746881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9B85-78B8-8B88-EA51-A9FBA5E5744A}"/>
              </a:ext>
            </a:extLst>
          </p:cNvPr>
          <p:cNvSpPr>
            <a:spLocks noGrp="1"/>
          </p:cNvSpPr>
          <p:nvPr>
            <p:ph type="ctrTitle"/>
          </p:nvPr>
        </p:nvSpPr>
        <p:spPr/>
        <p:txBody>
          <a:bodyPr/>
          <a:lstStyle/>
          <a:p>
            <a:r>
              <a:rPr lang="en-IN" dirty="0"/>
              <a:t>Control statements</a:t>
            </a:r>
          </a:p>
        </p:txBody>
      </p:sp>
    </p:spTree>
    <p:extLst>
      <p:ext uri="{BB962C8B-B14F-4D97-AF65-F5344CB8AC3E}">
        <p14:creationId xmlns:p14="http://schemas.microsoft.com/office/powerpoint/2010/main" val="25131360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DDC1-A581-BB12-A641-F568ACF161F9}"/>
              </a:ext>
            </a:extLst>
          </p:cNvPr>
          <p:cNvSpPr>
            <a:spLocks noGrp="1"/>
          </p:cNvSpPr>
          <p:nvPr>
            <p:ph type="title"/>
          </p:nvPr>
        </p:nvSpPr>
        <p:spPr/>
        <p:txBody>
          <a:bodyPr/>
          <a:lstStyle/>
          <a:p>
            <a:r>
              <a:rPr lang="en-IN" dirty="0"/>
              <a:t>Flow  of control</a:t>
            </a:r>
          </a:p>
        </p:txBody>
      </p:sp>
      <p:sp>
        <p:nvSpPr>
          <p:cNvPr id="3" name="Content Placeholder 2">
            <a:extLst>
              <a:ext uri="{FF2B5EF4-FFF2-40B4-BE49-F238E27FC236}">
                <a16:creationId xmlns:a16="http://schemas.microsoft.com/office/drawing/2014/main" id="{1CCF2CFB-F3EE-33D8-019E-D1902DC0A6D0}"/>
              </a:ext>
            </a:extLst>
          </p:cNvPr>
          <p:cNvSpPr>
            <a:spLocks noGrp="1"/>
          </p:cNvSpPr>
          <p:nvPr>
            <p:ph idx="1"/>
          </p:nvPr>
        </p:nvSpPr>
        <p:spPr/>
        <p:txBody>
          <a:bodyPr/>
          <a:lstStyle/>
          <a:p>
            <a:r>
              <a:rPr lang="en-IN" dirty="0"/>
              <a:t>Sequential statements</a:t>
            </a:r>
          </a:p>
          <a:p>
            <a:r>
              <a:rPr lang="en-IN" dirty="0"/>
              <a:t>Selectional/Conditional  statements</a:t>
            </a:r>
          </a:p>
          <a:p>
            <a:r>
              <a:rPr lang="en-IN" dirty="0"/>
              <a:t>Loop/Iterative/</a:t>
            </a:r>
            <a:r>
              <a:rPr lang="en-IN" dirty="0" err="1"/>
              <a:t>Repeation</a:t>
            </a:r>
            <a:r>
              <a:rPr lang="en-IN" dirty="0"/>
              <a:t> statements</a:t>
            </a:r>
          </a:p>
          <a:p>
            <a:r>
              <a:rPr lang="en-IN" dirty="0"/>
              <a:t>Jumping/transfer statements</a:t>
            </a:r>
          </a:p>
          <a:p>
            <a:endParaRPr lang="en-IN" dirty="0"/>
          </a:p>
        </p:txBody>
      </p:sp>
    </p:spTree>
    <p:extLst>
      <p:ext uri="{BB962C8B-B14F-4D97-AF65-F5344CB8AC3E}">
        <p14:creationId xmlns:p14="http://schemas.microsoft.com/office/powerpoint/2010/main" val="40747587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1BC4-6144-7338-334D-3FEC9E8D7138}"/>
              </a:ext>
            </a:extLst>
          </p:cNvPr>
          <p:cNvSpPr>
            <a:spLocks noGrp="1"/>
          </p:cNvSpPr>
          <p:nvPr>
            <p:ph type="title"/>
          </p:nvPr>
        </p:nvSpPr>
        <p:spPr/>
        <p:txBody>
          <a:bodyPr/>
          <a:lstStyle/>
          <a:p>
            <a:r>
              <a:rPr lang="en-IN" dirty="0"/>
              <a:t>Control statements </a:t>
            </a:r>
          </a:p>
        </p:txBody>
      </p:sp>
      <p:sp>
        <p:nvSpPr>
          <p:cNvPr id="3" name="Content Placeholder 2">
            <a:extLst>
              <a:ext uri="{FF2B5EF4-FFF2-40B4-BE49-F238E27FC236}">
                <a16:creationId xmlns:a16="http://schemas.microsoft.com/office/drawing/2014/main" id="{0001320D-E6D4-3D00-D35B-A944C472A3A9}"/>
              </a:ext>
            </a:extLst>
          </p:cNvPr>
          <p:cNvSpPr>
            <a:spLocks noGrp="1"/>
          </p:cNvSpPr>
          <p:nvPr>
            <p:ph idx="1"/>
          </p:nvPr>
        </p:nvSpPr>
        <p:spPr>
          <a:xfrm>
            <a:off x="838200" y="1520890"/>
            <a:ext cx="10515600" cy="4656073"/>
          </a:xfrm>
        </p:spPr>
        <p:txBody>
          <a:bodyPr/>
          <a:lstStyle/>
          <a:p>
            <a:r>
              <a:rPr lang="en-US" b="0" i="0" dirty="0">
                <a:solidFill>
                  <a:srgbClr val="202124"/>
                </a:solidFill>
                <a:effectLst/>
                <a:latin typeface="Google Sans"/>
              </a:rPr>
              <a:t>It controls the flow of a program. </a:t>
            </a:r>
          </a:p>
          <a:p>
            <a:r>
              <a:rPr lang="en-US" b="0" i="0" dirty="0">
                <a:solidFill>
                  <a:srgbClr val="202124"/>
                </a:solidFill>
                <a:effectLst/>
                <a:latin typeface="Google Sans"/>
              </a:rPr>
              <a:t>A control statement in java is </a:t>
            </a:r>
            <a:r>
              <a:rPr lang="en-US" b="0" i="0" dirty="0">
                <a:solidFill>
                  <a:srgbClr val="040C28"/>
                </a:solidFill>
                <a:effectLst/>
                <a:latin typeface="Google Sans"/>
              </a:rPr>
              <a:t>a statement </a:t>
            </a:r>
          </a:p>
          <a:p>
            <a:pPr marL="0" indent="0">
              <a:buNone/>
            </a:pPr>
            <a:r>
              <a:rPr lang="en-US" b="0" i="0" dirty="0">
                <a:solidFill>
                  <a:srgbClr val="040C28"/>
                </a:solidFill>
                <a:effectLst/>
                <a:latin typeface="Google Sans"/>
              </a:rPr>
              <a:t>that determines whether the other statements will be executed or not</a:t>
            </a:r>
            <a:r>
              <a:rPr lang="en-US" b="0" i="0" dirty="0">
                <a:solidFill>
                  <a:srgbClr val="202124"/>
                </a:solidFill>
                <a:effectLst/>
                <a:latin typeface="Google Sans"/>
              </a:rPr>
              <a:t>.</a:t>
            </a:r>
            <a:endParaRPr lang="en-IN" dirty="0"/>
          </a:p>
        </p:txBody>
      </p:sp>
    </p:spTree>
    <p:extLst>
      <p:ext uri="{BB962C8B-B14F-4D97-AF65-F5344CB8AC3E}">
        <p14:creationId xmlns:p14="http://schemas.microsoft.com/office/powerpoint/2010/main" val="3180924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9127"/>
            <a:ext cx="10515600" cy="5561142"/>
          </a:xfrm>
        </p:spPr>
        <p:txBody>
          <a:bodyPr>
            <a:normAutofit/>
          </a:bodyPr>
          <a:lstStyle/>
          <a:p>
            <a:pPr marL="0" indent="0">
              <a:buNone/>
            </a:pPr>
            <a:r>
              <a:rPr lang="en-IN" sz="3000" b="1" spc="-5" dirty="0">
                <a:solidFill>
                  <a:srgbClr val="7030A0"/>
                </a:solidFill>
              </a:rPr>
              <a:t>If</a:t>
            </a:r>
            <a:r>
              <a:rPr lang="en-IN" sz="3000" b="1" spc="-114" dirty="0">
                <a:solidFill>
                  <a:srgbClr val="7030A0"/>
                </a:solidFill>
              </a:rPr>
              <a:t> </a:t>
            </a:r>
            <a:r>
              <a:rPr lang="en-IN" sz="3000" b="1" spc="-30" dirty="0">
                <a:solidFill>
                  <a:srgbClr val="7030A0"/>
                </a:solidFill>
              </a:rPr>
              <a:t>statement</a:t>
            </a:r>
          </a:p>
          <a:p>
            <a:pPr marL="356870" marR="45720" indent="-344805">
              <a:spcBef>
                <a:spcPts val="95"/>
              </a:spcBef>
              <a:buSzPct val="56250"/>
              <a:buFont typeface="Arial MT"/>
              <a:buChar char="•"/>
              <a:tabLst>
                <a:tab pos="448309" algn="l"/>
                <a:tab pos="448945" algn="l"/>
              </a:tabLst>
            </a:pPr>
            <a:r>
              <a:rPr lang="en-US" sz="3000" dirty="0">
                <a:cs typeface="Calibri"/>
              </a:rPr>
              <a:t>if</a:t>
            </a:r>
            <a:r>
              <a:rPr lang="en-US" sz="3000" spc="-5" dirty="0">
                <a:cs typeface="Calibri"/>
              </a:rPr>
              <a:t> </a:t>
            </a:r>
            <a:r>
              <a:rPr lang="en-US" sz="3000" spc="-45" dirty="0">
                <a:cs typeface="Calibri"/>
              </a:rPr>
              <a:t>statement</a:t>
            </a:r>
            <a:r>
              <a:rPr lang="en-US" sz="3000" spc="55" dirty="0">
                <a:cs typeface="Calibri"/>
              </a:rPr>
              <a:t> </a:t>
            </a:r>
            <a:r>
              <a:rPr lang="en-US" sz="3000" spc="-10" dirty="0">
                <a:cs typeface="Calibri"/>
              </a:rPr>
              <a:t>to</a:t>
            </a:r>
            <a:r>
              <a:rPr lang="en-US" sz="3000" spc="-40" dirty="0">
                <a:cs typeface="Calibri"/>
              </a:rPr>
              <a:t> </a:t>
            </a:r>
            <a:r>
              <a:rPr lang="en-US" sz="3000" spc="-5" dirty="0">
                <a:cs typeface="Calibri"/>
              </a:rPr>
              <a:t>specify</a:t>
            </a:r>
            <a:r>
              <a:rPr lang="en-US" sz="3000" spc="-35" dirty="0">
                <a:cs typeface="Calibri"/>
              </a:rPr>
              <a:t> </a:t>
            </a:r>
            <a:r>
              <a:rPr lang="en-US" sz="3000" spc="-5" dirty="0">
                <a:cs typeface="Calibri"/>
              </a:rPr>
              <a:t>a</a:t>
            </a:r>
            <a:r>
              <a:rPr lang="en-US" sz="3000" spc="25" dirty="0">
                <a:cs typeface="Calibri"/>
              </a:rPr>
              <a:t> </a:t>
            </a:r>
            <a:r>
              <a:rPr lang="en-US" sz="3000" spc="-10" dirty="0">
                <a:cs typeface="Calibri"/>
              </a:rPr>
              <a:t>block</a:t>
            </a:r>
            <a:r>
              <a:rPr lang="en-US" sz="3000" spc="-15" dirty="0">
                <a:cs typeface="Calibri"/>
              </a:rPr>
              <a:t> </a:t>
            </a:r>
            <a:r>
              <a:rPr lang="en-US" sz="3000" spc="-5" dirty="0">
                <a:cs typeface="Calibri"/>
              </a:rPr>
              <a:t>of</a:t>
            </a:r>
            <a:r>
              <a:rPr lang="en-US" sz="3000" spc="-20" dirty="0">
                <a:cs typeface="Calibri"/>
              </a:rPr>
              <a:t> </a:t>
            </a:r>
            <a:r>
              <a:rPr lang="en-US" sz="3000" spc="-50" dirty="0">
                <a:cs typeface="Calibri"/>
              </a:rPr>
              <a:t>Java</a:t>
            </a:r>
            <a:r>
              <a:rPr lang="en-US" sz="3000" spc="25" dirty="0">
                <a:cs typeface="Calibri"/>
              </a:rPr>
              <a:t> </a:t>
            </a:r>
            <a:r>
              <a:rPr lang="en-US" sz="3000" spc="-35" dirty="0">
                <a:cs typeface="Calibri"/>
              </a:rPr>
              <a:t>code</a:t>
            </a:r>
            <a:r>
              <a:rPr lang="en-US" sz="3000" spc="30" dirty="0">
                <a:cs typeface="Calibri"/>
              </a:rPr>
              <a:t> </a:t>
            </a:r>
            <a:r>
              <a:rPr lang="en-US" sz="3000" spc="-10" dirty="0">
                <a:cs typeface="Calibri"/>
              </a:rPr>
              <a:t>to </a:t>
            </a:r>
            <a:r>
              <a:rPr lang="en-US" sz="3000" spc="-710" dirty="0">
                <a:cs typeface="Calibri"/>
              </a:rPr>
              <a:t> </a:t>
            </a:r>
            <a:r>
              <a:rPr lang="en-US" sz="3000" spc="-5" dirty="0">
                <a:cs typeface="Calibri"/>
              </a:rPr>
              <a:t>be</a:t>
            </a:r>
            <a:r>
              <a:rPr lang="en-US" sz="3000" spc="-15" dirty="0">
                <a:cs typeface="Calibri"/>
              </a:rPr>
              <a:t> </a:t>
            </a:r>
            <a:r>
              <a:rPr lang="en-US" sz="3000" spc="-50" dirty="0">
                <a:cs typeface="Calibri"/>
              </a:rPr>
              <a:t>executed</a:t>
            </a:r>
            <a:r>
              <a:rPr lang="en-US" sz="3000" spc="-25" dirty="0">
                <a:cs typeface="Calibri"/>
              </a:rPr>
              <a:t> </a:t>
            </a:r>
            <a:r>
              <a:rPr lang="en-US" sz="3000" dirty="0">
                <a:cs typeface="Calibri"/>
              </a:rPr>
              <a:t>if</a:t>
            </a:r>
            <a:r>
              <a:rPr lang="en-US" sz="3000" spc="-45" dirty="0">
                <a:cs typeface="Calibri"/>
              </a:rPr>
              <a:t> </a:t>
            </a:r>
            <a:r>
              <a:rPr lang="en-US" sz="3000" spc="-5" dirty="0">
                <a:cs typeface="Calibri"/>
              </a:rPr>
              <a:t>a</a:t>
            </a:r>
            <a:r>
              <a:rPr lang="en-US" sz="3000" spc="25" dirty="0">
                <a:cs typeface="Calibri"/>
              </a:rPr>
              <a:t> </a:t>
            </a:r>
            <a:r>
              <a:rPr lang="en-US" sz="3000" spc="-10" dirty="0">
                <a:cs typeface="Calibri"/>
              </a:rPr>
              <a:t>condition</a:t>
            </a:r>
            <a:r>
              <a:rPr lang="en-US" sz="3000" spc="-50" dirty="0">
                <a:cs typeface="Calibri"/>
              </a:rPr>
              <a:t> </a:t>
            </a:r>
            <a:r>
              <a:rPr lang="en-US" sz="3000" dirty="0">
                <a:cs typeface="Calibri"/>
              </a:rPr>
              <a:t>is</a:t>
            </a:r>
            <a:r>
              <a:rPr lang="en-US" sz="3000" spc="45" dirty="0">
                <a:cs typeface="Calibri"/>
              </a:rPr>
              <a:t> </a:t>
            </a:r>
            <a:r>
              <a:rPr lang="en-US" sz="3000" spc="-10" dirty="0">
                <a:cs typeface="Calibri"/>
              </a:rPr>
              <a:t>true.</a:t>
            </a:r>
            <a:endParaRPr lang="en-US" sz="3000" dirty="0">
              <a:cs typeface="Calibri"/>
            </a:endParaRPr>
          </a:p>
          <a:p>
            <a:pPr marL="12700">
              <a:lnSpc>
                <a:spcPct val="100000"/>
              </a:lnSpc>
              <a:spcBef>
                <a:spcPts val="795"/>
              </a:spcBef>
            </a:pPr>
            <a:r>
              <a:rPr lang="en-US" sz="3000" b="1" spc="-45" dirty="0">
                <a:solidFill>
                  <a:srgbClr val="7030A0"/>
                </a:solidFill>
                <a:cs typeface="Calibri"/>
              </a:rPr>
              <a:t>Syntax:</a:t>
            </a:r>
            <a:endParaRPr lang="en-US" sz="3000" b="1" dirty="0">
              <a:solidFill>
                <a:srgbClr val="7030A0"/>
              </a:solidFill>
              <a:cs typeface="Calibri"/>
            </a:endParaRPr>
          </a:p>
          <a:p>
            <a:pPr marL="12065" indent="0">
              <a:spcBef>
                <a:spcPts val="790"/>
              </a:spcBef>
              <a:buNone/>
              <a:tabLst>
                <a:tab pos="356870" algn="l"/>
                <a:tab pos="357505" algn="l"/>
              </a:tabLst>
            </a:pPr>
            <a:r>
              <a:rPr lang="en-US" sz="3000" dirty="0">
                <a:cs typeface="Calibri"/>
              </a:rPr>
              <a:t>if</a:t>
            </a:r>
            <a:r>
              <a:rPr lang="en-US" sz="3000" spc="-65" dirty="0">
                <a:cs typeface="Calibri"/>
              </a:rPr>
              <a:t> </a:t>
            </a:r>
            <a:r>
              <a:rPr lang="en-US" sz="3000" spc="-10" dirty="0">
                <a:cs typeface="Calibri"/>
              </a:rPr>
              <a:t>(</a:t>
            </a:r>
            <a:r>
              <a:rPr lang="en-US" sz="3000" i="1" spc="-10" dirty="0">
                <a:cs typeface="Calibri"/>
              </a:rPr>
              <a:t>condition</a:t>
            </a:r>
            <a:r>
              <a:rPr lang="en-US" sz="3000" spc="-10" dirty="0">
                <a:cs typeface="Calibri"/>
              </a:rPr>
              <a:t>)</a:t>
            </a:r>
            <a:r>
              <a:rPr lang="en-US" sz="3000" spc="10" dirty="0">
                <a:cs typeface="Calibri"/>
              </a:rPr>
              <a:t> </a:t>
            </a:r>
            <a:r>
              <a:rPr lang="en-US" sz="3000" spc="-5" dirty="0">
                <a:cs typeface="Calibri"/>
              </a:rPr>
              <a:t>{</a:t>
            </a:r>
            <a:endParaRPr lang="en-US" sz="3000" dirty="0">
              <a:cs typeface="Calibri"/>
            </a:endParaRPr>
          </a:p>
          <a:p>
            <a:pPr marL="0" marR="5080" indent="0">
              <a:lnSpc>
                <a:spcPct val="100000"/>
              </a:lnSpc>
              <a:spcBef>
                <a:spcPts val="819"/>
              </a:spcBef>
              <a:buNone/>
            </a:pPr>
            <a:r>
              <a:rPr lang="en-US" sz="3000" i="1" dirty="0">
                <a:cs typeface="Calibri"/>
              </a:rPr>
              <a:t>//</a:t>
            </a:r>
            <a:r>
              <a:rPr lang="en-US" sz="3000" i="1" spc="-50" dirty="0">
                <a:cs typeface="Calibri"/>
              </a:rPr>
              <a:t> </a:t>
            </a:r>
            <a:r>
              <a:rPr lang="en-US" sz="3000" i="1" spc="-10" dirty="0">
                <a:cs typeface="Calibri"/>
              </a:rPr>
              <a:t>block</a:t>
            </a:r>
            <a:r>
              <a:rPr lang="en-US" sz="3000" i="1" spc="-5" dirty="0">
                <a:cs typeface="Calibri"/>
              </a:rPr>
              <a:t> of </a:t>
            </a:r>
            <a:r>
              <a:rPr lang="en-US" sz="3000" i="1" spc="-40" dirty="0">
                <a:cs typeface="Calibri"/>
              </a:rPr>
              <a:t>code</a:t>
            </a:r>
            <a:r>
              <a:rPr lang="en-US" sz="3000" i="1" spc="80" dirty="0">
                <a:cs typeface="Calibri"/>
              </a:rPr>
              <a:t> </a:t>
            </a:r>
            <a:r>
              <a:rPr lang="en-US" sz="3000" i="1" spc="-35" dirty="0">
                <a:cs typeface="Calibri"/>
              </a:rPr>
              <a:t>to </a:t>
            </a:r>
            <a:r>
              <a:rPr lang="en-US" sz="3000" i="1" spc="-25" dirty="0">
                <a:cs typeface="Calibri"/>
              </a:rPr>
              <a:t>be</a:t>
            </a:r>
            <a:r>
              <a:rPr lang="en-US" sz="3000" i="1" spc="30" dirty="0">
                <a:cs typeface="Calibri"/>
              </a:rPr>
              <a:t> </a:t>
            </a:r>
            <a:r>
              <a:rPr lang="en-US" sz="3000" i="1" spc="-45" dirty="0">
                <a:cs typeface="Calibri"/>
              </a:rPr>
              <a:t>executed</a:t>
            </a:r>
            <a:r>
              <a:rPr lang="en-US" sz="3000" i="1" spc="15" dirty="0">
                <a:cs typeface="Calibri"/>
              </a:rPr>
              <a:t> </a:t>
            </a:r>
            <a:r>
              <a:rPr lang="en-US" sz="3000" i="1" dirty="0">
                <a:cs typeface="Calibri"/>
              </a:rPr>
              <a:t>if</a:t>
            </a:r>
            <a:r>
              <a:rPr lang="en-US" sz="3000" i="1" spc="-20" dirty="0">
                <a:cs typeface="Calibri"/>
              </a:rPr>
              <a:t> </a:t>
            </a:r>
            <a:r>
              <a:rPr lang="en-US" sz="3000" i="1" spc="-10" dirty="0">
                <a:cs typeface="Calibri"/>
              </a:rPr>
              <a:t>the</a:t>
            </a:r>
            <a:r>
              <a:rPr lang="en-US" sz="3000" i="1" spc="10" dirty="0">
                <a:cs typeface="Calibri"/>
              </a:rPr>
              <a:t> </a:t>
            </a:r>
            <a:r>
              <a:rPr lang="en-US" sz="3000" i="1" spc="-10" dirty="0">
                <a:cs typeface="Calibri"/>
              </a:rPr>
              <a:t>condition </a:t>
            </a:r>
            <a:r>
              <a:rPr lang="en-US" sz="3000" i="1" spc="-5" dirty="0">
                <a:cs typeface="Calibri"/>
              </a:rPr>
              <a:t>is </a:t>
            </a:r>
            <a:r>
              <a:rPr lang="en-US" sz="3000" i="1" spc="-710" dirty="0">
                <a:cs typeface="Calibri"/>
              </a:rPr>
              <a:t> </a:t>
            </a:r>
            <a:r>
              <a:rPr lang="en-US" sz="3000" i="1" spc="-5" dirty="0">
                <a:cs typeface="Calibri"/>
              </a:rPr>
              <a:t>true</a:t>
            </a:r>
            <a:r>
              <a:rPr lang="en-US" sz="3000" i="1" dirty="0">
                <a:cs typeface="Calibri"/>
              </a:rPr>
              <a:t> </a:t>
            </a:r>
            <a:r>
              <a:rPr lang="en-US" sz="3000" spc="-5" dirty="0">
                <a:cs typeface="Calibri"/>
              </a:rPr>
              <a:t>}</a:t>
            </a:r>
          </a:p>
          <a:p>
            <a:pPr marL="0" marR="5080" indent="0">
              <a:lnSpc>
                <a:spcPct val="100000"/>
              </a:lnSpc>
              <a:spcBef>
                <a:spcPts val="819"/>
              </a:spcBef>
              <a:buNone/>
            </a:pPr>
            <a:r>
              <a:rPr lang="en-US" sz="3000" b="1" spc="-5" dirty="0">
                <a:solidFill>
                  <a:srgbClr val="7030A0"/>
                </a:solidFill>
                <a:cs typeface="Calibri"/>
              </a:rPr>
              <a:t>Real time Example:</a:t>
            </a:r>
          </a:p>
          <a:p>
            <a:pPr marL="0" marR="5080" indent="0">
              <a:lnSpc>
                <a:spcPct val="100000"/>
              </a:lnSpc>
              <a:spcBef>
                <a:spcPts val="819"/>
              </a:spcBef>
              <a:buNone/>
            </a:pPr>
            <a:r>
              <a:rPr lang="en-US" sz="3000" b="1" spc="-5" dirty="0">
                <a:solidFill>
                  <a:srgbClr val="7030A0"/>
                </a:solidFill>
                <a:cs typeface="Calibri"/>
              </a:rPr>
              <a:t>If there is raining , we  will not play in the ground</a:t>
            </a:r>
            <a:endParaRPr lang="en-US" sz="3000" b="1" dirty="0">
              <a:solidFill>
                <a:srgbClr val="7030A0"/>
              </a:solidFill>
              <a:cs typeface="Calibri"/>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12727115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812" y="548681"/>
            <a:ext cx="10328988" cy="6113376"/>
          </a:xfrm>
        </p:spPr>
        <p:txBody>
          <a:bodyPr/>
          <a:lstStyle/>
          <a:p>
            <a:pPr marL="0" indent="0">
              <a:buNone/>
            </a:pPr>
            <a:r>
              <a:rPr lang="en-IN" sz="3000" b="1" spc="-5" dirty="0">
                <a:solidFill>
                  <a:srgbClr val="7030A0"/>
                </a:solidFill>
              </a:rPr>
              <a:t>If</a:t>
            </a:r>
            <a:r>
              <a:rPr lang="en-IN" sz="3000" b="1" spc="-40" dirty="0">
                <a:solidFill>
                  <a:srgbClr val="7030A0"/>
                </a:solidFill>
              </a:rPr>
              <a:t> </a:t>
            </a:r>
            <a:r>
              <a:rPr lang="en-IN" sz="3000" b="1" spc="-5" dirty="0">
                <a:solidFill>
                  <a:srgbClr val="7030A0"/>
                </a:solidFill>
              </a:rPr>
              <a:t>else</a:t>
            </a:r>
            <a:r>
              <a:rPr lang="en-IN" sz="3000" b="1" spc="-60" dirty="0">
                <a:solidFill>
                  <a:srgbClr val="7030A0"/>
                </a:solidFill>
              </a:rPr>
              <a:t> </a:t>
            </a:r>
            <a:r>
              <a:rPr lang="en-IN" sz="3000" b="1" spc="-30" dirty="0">
                <a:solidFill>
                  <a:srgbClr val="7030A0"/>
                </a:solidFill>
              </a:rPr>
              <a:t>statement</a:t>
            </a:r>
          </a:p>
          <a:p>
            <a:pPr marL="12065" marR="37465" indent="0">
              <a:lnSpc>
                <a:spcPts val="2880"/>
              </a:lnSpc>
              <a:spcBef>
                <a:spcPts val="795"/>
              </a:spcBef>
              <a:buNone/>
              <a:tabLst>
                <a:tab pos="356870" algn="l"/>
                <a:tab pos="357505" algn="l"/>
              </a:tabLst>
            </a:pPr>
            <a:r>
              <a:rPr lang="en-US" sz="3000" dirty="0">
                <a:cs typeface="Calibri"/>
              </a:rPr>
              <a:t>  else</a:t>
            </a:r>
            <a:r>
              <a:rPr lang="en-US" sz="3000" spc="-45" dirty="0">
                <a:cs typeface="Calibri"/>
              </a:rPr>
              <a:t> </a:t>
            </a:r>
            <a:r>
              <a:rPr lang="en-US" sz="3000" spc="-40" dirty="0">
                <a:cs typeface="Calibri"/>
              </a:rPr>
              <a:t>statement</a:t>
            </a:r>
            <a:r>
              <a:rPr lang="en-US" sz="3000" spc="-105" dirty="0">
                <a:cs typeface="Calibri"/>
              </a:rPr>
              <a:t> </a:t>
            </a:r>
            <a:r>
              <a:rPr lang="en-US" sz="3000" spc="-25" dirty="0">
                <a:cs typeface="Calibri"/>
              </a:rPr>
              <a:t>to</a:t>
            </a:r>
            <a:r>
              <a:rPr lang="en-US" sz="3000" spc="-55" dirty="0">
                <a:cs typeface="Calibri"/>
              </a:rPr>
              <a:t> </a:t>
            </a:r>
            <a:r>
              <a:rPr lang="en-US" sz="3000" spc="5" dirty="0">
                <a:cs typeface="Calibri"/>
              </a:rPr>
              <a:t>specify</a:t>
            </a:r>
            <a:r>
              <a:rPr lang="en-US" sz="3000" spc="-55" dirty="0">
                <a:cs typeface="Calibri"/>
              </a:rPr>
              <a:t> </a:t>
            </a:r>
            <a:r>
              <a:rPr lang="en-US" sz="3000" dirty="0">
                <a:cs typeface="Calibri"/>
              </a:rPr>
              <a:t>a</a:t>
            </a:r>
            <a:r>
              <a:rPr lang="en-US" sz="3000" spc="-5" dirty="0">
                <a:cs typeface="Calibri"/>
              </a:rPr>
              <a:t> block</a:t>
            </a:r>
            <a:r>
              <a:rPr lang="en-US" sz="3000" spc="-85" dirty="0">
                <a:cs typeface="Calibri"/>
              </a:rPr>
              <a:t> </a:t>
            </a:r>
            <a:r>
              <a:rPr lang="en-US" sz="3000" spc="-5" dirty="0">
                <a:cs typeface="Calibri"/>
              </a:rPr>
              <a:t>of </a:t>
            </a:r>
            <a:r>
              <a:rPr lang="en-US" sz="3000" spc="-10" dirty="0">
                <a:cs typeface="Calibri"/>
              </a:rPr>
              <a:t>code</a:t>
            </a:r>
            <a:r>
              <a:rPr lang="en-US" sz="3000" spc="-110" dirty="0">
                <a:cs typeface="Calibri"/>
              </a:rPr>
              <a:t> </a:t>
            </a:r>
            <a:r>
              <a:rPr lang="en-US" sz="3000" spc="-25" dirty="0">
                <a:cs typeface="Calibri"/>
              </a:rPr>
              <a:t>to</a:t>
            </a:r>
            <a:r>
              <a:rPr lang="en-US" sz="3000" spc="-10" dirty="0">
                <a:cs typeface="Calibri"/>
              </a:rPr>
              <a:t> </a:t>
            </a:r>
            <a:r>
              <a:rPr lang="en-US" sz="3000" spc="-5" dirty="0">
                <a:cs typeface="Calibri"/>
              </a:rPr>
              <a:t>be </a:t>
            </a:r>
            <a:r>
              <a:rPr lang="en-US" sz="3000" spc="-665" dirty="0">
                <a:cs typeface="Calibri"/>
              </a:rPr>
              <a:t> </a:t>
            </a:r>
            <a:r>
              <a:rPr lang="en-US" sz="3000" spc="-45" dirty="0">
                <a:cs typeface="Calibri"/>
              </a:rPr>
              <a:t>executed</a:t>
            </a:r>
            <a:r>
              <a:rPr lang="en-US" sz="3000" spc="-105" dirty="0">
                <a:cs typeface="Calibri"/>
              </a:rPr>
              <a:t> </a:t>
            </a:r>
            <a:r>
              <a:rPr lang="en-US" sz="3000" dirty="0">
                <a:cs typeface="Calibri"/>
              </a:rPr>
              <a:t>if the</a:t>
            </a:r>
            <a:r>
              <a:rPr lang="en-US" sz="3000" spc="-60" dirty="0">
                <a:cs typeface="Calibri"/>
              </a:rPr>
              <a:t> </a:t>
            </a:r>
            <a:r>
              <a:rPr lang="en-US" sz="3000" spc="-5" dirty="0">
                <a:cs typeface="Calibri"/>
              </a:rPr>
              <a:t>condition</a:t>
            </a:r>
            <a:r>
              <a:rPr lang="en-US" sz="3000" spc="-130" dirty="0">
                <a:cs typeface="Calibri"/>
              </a:rPr>
              <a:t> </a:t>
            </a:r>
            <a:r>
              <a:rPr lang="en-US" sz="3000" dirty="0">
                <a:cs typeface="Calibri"/>
              </a:rPr>
              <a:t>is</a:t>
            </a:r>
            <a:r>
              <a:rPr lang="en-US" sz="3000" spc="-5" dirty="0">
                <a:cs typeface="Calibri"/>
              </a:rPr>
              <a:t> </a:t>
            </a:r>
            <a:r>
              <a:rPr lang="en-US" sz="3000" spc="-10" dirty="0">
                <a:cs typeface="Calibri"/>
              </a:rPr>
              <a:t>false.</a:t>
            </a:r>
            <a:endParaRPr lang="en-US" sz="3000" dirty="0">
              <a:cs typeface="Calibri"/>
            </a:endParaRPr>
          </a:p>
          <a:p>
            <a:pPr marL="12065" indent="0">
              <a:lnSpc>
                <a:spcPts val="3579"/>
              </a:lnSpc>
              <a:buNone/>
              <a:tabLst>
                <a:tab pos="356870" algn="l"/>
                <a:tab pos="357505" algn="l"/>
              </a:tabLst>
            </a:pPr>
            <a:r>
              <a:rPr lang="en-US" sz="3000" b="1" spc="-40" dirty="0">
                <a:solidFill>
                  <a:srgbClr val="7030A0"/>
                </a:solidFill>
                <a:cs typeface="Calibri"/>
              </a:rPr>
              <a:t>Syntax:</a:t>
            </a:r>
            <a:endParaRPr lang="en-US" sz="3000" b="1" dirty="0">
              <a:solidFill>
                <a:srgbClr val="7030A0"/>
              </a:solidFill>
              <a:cs typeface="Calibri"/>
            </a:endParaRPr>
          </a:p>
          <a:p>
            <a:pPr marL="0" indent="0">
              <a:lnSpc>
                <a:spcPct val="100000"/>
              </a:lnSpc>
              <a:buNone/>
            </a:pPr>
            <a:r>
              <a:rPr lang="en-US" sz="3000" dirty="0">
                <a:cs typeface="Calibri"/>
              </a:rPr>
              <a:t>if</a:t>
            </a:r>
            <a:r>
              <a:rPr lang="en-US" sz="3000" spc="-60" dirty="0">
                <a:cs typeface="Calibri"/>
              </a:rPr>
              <a:t> </a:t>
            </a:r>
            <a:r>
              <a:rPr lang="en-US" sz="3000" spc="-10" dirty="0">
                <a:cs typeface="Calibri"/>
              </a:rPr>
              <a:t>(</a:t>
            </a:r>
            <a:r>
              <a:rPr lang="en-US" sz="3000" i="1" spc="-10" dirty="0">
                <a:cs typeface="Calibri"/>
              </a:rPr>
              <a:t>condition</a:t>
            </a:r>
            <a:r>
              <a:rPr lang="en-US" sz="3000" spc="-10" dirty="0">
                <a:cs typeface="Calibri"/>
              </a:rPr>
              <a:t>)</a:t>
            </a:r>
            <a:r>
              <a:rPr lang="en-US" sz="3000" spc="-145" dirty="0">
                <a:cs typeface="Calibri"/>
              </a:rPr>
              <a:t> </a:t>
            </a:r>
            <a:r>
              <a:rPr lang="en-US" sz="3000" dirty="0">
                <a:cs typeface="Calibri"/>
              </a:rPr>
              <a:t>{</a:t>
            </a:r>
          </a:p>
          <a:p>
            <a:pPr marL="0" marR="86995" indent="0">
              <a:lnSpc>
                <a:spcPts val="2910"/>
              </a:lnSpc>
              <a:spcBef>
                <a:spcPts val="725"/>
              </a:spcBef>
              <a:buNone/>
            </a:pPr>
            <a:r>
              <a:rPr lang="en-US" sz="3000" i="1" spc="-10" dirty="0">
                <a:cs typeface="Calibri"/>
              </a:rPr>
              <a:t>//</a:t>
            </a:r>
            <a:r>
              <a:rPr lang="en-US" sz="3000" i="1" spc="-20" dirty="0">
                <a:cs typeface="Calibri"/>
              </a:rPr>
              <a:t> </a:t>
            </a:r>
            <a:r>
              <a:rPr lang="en-US" sz="3000" i="1" spc="-5" dirty="0">
                <a:cs typeface="Calibri"/>
              </a:rPr>
              <a:t>block</a:t>
            </a:r>
            <a:r>
              <a:rPr lang="en-US" sz="3000" i="1" spc="-50" dirty="0">
                <a:cs typeface="Calibri"/>
              </a:rPr>
              <a:t> </a:t>
            </a:r>
            <a:r>
              <a:rPr lang="en-US" sz="3000" i="1" spc="-5" dirty="0">
                <a:cs typeface="Calibri"/>
              </a:rPr>
              <a:t>of</a:t>
            </a:r>
            <a:r>
              <a:rPr lang="en-US" sz="3000" i="1" spc="-10" dirty="0">
                <a:cs typeface="Calibri"/>
              </a:rPr>
              <a:t> </a:t>
            </a:r>
            <a:r>
              <a:rPr lang="en-US" sz="3000" i="1" spc="-15" dirty="0">
                <a:cs typeface="Calibri"/>
              </a:rPr>
              <a:t>code</a:t>
            </a:r>
            <a:r>
              <a:rPr lang="en-US" sz="3000" i="1" spc="-50" dirty="0">
                <a:cs typeface="Calibri"/>
              </a:rPr>
              <a:t> </a:t>
            </a:r>
            <a:r>
              <a:rPr lang="en-US" sz="3000" i="1" spc="-35" dirty="0">
                <a:cs typeface="Calibri"/>
              </a:rPr>
              <a:t>to </a:t>
            </a:r>
            <a:r>
              <a:rPr lang="en-US" sz="3000" i="1" spc="-5" dirty="0">
                <a:cs typeface="Calibri"/>
              </a:rPr>
              <a:t>be</a:t>
            </a:r>
            <a:r>
              <a:rPr lang="en-US" sz="3000" i="1" spc="5" dirty="0">
                <a:cs typeface="Calibri"/>
              </a:rPr>
              <a:t> </a:t>
            </a:r>
            <a:r>
              <a:rPr lang="en-US" sz="3000" i="1" spc="-45" dirty="0">
                <a:cs typeface="Calibri"/>
              </a:rPr>
              <a:t>executed </a:t>
            </a:r>
            <a:r>
              <a:rPr lang="en-US" sz="3000" i="1" dirty="0">
                <a:cs typeface="Calibri"/>
              </a:rPr>
              <a:t>if</a:t>
            </a:r>
            <a:r>
              <a:rPr lang="en-US" sz="3000" i="1" spc="-5" dirty="0">
                <a:cs typeface="Calibri"/>
              </a:rPr>
              <a:t> </a:t>
            </a:r>
            <a:r>
              <a:rPr lang="en-US" sz="3000" i="1" dirty="0">
                <a:cs typeface="Calibri"/>
              </a:rPr>
              <a:t>the</a:t>
            </a:r>
            <a:r>
              <a:rPr lang="en-US" sz="3000" i="1" spc="-25" dirty="0">
                <a:cs typeface="Calibri"/>
              </a:rPr>
              <a:t> </a:t>
            </a:r>
            <a:r>
              <a:rPr lang="en-US" sz="3000" i="1" spc="-10" dirty="0">
                <a:cs typeface="Calibri"/>
              </a:rPr>
              <a:t>condition</a:t>
            </a:r>
            <a:r>
              <a:rPr lang="en-US" sz="3000" i="1" spc="-145" dirty="0">
                <a:cs typeface="Calibri"/>
              </a:rPr>
              <a:t> </a:t>
            </a:r>
            <a:r>
              <a:rPr lang="en-US" sz="3000" i="1" dirty="0">
                <a:cs typeface="Calibri"/>
              </a:rPr>
              <a:t>is </a:t>
            </a:r>
            <a:r>
              <a:rPr lang="en-US" sz="3000" i="1" spc="-665" dirty="0">
                <a:cs typeface="Calibri"/>
              </a:rPr>
              <a:t> </a:t>
            </a:r>
            <a:r>
              <a:rPr lang="en-US" sz="3000" i="1" dirty="0">
                <a:cs typeface="Calibri"/>
              </a:rPr>
              <a:t>true</a:t>
            </a:r>
            <a:r>
              <a:rPr lang="en-US" sz="3000" dirty="0">
                <a:cs typeface="Calibri"/>
              </a:rPr>
              <a:t>}</a:t>
            </a:r>
          </a:p>
          <a:p>
            <a:pPr marL="0" indent="0">
              <a:lnSpc>
                <a:spcPts val="3565"/>
              </a:lnSpc>
              <a:buNone/>
            </a:pPr>
            <a:r>
              <a:rPr lang="en-US" sz="3000" dirty="0">
                <a:cs typeface="Calibri"/>
              </a:rPr>
              <a:t>else</a:t>
            </a:r>
            <a:r>
              <a:rPr lang="en-US" sz="3000" spc="-125" dirty="0">
                <a:cs typeface="Calibri"/>
              </a:rPr>
              <a:t> </a:t>
            </a:r>
            <a:r>
              <a:rPr lang="en-US" sz="3000" dirty="0">
                <a:cs typeface="Calibri"/>
              </a:rPr>
              <a:t>{</a:t>
            </a:r>
          </a:p>
          <a:p>
            <a:pPr marL="12700" marR="5080" indent="0">
              <a:lnSpc>
                <a:spcPts val="2910"/>
              </a:lnSpc>
              <a:spcBef>
                <a:spcPts val="720"/>
              </a:spcBef>
              <a:buNone/>
            </a:pPr>
            <a:r>
              <a:rPr lang="en-US" sz="3000" i="1" spc="-10" dirty="0">
                <a:cs typeface="Calibri"/>
              </a:rPr>
              <a:t>//</a:t>
            </a:r>
            <a:r>
              <a:rPr lang="en-US" sz="3000" i="1" spc="-20" dirty="0">
                <a:cs typeface="Calibri"/>
              </a:rPr>
              <a:t> </a:t>
            </a:r>
            <a:r>
              <a:rPr lang="en-US" sz="3000" i="1" spc="-5" dirty="0">
                <a:cs typeface="Calibri"/>
              </a:rPr>
              <a:t>block</a:t>
            </a:r>
            <a:r>
              <a:rPr lang="en-US" sz="3000" i="1" spc="-50" dirty="0">
                <a:cs typeface="Calibri"/>
              </a:rPr>
              <a:t> </a:t>
            </a:r>
            <a:r>
              <a:rPr lang="en-US" sz="3000" i="1" spc="-5" dirty="0">
                <a:cs typeface="Calibri"/>
              </a:rPr>
              <a:t>of</a:t>
            </a:r>
            <a:r>
              <a:rPr lang="en-US" sz="3000" i="1" spc="-35" dirty="0">
                <a:cs typeface="Calibri"/>
              </a:rPr>
              <a:t> </a:t>
            </a:r>
            <a:r>
              <a:rPr lang="en-US" sz="3000" i="1" spc="-30" dirty="0">
                <a:cs typeface="Calibri"/>
              </a:rPr>
              <a:t>code</a:t>
            </a:r>
            <a:r>
              <a:rPr lang="en-US" sz="3000" i="1" spc="25" dirty="0">
                <a:cs typeface="Calibri"/>
              </a:rPr>
              <a:t> </a:t>
            </a:r>
            <a:r>
              <a:rPr lang="en-US" sz="3000" i="1" spc="-35" dirty="0">
                <a:cs typeface="Calibri"/>
              </a:rPr>
              <a:t>to </a:t>
            </a:r>
            <a:r>
              <a:rPr lang="en-US" sz="3000" i="1" spc="-5" dirty="0">
                <a:cs typeface="Calibri"/>
              </a:rPr>
              <a:t>be</a:t>
            </a:r>
            <a:r>
              <a:rPr lang="en-US" sz="3000" i="1" dirty="0">
                <a:cs typeface="Calibri"/>
              </a:rPr>
              <a:t> </a:t>
            </a:r>
            <a:r>
              <a:rPr lang="en-US" sz="3000" i="1" spc="-45" dirty="0">
                <a:cs typeface="Calibri"/>
              </a:rPr>
              <a:t>executed </a:t>
            </a:r>
            <a:r>
              <a:rPr lang="en-US" sz="3000" i="1" dirty="0">
                <a:cs typeface="Calibri"/>
              </a:rPr>
              <a:t>if</a:t>
            </a:r>
            <a:r>
              <a:rPr lang="en-US" sz="3000" i="1" spc="-30" dirty="0">
                <a:cs typeface="Calibri"/>
              </a:rPr>
              <a:t> </a:t>
            </a:r>
            <a:r>
              <a:rPr lang="en-US" sz="3000" i="1" dirty="0">
                <a:cs typeface="Calibri"/>
              </a:rPr>
              <a:t>the</a:t>
            </a:r>
            <a:r>
              <a:rPr lang="en-US" sz="3000" i="1" spc="-10" dirty="0">
                <a:cs typeface="Calibri"/>
              </a:rPr>
              <a:t> condition</a:t>
            </a:r>
            <a:r>
              <a:rPr lang="en-US" sz="3000" i="1" spc="-145" dirty="0">
                <a:cs typeface="Calibri"/>
              </a:rPr>
              <a:t> </a:t>
            </a:r>
            <a:r>
              <a:rPr lang="en-US" sz="3000" i="1" dirty="0">
                <a:cs typeface="Calibri"/>
              </a:rPr>
              <a:t>is </a:t>
            </a:r>
            <a:r>
              <a:rPr lang="en-US" sz="3000" i="1" spc="-665" dirty="0">
                <a:cs typeface="Calibri"/>
              </a:rPr>
              <a:t> </a:t>
            </a:r>
            <a:r>
              <a:rPr lang="en-US" sz="3000" i="1" spc="-35" dirty="0">
                <a:cs typeface="Calibri"/>
              </a:rPr>
              <a:t>false</a:t>
            </a:r>
            <a:endParaRPr lang="en-US" sz="3000" dirty="0">
              <a:cs typeface="Calibri"/>
            </a:endParaRPr>
          </a:p>
          <a:p>
            <a:pPr marL="0" indent="0">
              <a:lnSpc>
                <a:spcPts val="3540"/>
              </a:lnSpc>
              <a:buNone/>
            </a:pPr>
            <a:r>
              <a:rPr lang="en-US" sz="3000" dirty="0">
                <a:cs typeface="Calibri"/>
              </a:rPr>
              <a:t>}</a:t>
            </a:r>
          </a:p>
          <a:p>
            <a:r>
              <a:rPr lang="en-IN" b="1" dirty="0">
                <a:solidFill>
                  <a:srgbClr val="7030A0"/>
                </a:solidFill>
              </a:rPr>
              <a:t>Real time Example</a:t>
            </a:r>
          </a:p>
          <a:p>
            <a:pPr marL="0" indent="0">
              <a:buNone/>
            </a:pPr>
            <a:r>
              <a:rPr lang="en-US" sz="2800" b="1" spc="-5" dirty="0">
                <a:solidFill>
                  <a:srgbClr val="7030A0"/>
                </a:solidFill>
                <a:cs typeface="Calibri"/>
              </a:rPr>
              <a:t>If there is raining . we  will not play in the </a:t>
            </a:r>
            <a:r>
              <a:rPr lang="en-US" sz="2800" b="1" spc="-5" dirty="0" err="1">
                <a:solidFill>
                  <a:srgbClr val="7030A0"/>
                </a:solidFill>
                <a:cs typeface="Calibri"/>
              </a:rPr>
              <a:t>ground,else</a:t>
            </a:r>
            <a:endParaRPr lang="en-US" sz="2800" b="1" spc="-5" dirty="0">
              <a:solidFill>
                <a:srgbClr val="7030A0"/>
              </a:solidFill>
              <a:cs typeface="Calibri"/>
            </a:endParaRPr>
          </a:p>
          <a:p>
            <a:pPr marL="0" indent="0">
              <a:buNone/>
            </a:pPr>
            <a:r>
              <a:rPr lang="en-US" b="1" spc="-5" dirty="0">
                <a:solidFill>
                  <a:srgbClr val="7030A0"/>
                </a:solidFill>
                <a:cs typeface="Calibri"/>
              </a:rPr>
              <a:t>We will play in the ground.</a:t>
            </a:r>
            <a:endParaRPr lang="en-US" sz="2800" b="1" dirty="0">
              <a:solidFill>
                <a:srgbClr val="7030A0"/>
              </a:solidFill>
              <a:cs typeface="Calibri"/>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42582226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819" y="404665"/>
            <a:ext cx="10823511" cy="6294715"/>
          </a:xfrm>
        </p:spPr>
        <p:txBody>
          <a:bodyPr/>
          <a:lstStyle/>
          <a:p>
            <a:pPr marL="0" indent="0">
              <a:buNone/>
            </a:pPr>
            <a:r>
              <a:rPr lang="en-IN" b="1" spc="-10" dirty="0">
                <a:solidFill>
                  <a:srgbClr val="7030A0"/>
                </a:solidFill>
              </a:rPr>
              <a:t>Else</a:t>
            </a:r>
            <a:r>
              <a:rPr lang="en-IN" b="1" spc="-55" dirty="0">
                <a:solidFill>
                  <a:srgbClr val="7030A0"/>
                </a:solidFill>
              </a:rPr>
              <a:t> </a:t>
            </a:r>
            <a:r>
              <a:rPr lang="en-IN" b="1" spc="-5" dirty="0">
                <a:solidFill>
                  <a:srgbClr val="7030A0"/>
                </a:solidFill>
              </a:rPr>
              <a:t>if</a:t>
            </a:r>
            <a:r>
              <a:rPr lang="en-IN" b="1" spc="-60" dirty="0">
                <a:solidFill>
                  <a:srgbClr val="7030A0"/>
                </a:solidFill>
              </a:rPr>
              <a:t> </a:t>
            </a:r>
            <a:r>
              <a:rPr lang="en-IN" b="1" spc="-30" dirty="0">
                <a:solidFill>
                  <a:srgbClr val="7030A0"/>
                </a:solidFill>
              </a:rPr>
              <a:t>statement</a:t>
            </a:r>
          </a:p>
          <a:p>
            <a:pPr marL="12065" marR="205104" indent="0">
              <a:lnSpc>
                <a:spcPts val="2620"/>
              </a:lnSpc>
              <a:spcBef>
                <a:spcPts val="715"/>
              </a:spcBef>
              <a:buNone/>
              <a:tabLst>
                <a:tab pos="356870" algn="l"/>
                <a:tab pos="357505" algn="l"/>
              </a:tabLst>
            </a:pPr>
            <a:r>
              <a:rPr lang="en-US" sz="3000" dirty="0">
                <a:cs typeface="Calibri"/>
              </a:rPr>
              <a:t> else</a:t>
            </a:r>
            <a:r>
              <a:rPr lang="en-US" sz="3000" spc="-40" dirty="0">
                <a:cs typeface="Calibri"/>
              </a:rPr>
              <a:t> </a:t>
            </a:r>
            <a:r>
              <a:rPr lang="en-US" sz="3000" dirty="0">
                <a:cs typeface="Calibri"/>
              </a:rPr>
              <a:t>if</a:t>
            </a:r>
            <a:r>
              <a:rPr lang="en-US" sz="3000" spc="5" dirty="0">
                <a:cs typeface="Calibri"/>
              </a:rPr>
              <a:t> </a:t>
            </a:r>
            <a:r>
              <a:rPr lang="en-US" sz="3000" spc="-35" dirty="0">
                <a:cs typeface="Calibri"/>
              </a:rPr>
              <a:t>statement</a:t>
            </a:r>
            <a:r>
              <a:rPr lang="en-US" sz="3000" spc="-114" dirty="0">
                <a:cs typeface="Calibri"/>
              </a:rPr>
              <a:t> </a:t>
            </a:r>
            <a:r>
              <a:rPr lang="en-US" sz="3000" spc="-10" dirty="0">
                <a:cs typeface="Calibri"/>
              </a:rPr>
              <a:t>to</a:t>
            </a:r>
            <a:r>
              <a:rPr lang="en-US" sz="3000" spc="-70" dirty="0">
                <a:cs typeface="Calibri"/>
              </a:rPr>
              <a:t> </a:t>
            </a:r>
            <a:r>
              <a:rPr lang="en-US" sz="3000" dirty="0">
                <a:cs typeface="Calibri"/>
              </a:rPr>
              <a:t>specify</a:t>
            </a:r>
            <a:r>
              <a:rPr lang="en-US" sz="3000" spc="-70" dirty="0">
                <a:cs typeface="Calibri"/>
              </a:rPr>
              <a:t> </a:t>
            </a:r>
            <a:r>
              <a:rPr lang="en-US" sz="3000" spc="5" dirty="0">
                <a:cs typeface="Calibri"/>
              </a:rPr>
              <a:t>a</a:t>
            </a:r>
            <a:r>
              <a:rPr lang="en-US" sz="3000" spc="-35" dirty="0">
                <a:cs typeface="Calibri"/>
              </a:rPr>
              <a:t> </a:t>
            </a:r>
            <a:r>
              <a:rPr lang="en-US" sz="3000" spc="-10" dirty="0">
                <a:cs typeface="Calibri"/>
              </a:rPr>
              <a:t>new</a:t>
            </a:r>
            <a:r>
              <a:rPr lang="en-US" sz="3000" spc="-25" dirty="0">
                <a:cs typeface="Calibri"/>
              </a:rPr>
              <a:t> </a:t>
            </a:r>
            <a:r>
              <a:rPr lang="en-US" sz="3000" dirty="0">
                <a:cs typeface="Calibri"/>
              </a:rPr>
              <a:t>condition</a:t>
            </a:r>
            <a:r>
              <a:rPr lang="en-US" sz="3000" spc="-135" dirty="0">
                <a:cs typeface="Calibri"/>
              </a:rPr>
              <a:t> </a:t>
            </a:r>
            <a:r>
              <a:rPr lang="en-US" sz="3000" dirty="0">
                <a:cs typeface="Calibri"/>
              </a:rPr>
              <a:t>if</a:t>
            </a:r>
            <a:r>
              <a:rPr lang="en-US" sz="3000" spc="10" dirty="0">
                <a:cs typeface="Calibri"/>
              </a:rPr>
              <a:t> </a:t>
            </a:r>
            <a:r>
              <a:rPr lang="en-US" sz="3000" spc="5" dirty="0">
                <a:cs typeface="Calibri"/>
              </a:rPr>
              <a:t>the</a:t>
            </a:r>
            <a:r>
              <a:rPr lang="en-US" sz="3000" spc="-45" dirty="0">
                <a:cs typeface="Calibri"/>
              </a:rPr>
              <a:t> </a:t>
            </a:r>
            <a:r>
              <a:rPr lang="en-US" sz="3000" spc="-40" dirty="0">
                <a:cs typeface="Calibri"/>
              </a:rPr>
              <a:t>first </a:t>
            </a:r>
            <a:r>
              <a:rPr lang="en-US" sz="3000" spc="-595" dirty="0">
                <a:cs typeface="Calibri"/>
              </a:rPr>
              <a:t> </a:t>
            </a:r>
            <a:r>
              <a:rPr lang="en-US" sz="3000" dirty="0">
                <a:cs typeface="Calibri"/>
              </a:rPr>
              <a:t>condition</a:t>
            </a:r>
            <a:r>
              <a:rPr lang="en-US" sz="3000" spc="-150" dirty="0">
                <a:cs typeface="Calibri"/>
              </a:rPr>
              <a:t> </a:t>
            </a:r>
            <a:r>
              <a:rPr lang="en-US" sz="3000" dirty="0">
                <a:cs typeface="Calibri"/>
              </a:rPr>
              <a:t>is</a:t>
            </a:r>
            <a:r>
              <a:rPr lang="en-US" sz="3000" spc="-40" dirty="0">
                <a:cs typeface="Calibri"/>
              </a:rPr>
              <a:t> </a:t>
            </a:r>
            <a:r>
              <a:rPr lang="en-US" sz="3000" spc="-10" dirty="0">
                <a:cs typeface="Calibri"/>
              </a:rPr>
              <a:t>false.</a:t>
            </a:r>
            <a:endParaRPr lang="en-US" sz="3000" dirty="0">
              <a:cs typeface="Calibri"/>
            </a:endParaRPr>
          </a:p>
          <a:p>
            <a:pPr marL="0" indent="0">
              <a:lnSpc>
                <a:spcPts val="3135"/>
              </a:lnSpc>
              <a:buNone/>
            </a:pPr>
            <a:r>
              <a:rPr lang="en-US" sz="3000" b="1" spc="-35" dirty="0">
                <a:solidFill>
                  <a:srgbClr val="7030A0"/>
                </a:solidFill>
                <a:cs typeface="Calibri"/>
              </a:rPr>
              <a:t>Syntax:</a:t>
            </a:r>
            <a:endParaRPr lang="en-US" sz="3000" b="1" dirty="0">
              <a:solidFill>
                <a:srgbClr val="7030A0"/>
              </a:solidFill>
              <a:cs typeface="Calibri"/>
            </a:endParaRPr>
          </a:p>
          <a:p>
            <a:pPr marL="0" indent="0">
              <a:lnSpc>
                <a:spcPts val="3360"/>
              </a:lnSpc>
              <a:buNone/>
            </a:pPr>
            <a:r>
              <a:rPr lang="en-US" sz="3000" dirty="0">
                <a:cs typeface="Calibri"/>
              </a:rPr>
              <a:t>if</a:t>
            </a:r>
            <a:r>
              <a:rPr lang="en-US" sz="3000" spc="-30" dirty="0">
                <a:cs typeface="Calibri"/>
              </a:rPr>
              <a:t> </a:t>
            </a:r>
            <a:r>
              <a:rPr lang="en-US" sz="3000" spc="-15" dirty="0">
                <a:cs typeface="Calibri"/>
              </a:rPr>
              <a:t>(</a:t>
            </a:r>
            <a:r>
              <a:rPr lang="en-US" sz="3000" i="1" spc="-15" dirty="0">
                <a:cs typeface="Calibri"/>
              </a:rPr>
              <a:t>c</a:t>
            </a:r>
            <a:r>
              <a:rPr lang="en-US" sz="3000" i="1" spc="-5" dirty="0">
                <a:cs typeface="Calibri"/>
              </a:rPr>
              <a:t>onditi</a:t>
            </a:r>
            <a:r>
              <a:rPr lang="en-US" sz="3000" i="1" spc="-25" dirty="0">
                <a:cs typeface="Calibri"/>
              </a:rPr>
              <a:t>o</a:t>
            </a:r>
            <a:r>
              <a:rPr lang="en-US" sz="3000" i="1" dirty="0">
                <a:cs typeface="Calibri"/>
              </a:rPr>
              <a:t>n</a:t>
            </a:r>
            <a:r>
              <a:rPr lang="en-US" sz="3000" i="1" spc="-15" dirty="0">
                <a:cs typeface="Calibri"/>
              </a:rPr>
              <a:t>1</a:t>
            </a:r>
            <a:r>
              <a:rPr lang="en-US" sz="3000" dirty="0">
                <a:cs typeface="Calibri"/>
              </a:rPr>
              <a:t>)</a:t>
            </a:r>
            <a:r>
              <a:rPr lang="en-US" sz="3000" spc="-145" dirty="0">
                <a:cs typeface="Calibri"/>
              </a:rPr>
              <a:t> </a:t>
            </a:r>
            <a:r>
              <a:rPr lang="en-US" sz="3000" dirty="0">
                <a:cs typeface="Calibri"/>
              </a:rPr>
              <a:t>{</a:t>
            </a:r>
          </a:p>
          <a:p>
            <a:pPr marL="12700" marR="448945" indent="0">
              <a:lnSpc>
                <a:spcPct val="80000"/>
              </a:lnSpc>
              <a:spcBef>
                <a:spcPts val="795"/>
              </a:spcBef>
              <a:buNone/>
            </a:pPr>
            <a:r>
              <a:rPr lang="en-US" sz="3000" i="1" spc="-5" dirty="0">
                <a:solidFill>
                  <a:srgbClr val="001F5F"/>
                </a:solidFill>
                <a:cs typeface="Calibri"/>
              </a:rPr>
              <a:t>//</a:t>
            </a:r>
            <a:r>
              <a:rPr lang="en-US" sz="3000" i="1" dirty="0">
                <a:solidFill>
                  <a:srgbClr val="001F5F"/>
                </a:solidFill>
                <a:cs typeface="Calibri"/>
              </a:rPr>
              <a:t> block</a:t>
            </a:r>
            <a:r>
              <a:rPr lang="en-US" sz="3000" i="1" spc="-70" dirty="0">
                <a:solidFill>
                  <a:srgbClr val="001F5F"/>
                </a:solidFill>
                <a:cs typeface="Calibri"/>
              </a:rPr>
              <a:t> </a:t>
            </a:r>
            <a:r>
              <a:rPr lang="en-US" sz="3000" i="1" dirty="0">
                <a:solidFill>
                  <a:srgbClr val="001F5F"/>
                </a:solidFill>
                <a:cs typeface="Calibri"/>
              </a:rPr>
              <a:t>of</a:t>
            </a:r>
            <a:r>
              <a:rPr lang="en-US" sz="3000" i="1" spc="-5" dirty="0">
                <a:solidFill>
                  <a:srgbClr val="001F5F"/>
                </a:solidFill>
                <a:cs typeface="Calibri"/>
              </a:rPr>
              <a:t> code</a:t>
            </a:r>
            <a:r>
              <a:rPr lang="en-US" sz="3000" i="1" spc="-55" dirty="0">
                <a:solidFill>
                  <a:srgbClr val="001F5F"/>
                </a:solidFill>
                <a:cs typeface="Calibri"/>
              </a:rPr>
              <a:t> </a:t>
            </a:r>
            <a:r>
              <a:rPr lang="en-US" sz="3000" i="1" spc="-25" dirty="0">
                <a:solidFill>
                  <a:srgbClr val="001F5F"/>
                </a:solidFill>
                <a:cs typeface="Calibri"/>
              </a:rPr>
              <a:t>to</a:t>
            </a:r>
            <a:r>
              <a:rPr lang="en-US" sz="3000" i="1" spc="-35" dirty="0">
                <a:solidFill>
                  <a:srgbClr val="001F5F"/>
                </a:solidFill>
                <a:cs typeface="Calibri"/>
              </a:rPr>
              <a:t> </a:t>
            </a:r>
            <a:r>
              <a:rPr lang="en-US" sz="3000" i="1" dirty="0">
                <a:solidFill>
                  <a:srgbClr val="001F5F"/>
                </a:solidFill>
                <a:cs typeface="Calibri"/>
              </a:rPr>
              <a:t>be</a:t>
            </a:r>
            <a:r>
              <a:rPr lang="en-US" sz="3000" i="1" spc="-5" dirty="0">
                <a:solidFill>
                  <a:srgbClr val="001F5F"/>
                </a:solidFill>
                <a:cs typeface="Calibri"/>
              </a:rPr>
              <a:t> </a:t>
            </a:r>
            <a:r>
              <a:rPr lang="en-US" sz="3000" i="1" spc="-35" dirty="0">
                <a:solidFill>
                  <a:srgbClr val="001F5F"/>
                </a:solidFill>
                <a:cs typeface="Calibri"/>
              </a:rPr>
              <a:t>executed</a:t>
            </a:r>
            <a:r>
              <a:rPr lang="en-US" sz="3000" i="1" spc="-105" dirty="0">
                <a:solidFill>
                  <a:srgbClr val="001F5F"/>
                </a:solidFill>
                <a:cs typeface="Calibri"/>
              </a:rPr>
              <a:t> </a:t>
            </a:r>
            <a:r>
              <a:rPr lang="en-US" sz="3000" i="1" dirty="0">
                <a:solidFill>
                  <a:srgbClr val="001F5F"/>
                </a:solidFill>
                <a:cs typeface="Calibri"/>
              </a:rPr>
              <a:t>if</a:t>
            </a:r>
            <a:r>
              <a:rPr lang="en-US" sz="3000" i="1" spc="-25" dirty="0">
                <a:solidFill>
                  <a:srgbClr val="001F5F"/>
                </a:solidFill>
                <a:cs typeface="Calibri"/>
              </a:rPr>
              <a:t> </a:t>
            </a:r>
            <a:r>
              <a:rPr lang="en-US" sz="3000" i="1" spc="-5" dirty="0">
                <a:solidFill>
                  <a:srgbClr val="001F5F"/>
                </a:solidFill>
                <a:cs typeface="Calibri"/>
              </a:rPr>
              <a:t>condition1</a:t>
            </a:r>
            <a:r>
              <a:rPr lang="en-US" sz="3000" i="1" spc="-130" dirty="0">
                <a:solidFill>
                  <a:srgbClr val="001F5F"/>
                </a:solidFill>
                <a:cs typeface="Calibri"/>
              </a:rPr>
              <a:t> </a:t>
            </a:r>
            <a:r>
              <a:rPr lang="en-US" sz="3000" i="1" dirty="0">
                <a:solidFill>
                  <a:srgbClr val="001F5F"/>
                </a:solidFill>
                <a:cs typeface="Calibri"/>
              </a:rPr>
              <a:t>is </a:t>
            </a:r>
            <a:r>
              <a:rPr lang="en-US" sz="3000" i="1" spc="-5" dirty="0">
                <a:solidFill>
                  <a:srgbClr val="001F5F"/>
                </a:solidFill>
                <a:cs typeface="Calibri"/>
              </a:rPr>
              <a:t>true</a:t>
            </a:r>
            <a:r>
              <a:rPr lang="en-US" sz="3000" i="1" spc="15" dirty="0">
                <a:solidFill>
                  <a:srgbClr val="001F5F"/>
                </a:solidFill>
                <a:cs typeface="Calibri"/>
              </a:rPr>
              <a:t> </a:t>
            </a:r>
            <a:r>
              <a:rPr lang="en-US" sz="3000" dirty="0">
                <a:cs typeface="Calibri"/>
              </a:rPr>
              <a:t>} </a:t>
            </a:r>
            <a:r>
              <a:rPr lang="en-US" sz="3000" spc="-615" dirty="0">
                <a:cs typeface="Calibri"/>
              </a:rPr>
              <a:t> </a:t>
            </a:r>
            <a:r>
              <a:rPr lang="en-US" sz="3000" dirty="0">
                <a:cs typeface="Calibri"/>
              </a:rPr>
              <a:t>else</a:t>
            </a:r>
            <a:r>
              <a:rPr lang="en-US" sz="3000" spc="-45" dirty="0">
                <a:cs typeface="Calibri"/>
              </a:rPr>
              <a:t> </a:t>
            </a:r>
            <a:r>
              <a:rPr lang="en-US" sz="3000" dirty="0">
                <a:cs typeface="Calibri"/>
              </a:rPr>
              <a:t>if</a:t>
            </a:r>
            <a:r>
              <a:rPr lang="en-US" sz="3000" spc="-55" dirty="0">
                <a:cs typeface="Calibri"/>
              </a:rPr>
              <a:t> </a:t>
            </a:r>
            <a:r>
              <a:rPr lang="en-US" sz="3000" spc="-5" dirty="0">
                <a:cs typeface="Calibri"/>
              </a:rPr>
              <a:t>(</a:t>
            </a:r>
            <a:r>
              <a:rPr lang="en-US" sz="3000" i="1" spc="-5" dirty="0">
                <a:cs typeface="Calibri"/>
              </a:rPr>
              <a:t>condition2</a:t>
            </a:r>
            <a:r>
              <a:rPr lang="en-US" sz="3000" spc="-5" dirty="0">
                <a:cs typeface="Calibri"/>
              </a:rPr>
              <a:t>)</a:t>
            </a:r>
            <a:r>
              <a:rPr lang="en-US" sz="3000" spc="-95" dirty="0">
                <a:cs typeface="Calibri"/>
              </a:rPr>
              <a:t> </a:t>
            </a:r>
            <a:r>
              <a:rPr lang="en-US" sz="3000" dirty="0">
                <a:cs typeface="Calibri"/>
              </a:rPr>
              <a:t>{</a:t>
            </a:r>
          </a:p>
          <a:p>
            <a:pPr marL="12700" marR="5080" indent="0">
              <a:lnSpc>
                <a:spcPts val="2690"/>
              </a:lnSpc>
              <a:spcBef>
                <a:spcPts val="700"/>
              </a:spcBef>
              <a:buNone/>
            </a:pPr>
            <a:r>
              <a:rPr lang="en-US" sz="3000" i="1" spc="-5" dirty="0">
                <a:solidFill>
                  <a:srgbClr val="001F5F"/>
                </a:solidFill>
                <a:cs typeface="Calibri"/>
              </a:rPr>
              <a:t>//</a:t>
            </a:r>
            <a:r>
              <a:rPr lang="en-US" sz="3000" i="1" spc="5" dirty="0">
                <a:solidFill>
                  <a:srgbClr val="001F5F"/>
                </a:solidFill>
                <a:cs typeface="Calibri"/>
              </a:rPr>
              <a:t> </a:t>
            </a:r>
            <a:r>
              <a:rPr lang="en-US" sz="3000" i="1" dirty="0">
                <a:solidFill>
                  <a:srgbClr val="001F5F"/>
                </a:solidFill>
                <a:cs typeface="Calibri"/>
              </a:rPr>
              <a:t>block</a:t>
            </a:r>
            <a:r>
              <a:rPr lang="en-US" sz="3000" i="1" spc="-65" dirty="0">
                <a:solidFill>
                  <a:srgbClr val="001F5F"/>
                </a:solidFill>
                <a:cs typeface="Calibri"/>
              </a:rPr>
              <a:t> </a:t>
            </a:r>
            <a:r>
              <a:rPr lang="en-US" sz="3000" i="1" dirty="0">
                <a:solidFill>
                  <a:srgbClr val="001F5F"/>
                </a:solidFill>
                <a:cs typeface="Calibri"/>
              </a:rPr>
              <a:t>of</a:t>
            </a:r>
            <a:r>
              <a:rPr lang="en-US" sz="3000" i="1" spc="-5" dirty="0">
                <a:solidFill>
                  <a:srgbClr val="001F5F"/>
                </a:solidFill>
                <a:cs typeface="Calibri"/>
              </a:rPr>
              <a:t> code</a:t>
            </a:r>
            <a:r>
              <a:rPr lang="en-US" sz="3000" i="1" spc="-60" dirty="0">
                <a:solidFill>
                  <a:srgbClr val="001F5F"/>
                </a:solidFill>
                <a:cs typeface="Calibri"/>
              </a:rPr>
              <a:t> </a:t>
            </a:r>
            <a:r>
              <a:rPr lang="en-US" sz="3000" i="1" spc="-25" dirty="0">
                <a:solidFill>
                  <a:srgbClr val="001F5F"/>
                </a:solidFill>
                <a:cs typeface="Calibri"/>
              </a:rPr>
              <a:t>to</a:t>
            </a:r>
            <a:r>
              <a:rPr lang="en-US" sz="3000" i="1" spc="-40" dirty="0">
                <a:solidFill>
                  <a:srgbClr val="001F5F"/>
                </a:solidFill>
                <a:cs typeface="Calibri"/>
              </a:rPr>
              <a:t> </a:t>
            </a:r>
            <a:r>
              <a:rPr lang="en-US" sz="3000" i="1" dirty="0">
                <a:solidFill>
                  <a:srgbClr val="001F5F"/>
                </a:solidFill>
                <a:cs typeface="Calibri"/>
              </a:rPr>
              <a:t>be</a:t>
            </a:r>
            <a:r>
              <a:rPr lang="en-US" sz="3000" i="1" spc="-5" dirty="0">
                <a:solidFill>
                  <a:srgbClr val="001F5F"/>
                </a:solidFill>
                <a:cs typeface="Calibri"/>
              </a:rPr>
              <a:t> </a:t>
            </a:r>
            <a:r>
              <a:rPr lang="en-US" sz="3000" i="1" spc="-35" dirty="0">
                <a:solidFill>
                  <a:srgbClr val="001F5F"/>
                </a:solidFill>
                <a:cs typeface="Calibri"/>
              </a:rPr>
              <a:t>executed</a:t>
            </a:r>
            <a:r>
              <a:rPr lang="en-US" sz="3000" i="1" spc="-114" dirty="0">
                <a:solidFill>
                  <a:srgbClr val="001F5F"/>
                </a:solidFill>
                <a:cs typeface="Calibri"/>
              </a:rPr>
              <a:t> </a:t>
            </a:r>
            <a:r>
              <a:rPr lang="en-US" sz="3000" i="1" dirty="0">
                <a:solidFill>
                  <a:srgbClr val="001F5F"/>
                </a:solidFill>
                <a:cs typeface="Calibri"/>
              </a:rPr>
              <a:t>if</a:t>
            </a:r>
            <a:r>
              <a:rPr lang="en-US" sz="3000" i="1" spc="-5" dirty="0">
                <a:solidFill>
                  <a:srgbClr val="001F5F"/>
                </a:solidFill>
                <a:cs typeface="Calibri"/>
              </a:rPr>
              <a:t> </a:t>
            </a:r>
            <a:r>
              <a:rPr lang="en-US" sz="3000" i="1" dirty="0">
                <a:solidFill>
                  <a:srgbClr val="001F5F"/>
                </a:solidFill>
                <a:cs typeface="Calibri"/>
              </a:rPr>
              <a:t>the</a:t>
            </a:r>
            <a:r>
              <a:rPr lang="en-US" sz="3000" i="1" spc="-35" dirty="0">
                <a:solidFill>
                  <a:srgbClr val="001F5F"/>
                </a:solidFill>
                <a:cs typeface="Calibri"/>
              </a:rPr>
              <a:t> </a:t>
            </a:r>
            <a:r>
              <a:rPr lang="en-US" sz="3000" i="1" spc="-5" dirty="0">
                <a:solidFill>
                  <a:srgbClr val="001F5F"/>
                </a:solidFill>
                <a:cs typeface="Calibri"/>
              </a:rPr>
              <a:t>condition1</a:t>
            </a:r>
            <a:r>
              <a:rPr lang="en-US" sz="3000" i="1" spc="-114" dirty="0">
                <a:solidFill>
                  <a:srgbClr val="001F5F"/>
                </a:solidFill>
                <a:cs typeface="Calibri"/>
              </a:rPr>
              <a:t> </a:t>
            </a:r>
            <a:r>
              <a:rPr lang="en-US" sz="3000" i="1" dirty="0">
                <a:solidFill>
                  <a:srgbClr val="001F5F"/>
                </a:solidFill>
                <a:cs typeface="Calibri"/>
              </a:rPr>
              <a:t>is </a:t>
            </a:r>
            <a:r>
              <a:rPr lang="en-US" sz="3000" i="1" spc="-5" dirty="0">
                <a:solidFill>
                  <a:srgbClr val="001F5F"/>
                </a:solidFill>
                <a:cs typeface="Calibri"/>
              </a:rPr>
              <a:t>false </a:t>
            </a:r>
            <a:r>
              <a:rPr lang="en-US" sz="3000" i="1" spc="-620" dirty="0">
                <a:solidFill>
                  <a:srgbClr val="001F5F"/>
                </a:solidFill>
                <a:cs typeface="Calibri"/>
              </a:rPr>
              <a:t> </a:t>
            </a:r>
            <a:r>
              <a:rPr lang="en-US" sz="3000" i="1" dirty="0">
                <a:solidFill>
                  <a:srgbClr val="001F5F"/>
                </a:solidFill>
                <a:cs typeface="Calibri"/>
              </a:rPr>
              <a:t>and</a:t>
            </a:r>
            <a:r>
              <a:rPr lang="en-US" sz="3000" i="1" spc="-40" dirty="0">
                <a:solidFill>
                  <a:srgbClr val="001F5F"/>
                </a:solidFill>
                <a:cs typeface="Calibri"/>
              </a:rPr>
              <a:t> </a:t>
            </a:r>
            <a:r>
              <a:rPr lang="en-US" sz="3000" i="1" spc="-5" dirty="0">
                <a:solidFill>
                  <a:srgbClr val="001F5F"/>
                </a:solidFill>
                <a:cs typeface="Calibri"/>
              </a:rPr>
              <a:t>condition2</a:t>
            </a:r>
            <a:r>
              <a:rPr lang="en-US" sz="3000" i="1" spc="-114" dirty="0">
                <a:solidFill>
                  <a:srgbClr val="001F5F"/>
                </a:solidFill>
                <a:cs typeface="Calibri"/>
              </a:rPr>
              <a:t> </a:t>
            </a:r>
            <a:r>
              <a:rPr lang="en-US" sz="3000" i="1" dirty="0">
                <a:solidFill>
                  <a:srgbClr val="001F5F"/>
                </a:solidFill>
                <a:cs typeface="Calibri"/>
              </a:rPr>
              <a:t>is</a:t>
            </a:r>
            <a:r>
              <a:rPr lang="en-US" sz="3000" i="1" spc="15" dirty="0">
                <a:solidFill>
                  <a:srgbClr val="001F5F"/>
                </a:solidFill>
                <a:cs typeface="Calibri"/>
              </a:rPr>
              <a:t> </a:t>
            </a:r>
            <a:r>
              <a:rPr lang="en-US" sz="3000" i="1" spc="-5" dirty="0">
                <a:solidFill>
                  <a:srgbClr val="001F5F"/>
                </a:solidFill>
                <a:cs typeface="Calibri"/>
              </a:rPr>
              <a:t>true</a:t>
            </a:r>
            <a:r>
              <a:rPr lang="en-US" sz="3000" i="1" spc="-20" dirty="0">
                <a:solidFill>
                  <a:srgbClr val="001F5F"/>
                </a:solidFill>
                <a:cs typeface="Calibri"/>
              </a:rPr>
              <a:t> </a:t>
            </a:r>
            <a:r>
              <a:rPr lang="en-US" sz="3000" dirty="0">
                <a:cs typeface="Calibri"/>
              </a:rPr>
              <a:t>}</a:t>
            </a:r>
          </a:p>
          <a:p>
            <a:pPr marL="0" indent="0">
              <a:lnSpc>
                <a:spcPts val="3220"/>
              </a:lnSpc>
              <a:buNone/>
            </a:pPr>
            <a:r>
              <a:rPr lang="en-US" sz="3000" dirty="0">
                <a:cs typeface="Calibri"/>
              </a:rPr>
              <a:t>else</a:t>
            </a:r>
            <a:r>
              <a:rPr lang="en-US" sz="3000" spc="-125" dirty="0">
                <a:cs typeface="Calibri"/>
              </a:rPr>
              <a:t> </a:t>
            </a:r>
            <a:r>
              <a:rPr lang="en-US" sz="3000" dirty="0">
                <a:cs typeface="Calibri"/>
              </a:rPr>
              <a:t>{</a:t>
            </a:r>
          </a:p>
          <a:p>
            <a:pPr marL="12700" marR="281305" indent="0">
              <a:lnSpc>
                <a:spcPts val="2590"/>
              </a:lnSpc>
              <a:spcBef>
                <a:spcPts val="655"/>
              </a:spcBef>
              <a:buNone/>
            </a:pPr>
            <a:r>
              <a:rPr lang="en-US" sz="3000" i="1" dirty="0">
                <a:solidFill>
                  <a:srgbClr val="001F5F"/>
                </a:solidFill>
                <a:cs typeface="Calibri"/>
              </a:rPr>
              <a:t>//</a:t>
            </a:r>
            <a:r>
              <a:rPr lang="en-US" sz="3000" i="1" spc="-10" dirty="0">
                <a:solidFill>
                  <a:srgbClr val="001F5F"/>
                </a:solidFill>
                <a:cs typeface="Calibri"/>
              </a:rPr>
              <a:t> </a:t>
            </a:r>
            <a:r>
              <a:rPr lang="en-US" sz="3000" i="1" dirty="0">
                <a:solidFill>
                  <a:srgbClr val="001F5F"/>
                </a:solidFill>
                <a:cs typeface="Calibri"/>
              </a:rPr>
              <a:t>block</a:t>
            </a:r>
            <a:r>
              <a:rPr lang="en-US" sz="3000" i="1" spc="-25" dirty="0">
                <a:solidFill>
                  <a:srgbClr val="001F5F"/>
                </a:solidFill>
                <a:cs typeface="Calibri"/>
              </a:rPr>
              <a:t> </a:t>
            </a:r>
            <a:r>
              <a:rPr lang="en-US" sz="3000" i="1" dirty="0">
                <a:solidFill>
                  <a:srgbClr val="001F5F"/>
                </a:solidFill>
                <a:cs typeface="Calibri"/>
              </a:rPr>
              <a:t>of</a:t>
            </a:r>
            <a:r>
              <a:rPr lang="en-US" sz="3000" i="1" spc="-45" dirty="0">
                <a:solidFill>
                  <a:srgbClr val="001F5F"/>
                </a:solidFill>
                <a:cs typeface="Calibri"/>
              </a:rPr>
              <a:t> </a:t>
            </a:r>
            <a:r>
              <a:rPr lang="en-US" sz="3000" i="1" spc="-5" dirty="0">
                <a:solidFill>
                  <a:srgbClr val="001F5F"/>
                </a:solidFill>
                <a:cs typeface="Calibri"/>
              </a:rPr>
              <a:t>code</a:t>
            </a:r>
            <a:r>
              <a:rPr lang="en-US" sz="3000" i="1" spc="-35" dirty="0">
                <a:solidFill>
                  <a:srgbClr val="001F5F"/>
                </a:solidFill>
                <a:cs typeface="Calibri"/>
              </a:rPr>
              <a:t> </a:t>
            </a:r>
            <a:r>
              <a:rPr lang="en-US" sz="3000" i="1" spc="-10" dirty="0">
                <a:solidFill>
                  <a:srgbClr val="001F5F"/>
                </a:solidFill>
                <a:cs typeface="Calibri"/>
              </a:rPr>
              <a:t>to</a:t>
            </a:r>
            <a:r>
              <a:rPr lang="en-US" sz="3000" i="1" spc="-55" dirty="0">
                <a:solidFill>
                  <a:srgbClr val="001F5F"/>
                </a:solidFill>
                <a:cs typeface="Calibri"/>
              </a:rPr>
              <a:t> </a:t>
            </a:r>
            <a:r>
              <a:rPr lang="en-US" sz="3000" i="1" dirty="0">
                <a:solidFill>
                  <a:srgbClr val="001F5F"/>
                </a:solidFill>
                <a:cs typeface="Calibri"/>
              </a:rPr>
              <a:t>be</a:t>
            </a:r>
            <a:r>
              <a:rPr lang="en-US" sz="3000" i="1" spc="-35" dirty="0">
                <a:solidFill>
                  <a:srgbClr val="001F5F"/>
                </a:solidFill>
                <a:cs typeface="Calibri"/>
              </a:rPr>
              <a:t> </a:t>
            </a:r>
            <a:r>
              <a:rPr lang="en-US" sz="3000" i="1" spc="-20" dirty="0">
                <a:solidFill>
                  <a:srgbClr val="001F5F"/>
                </a:solidFill>
                <a:cs typeface="Calibri"/>
              </a:rPr>
              <a:t>executed</a:t>
            </a:r>
            <a:r>
              <a:rPr lang="en-US" sz="3000" i="1" spc="-175" dirty="0">
                <a:solidFill>
                  <a:srgbClr val="001F5F"/>
                </a:solidFill>
                <a:cs typeface="Calibri"/>
              </a:rPr>
              <a:t> </a:t>
            </a:r>
            <a:r>
              <a:rPr lang="en-US" sz="3000" i="1" dirty="0">
                <a:solidFill>
                  <a:srgbClr val="001F5F"/>
                </a:solidFill>
                <a:cs typeface="Calibri"/>
              </a:rPr>
              <a:t>if</a:t>
            </a:r>
            <a:r>
              <a:rPr lang="en-US" sz="3000" i="1" spc="5" dirty="0">
                <a:solidFill>
                  <a:srgbClr val="001F5F"/>
                </a:solidFill>
                <a:cs typeface="Calibri"/>
              </a:rPr>
              <a:t> the</a:t>
            </a:r>
            <a:r>
              <a:rPr lang="en-US" sz="3000" i="1" spc="-10" dirty="0">
                <a:solidFill>
                  <a:srgbClr val="001F5F"/>
                </a:solidFill>
                <a:cs typeface="Calibri"/>
              </a:rPr>
              <a:t> </a:t>
            </a:r>
            <a:r>
              <a:rPr lang="en-US" sz="3000" i="1" spc="-5" dirty="0">
                <a:solidFill>
                  <a:srgbClr val="001F5F"/>
                </a:solidFill>
                <a:cs typeface="Calibri"/>
              </a:rPr>
              <a:t>condition1</a:t>
            </a:r>
            <a:r>
              <a:rPr lang="en-US" sz="3000" i="1" spc="-130" dirty="0">
                <a:solidFill>
                  <a:srgbClr val="001F5F"/>
                </a:solidFill>
                <a:cs typeface="Calibri"/>
              </a:rPr>
              <a:t> </a:t>
            </a:r>
            <a:r>
              <a:rPr lang="en-US" sz="3000" i="1" dirty="0">
                <a:solidFill>
                  <a:srgbClr val="001F5F"/>
                </a:solidFill>
                <a:cs typeface="Calibri"/>
              </a:rPr>
              <a:t>is</a:t>
            </a:r>
            <a:r>
              <a:rPr lang="en-US" sz="3000" i="1" spc="-5" dirty="0">
                <a:solidFill>
                  <a:srgbClr val="001F5F"/>
                </a:solidFill>
                <a:cs typeface="Calibri"/>
              </a:rPr>
              <a:t> </a:t>
            </a:r>
            <a:r>
              <a:rPr lang="en-US" sz="3000" i="1" spc="-10" dirty="0">
                <a:solidFill>
                  <a:srgbClr val="001F5F"/>
                </a:solidFill>
                <a:cs typeface="Calibri"/>
              </a:rPr>
              <a:t>false </a:t>
            </a:r>
            <a:r>
              <a:rPr lang="en-US" sz="3000" i="1" spc="-595" dirty="0">
                <a:solidFill>
                  <a:srgbClr val="001F5F"/>
                </a:solidFill>
                <a:cs typeface="Calibri"/>
              </a:rPr>
              <a:t> </a:t>
            </a:r>
            <a:r>
              <a:rPr lang="en-US" sz="3000" i="1" dirty="0">
                <a:solidFill>
                  <a:srgbClr val="001F5F"/>
                </a:solidFill>
                <a:cs typeface="Calibri"/>
              </a:rPr>
              <a:t>and</a:t>
            </a:r>
            <a:r>
              <a:rPr lang="en-US" sz="3000" i="1" spc="-45" dirty="0">
                <a:solidFill>
                  <a:srgbClr val="001F5F"/>
                </a:solidFill>
                <a:cs typeface="Calibri"/>
              </a:rPr>
              <a:t> </a:t>
            </a:r>
            <a:r>
              <a:rPr lang="en-US" sz="3000" i="1" spc="-5" dirty="0">
                <a:solidFill>
                  <a:srgbClr val="001F5F"/>
                </a:solidFill>
                <a:cs typeface="Calibri"/>
              </a:rPr>
              <a:t>condition2</a:t>
            </a:r>
            <a:r>
              <a:rPr lang="en-US" sz="3000" i="1" spc="-135" dirty="0">
                <a:solidFill>
                  <a:srgbClr val="001F5F"/>
                </a:solidFill>
                <a:cs typeface="Calibri"/>
              </a:rPr>
              <a:t> </a:t>
            </a:r>
            <a:r>
              <a:rPr lang="en-US" sz="3000" i="1" dirty="0">
                <a:solidFill>
                  <a:srgbClr val="001F5F"/>
                </a:solidFill>
                <a:cs typeface="Calibri"/>
              </a:rPr>
              <a:t>is</a:t>
            </a:r>
            <a:r>
              <a:rPr lang="en-US" sz="3000" i="1" spc="-10" dirty="0">
                <a:solidFill>
                  <a:srgbClr val="001F5F"/>
                </a:solidFill>
                <a:cs typeface="Calibri"/>
              </a:rPr>
              <a:t> false</a:t>
            </a:r>
            <a:r>
              <a:rPr lang="en-US" sz="3000" i="1" spc="-85" dirty="0">
                <a:solidFill>
                  <a:srgbClr val="001F5F"/>
                </a:solidFill>
                <a:cs typeface="Calibri"/>
              </a:rPr>
              <a:t> </a:t>
            </a:r>
            <a:r>
              <a:rPr lang="en-US" sz="3000" dirty="0">
                <a:cs typeface="Calibri"/>
              </a:rPr>
              <a:t>}</a:t>
            </a:r>
          </a:p>
          <a:p>
            <a:pPr marL="12700" marR="281305" indent="0">
              <a:lnSpc>
                <a:spcPts val="2590"/>
              </a:lnSpc>
              <a:spcBef>
                <a:spcPts val="655"/>
              </a:spcBef>
              <a:buNone/>
            </a:pPr>
            <a:r>
              <a:rPr lang="en-US" sz="3000" b="1" dirty="0">
                <a:solidFill>
                  <a:srgbClr val="7030A0"/>
                </a:solidFill>
                <a:cs typeface="Calibri"/>
              </a:rPr>
              <a:t>Real time Example:</a:t>
            </a:r>
          </a:p>
          <a:p>
            <a:pPr marL="12700" marR="281305" indent="0">
              <a:lnSpc>
                <a:spcPts val="2590"/>
              </a:lnSpc>
              <a:spcBef>
                <a:spcPts val="655"/>
              </a:spcBef>
              <a:buNone/>
            </a:pPr>
            <a:r>
              <a:rPr lang="en-US" sz="3000" b="1" dirty="0">
                <a:solidFill>
                  <a:srgbClr val="7030A0"/>
                </a:solidFill>
                <a:cs typeface="Calibri"/>
              </a:rPr>
              <a:t>Student mark system , Income tax  payment.</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42730289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192" y="476673"/>
            <a:ext cx="10664890" cy="6260029"/>
          </a:xfrm>
        </p:spPr>
        <p:txBody>
          <a:bodyPr>
            <a:normAutofit/>
          </a:bodyPr>
          <a:lstStyle/>
          <a:p>
            <a:pPr marL="0" indent="0">
              <a:buNone/>
            </a:pPr>
            <a:r>
              <a:rPr lang="en-IN" b="1" dirty="0">
                <a:solidFill>
                  <a:srgbClr val="7030A0"/>
                </a:solidFill>
              </a:rPr>
              <a:t>Nested if statement</a:t>
            </a:r>
          </a:p>
          <a:p>
            <a:r>
              <a:rPr lang="en-US" dirty="0"/>
              <a:t>The nested if statement represents the </a:t>
            </a:r>
            <a:r>
              <a:rPr lang="en-US" b="1" i="1" dirty="0">
                <a:solidFill>
                  <a:srgbClr val="7030A0"/>
                </a:solidFill>
              </a:rPr>
              <a:t>if block within another if block</a:t>
            </a:r>
            <a:r>
              <a:rPr lang="en-US" b="1" dirty="0">
                <a:solidFill>
                  <a:srgbClr val="7030A0"/>
                </a:solidFill>
              </a:rPr>
              <a:t>.</a:t>
            </a:r>
          </a:p>
          <a:p>
            <a:r>
              <a:rPr lang="en-US" dirty="0"/>
              <a:t> Here, the inner if block condition executes only when </a:t>
            </a:r>
            <a:r>
              <a:rPr lang="en-US" b="1" dirty="0">
                <a:solidFill>
                  <a:srgbClr val="7030A0"/>
                </a:solidFill>
              </a:rPr>
              <a:t>outer if block condition is true.</a:t>
            </a:r>
          </a:p>
          <a:p>
            <a:pPr marL="0" indent="0">
              <a:buNone/>
            </a:pPr>
            <a:r>
              <a:rPr lang="en-IN" b="1" dirty="0">
                <a:solidFill>
                  <a:srgbClr val="7030A0"/>
                </a:solidFill>
              </a:rPr>
              <a:t>Syntax:</a:t>
            </a:r>
          </a:p>
          <a:p>
            <a:pPr marL="0" indent="0">
              <a:buNone/>
            </a:pPr>
            <a:r>
              <a:rPr lang="en-US" b="1" dirty="0"/>
              <a:t>if</a:t>
            </a:r>
            <a:r>
              <a:rPr lang="en-US" dirty="0"/>
              <a:t>(condition){    </a:t>
            </a:r>
          </a:p>
          <a:p>
            <a:pPr marL="0" indent="0">
              <a:buNone/>
            </a:pPr>
            <a:r>
              <a:rPr lang="en-US" dirty="0"/>
              <a:t>     //code to be executed    </a:t>
            </a:r>
          </a:p>
          <a:p>
            <a:pPr marL="0" indent="0">
              <a:buNone/>
            </a:pPr>
            <a:r>
              <a:rPr lang="en-US" dirty="0"/>
              <a:t>          </a:t>
            </a:r>
            <a:r>
              <a:rPr lang="en-US" b="1" dirty="0"/>
              <a:t>if</a:t>
            </a:r>
            <a:r>
              <a:rPr lang="en-US" dirty="0"/>
              <a:t>(condition){  </a:t>
            </a:r>
          </a:p>
          <a:p>
            <a:pPr marL="0" indent="0">
              <a:buNone/>
            </a:pPr>
            <a:r>
              <a:rPr lang="en-US" dirty="0"/>
              <a:t>             //code to be executed    </a:t>
            </a:r>
          </a:p>
          <a:p>
            <a:pPr marL="0" indent="0">
              <a:buNone/>
            </a:pPr>
            <a:r>
              <a:rPr lang="en-US" dirty="0"/>
              <a:t>    }  }  </a:t>
            </a:r>
          </a:p>
          <a:p>
            <a:pPr marL="0" indent="0">
              <a:buNone/>
            </a:pPr>
            <a:r>
              <a:rPr lang="en-US" b="1" dirty="0">
                <a:solidFill>
                  <a:srgbClr val="7030A0"/>
                </a:solidFill>
              </a:rPr>
              <a:t>Real Time Example:</a:t>
            </a:r>
          </a:p>
          <a:p>
            <a:pPr marL="0" indent="0">
              <a:buNone/>
            </a:pPr>
            <a:r>
              <a:rPr lang="en-US" dirty="0"/>
              <a:t>Blood Donation conditions.</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4144617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992313" y="333375"/>
            <a:ext cx="8229600" cy="5676900"/>
          </a:xfrm>
        </p:spPr>
        <p:txBody>
          <a:bodyPr>
            <a:normAutofit/>
          </a:bodyPr>
          <a:lstStyle/>
          <a:p>
            <a:pPr marL="0" indent="0">
              <a:buNone/>
            </a:pPr>
            <a:r>
              <a:rPr lang="en-IN" b="1" spc="-25" dirty="0">
                <a:solidFill>
                  <a:srgbClr val="7030A0"/>
                </a:solidFill>
              </a:rPr>
              <a:t>switch</a:t>
            </a:r>
            <a:r>
              <a:rPr lang="en-IN" b="1" spc="-35" dirty="0">
                <a:solidFill>
                  <a:srgbClr val="7030A0"/>
                </a:solidFill>
              </a:rPr>
              <a:t> </a:t>
            </a:r>
            <a:r>
              <a:rPr lang="en-IN" b="1" spc="-30" dirty="0">
                <a:solidFill>
                  <a:srgbClr val="7030A0"/>
                </a:solidFill>
              </a:rPr>
              <a:t>statement</a:t>
            </a:r>
          </a:p>
          <a:p>
            <a:r>
              <a:rPr lang="en-US" sz="3000" dirty="0"/>
              <a:t>The Java </a:t>
            </a:r>
            <a:r>
              <a:rPr lang="en-US" sz="3000" i="1" dirty="0"/>
              <a:t>switch statement</a:t>
            </a:r>
            <a:r>
              <a:rPr lang="en-US" sz="3000" dirty="0"/>
              <a:t> executes one statement from multiple conditions. It is like </a:t>
            </a:r>
            <a:r>
              <a:rPr lang="en-US" sz="3000" dirty="0">
                <a:hlinkClick r:id="rId2"/>
              </a:rPr>
              <a:t>if-else-if</a:t>
            </a:r>
            <a:r>
              <a:rPr lang="en-US" sz="3000" dirty="0"/>
              <a:t> ladder statement</a:t>
            </a:r>
            <a:r>
              <a:rPr lang="en-US" dirty="0"/>
              <a:t>.</a:t>
            </a:r>
          </a:p>
          <a:p>
            <a:pPr marL="0" indent="0">
              <a:buNone/>
            </a:pPr>
            <a:r>
              <a:rPr lang="en-US" b="1" dirty="0">
                <a:solidFill>
                  <a:srgbClr val="7030A0"/>
                </a:solidFill>
              </a:rPr>
              <a:t>Syntax</a:t>
            </a:r>
          </a:p>
          <a:p>
            <a:r>
              <a:rPr lang="en-US" b="1" dirty="0"/>
              <a:t>switch</a:t>
            </a:r>
            <a:r>
              <a:rPr lang="en-US" dirty="0"/>
              <a:t>(expression){    </a:t>
            </a:r>
          </a:p>
          <a:p>
            <a:r>
              <a:rPr lang="en-US" b="1" dirty="0"/>
              <a:t>case</a:t>
            </a:r>
            <a:r>
              <a:rPr lang="en-US" dirty="0"/>
              <a:t> value1:    </a:t>
            </a:r>
          </a:p>
          <a:p>
            <a:r>
              <a:rPr lang="en-US" dirty="0"/>
              <a:t> //code to be executed;    </a:t>
            </a:r>
          </a:p>
          <a:p>
            <a:r>
              <a:rPr lang="en-US" dirty="0"/>
              <a:t> </a:t>
            </a:r>
            <a:r>
              <a:rPr lang="en-US" b="1" dirty="0"/>
              <a:t>break</a:t>
            </a:r>
            <a:r>
              <a:rPr lang="en-US" dirty="0"/>
              <a:t>;  //optional  </a:t>
            </a:r>
          </a:p>
          <a:p>
            <a:r>
              <a:rPr lang="en-US" b="1" dirty="0"/>
              <a:t>default</a:t>
            </a:r>
            <a:r>
              <a:rPr lang="en-US" dirty="0"/>
              <a:t>:     </a:t>
            </a:r>
          </a:p>
          <a:p>
            <a:r>
              <a:rPr lang="en-US" dirty="0"/>
              <a:t>  code to be executed </a:t>
            </a:r>
            <a:r>
              <a:rPr lang="en-US" b="1" dirty="0"/>
              <a:t>if</a:t>
            </a:r>
            <a:r>
              <a:rPr lang="en-US" dirty="0"/>
              <a:t> all cases are not matched;  }    </a:t>
            </a:r>
          </a:p>
          <a:p>
            <a:pPr marL="0" indent="0">
              <a:buNone/>
            </a:pPr>
            <a:endParaRPr lang="en-US" b="1" dirty="0">
              <a:solidFill>
                <a:srgbClr val="7030A0"/>
              </a:solidFill>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33404610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635DF-D4ED-3700-3B65-BF765B791BE7}"/>
              </a:ext>
            </a:extLst>
          </p:cNvPr>
          <p:cNvSpPr>
            <a:spLocks noGrp="1"/>
          </p:cNvSpPr>
          <p:nvPr>
            <p:ph type="title"/>
          </p:nvPr>
        </p:nvSpPr>
        <p:spPr/>
        <p:txBody>
          <a:bodyPr/>
          <a:lstStyle/>
          <a:p>
            <a:r>
              <a:rPr lang="en-IN" dirty="0"/>
              <a:t>Loop/Iterative/Repeatation statements</a:t>
            </a:r>
          </a:p>
        </p:txBody>
      </p:sp>
      <p:sp>
        <p:nvSpPr>
          <p:cNvPr id="3" name="Content Placeholder 2">
            <a:extLst>
              <a:ext uri="{FF2B5EF4-FFF2-40B4-BE49-F238E27FC236}">
                <a16:creationId xmlns:a16="http://schemas.microsoft.com/office/drawing/2014/main" id="{467E049C-A723-C96C-EF37-7C028167E176}"/>
              </a:ext>
            </a:extLst>
          </p:cNvPr>
          <p:cNvSpPr>
            <a:spLocks noGrp="1"/>
          </p:cNvSpPr>
          <p:nvPr>
            <p:ph idx="1"/>
          </p:nvPr>
        </p:nvSpPr>
        <p:spPr/>
        <p:txBody>
          <a:bodyPr/>
          <a:lstStyle/>
          <a:p>
            <a:r>
              <a:rPr lang="en-US" b="0" i="0" dirty="0">
                <a:solidFill>
                  <a:srgbClr val="202124"/>
                </a:solidFill>
                <a:effectLst/>
              </a:rPr>
              <a:t>Loops is </a:t>
            </a:r>
            <a:r>
              <a:rPr lang="en-US" b="0" i="0" dirty="0">
                <a:solidFill>
                  <a:srgbClr val="040C28"/>
                </a:solidFill>
                <a:effectLst/>
              </a:rPr>
              <a:t> used to </a:t>
            </a:r>
            <a:r>
              <a:rPr lang="en-US" b="1" i="0" dirty="0">
                <a:solidFill>
                  <a:srgbClr val="7030A0"/>
                </a:solidFill>
                <a:effectLst/>
              </a:rPr>
              <a:t>execute a particular part of the</a:t>
            </a:r>
          </a:p>
          <a:p>
            <a:pPr marL="0" indent="0">
              <a:buNone/>
            </a:pPr>
            <a:r>
              <a:rPr lang="en-US" b="1" dirty="0">
                <a:solidFill>
                  <a:srgbClr val="7030A0"/>
                </a:solidFill>
              </a:rPr>
              <a:t>  </a:t>
            </a:r>
            <a:r>
              <a:rPr lang="en-US" b="1" i="0" dirty="0">
                <a:solidFill>
                  <a:srgbClr val="7030A0"/>
                </a:solidFill>
                <a:effectLst/>
              </a:rPr>
              <a:t>program repeatedly , if a given condition evaluates to be true.</a:t>
            </a:r>
          </a:p>
          <a:p>
            <a:pPr marL="0" indent="0">
              <a:buNone/>
            </a:pPr>
            <a:endParaRPr lang="en-US" b="1" i="0" dirty="0">
              <a:solidFill>
                <a:srgbClr val="7030A0"/>
              </a:solidFill>
              <a:effectLst/>
            </a:endParaRPr>
          </a:p>
          <a:p>
            <a:r>
              <a:rPr lang="en-US" b="1" i="0" dirty="0">
                <a:solidFill>
                  <a:srgbClr val="7030A0"/>
                </a:solidFill>
                <a:effectLst/>
              </a:rPr>
              <a:t>For example,</a:t>
            </a:r>
            <a:endParaRPr lang="en-US" b="1" dirty="0">
              <a:solidFill>
                <a:srgbClr val="7030A0"/>
              </a:solidFill>
              <a:latin typeface="arial" panose="020B0604020202020204" pitchFamily="34" charset="0"/>
            </a:endParaRPr>
          </a:p>
          <a:p>
            <a:r>
              <a:rPr lang="en-US" b="0" i="0" dirty="0">
                <a:solidFill>
                  <a:srgbClr val="333333"/>
                </a:solidFill>
                <a:effectLst/>
              </a:rPr>
              <a:t>You put your favorite song on a repeat mode. It is also a loop.</a:t>
            </a:r>
          </a:p>
          <a:p>
            <a:pPr fontAlgn="base"/>
            <a:r>
              <a:rPr lang="en-US" b="0" i="0" dirty="0">
                <a:solidFill>
                  <a:srgbClr val="333333"/>
                </a:solidFill>
                <a:effectLst/>
              </a:rPr>
              <a:t>Software of the ATM machine is in a loop to process transaction after</a:t>
            </a:r>
          </a:p>
          <a:p>
            <a:pPr marL="0" indent="0" fontAlgn="base">
              <a:buNone/>
            </a:pPr>
            <a:r>
              <a:rPr lang="en-US" dirty="0">
                <a:solidFill>
                  <a:srgbClr val="333333"/>
                </a:solidFill>
              </a:rPr>
              <a:t>  </a:t>
            </a:r>
            <a:r>
              <a:rPr lang="en-US" b="0" i="0" dirty="0">
                <a:solidFill>
                  <a:srgbClr val="333333"/>
                </a:solidFill>
                <a:effectLst/>
              </a:rPr>
              <a:t> transaction until you acknowledge that you have no more to do. </a:t>
            </a:r>
          </a:p>
          <a:p>
            <a:endParaRPr lang="en-IN" dirty="0"/>
          </a:p>
        </p:txBody>
      </p:sp>
    </p:spTree>
    <p:extLst>
      <p:ext uri="{BB962C8B-B14F-4D97-AF65-F5344CB8AC3E}">
        <p14:creationId xmlns:p14="http://schemas.microsoft.com/office/powerpoint/2010/main" val="18578327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7C6B-5BBD-A849-2CFB-47DFE2967394}"/>
              </a:ext>
            </a:extLst>
          </p:cNvPr>
          <p:cNvSpPr>
            <a:spLocks noGrp="1"/>
          </p:cNvSpPr>
          <p:nvPr>
            <p:ph type="title"/>
          </p:nvPr>
        </p:nvSpPr>
        <p:spPr/>
        <p:txBody>
          <a:bodyPr/>
          <a:lstStyle/>
          <a:p>
            <a:r>
              <a:rPr lang="en-IN" dirty="0"/>
              <a:t>Types of loops</a:t>
            </a:r>
          </a:p>
        </p:txBody>
      </p:sp>
      <p:sp>
        <p:nvSpPr>
          <p:cNvPr id="3" name="Content Placeholder 2">
            <a:extLst>
              <a:ext uri="{FF2B5EF4-FFF2-40B4-BE49-F238E27FC236}">
                <a16:creationId xmlns:a16="http://schemas.microsoft.com/office/drawing/2014/main" id="{FAE9C2A7-F5AB-E096-6BA2-44A21192D7CA}"/>
              </a:ext>
            </a:extLst>
          </p:cNvPr>
          <p:cNvSpPr>
            <a:spLocks noGrp="1"/>
          </p:cNvSpPr>
          <p:nvPr>
            <p:ph idx="1"/>
          </p:nvPr>
        </p:nvSpPr>
        <p:spPr/>
        <p:txBody>
          <a:bodyPr/>
          <a:lstStyle/>
          <a:p>
            <a:pPr marL="0" indent="0">
              <a:buNone/>
            </a:pPr>
            <a:r>
              <a:rPr lang="en-IN" dirty="0"/>
              <a:t>There are </a:t>
            </a:r>
            <a:r>
              <a:rPr lang="en-IN" b="1" dirty="0">
                <a:solidFill>
                  <a:srgbClr val="7030A0"/>
                </a:solidFill>
              </a:rPr>
              <a:t>three types </a:t>
            </a:r>
            <a:r>
              <a:rPr lang="en-IN" dirty="0"/>
              <a:t>of loop</a:t>
            </a:r>
          </a:p>
          <a:p>
            <a:r>
              <a:rPr lang="en-IN" dirty="0"/>
              <a:t>for loop\Entry check loop</a:t>
            </a:r>
          </a:p>
          <a:p>
            <a:r>
              <a:rPr lang="en-IN" dirty="0"/>
              <a:t>While loop\Entry check loop</a:t>
            </a:r>
          </a:p>
          <a:p>
            <a:r>
              <a:rPr lang="en-IN" dirty="0"/>
              <a:t>Do while loop\Exist check loop</a:t>
            </a:r>
          </a:p>
        </p:txBody>
      </p:sp>
    </p:spTree>
    <p:extLst>
      <p:ext uri="{BB962C8B-B14F-4D97-AF65-F5344CB8AC3E}">
        <p14:creationId xmlns:p14="http://schemas.microsoft.com/office/powerpoint/2010/main" val="15504375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3103"/>
            <a:ext cx="10515600" cy="4655976"/>
          </a:xfrm>
        </p:spPr>
        <p:txBody>
          <a:bodyPr>
            <a:normAutofit/>
          </a:bodyPr>
          <a:lstStyle/>
          <a:p>
            <a:pPr marL="0" indent="0">
              <a:buNone/>
            </a:pPr>
            <a:r>
              <a:rPr lang="en-IN" b="1" dirty="0">
                <a:solidFill>
                  <a:srgbClr val="7030A0"/>
                </a:solidFill>
              </a:rPr>
              <a:t>for Loop</a:t>
            </a:r>
            <a:endParaRPr lang="en-US" b="1" dirty="0">
              <a:solidFill>
                <a:srgbClr val="7030A0"/>
              </a:solidFill>
            </a:endParaRPr>
          </a:p>
          <a:p>
            <a:r>
              <a:rPr lang="en-US" sz="3000" dirty="0"/>
              <a:t>A simple for loop is the same as </a:t>
            </a:r>
            <a:r>
              <a:rPr lang="en-US" sz="3000" dirty="0">
                <a:hlinkClick r:id="rId2"/>
              </a:rPr>
              <a:t>C</a:t>
            </a:r>
            <a:r>
              <a:rPr lang="en-US" sz="3000" dirty="0"/>
              <a:t>/</a:t>
            </a:r>
            <a:r>
              <a:rPr lang="en-US" sz="3000" dirty="0">
                <a:hlinkClick r:id="rId3"/>
              </a:rPr>
              <a:t>C++</a:t>
            </a:r>
            <a:r>
              <a:rPr lang="en-US" sz="3000" dirty="0"/>
              <a:t>. We can initialize the </a:t>
            </a:r>
            <a:r>
              <a:rPr lang="en-US" sz="3000" dirty="0">
                <a:hlinkClick r:id="rId4"/>
              </a:rPr>
              <a:t>variable</a:t>
            </a:r>
            <a:r>
              <a:rPr lang="en-US" sz="3000" dirty="0"/>
              <a:t>, check condition and increment/decrement value</a:t>
            </a:r>
            <a:r>
              <a:rPr lang="en-US" dirty="0"/>
              <a:t>.</a:t>
            </a:r>
          </a:p>
          <a:p>
            <a:pPr marL="0" indent="0">
              <a:buNone/>
            </a:pPr>
            <a:r>
              <a:rPr lang="en-IN" sz="3000" b="1" dirty="0">
                <a:solidFill>
                  <a:srgbClr val="7030A0"/>
                </a:solidFill>
              </a:rPr>
              <a:t>Syntax:</a:t>
            </a:r>
          </a:p>
          <a:p>
            <a:pPr marL="0" indent="0">
              <a:buNone/>
            </a:pPr>
            <a:r>
              <a:rPr lang="en-US" sz="3000" b="1" dirty="0"/>
              <a:t>for</a:t>
            </a:r>
            <a:r>
              <a:rPr lang="en-US" sz="3000" dirty="0"/>
              <a:t>(initialization; condition; increment/decrement)</a:t>
            </a:r>
          </a:p>
          <a:p>
            <a:pPr marL="0" indent="0">
              <a:buNone/>
            </a:pPr>
            <a:r>
              <a:rPr lang="en-US" sz="3000" dirty="0"/>
              <a:t>{    </a:t>
            </a:r>
          </a:p>
          <a:p>
            <a:pPr marL="0" indent="0">
              <a:buNone/>
            </a:pPr>
            <a:r>
              <a:rPr lang="en-US" sz="3000" dirty="0"/>
              <a:t>//statement or code to be executed    </a:t>
            </a:r>
          </a:p>
          <a:p>
            <a:pPr marL="0" indent="0">
              <a:buNone/>
            </a:pPr>
            <a:r>
              <a:rPr lang="en-US" sz="3000" dirty="0"/>
              <a:t>}    </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31254897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123FD7-E40B-CC28-2378-AB6B0A8C7887}"/>
              </a:ext>
            </a:extLst>
          </p:cNvPr>
          <p:cNvSpPr>
            <a:spLocks noGrp="1"/>
          </p:cNvSpPr>
          <p:nvPr>
            <p:ph idx="1"/>
          </p:nvPr>
        </p:nvSpPr>
        <p:spPr>
          <a:xfrm>
            <a:off x="838200" y="587829"/>
            <a:ext cx="10515600" cy="5589134"/>
          </a:xfrm>
        </p:spPr>
        <p:txBody>
          <a:bodyPr/>
          <a:lstStyle/>
          <a:p>
            <a:pPr marL="0" indent="0">
              <a:buNone/>
            </a:pPr>
            <a:r>
              <a:rPr lang="en-IN" b="1" dirty="0">
                <a:solidFill>
                  <a:srgbClr val="7030A0"/>
                </a:solidFill>
              </a:rPr>
              <a:t>for loop have 5 types</a:t>
            </a:r>
          </a:p>
          <a:p>
            <a:r>
              <a:rPr lang="en-IN" dirty="0"/>
              <a:t>for  loop using  increment</a:t>
            </a:r>
          </a:p>
          <a:p>
            <a:r>
              <a:rPr lang="en-IN" dirty="0"/>
              <a:t>for  loop using  decrement</a:t>
            </a:r>
          </a:p>
          <a:p>
            <a:r>
              <a:rPr lang="en-IN" dirty="0"/>
              <a:t>for  loop using  infinity</a:t>
            </a:r>
          </a:p>
          <a:p>
            <a:r>
              <a:rPr lang="en-IN" dirty="0"/>
              <a:t>Nested for loop</a:t>
            </a:r>
          </a:p>
          <a:p>
            <a:r>
              <a:rPr lang="en-IN" dirty="0"/>
              <a:t>for each/for enhanced loop</a:t>
            </a:r>
          </a:p>
          <a:p>
            <a:endParaRPr lang="en-IN" dirty="0"/>
          </a:p>
          <a:p>
            <a:endParaRPr lang="en-IN" dirty="0"/>
          </a:p>
        </p:txBody>
      </p:sp>
    </p:spTree>
    <p:extLst>
      <p:ext uri="{BB962C8B-B14F-4D97-AF65-F5344CB8AC3E}">
        <p14:creationId xmlns:p14="http://schemas.microsoft.com/office/powerpoint/2010/main" val="13405007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5067" y="565614"/>
            <a:ext cx="10515600" cy="5577483"/>
          </a:xfrm>
        </p:spPr>
        <p:txBody>
          <a:bodyPr>
            <a:noAutofit/>
          </a:bodyPr>
          <a:lstStyle/>
          <a:p>
            <a:pPr marL="0" indent="0">
              <a:buNone/>
            </a:pPr>
            <a:r>
              <a:rPr lang="en-IN" sz="3000" b="1" dirty="0">
                <a:solidFill>
                  <a:srgbClr val="7030A0"/>
                </a:solidFill>
              </a:rPr>
              <a:t>While Loop</a:t>
            </a:r>
          </a:p>
          <a:p>
            <a:r>
              <a:rPr lang="en-US" sz="3000" dirty="0"/>
              <a:t>The </a:t>
            </a:r>
            <a:r>
              <a:rPr lang="en-US" sz="3000" dirty="0">
                <a:hlinkClick r:id="rId2"/>
              </a:rPr>
              <a:t>Java</a:t>
            </a:r>
            <a:r>
              <a:rPr lang="en-US" sz="3000" dirty="0"/>
              <a:t> </a:t>
            </a:r>
            <a:r>
              <a:rPr lang="en-US" sz="3000" i="1" dirty="0"/>
              <a:t>while loop</a:t>
            </a:r>
            <a:r>
              <a:rPr lang="en-US" sz="3000" dirty="0"/>
              <a:t> is used to iterate a part of the </a:t>
            </a:r>
            <a:r>
              <a:rPr lang="en-US" sz="3000" dirty="0">
                <a:hlinkClick r:id="rId3"/>
              </a:rPr>
              <a:t>program</a:t>
            </a:r>
            <a:r>
              <a:rPr lang="en-US" sz="3000" dirty="0"/>
              <a:t> repeatedly until the specified Boolean condition is true. As soon as the Boolean condition becomes false, the loop automatically stops.</a:t>
            </a:r>
          </a:p>
          <a:p>
            <a:pPr marL="0" indent="0">
              <a:buNone/>
            </a:pPr>
            <a:r>
              <a:rPr lang="en-US" sz="3000" b="1" dirty="0">
                <a:solidFill>
                  <a:srgbClr val="7030A0"/>
                </a:solidFill>
              </a:rPr>
              <a:t>Syntax</a:t>
            </a:r>
          </a:p>
          <a:p>
            <a:pPr marL="0" indent="0">
              <a:buNone/>
            </a:pPr>
            <a:r>
              <a:rPr lang="en-US" sz="3000" b="1" dirty="0"/>
              <a:t>while</a:t>
            </a:r>
            <a:r>
              <a:rPr lang="en-US" sz="3000" dirty="0"/>
              <a:t> (condition){    </a:t>
            </a:r>
          </a:p>
          <a:p>
            <a:pPr marL="0" indent="0">
              <a:buNone/>
            </a:pPr>
            <a:r>
              <a:rPr lang="en-US" sz="3000" dirty="0"/>
              <a:t>//code to be executed   </a:t>
            </a:r>
          </a:p>
          <a:p>
            <a:pPr marL="0" indent="0">
              <a:buNone/>
            </a:pPr>
            <a:r>
              <a:rPr lang="en-US" sz="3000" dirty="0"/>
              <a:t>Increment / decrement statement  </a:t>
            </a:r>
          </a:p>
          <a:p>
            <a:pPr marL="0" indent="0">
              <a:buNone/>
            </a:pPr>
            <a:r>
              <a:rPr lang="en-US" sz="3000" dirty="0"/>
              <a:t>}    </a:t>
            </a:r>
          </a:p>
          <a:p>
            <a:pPr marL="0" indent="0">
              <a:buNone/>
            </a:pPr>
            <a:br>
              <a:rPr lang="en-US" sz="3000" dirty="0"/>
            </a:br>
            <a:endParaRPr lang="en-IN" sz="3000" dirty="0"/>
          </a:p>
        </p:txBody>
      </p:sp>
    </p:spTree>
    <p:extLst>
      <p:ext uri="{BB962C8B-B14F-4D97-AF65-F5344CB8AC3E}">
        <p14:creationId xmlns:p14="http://schemas.microsoft.com/office/powerpoint/2010/main" val="41592160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FE72B-9CE7-E3FB-4AD4-6A933B5B610C}"/>
              </a:ext>
            </a:extLst>
          </p:cNvPr>
          <p:cNvSpPr>
            <a:spLocks noGrp="1"/>
          </p:cNvSpPr>
          <p:nvPr>
            <p:ph idx="1"/>
          </p:nvPr>
        </p:nvSpPr>
        <p:spPr>
          <a:xfrm>
            <a:off x="838200" y="811763"/>
            <a:ext cx="10515600" cy="5365200"/>
          </a:xfrm>
        </p:spPr>
        <p:txBody>
          <a:bodyPr/>
          <a:lstStyle/>
          <a:p>
            <a:pPr marL="0" indent="0">
              <a:buNone/>
            </a:pPr>
            <a:r>
              <a:rPr lang="en-IN" b="1" dirty="0">
                <a:solidFill>
                  <a:srgbClr val="7030A0"/>
                </a:solidFill>
              </a:rPr>
              <a:t>Types of While loop</a:t>
            </a:r>
          </a:p>
          <a:p>
            <a:r>
              <a:rPr lang="en-IN" dirty="0"/>
              <a:t>While loop using Increment</a:t>
            </a:r>
          </a:p>
          <a:p>
            <a:r>
              <a:rPr lang="en-IN" dirty="0"/>
              <a:t>While loop using decrement</a:t>
            </a:r>
          </a:p>
          <a:p>
            <a:r>
              <a:rPr lang="en-IN" dirty="0"/>
              <a:t>Infinity while loop</a:t>
            </a:r>
          </a:p>
        </p:txBody>
      </p:sp>
    </p:spTree>
    <p:extLst>
      <p:ext uri="{BB962C8B-B14F-4D97-AF65-F5344CB8AC3E}">
        <p14:creationId xmlns:p14="http://schemas.microsoft.com/office/powerpoint/2010/main" val="15849761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465" y="476673"/>
            <a:ext cx="9520335" cy="5649491"/>
          </a:xfrm>
        </p:spPr>
        <p:txBody>
          <a:bodyPr>
            <a:normAutofit fontScale="25000" lnSpcReduction="20000"/>
          </a:bodyPr>
          <a:lstStyle/>
          <a:p>
            <a:pPr marL="0" indent="0">
              <a:buNone/>
            </a:pPr>
            <a:r>
              <a:rPr lang="en-IN" sz="12000" b="1" dirty="0">
                <a:solidFill>
                  <a:srgbClr val="7030A0"/>
                </a:solidFill>
              </a:rPr>
              <a:t>do-while Loop</a:t>
            </a:r>
          </a:p>
          <a:p>
            <a:r>
              <a:rPr lang="en-US" sz="12000" dirty="0"/>
              <a:t>If the number of iteration is not fixed and you must have to execute the loop at least once, it is recommended to use a do-while loop.</a:t>
            </a:r>
          </a:p>
          <a:p>
            <a:r>
              <a:rPr lang="en-US" sz="12000" b="1" dirty="0">
                <a:solidFill>
                  <a:srgbClr val="7030A0"/>
                </a:solidFill>
              </a:rPr>
              <a:t>Syntax:</a:t>
            </a:r>
          </a:p>
          <a:p>
            <a:pPr marL="0" indent="0">
              <a:buNone/>
            </a:pPr>
            <a:r>
              <a:rPr lang="en-US" sz="12000" b="1" dirty="0"/>
              <a:t>do</a:t>
            </a:r>
          </a:p>
          <a:p>
            <a:pPr marL="0" indent="0">
              <a:buNone/>
            </a:pPr>
            <a:r>
              <a:rPr lang="en-US" sz="12000" dirty="0"/>
              <a:t>{    </a:t>
            </a:r>
          </a:p>
          <a:p>
            <a:pPr marL="0" indent="0">
              <a:buNone/>
            </a:pPr>
            <a:r>
              <a:rPr lang="en-US" sz="12000" dirty="0"/>
              <a:t>//code to be executed / loop body  </a:t>
            </a:r>
          </a:p>
          <a:p>
            <a:pPr marL="0" indent="0">
              <a:buNone/>
            </a:pPr>
            <a:r>
              <a:rPr lang="en-US" sz="12000" dirty="0"/>
              <a:t>//update statement   </a:t>
            </a:r>
          </a:p>
          <a:p>
            <a:pPr marL="0" indent="0">
              <a:buNone/>
            </a:pPr>
            <a:r>
              <a:rPr lang="en-US" sz="12000" dirty="0"/>
              <a:t>}</a:t>
            </a:r>
            <a:r>
              <a:rPr lang="en-US" sz="12000" b="1" dirty="0"/>
              <a:t>while</a:t>
            </a:r>
            <a:r>
              <a:rPr lang="en-US" sz="12000" dirty="0"/>
              <a:t> (condition);  </a:t>
            </a:r>
          </a:p>
          <a:p>
            <a:pPr marL="0" indent="0">
              <a:buNone/>
            </a:pPr>
            <a:endParaRPr lang="en-US" sz="12000" dirty="0"/>
          </a:p>
          <a:p>
            <a:pPr marL="0" indent="0">
              <a:buNone/>
            </a:pPr>
            <a:r>
              <a:rPr lang="en-US" sz="12000" dirty="0"/>
              <a:t> </a:t>
            </a:r>
          </a:p>
          <a:p>
            <a:pPr marL="0" indent="0">
              <a:buNone/>
            </a:pPr>
            <a:br>
              <a:rPr lang="en-US" sz="12000" dirty="0"/>
            </a:br>
            <a:endParaRPr lang="en-IN" sz="12000" b="1" dirty="0">
              <a:solidFill>
                <a:srgbClr val="7030A0"/>
              </a:solidFill>
            </a:endParaRPr>
          </a:p>
          <a:p>
            <a:endParaRPr lang="en-IN" dirty="0"/>
          </a:p>
        </p:txBody>
      </p:sp>
    </p:spTree>
    <p:extLst>
      <p:ext uri="{BB962C8B-B14F-4D97-AF65-F5344CB8AC3E}">
        <p14:creationId xmlns:p14="http://schemas.microsoft.com/office/powerpoint/2010/main" val="21877949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D54D-C386-754C-D377-A8070B57033D}"/>
              </a:ext>
            </a:extLst>
          </p:cNvPr>
          <p:cNvSpPr>
            <a:spLocks noGrp="1"/>
          </p:cNvSpPr>
          <p:nvPr>
            <p:ph type="title"/>
          </p:nvPr>
        </p:nvSpPr>
        <p:spPr/>
        <p:txBody>
          <a:bodyPr/>
          <a:lstStyle/>
          <a:p>
            <a:r>
              <a:rPr lang="en-IN" dirty="0"/>
              <a:t>Transfer or Jumping Statements</a:t>
            </a:r>
          </a:p>
        </p:txBody>
      </p:sp>
      <p:sp>
        <p:nvSpPr>
          <p:cNvPr id="3" name="Content Placeholder 2">
            <a:extLst>
              <a:ext uri="{FF2B5EF4-FFF2-40B4-BE49-F238E27FC236}">
                <a16:creationId xmlns:a16="http://schemas.microsoft.com/office/drawing/2014/main" id="{E5DEE5CB-26C4-2C34-0571-AECAE9493DEA}"/>
              </a:ext>
            </a:extLst>
          </p:cNvPr>
          <p:cNvSpPr>
            <a:spLocks noGrp="1"/>
          </p:cNvSpPr>
          <p:nvPr>
            <p:ph idx="1"/>
          </p:nvPr>
        </p:nvSpPr>
        <p:spPr>
          <a:xfrm>
            <a:off x="711200" y="1498600"/>
            <a:ext cx="10642600" cy="4678363"/>
          </a:xfrm>
        </p:spPr>
        <p:txBody>
          <a:bodyPr/>
          <a:lstStyle/>
          <a:p>
            <a:r>
              <a:rPr lang="en-US" b="0" i="0" dirty="0">
                <a:solidFill>
                  <a:srgbClr val="040C28"/>
                </a:solidFill>
                <a:effectLst/>
              </a:rPr>
              <a:t>Jumping statements are control statements that transfer execution control from one point to another point in the program</a:t>
            </a:r>
            <a:r>
              <a:rPr lang="en-US" b="0" i="0" dirty="0">
                <a:solidFill>
                  <a:srgbClr val="202124"/>
                </a:solidFill>
                <a:effectLst/>
              </a:rPr>
              <a:t>.</a:t>
            </a:r>
          </a:p>
          <a:p>
            <a:r>
              <a:rPr lang="en-US" b="0" i="0" dirty="0">
                <a:solidFill>
                  <a:srgbClr val="202124"/>
                </a:solidFill>
                <a:effectLst/>
              </a:rPr>
              <a:t> There are </a:t>
            </a:r>
            <a:r>
              <a:rPr lang="en-US" b="1" i="0" dirty="0">
                <a:solidFill>
                  <a:srgbClr val="7030A0"/>
                </a:solidFill>
                <a:effectLst/>
              </a:rPr>
              <a:t>two Jump statements </a:t>
            </a:r>
            <a:r>
              <a:rPr lang="en-US" b="0" i="0" dirty="0">
                <a:solidFill>
                  <a:srgbClr val="202124"/>
                </a:solidFill>
                <a:effectLst/>
              </a:rPr>
              <a:t>that are provided in the Java programming language:</a:t>
            </a:r>
          </a:p>
          <a:p>
            <a:r>
              <a:rPr lang="en-US" b="0" i="0" dirty="0">
                <a:solidFill>
                  <a:srgbClr val="202124"/>
                </a:solidFill>
                <a:effectLst/>
              </a:rPr>
              <a:t> </a:t>
            </a:r>
            <a:r>
              <a:rPr lang="en-US" b="1" dirty="0">
                <a:solidFill>
                  <a:srgbClr val="7030A0"/>
                </a:solidFill>
              </a:rPr>
              <a:t>b</a:t>
            </a:r>
            <a:r>
              <a:rPr lang="en-US" b="1" i="0" dirty="0">
                <a:solidFill>
                  <a:srgbClr val="7030A0"/>
                </a:solidFill>
                <a:effectLst/>
              </a:rPr>
              <a:t>reak statement.</a:t>
            </a:r>
          </a:p>
          <a:p>
            <a:r>
              <a:rPr lang="en-US" b="1" i="0" dirty="0">
                <a:solidFill>
                  <a:srgbClr val="7030A0"/>
                </a:solidFill>
                <a:effectLst/>
              </a:rPr>
              <a:t> continue statement</a:t>
            </a:r>
            <a:r>
              <a:rPr lang="en-US" b="1" i="0" dirty="0">
                <a:solidFill>
                  <a:srgbClr val="7030A0"/>
                </a:solidFill>
                <a:effectLst/>
                <a:latin typeface="Google Sans"/>
              </a:rPr>
              <a:t>.</a:t>
            </a:r>
            <a:endParaRPr lang="en-IN" b="1" dirty="0">
              <a:solidFill>
                <a:srgbClr val="7030A0"/>
              </a:solidFill>
            </a:endParaRPr>
          </a:p>
        </p:txBody>
      </p:sp>
    </p:spTree>
    <p:extLst>
      <p:ext uri="{BB962C8B-B14F-4D97-AF65-F5344CB8AC3E}">
        <p14:creationId xmlns:p14="http://schemas.microsoft.com/office/powerpoint/2010/main" val="3005274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C2150-B28C-DDFC-3324-2A154CB9B5E2}"/>
              </a:ext>
            </a:extLst>
          </p:cNvPr>
          <p:cNvSpPr>
            <a:spLocks noGrp="1"/>
          </p:cNvSpPr>
          <p:nvPr>
            <p:ph idx="1"/>
          </p:nvPr>
        </p:nvSpPr>
        <p:spPr>
          <a:xfrm>
            <a:off x="838200" y="597159"/>
            <a:ext cx="10515600" cy="5579804"/>
          </a:xfrm>
        </p:spPr>
        <p:txBody>
          <a:bodyPr/>
          <a:lstStyle/>
          <a:p>
            <a:pPr marL="0" indent="0">
              <a:buNone/>
            </a:pPr>
            <a:r>
              <a:rPr lang="en-IN" b="1" dirty="0">
                <a:solidFill>
                  <a:srgbClr val="7030A0"/>
                </a:solidFill>
              </a:rPr>
              <a:t>Break Statement</a:t>
            </a:r>
          </a:p>
          <a:p>
            <a:r>
              <a:rPr lang="en-US" sz="2800" dirty="0"/>
              <a:t>The Java </a:t>
            </a:r>
            <a:r>
              <a:rPr lang="en-US" sz="2800" i="1" dirty="0"/>
              <a:t>break</a:t>
            </a:r>
            <a:r>
              <a:rPr lang="en-US" sz="2800" dirty="0"/>
              <a:t> statement is used to break loop or </a:t>
            </a:r>
            <a:r>
              <a:rPr lang="en-US" sz="2800" dirty="0">
                <a:hlinkClick r:id="rId2"/>
              </a:rPr>
              <a:t>switch</a:t>
            </a:r>
            <a:r>
              <a:rPr lang="en-US" sz="2800" dirty="0"/>
              <a:t> statement. It breaks the current flow of the program at specified condition.</a:t>
            </a:r>
          </a:p>
          <a:p>
            <a:r>
              <a:rPr lang="en-US" sz="2800" dirty="0"/>
              <a:t> In case of inner loop, it breaks only inner loop.</a:t>
            </a:r>
          </a:p>
          <a:p>
            <a:pPr marL="0" indent="0">
              <a:buNone/>
            </a:pPr>
            <a:r>
              <a:rPr lang="en-US" sz="2800" b="1" dirty="0">
                <a:solidFill>
                  <a:srgbClr val="7030A0"/>
                </a:solidFill>
              </a:rPr>
              <a:t>   Syntax:</a:t>
            </a:r>
          </a:p>
          <a:p>
            <a:pPr marL="0" indent="0">
              <a:buNone/>
            </a:pPr>
            <a:r>
              <a:rPr lang="en-IN" sz="2800" dirty="0"/>
              <a:t>   jump-statement;    </a:t>
            </a:r>
          </a:p>
          <a:p>
            <a:pPr marL="0" indent="0">
              <a:buNone/>
            </a:pPr>
            <a:r>
              <a:rPr lang="en-IN" sz="2800" b="1" dirty="0"/>
              <a:t>   break</a:t>
            </a:r>
            <a:r>
              <a:rPr lang="en-IN" sz="2800" dirty="0"/>
              <a:t>;  </a:t>
            </a:r>
          </a:p>
          <a:p>
            <a:pPr marL="0" indent="0">
              <a:buNone/>
            </a:pPr>
            <a:endParaRPr lang="en-IN" dirty="0"/>
          </a:p>
        </p:txBody>
      </p:sp>
    </p:spTree>
    <p:extLst>
      <p:ext uri="{BB962C8B-B14F-4D97-AF65-F5344CB8AC3E}">
        <p14:creationId xmlns:p14="http://schemas.microsoft.com/office/powerpoint/2010/main" val="15193679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303A3-F187-C32F-7847-24E7E5AE7FC3}"/>
              </a:ext>
            </a:extLst>
          </p:cNvPr>
          <p:cNvSpPr>
            <a:spLocks noGrp="1"/>
          </p:cNvSpPr>
          <p:nvPr>
            <p:ph idx="1"/>
          </p:nvPr>
        </p:nvSpPr>
        <p:spPr>
          <a:xfrm>
            <a:off x="838200" y="625151"/>
            <a:ext cx="10515600" cy="5551812"/>
          </a:xfrm>
        </p:spPr>
        <p:txBody>
          <a:bodyPr/>
          <a:lstStyle/>
          <a:p>
            <a:pPr marL="0" indent="0">
              <a:buNone/>
            </a:pPr>
            <a:r>
              <a:rPr lang="en-IN" b="1" dirty="0">
                <a:solidFill>
                  <a:srgbClr val="7030A0"/>
                </a:solidFill>
              </a:rPr>
              <a:t>Continue Statement</a:t>
            </a:r>
          </a:p>
          <a:p>
            <a:r>
              <a:rPr lang="en-US" sz="2800" dirty="0"/>
              <a:t>The Java</a:t>
            </a:r>
            <a:r>
              <a:rPr lang="en-US" sz="2800" b="1" dirty="0">
                <a:solidFill>
                  <a:srgbClr val="7030A0"/>
                </a:solidFill>
              </a:rPr>
              <a:t> </a:t>
            </a:r>
            <a:r>
              <a:rPr lang="en-US" sz="2800" b="1" i="1" dirty="0">
                <a:solidFill>
                  <a:srgbClr val="7030A0"/>
                </a:solidFill>
              </a:rPr>
              <a:t>continue statement</a:t>
            </a:r>
            <a:r>
              <a:rPr lang="en-US" sz="2800" dirty="0"/>
              <a:t> is used to </a:t>
            </a:r>
            <a:r>
              <a:rPr lang="en-US" sz="2800" b="1" dirty="0">
                <a:solidFill>
                  <a:srgbClr val="7030A0"/>
                </a:solidFill>
              </a:rPr>
              <a:t>continue the loop.</a:t>
            </a:r>
            <a:r>
              <a:rPr lang="en-US" sz="2800" dirty="0"/>
              <a:t> </a:t>
            </a:r>
          </a:p>
          <a:p>
            <a:r>
              <a:rPr lang="en-US" sz="2800" dirty="0"/>
              <a:t>It continues the </a:t>
            </a:r>
            <a:r>
              <a:rPr lang="en-US" sz="2800" b="1" dirty="0">
                <a:solidFill>
                  <a:srgbClr val="7030A0"/>
                </a:solidFill>
              </a:rPr>
              <a:t>current flow </a:t>
            </a:r>
            <a:r>
              <a:rPr lang="en-US" sz="2800" dirty="0"/>
              <a:t>of the program and </a:t>
            </a:r>
            <a:r>
              <a:rPr lang="en-US" sz="2800" b="1" dirty="0">
                <a:solidFill>
                  <a:srgbClr val="7030A0"/>
                </a:solidFill>
              </a:rPr>
              <a:t>skips the remaining code </a:t>
            </a:r>
            <a:r>
              <a:rPr lang="en-US" sz="2800" dirty="0"/>
              <a:t>at the specified condition.</a:t>
            </a:r>
          </a:p>
          <a:p>
            <a:r>
              <a:rPr lang="en-US" sz="2800" dirty="0"/>
              <a:t> </a:t>
            </a:r>
            <a:r>
              <a:rPr lang="en-US" sz="2800" b="1" dirty="0">
                <a:solidFill>
                  <a:srgbClr val="7030A0"/>
                </a:solidFill>
              </a:rPr>
              <a:t>In case of an inner loop, it continues the inner loop only.</a:t>
            </a:r>
          </a:p>
          <a:p>
            <a:pPr marL="0" indent="0">
              <a:buNone/>
            </a:pPr>
            <a:r>
              <a:rPr lang="en-IN" sz="2800" b="1" dirty="0">
                <a:solidFill>
                  <a:srgbClr val="7030A0"/>
                </a:solidFill>
              </a:rPr>
              <a:t>Syntax:</a:t>
            </a:r>
          </a:p>
          <a:p>
            <a:pPr marL="0" indent="0">
              <a:buNone/>
            </a:pPr>
            <a:r>
              <a:rPr lang="en-IN" sz="2800" dirty="0"/>
              <a:t>         jump-statement;    </a:t>
            </a:r>
          </a:p>
          <a:p>
            <a:pPr marL="0" indent="0">
              <a:buNone/>
            </a:pPr>
            <a:r>
              <a:rPr lang="en-IN" sz="2800" b="1" dirty="0"/>
              <a:t>         continue</a:t>
            </a:r>
            <a:r>
              <a:rPr lang="en-IN" sz="2800" dirty="0"/>
              <a:t>;  </a:t>
            </a:r>
          </a:p>
          <a:p>
            <a:pPr marL="0" indent="0">
              <a:buNone/>
            </a:pPr>
            <a:endParaRPr lang="en-IN" sz="2800" b="1" dirty="0">
              <a:solidFill>
                <a:srgbClr val="7030A0"/>
              </a:solidFill>
            </a:endParaRPr>
          </a:p>
          <a:p>
            <a:endParaRPr lang="en-IN" dirty="0"/>
          </a:p>
        </p:txBody>
      </p:sp>
    </p:spTree>
    <p:extLst>
      <p:ext uri="{BB962C8B-B14F-4D97-AF65-F5344CB8AC3E}">
        <p14:creationId xmlns:p14="http://schemas.microsoft.com/office/powerpoint/2010/main" val="8687215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a:t>
            </a:r>
            <a:endParaRPr lang="en-IN" dirty="0"/>
          </a:p>
        </p:txBody>
      </p:sp>
      <p:sp>
        <p:nvSpPr>
          <p:cNvPr id="3" name="Content Placeholder 2"/>
          <p:cNvSpPr>
            <a:spLocks noGrp="1"/>
          </p:cNvSpPr>
          <p:nvPr>
            <p:ph idx="1"/>
          </p:nvPr>
        </p:nvSpPr>
        <p:spPr>
          <a:xfrm>
            <a:off x="1981200" y="1412776"/>
            <a:ext cx="8229600" cy="5256584"/>
          </a:xfrm>
        </p:spPr>
        <p:txBody>
          <a:bodyPr>
            <a:normAutofit lnSpcReduction="10000"/>
          </a:bodyPr>
          <a:lstStyle/>
          <a:p>
            <a:r>
              <a:rPr lang="en-US" sz="3000" dirty="0"/>
              <a:t>An array is </a:t>
            </a:r>
            <a:r>
              <a:rPr lang="en-US" sz="3000" b="1" dirty="0"/>
              <a:t>a container object that holds a fixed number of values of a single type</a:t>
            </a:r>
            <a:r>
              <a:rPr lang="en-US" sz="3000" dirty="0"/>
              <a:t>. The length of an array is established when the array is created. After creation, its length is fixed. </a:t>
            </a:r>
          </a:p>
          <a:p>
            <a:endParaRPr lang="en-US" sz="3000" dirty="0"/>
          </a:p>
          <a:p>
            <a:endParaRPr lang="en-US" sz="3000" dirty="0"/>
          </a:p>
          <a:p>
            <a:endParaRPr lang="en-US" sz="3000" dirty="0"/>
          </a:p>
          <a:p>
            <a:endParaRPr lang="en-US" sz="3000" dirty="0"/>
          </a:p>
          <a:p>
            <a:r>
              <a:rPr lang="en-US" sz="2400" b="1" dirty="0">
                <a:solidFill>
                  <a:srgbClr val="7030A0"/>
                </a:solidFill>
              </a:rPr>
              <a:t>Real time Example:</a:t>
            </a:r>
          </a:p>
          <a:p>
            <a:r>
              <a:rPr lang="en-US" sz="2400" b="1" dirty="0">
                <a:solidFill>
                  <a:srgbClr val="7030A0"/>
                </a:solidFill>
              </a:rPr>
              <a:t>Mobile number saving.</a:t>
            </a:r>
          </a:p>
          <a:p>
            <a:r>
              <a:rPr lang="en-US" sz="2400" b="1" dirty="0">
                <a:solidFill>
                  <a:srgbClr val="7030A0"/>
                </a:solidFill>
              </a:rPr>
              <a:t>Show room.</a:t>
            </a:r>
          </a:p>
          <a:p>
            <a:endParaRPr lang="en-IN" sz="3000" dirty="0"/>
          </a:p>
        </p:txBody>
      </p:sp>
      <p:pic>
        <p:nvPicPr>
          <p:cNvPr id="1026" name="Picture 2" descr="C:\Users\STAFF\Desktop\Kokila\array.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447" y="3070426"/>
            <a:ext cx="5688632" cy="158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327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lstStyle/>
          <a:p>
            <a:pPr marL="0" indent="0">
              <a:buNone/>
            </a:pPr>
            <a:r>
              <a:rPr lang="en-US" b="1" dirty="0">
                <a:solidFill>
                  <a:srgbClr val="7030A0"/>
                </a:solidFill>
              </a:rPr>
              <a:t>Advantages</a:t>
            </a:r>
          </a:p>
          <a:p>
            <a:r>
              <a:rPr lang="en-US" sz="3000" b="1" dirty="0">
                <a:solidFill>
                  <a:srgbClr val="7030A0"/>
                </a:solidFill>
              </a:rPr>
              <a:t>Code Optimization</a:t>
            </a:r>
            <a:r>
              <a:rPr lang="en-US" sz="3000" b="1" dirty="0"/>
              <a:t>:</a:t>
            </a:r>
            <a:r>
              <a:rPr lang="en-US" sz="3000" dirty="0"/>
              <a:t> It makes the code optimized, we can retrieve or sort the data efficiently.</a:t>
            </a:r>
          </a:p>
          <a:p>
            <a:r>
              <a:rPr lang="en-US" sz="3000" b="1" dirty="0">
                <a:solidFill>
                  <a:srgbClr val="7030A0"/>
                </a:solidFill>
              </a:rPr>
              <a:t>Random access:</a:t>
            </a:r>
            <a:r>
              <a:rPr lang="en-US" sz="3000" dirty="0"/>
              <a:t> We can get any data located at an index position.</a:t>
            </a:r>
          </a:p>
          <a:p>
            <a:pPr marL="0" indent="0">
              <a:buNone/>
            </a:pPr>
            <a:r>
              <a:rPr lang="en-IN" b="1" dirty="0">
                <a:solidFill>
                  <a:srgbClr val="7030A0"/>
                </a:solidFill>
              </a:rPr>
              <a:t>Disadvantages</a:t>
            </a:r>
          </a:p>
          <a:p>
            <a:r>
              <a:rPr lang="en-US" b="1" dirty="0">
                <a:solidFill>
                  <a:srgbClr val="7030A0"/>
                </a:solidFill>
              </a:rPr>
              <a:t>Size Limit:</a:t>
            </a:r>
            <a:r>
              <a:rPr lang="en-US" dirty="0"/>
              <a:t> We can store only the fixed size of elements in the array. It doesn't grow its size at runtime.</a:t>
            </a:r>
            <a:endParaRPr lang="en-IN" b="1" dirty="0">
              <a:solidFill>
                <a:srgbClr val="7030A0"/>
              </a:solidFill>
            </a:endParaRPr>
          </a:p>
          <a:p>
            <a:endParaRPr lang="en-US" sz="3000" dirty="0"/>
          </a:p>
          <a:p>
            <a:endParaRPr lang="en-IN" dirty="0"/>
          </a:p>
        </p:txBody>
      </p:sp>
    </p:spTree>
    <p:extLst>
      <p:ext uri="{BB962C8B-B14F-4D97-AF65-F5344CB8AC3E}">
        <p14:creationId xmlns:p14="http://schemas.microsoft.com/office/powerpoint/2010/main" val="36132164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lstStyle/>
          <a:p>
            <a:pPr marL="0" indent="0">
              <a:buNone/>
            </a:pPr>
            <a:r>
              <a:rPr lang="en-US" b="1" dirty="0">
                <a:solidFill>
                  <a:srgbClr val="7030A0"/>
                </a:solidFill>
              </a:rPr>
              <a:t>Types of Array in java</a:t>
            </a:r>
          </a:p>
          <a:p>
            <a:pPr marL="0" indent="0">
              <a:buNone/>
            </a:pPr>
            <a:r>
              <a:rPr lang="en-US" sz="3000" dirty="0"/>
              <a:t>There are </a:t>
            </a:r>
            <a:r>
              <a:rPr lang="en-US" sz="3000" dirty="0">
                <a:solidFill>
                  <a:srgbClr val="7030A0"/>
                </a:solidFill>
              </a:rPr>
              <a:t>two types </a:t>
            </a:r>
            <a:r>
              <a:rPr lang="en-US" sz="3000" dirty="0"/>
              <a:t>of array.</a:t>
            </a:r>
          </a:p>
          <a:p>
            <a:r>
              <a:rPr lang="en-US" sz="3000" dirty="0"/>
              <a:t>Single Dimensional Array</a:t>
            </a:r>
          </a:p>
          <a:p>
            <a:r>
              <a:rPr lang="en-US" sz="3000" dirty="0"/>
              <a:t>Multidimensional Array</a:t>
            </a:r>
          </a:p>
          <a:p>
            <a:pPr marL="0" indent="0">
              <a:buNone/>
            </a:pPr>
            <a:r>
              <a:rPr lang="en-US" b="1" dirty="0">
                <a:solidFill>
                  <a:srgbClr val="7030A0"/>
                </a:solidFill>
              </a:rPr>
              <a:t>Syntax to Declare an Array in Java</a:t>
            </a:r>
            <a:endParaRPr lang="en-US" dirty="0">
              <a:solidFill>
                <a:srgbClr val="7030A0"/>
              </a:solidFill>
            </a:endParaRPr>
          </a:p>
          <a:p>
            <a:pPr marL="0" indent="0">
              <a:buNone/>
            </a:pPr>
            <a:r>
              <a:rPr lang="en-US" sz="3000" dirty="0"/>
              <a:t>dataType[] arr; (or)  </a:t>
            </a:r>
          </a:p>
          <a:p>
            <a:pPr marL="0" indent="0">
              <a:buNone/>
            </a:pPr>
            <a:r>
              <a:rPr lang="en-US" sz="3000" dirty="0"/>
              <a:t>dataType arr[];  </a:t>
            </a:r>
          </a:p>
          <a:p>
            <a:pPr marL="0" indent="0">
              <a:buNone/>
            </a:pPr>
            <a:r>
              <a:rPr lang="en-IN" sz="3000" b="1" spc="-170" dirty="0">
                <a:solidFill>
                  <a:srgbClr val="7030A0"/>
                </a:solidFill>
                <a:cs typeface="Calibri"/>
              </a:rPr>
              <a:t>D</a:t>
            </a:r>
            <a:r>
              <a:rPr lang="en-IN" sz="3000" b="1" spc="-220" dirty="0">
                <a:solidFill>
                  <a:srgbClr val="7030A0"/>
                </a:solidFill>
                <a:cs typeface="Calibri"/>
              </a:rPr>
              <a:t>a</a:t>
            </a:r>
            <a:r>
              <a:rPr lang="en-IN" sz="3000" b="1" spc="-225" dirty="0">
                <a:solidFill>
                  <a:srgbClr val="7030A0"/>
                </a:solidFill>
                <a:cs typeface="Calibri"/>
              </a:rPr>
              <a:t>t</a:t>
            </a:r>
            <a:r>
              <a:rPr lang="en-IN" sz="3000" b="1" spc="-220" dirty="0">
                <a:solidFill>
                  <a:srgbClr val="7030A0"/>
                </a:solidFill>
                <a:cs typeface="Calibri"/>
              </a:rPr>
              <a:t>a</a:t>
            </a:r>
            <a:r>
              <a:rPr lang="en-IN" sz="3000" b="1" spc="-175" dirty="0">
                <a:solidFill>
                  <a:srgbClr val="7030A0"/>
                </a:solidFill>
                <a:cs typeface="Calibri"/>
              </a:rPr>
              <a:t>t</a:t>
            </a:r>
            <a:r>
              <a:rPr lang="en-IN" sz="3000" b="1" spc="-170" dirty="0">
                <a:solidFill>
                  <a:srgbClr val="7030A0"/>
                </a:solidFill>
                <a:cs typeface="Calibri"/>
              </a:rPr>
              <a:t>y</a:t>
            </a:r>
            <a:r>
              <a:rPr lang="en-IN" sz="3000" b="1" spc="-204" dirty="0">
                <a:solidFill>
                  <a:srgbClr val="7030A0"/>
                </a:solidFill>
                <a:cs typeface="Calibri"/>
              </a:rPr>
              <a:t>p</a:t>
            </a:r>
            <a:r>
              <a:rPr lang="en-IN" sz="3000" b="1" dirty="0">
                <a:solidFill>
                  <a:srgbClr val="7030A0"/>
                </a:solidFill>
                <a:cs typeface="Calibri"/>
              </a:rPr>
              <a:t>e</a:t>
            </a:r>
            <a:r>
              <a:rPr lang="en-IN" sz="3000" b="1" spc="-350" dirty="0">
                <a:solidFill>
                  <a:srgbClr val="7030A0"/>
                </a:solidFill>
                <a:cs typeface="Calibri"/>
              </a:rPr>
              <a:t> </a:t>
            </a:r>
            <a:r>
              <a:rPr lang="en-IN" sz="3000" b="1" spc="-170" dirty="0">
                <a:solidFill>
                  <a:srgbClr val="7030A0"/>
                </a:solidFill>
                <a:cs typeface="Calibri"/>
              </a:rPr>
              <a:t>a</a:t>
            </a:r>
            <a:r>
              <a:rPr lang="en-IN" sz="3000" b="1" spc="-165" dirty="0">
                <a:solidFill>
                  <a:srgbClr val="7030A0"/>
                </a:solidFill>
                <a:cs typeface="Calibri"/>
              </a:rPr>
              <a:t>r</a:t>
            </a:r>
            <a:r>
              <a:rPr lang="en-IN" sz="3000" b="1" spc="-260" dirty="0">
                <a:solidFill>
                  <a:srgbClr val="7030A0"/>
                </a:solidFill>
                <a:cs typeface="Calibri"/>
              </a:rPr>
              <a:t>r</a:t>
            </a:r>
            <a:r>
              <a:rPr lang="en-IN" sz="3000" b="1" spc="-265" dirty="0">
                <a:solidFill>
                  <a:srgbClr val="7030A0"/>
                </a:solidFill>
                <a:cs typeface="Calibri"/>
              </a:rPr>
              <a:t>a</a:t>
            </a:r>
            <a:r>
              <a:rPr lang="en-IN" sz="3000" b="1" spc="-170" dirty="0">
                <a:solidFill>
                  <a:srgbClr val="7030A0"/>
                </a:solidFill>
                <a:cs typeface="Calibri"/>
              </a:rPr>
              <a:t>y</a:t>
            </a:r>
            <a:r>
              <a:rPr lang="en-IN" sz="3000" b="1" spc="-204" dirty="0">
                <a:solidFill>
                  <a:srgbClr val="7030A0"/>
                </a:solidFill>
                <a:cs typeface="Calibri"/>
              </a:rPr>
              <a:t>n</a:t>
            </a:r>
            <a:r>
              <a:rPr lang="en-IN" sz="3000" b="1" spc="-170" dirty="0">
                <a:solidFill>
                  <a:srgbClr val="7030A0"/>
                </a:solidFill>
                <a:cs typeface="Calibri"/>
              </a:rPr>
              <a:t>a</a:t>
            </a:r>
            <a:r>
              <a:rPr lang="en-IN" sz="3000" b="1" spc="-175" dirty="0">
                <a:solidFill>
                  <a:srgbClr val="7030A0"/>
                </a:solidFill>
                <a:cs typeface="Calibri"/>
              </a:rPr>
              <a:t>me</a:t>
            </a:r>
            <a:r>
              <a:rPr lang="en-IN" sz="3000" b="1" dirty="0">
                <a:solidFill>
                  <a:srgbClr val="7030A0"/>
                </a:solidFill>
                <a:cs typeface="Calibri"/>
              </a:rPr>
              <a:t>[</a:t>
            </a:r>
            <a:r>
              <a:rPr lang="en-IN" sz="3000" b="1" spc="-345" dirty="0">
                <a:solidFill>
                  <a:srgbClr val="7030A0"/>
                </a:solidFill>
                <a:cs typeface="Calibri"/>
              </a:rPr>
              <a:t> </a:t>
            </a:r>
            <a:r>
              <a:rPr lang="en-IN" sz="3000" b="1" spc="-165" dirty="0">
                <a:solidFill>
                  <a:srgbClr val="7030A0"/>
                </a:solidFill>
                <a:cs typeface="Calibri"/>
              </a:rPr>
              <a:t>]</a:t>
            </a:r>
            <a:r>
              <a:rPr lang="en-IN" sz="3000" b="1" spc="-175" dirty="0">
                <a:solidFill>
                  <a:srgbClr val="7030A0"/>
                </a:solidFill>
                <a:cs typeface="Calibri"/>
              </a:rPr>
              <a:t>=</a:t>
            </a:r>
            <a:r>
              <a:rPr lang="en-IN" sz="3000" b="1" spc="-204" dirty="0">
                <a:solidFill>
                  <a:srgbClr val="7030A0"/>
                </a:solidFill>
                <a:cs typeface="Calibri"/>
              </a:rPr>
              <a:t>n</a:t>
            </a:r>
            <a:r>
              <a:rPr lang="en-IN" sz="3000" b="1" spc="-225" dirty="0">
                <a:solidFill>
                  <a:srgbClr val="7030A0"/>
                </a:solidFill>
                <a:cs typeface="Calibri"/>
              </a:rPr>
              <a:t>e</a:t>
            </a:r>
            <a:r>
              <a:rPr lang="en-IN" sz="3000" b="1" spc="5" dirty="0">
                <a:solidFill>
                  <a:srgbClr val="7030A0"/>
                </a:solidFill>
                <a:cs typeface="Calibri"/>
              </a:rPr>
              <a:t>w</a:t>
            </a:r>
            <a:r>
              <a:rPr lang="en-IN" sz="3000" b="1" spc="-245" dirty="0">
                <a:solidFill>
                  <a:srgbClr val="7030A0"/>
                </a:solidFill>
                <a:cs typeface="Calibri"/>
              </a:rPr>
              <a:t> </a:t>
            </a:r>
            <a:r>
              <a:rPr lang="en-IN" sz="3000" b="1" spc="-204" dirty="0">
                <a:solidFill>
                  <a:srgbClr val="7030A0"/>
                </a:solidFill>
                <a:cs typeface="Calibri"/>
              </a:rPr>
              <a:t>d</a:t>
            </a:r>
            <a:r>
              <a:rPr lang="en-IN" sz="3000" b="1" spc="-220" dirty="0">
                <a:solidFill>
                  <a:srgbClr val="7030A0"/>
                </a:solidFill>
                <a:cs typeface="Calibri"/>
              </a:rPr>
              <a:t>a</a:t>
            </a:r>
            <a:r>
              <a:rPr lang="en-IN" sz="3000" b="1" spc="-225" dirty="0">
                <a:solidFill>
                  <a:srgbClr val="7030A0"/>
                </a:solidFill>
                <a:cs typeface="Calibri"/>
              </a:rPr>
              <a:t>t</a:t>
            </a:r>
            <a:r>
              <a:rPr lang="en-IN" sz="3000" b="1" spc="-220" dirty="0">
                <a:solidFill>
                  <a:srgbClr val="7030A0"/>
                </a:solidFill>
                <a:cs typeface="Calibri"/>
              </a:rPr>
              <a:t>a</a:t>
            </a:r>
            <a:r>
              <a:rPr lang="en-IN" sz="3000" b="1" spc="-175" dirty="0">
                <a:solidFill>
                  <a:srgbClr val="7030A0"/>
                </a:solidFill>
                <a:cs typeface="Calibri"/>
              </a:rPr>
              <a:t>t</a:t>
            </a:r>
            <a:r>
              <a:rPr lang="en-IN" sz="3000" b="1" spc="-170" dirty="0">
                <a:solidFill>
                  <a:srgbClr val="7030A0"/>
                </a:solidFill>
                <a:cs typeface="Calibri"/>
              </a:rPr>
              <a:t>y</a:t>
            </a:r>
            <a:r>
              <a:rPr lang="en-IN" sz="3000" b="1" spc="-204" dirty="0">
                <a:solidFill>
                  <a:srgbClr val="7030A0"/>
                </a:solidFill>
                <a:cs typeface="Calibri"/>
              </a:rPr>
              <a:t>p</a:t>
            </a:r>
            <a:r>
              <a:rPr lang="en-IN" sz="3000" b="1" spc="-175" dirty="0">
                <a:solidFill>
                  <a:srgbClr val="7030A0"/>
                </a:solidFill>
                <a:cs typeface="Calibri"/>
              </a:rPr>
              <a:t>e</a:t>
            </a:r>
            <a:r>
              <a:rPr lang="en-IN" sz="3000" b="1" dirty="0">
                <a:solidFill>
                  <a:srgbClr val="7030A0"/>
                </a:solidFill>
                <a:cs typeface="Calibri"/>
              </a:rPr>
              <a:t>[size</a:t>
            </a:r>
            <a:r>
              <a:rPr lang="en-IN" sz="3000" b="1" spc="-250" dirty="0">
                <a:solidFill>
                  <a:srgbClr val="7030A0"/>
                </a:solidFill>
                <a:cs typeface="Calibri"/>
              </a:rPr>
              <a:t> </a:t>
            </a:r>
            <a:r>
              <a:rPr lang="en-IN" sz="3000" b="1" spc="-165" dirty="0">
                <a:solidFill>
                  <a:srgbClr val="7030A0"/>
                </a:solidFill>
                <a:cs typeface="Calibri"/>
              </a:rPr>
              <a:t>]</a:t>
            </a:r>
            <a:r>
              <a:rPr lang="en-IN" sz="3000" b="1" dirty="0">
                <a:solidFill>
                  <a:srgbClr val="7030A0"/>
                </a:solidFill>
                <a:cs typeface="Calibri"/>
              </a:rPr>
              <a:t>;</a:t>
            </a:r>
          </a:p>
          <a:p>
            <a:pPr marL="0" indent="0">
              <a:buNone/>
            </a:pPr>
            <a:endParaRPr lang="en-US" sz="3000" dirty="0"/>
          </a:p>
        </p:txBody>
      </p:sp>
    </p:spTree>
    <p:extLst>
      <p:ext uri="{BB962C8B-B14F-4D97-AF65-F5344CB8AC3E}">
        <p14:creationId xmlns:p14="http://schemas.microsoft.com/office/powerpoint/2010/main" val="23235435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pc="-10" dirty="0"/>
              <a:t>Single</a:t>
            </a:r>
            <a:r>
              <a:rPr lang="en-IN" spc="-20" dirty="0"/>
              <a:t> </a:t>
            </a:r>
            <a:r>
              <a:rPr lang="en-IN" spc="-10" dirty="0"/>
              <a:t>dimensional</a:t>
            </a:r>
            <a:r>
              <a:rPr lang="en-IN" spc="-5" dirty="0"/>
              <a:t> </a:t>
            </a:r>
            <a:r>
              <a:rPr lang="en-IN" spc="-25" dirty="0"/>
              <a:t>array</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b="1" dirty="0"/>
              <a:t>class</a:t>
            </a:r>
            <a:r>
              <a:rPr lang="en-US" dirty="0"/>
              <a:t> </a:t>
            </a:r>
            <a:r>
              <a:rPr lang="en-US" dirty="0" err="1"/>
              <a:t>Testarray</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b="1" dirty="0" err="1"/>
              <a:t>int</a:t>
            </a:r>
            <a:r>
              <a:rPr lang="en-US" dirty="0"/>
              <a:t> a[]=</a:t>
            </a:r>
            <a:r>
              <a:rPr lang="en-US" b="1" dirty="0"/>
              <a:t>new</a:t>
            </a:r>
            <a:r>
              <a:rPr lang="en-US" dirty="0"/>
              <a:t> </a:t>
            </a:r>
            <a:r>
              <a:rPr lang="en-US" b="1" dirty="0" err="1"/>
              <a:t>int</a:t>
            </a:r>
            <a:r>
              <a:rPr lang="en-US" dirty="0"/>
              <a:t>[5]; </a:t>
            </a:r>
          </a:p>
          <a:p>
            <a:pPr marL="0" indent="0">
              <a:buNone/>
            </a:pPr>
            <a:r>
              <a:rPr lang="en-US" dirty="0"/>
              <a:t>a[0]=10;//initialization  </a:t>
            </a:r>
          </a:p>
          <a:p>
            <a:pPr marL="0" indent="0">
              <a:buNone/>
            </a:pPr>
            <a:r>
              <a:rPr lang="en-US" dirty="0"/>
              <a:t>a[1]=20;  </a:t>
            </a:r>
          </a:p>
          <a:p>
            <a:pPr marL="0" indent="0">
              <a:buNone/>
            </a:pPr>
            <a:r>
              <a:rPr lang="en-US" dirty="0"/>
              <a:t>a[2]=70;  </a:t>
            </a:r>
          </a:p>
          <a:p>
            <a:pPr marL="0" indent="0">
              <a:buNone/>
            </a:pPr>
            <a:r>
              <a:rPr lang="en-US" b="1" dirty="0"/>
              <a:t>for</a:t>
            </a:r>
            <a:r>
              <a:rPr lang="en-US" dirty="0"/>
              <a:t>(</a:t>
            </a:r>
            <a:r>
              <a:rPr lang="en-US" b="1" dirty="0" err="1"/>
              <a:t>int</a:t>
            </a:r>
            <a:r>
              <a:rPr lang="en-US" dirty="0"/>
              <a:t> i=0;i&lt;</a:t>
            </a:r>
            <a:r>
              <a:rPr lang="en-US" dirty="0" err="1"/>
              <a:t>a.length;i</a:t>
            </a:r>
            <a:r>
              <a:rPr lang="en-US" dirty="0"/>
              <a:t>++)</a:t>
            </a:r>
          </a:p>
          <a:p>
            <a:pPr marL="0" indent="0">
              <a:buNone/>
            </a:pPr>
            <a:r>
              <a:rPr lang="en-US" dirty="0"/>
              <a:t>System.out.println(a[i]);  </a:t>
            </a:r>
          </a:p>
          <a:p>
            <a:pPr marL="0" indent="0">
              <a:buNone/>
            </a:pPr>
            <a:r>
              <a:rPr lang="en-US" dirty="0"/>
              <a:t>}}  </a:t>
            </a:r>
          </a:p>
          <a:p>
            <a:endParaRPr lang="en-IN" dirty="0"/>
          </a:p>
        </p:txBody>
      </p:sp>
    </p:spTree>
    <p:extLst>
      <p:ext uri="{BB962C8B-B14F-4D97-AF65-F5344CB8AC3E}">
        <p14:creationId xmlns:p14="http://schemas.microsoft.com/office/powerpoint/2010/main" val="25868272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Multidimensional Array </a:t>
            </a:r>
            <a:br>
              <a:rPr lang="en-IN" dirty="0"/>
            </a:br>
            <a:endParaRPr lang="en-IN" dirty="0"/>
          </a:p>
        </p:txBody>
      </p:sp>
      <p:sp>
        <p:nvSpPr>
          <p:cNvPr id="3" name="Content Placeholder 2"/>
          <p:cNvSpPr>
            <a:spLocks noGrp="1"/>
          </p:cNvSpPr>
          <p:nvPr>
            <p:ph idx="1"/>
          </p:nvPr>
        </p:nvSpPr>
        <p:spPr>
          <a:xfrm>
            <a:off x="942392" y="1119673"/>
            <a:ext cx="9206744" cy="5006491"/>
          </a:xfrm>
        </p:spPr>
        <p:txBody>
          <a:bodyPr>
            <a:noAutofit/>
          </a:bodyPr>
          <a:lstStyle/>
          <a:p>
            <a:pPr marL="0" indent="0">
              <a:buNone/>
            </a:pPr>
            <a:r>
              <a:rPr lang="en-IN" sz="3000" b="1" dirty="0"/>
              <a:t>class</a:t>
            </a:r>
            <a:r>
              <a:rPr lang="en-IN" sz="3000" dirty="0"/>
              <a:t> Testarray3{  </a:t>
            </a:r>
          </a:p>
          <a:p>
            <a:pPr marL="0" indent="0">
              <a:buNone/>
            </a:pPr>
            <a:r>
              <a:rPr lang="en-IN" sz="3000" b="1" dirty="0"/>
              <a:t>public</a:t>
            </a:r>
            <a:r>
              <a:rPr lang="en-IN" sz="3000" dirty="0"/>
              <a:t> </a:t>
            </a:r>
            <a:r>
              <a:rPr lang="en-IN" sz="3000" b="1" dirty="0"/>
              <a:t>static</a:t>
            </a:r>
            <a:r>
              <a:rPr lang="en-IN" sz="3000" dirty="0"/>
              <a:t> </a:t>
            </a:r>
            <a:r>
              <a:rPr lang="en-IN" sz="3000" b="1" dirty="0"/>
              <a:t>void</a:t>
            </a:r>
            <a:r>
              <a:rPr lang="en-IN" sz="3000" dirty="0"/>
              <a:t> main(String args[]){  </a:t>
            </a:r>
          </a:p>
          <a:p>
            <a:pPr marL="0" indent="0">
              <a:buNone/>
            </a:pPr>
            <a:r>
              <a:rPr lang="en-IN" sz="3000" b="1" dirty="0"/>
              <a:t>int</a:t>
            </a:r>
            <a:r>
              <a:rPr lang="en-IN" sz="3000" dirty="0"/>
              <a:t> </a:t>
            </a:r>
            <a:r>
              <a:rPr lang="en-IN" sz="3000" dirty="0" err="1"/>
              <a:t>arr</a:t>
            </a:r>
            <a:r>
              <a:rPr lang="en-IN" sz="3000" dirty="0"/>
              <a:t>[][]={{1,2,3},{2,4,5},{4,4,5}};  </a:t>
            </a:r>
          </a:p>
          <a:p>
            <a:pPr marL="0" indent="0">
              <a:buNone/>
            </a:pPr>
            <a:r>
              <a:rPr lang="en-IN" sz="3000" dirty="0"/>
              <a:t>//printing 2D array  </a:t>
            </a:r>
          </a:p>
          <a:p>
            <a:pPr marL="0" indent="0">
              <a:buNone/>
            </a:pPr>
            <a:r>
              <a:rPr lang="en-IN" sz="3000" b="1" dirty="0"/>
              <a:t>for</a:t>
            </a:r>
            <a:r>
              <a:rPr lang="en-IN" sz="3000" dirty="0"/>
              <a:t>(</a:t>
            </a:r>
            <a:r>
              <a:rPr lang="en-IN" sz="3000" b="1" dirty="0" err="1"/>
              <a:t>int</a:t>
            </a:r>
            <a:r>
              <a:rPr lang="en-IN" sz="3000" dirty="0"/>
              <a:t> i=0;i&lt;3;i++){  </a:t>
            </a:r>
          </a:p>
          <a:p>
            <a:pPr marL="0" indent="0">
              <a:buNone/>
            </a:pPr>
            <a:r>
              <a:rPr lang="en-IN" sz="3000" dirty="0"/>
              <a:t> </a:t>
            </a:r>
            <a:r>
              <a:rPr lang="en-IN" sz="3000" b="1" dirty="0"/>
              <a:t>for</a:t>
            </a:r>
            <a:r>
              <a:rPr lang="en-IN" sz="3000" dirty="0"/>
              <a:t>(</a:t>
            </a:r>
            <a:r>
              <a:rPr lang="en-IN" sz="3000" b="1" dirty="0" err="1"/>
              <a:t>int</a:t>
            </a:r>
            <a:r>
              <a:rPr lang="en-IN" sz="3000" dirty="0"/>
              <a:t> j=0;j&lt;3;j++){  </a:t>
            </a:r>
          </a:p>
          <a:p>
            <a:pPr marL="0" indent="0">
              <a:buNone/>
            </a:pPr>
            <a:r>
              <a:rPr lang="en-IN" sz="3000" dirty="0"/>
              <a:t>   </a:t>
            </a:r>
            <a:r>
              <a:rPr lang="en-IN" sz="3000" dirty="0" err="1"/>
              <a:t>System.out.print</a:t>
            </a:r>
            <a:r>
              <a:rPr lang="en-IN" sz="3000" dirty="0"/>
              <a:t>(</a:t>
            </a:r>
            <a:r>
              <a:rPr lang="en-IN" sz="3000" dirty="0" err="1"/>
              <a:t>arr</a:t>
            </a:r>
            <a:r>
              <a:rPr lang="en-IN" sz="3000" dirty="0"/>
              <a:t>[i][j]+" "); } </a:t>
            </a:r>
          </a:p>
          <a:p>
            <a:pPr marL="0" indent="0">
              <a:buNone/>
            </a:pPr>
            <a:r>
              <a:rPr lang="en-IN" sz="3000" dirty="0"/>
              <a:t> System.out.println();  </a:t>
            </a:r>
          </a:p>
          <a:p>
            <a:pPr marL="0" indent="0">
              <a:buNone/>
            </a:pPr>
            <a:r>
              <a:rPr lang="en-IN" sz="3000" dirty="0"/>
              <a:t>} }}  </a:t>
            </a:r>
          </a:p>
          <a:p>
            <a:pPr marL="0" indent="0">
              <a:buNone/>
            </a:pPr>
            <a:endParaRPr lang="en-IN" sz="3000" dirty="0"/>
          </a:p>
        </p:txBody>
      </p:sp>
    </p:spTree>
    <p:extLst>
      <p:ext uri="{BB962C8B-B14F-4D97-AF65-F5344CB8AC3E}">
        <p14:creationId xmlns:p14="http://schemas.microsoft.com/office/powerpoint/2010/main" val="25751686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CC43-DF56-AD97-355B-8CD8933D4B1B}"/>
              </a:ext>
            </a:extLst>
          </p:cNvPr>
          <p:cNvSpPr>
            <a:spLocks noGrp="1"/>
          </p:cNvSpPr>
          <p:nvPr>
            <p:ph type="ctrTitle"/>
          </p:nvPr>
        </p:nvSpPr>
        <p:spPr/>
        <p:txBody>
          <a:bodyPr/>
          <a:lstStyle/>
          <a:p>
            <a:r>
              <a:rPr lang="en-IN" dirty="0"/>
              <a:t>Functions in Java</a:t>
            </a:r>
          </a:p>
        </p:txBody>
      </p:sp>
      <p:sp>
        <p:nvSpPr>
          <p:cNvPr id="3" name="Subtitle 2">
            <a:extLst>
              <a:ext uri="{FF2B5EF4-FFF2-40B4-BE49-F238E27FC236}">
                <a16:creationId xmlns:a16="http://schemas.microsoft.com/office/drawing/2014/main" id="{084170EE-741E-2FC4-2AED-88E1E5E24DDA}"/>
              </a:ext>
            </a:extLst>
          </p:cNvPr>
          <p:cNvSpPr>
            <a:spLocks noGrp="1"/>
          </p:cNvSpPr>
          <p:nvPr>
            <p:ph type="subTitle" idx="1"/>
          </p:nvPr>
        </p:nvSpPr>
        <p:spPr/>
        <p:txBody>
          <a:bodyPr/>
          <a:lstStyle/>
          <a:p>
            <a:r>
              <a:rPr lang="en-IN" dirty="0"/>
              <a:t>OR</a:t>
            </a:r>
          </a:p>
          <a:p>
            <a:r>
              <a:rPr lang="en-IN" sz="4800" dirty="0"/>
              <a:t>Methods in java</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5D07D42-6B78-BCEB-5667-6FC833D8C283}"/>
                  </a:ext>
                </a:extLst>
              </p14:cNvPr>
              <p14:cNvContentPartPr/>
              <p14:nvPr/>
            </p14:nvContentPartPr>
            <p14:xfrm>
              <a:off x="4637248" y="3741230"/>
              <a:ext cx="360" cy="360"/>
            </p14:xfrm>
          </p:contentPart>
        </mc:Choice>
        <mc:Fallback xmlns="">
          <p:pic>
            <p:nvPicPr>
              <p:cNvPr id="4" name="Ink 3">
                <a:extLst>
                  <a:ext uri="{FF2B5EF4-FFF2-40B4-BE49-F238E27FC236}">
                    <a16:creationId xmlns:a16="http://schemas.microsoft.com/office/drawing/2014/main" id="{15D07D42-6B78-BCEB-5667-6FC833D8C283}"/>
                  </a:ext>
                </a:extLst>
              </p:cNvPr>
              <p:cNvPicPr/>
              <p:nvPr/>
            </p:nvPicPr>
            <p:blipFill>
              <a:blip r:embed="rId3"/>
              <a:stretch>
                <a:fillRect/>
              </a:stretch>
            </p:blipFill>
            <p:spPr>
              <a:xfrm>
                <a:off x="4628608" y="37325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0FE00E7-BD9B-B8F5-BCA2-994A17E52A67}"/>
                  </a:ext>
                </a:extLst>
              </p14:cNvPr>
              <p14:cNvContentPartPr/>
              <p14:nvPr/>
            </p14:nvContentPartPr>
            <p14:xfrm>
              <a:off x="5187688" y="3134990"/>
              <a:ext cx="360" cy="360"/>
            </p14:xfrm>
          </p:contentPart>
        </mc:Choice>
        <mc:Fallback xmlns="">
          <p:pic>
            <p:nvPicPr>
              <p:cNvPr id="5" name="Ink 4">
                <a:extLst>
                  <a:ext uri="{FF2B5EF4-FFF2-40B4-BE49-F238E27FC236}">
                    <a16:creationId xmlns:a16="http://schemas.microsoft.com/office/drawing/2014/main" id="{E0FE00E7-BD9B-B8F5-BCA2-994A17E52A67}"/>
                  </a:ext>
                </a:extLst>
              </p:cNvPr>
              <p:cNvPicPr/>
              <p:nvPr/>
            </p:nvPicPr>
            <p:blipFill>
              <a:blip r:embed="rId3"/>
              <a:stretch>
                <a:fillRect/>
              </a:stretch>
            </p:blipFill>
            <p:spPr>
              <a:xfrm>
                <a:off x="5179048" y="312635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BEFF008B-8AB1-37FF-1BA1-4B0759684D66}"/>
                  </a:ext>
                </a:extLst>
              </p14:cNvPr>
              <p14:cNvContentPartPr/>
              <p14:nvPr/>
            </p14:nvContentPartPr>
            <p14:xfrm>
              <a:off x="5626168" y="3303110"/>
              <a:ext cx="360" cy="360"/>
            </p14:xfrm>
          </p:contentPart>
        </mc:Choice>
        <mc:Fallback xmlns="">
          <p:pic>
            <p:nvPicPr>
              <p:cNvPr id="6" name="Ink 5">
                <a:extLst>
                  <a:ext uri="{FF2B5EF4-FFF2-40B4-BE49-F238E27FC236}">
                    <a16:creationId xmlns:a16="http://schemas.microsoft.com/office/drawing/2014/main" id="{BEFF008B-8AB1-37FF-1BA1-4B0759684D66}"/>
                  </a:ext>
                </a:extLst>
              </p:cNvPr>
              <p:cNvPicPr/>
              <p:nvPr/>
            </p:nvPicPr>
            <p:blipFill>
              <a:blip r:embed="rId3"/>
              <a:stretch>
                <a:fillRect/>
              </a:stretch>
            </p:blipFill>
            <p:spPr>
              <a:xfrm>
                <a:off x="5617168" y="329411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99712A6F-524E-7052-74D6-C5AC20982461}"/>
                  </a:ext>
                </a:extLst>
              </p14:cNvPr>
              <p14:cNvContentPartPr/>
              <p14:nvPr/>
            </p14:nvContentPartPr>
            <p14:xfrm>
              <a:off x="-578432" y="1744641"/>
              <a:ext cx="360" cy="360"/>
            </p14:xfrm>
          </p:contentPart>
        </mc:Choice>
        <mc:Fallback xmlns="">
          <p:pic>
            <p:nvPicPr>
              <p:cNvPr id="10" name="Ink 9">
                <a:extLst>
                  <a:ext uri="{FF2B5EF4-FFF2-40B4-BE49-F238E27FC236}">
                    <a16:creationId xmlns:a16="http://schemas.microsoft.com/office/drawing/2014/main" id="{99712A6F-524E-7052-74D6-C5AC20982461}"/>
                  </a:ext>
                </a:extLst>
              </p:cNvPr>
              <p:cNvPicPr/>
              <p:nvPr/>
            </p:nvPicPr>
            <p:blipFill>
              <a:blip r:embed="rId3"/>
              <a:stretch>
                <a:fillRect/>
              </a:stretch>
            </p:blipFill>
            <p:spPr>
              <a:xfrm>
                <a:off x="-587432" y="1736001"/>
                <a:ext cx="18000" cy="18000"/>
              </a:xfrm>
              <a:prstGeom prst="rect">
                <a:avLst/>
              </a:prstGeom>
            </p:spPr>
          </p:pic>
        </mc:Fallback>
      </mc:AlternateContent>
    </p:spTree>
    <p:extLst>
      <p:ext uri="{BB962C8B-B14F-4D97-AF65-F5344CB8AC3E}">
        <p14:creationId xmlns:p14="http://schemas.microsoft.com/office/powerpoint/2010/main" val="7523490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482A-9FC5-386B-88E2-A9287CF16EE5}"/>
              </a:ext>
            </a:extLst>
          </p:cNvPr>
          <p:cNvSpPr>
            <a:spLocks noGrp="1"/>
          </p:cNvSpPr>
          <p:nvPr>
            <p:ph type="title"/>
          </p:nvPr>
        </p:nvSpPr>
        <p:spPr>
          <a:xfrm>
            <a:off x="838200" y="365126"/>
            <a:ext cx="10515600" cy="959822"/>
          </a:xfrm>
        </p:spPr>
        <p:txBody>
          <a:bodyPr/>
          <a:lstStyle/>
          <a:p>
            <a:pPr algn="ctr"/>
            <a:r>
              <a:rPr lang="en-IN" dirty="0"/>
              <a:t>What is Functions?</a:t>
            </a:r>
          </a:p>
        </p:txBody>
      </p:sp>
      <p:sp>
        <p:nvSpPr>
          <p:cNvPr id="3" name="Content Placeholder 2">
            <a:extLst>
              <a:ext uri="{FF2B5EF4-FFF2-40B4-BE49-F238E27FC236}">
                <a16:creationId xmlns:a16="http://schemas.microsoft.com/office/drawing/2014/main" id="{E16C2A55-7FB4-8716-57D5-2DE4711E5E3B}"/>
              </a:ext>
            </a:extLst>
          </p:cNvPr>
          <p:cNvSpPr>
            <a:spLocks noGrp="1"/>
          </p:cNvSpPr>
          <p:nvPr>
            <p:ph idx="1"/>
          </p:nvPr>
        </p:nvSpPr>
        <p:spPr>
          <a:xfrm>
            <a:off x="1726163" y="1474237"/>
            <a:ext cx="8350898" cy="4702726"/>
          </a:xfrm>
        </p:spPr>
        <p:txBody>
          <a:bodyPr/>
          <a:lstStyle/>
          <a:p>
            <a:r>
              <a:rPr lang="en-US" dirty="0"/>
              <a:t>T</a:t>
            </a:r>
            <a:r>
              <a:rPr lang="en-US" sz="2800" dirty="0"/>
              <a:t>he </a:t>
            </a:r>
            <a:r>
              <a:rPr lang="en-US" sz="2800" b="1" dirty="0"/>
              <a:t>function</a:t>
            </a:r>
            <a:r>
              <a:rPr lang="en-US" sz="2800" dirty="0"/>
              <a:t> or </a:t>
            </a:r>
            <a:r>
              <a:rPr lang="en-US" sz="2800" b="1" dirty="0"/>
              <a:t>method </a:t>
            </a:r>
            <a:r>
              <a:rPr lang="en-US" sz="2800" dirty="0"/>
              <a:t> is a collection of instructions that performs a specific task.</a:t>
            </a:r>
          </a:p>
          <a:p>
            <a:r>
              <a:rPr lang="en-US" b="0" i="0" dirty="0">
                <a:solidFill>
                  <a:srgbClr val="202124"/>
                </a:solidFill>
                <a:effectLst/>
                <a:latin typeface="arial" panose="020B0604020202020204" pitchFamily="34" charset="0"/>
              </a:rPr>
              <a:t>You can pass data, known as parameters, into a method. </a:t>
            </a:r>
          </a:p>
          <a:p>
            <a:r>
              <a:rPr lang="en-US" sz="2800" dirty="0">
                <a:solidFill>
                  <a:schemeClr val="tx1"/>
                </a:solidFill>
              </a:rPr>
              <a:t>Function is a block of code which runs only it is called .</a:t>
            </a:r>
          </a:p>
          <a:p>
            <a:r>
              <a:rPr lang="en-US" b="1" dirty="0">
                <a:solidFill>
                  <a:srgbClr val="7030A0"/>
                </a:solidFill>
              </a:rPr>
              <a:t>Real time Example:</a:t>
            </a:r>
          </a:p>
          <a:p>
            <a:pPr marL="0" indent="0">
              <a:buNone/>
            </a:pPr>
            <a:r>
              <a:rPr lang="en-US" b="1" dirty="0">
                <a:solidFill>
                  <a:srgbClr val="7030A0"/>
                </a:solidFill>
              </a:rPr>
              <a:t>Switch have two functions ,that is on() and off().</a:t>
            </a:r>
          </a:p>
          <a:p>
            <a:endParaRPr lang="en-US" sz="2800" dirty="0">
              <a:solidFill>
                <a:schemeClr val="tx1"/>
              </a:solidFill>
            </a:endParaRPr>
          </a:p>
          <a:p>
            <a:pPr marL="0" indent="0">
              <a:buNone/>
            </a:pPr>
            <a:endParaRPr lang="en-US" sz="2800" dirty="0">
              <a:solidFill>
                <a:schemeClr val="tx1"/>
              </a:solidFill>
            </a:endParaRPr>
          </a:p>
          <a:p>
            <a:endParaRPr lang="en-US" sz="2800" dirty="0"/>
          </a:p>
          <a:p>
            <a:endParaRPr lang="en-IN" dirty="0"/>
          </a:p>
        </p:txBody>
      </p:sp>
    </p:spTree>
    <p:extLst>
      <p:ext uri="{BB962C8B-B14F-4D97-AF65-F5344CB8AC3E}">
        <p14:creationId xmlns:p14="http://schemas.microsoft.com/office/powerpoint/2010/main" val="34682628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AAF72-2E9A-4A38-6704-1F375BE40184}"/>
              </a:ext>
            </a:extLst>
          </p:cNvPr>
          <p:cNvSpPr>
            <a:spLocks noGrp="1"/>
          </p:cNvSpPr>
          <p:nvPr>
            <p:ph type="title"/>
          </p:nvPr>
        </p:nvSpPr>
        <p:spPr/>
        <p:txBody>
          <a:bodyPr/>
          <a:lstStyle/>
          <a:p>
            <a:pPr algn="ctr"/>
            <a:r>
              <a:rPr lang="en-IN" dirty="0"/>
              <a:t>Why Functions?</a:t>
            </a:r>
          </a:p>
        </p:txBody>
      </p:sp>
      <p:sp>
        <p:nvSpPr>
          <p:cNvPr id="3" name="Content Placeholder 2">
            <a:extLst>
              <a:ext uri="{FF2B5EF4-FFF2-40B4-BE49-F238E27FC236}">
                <a16:creationId xmlns:a16="http://schemas.microsoft.com/office/drawing/2014/main" id="{1AC1269E-794E-84E4-BF60-9F149B69EBF8}"/>
              </a:ext>
            </a:extLst>
          </p:cNvPr>
          <p:cNvSpPr>
            <a:spLocks noGrp="1"/>
          </p:cNvSpPr>
          <p:nvPr>
            <p:ph idx="1"/>
          </p:nvPr>
        </p:nvSpPr>
        <p:spPr>
          <a:xfrm>
            <a:off x="1922106" y="1825625"/>
            <a:ext cx="8556172" cy="4351338"/>
          </a:xfrm>
        </p:spPr>
        <p:txBody>
          <a:bodyPr>
            <a:normAutofit lnSpcReduction="10000"/>
          </a:bodyPr>
          <a:lstStyle/>
          <a:p>
            <a:r>
              <a:rPr lang="en-US" sz="3000" dirty="0"/>
              <a:t>It provides the </a:t>
            </a:r>
            <a:r>
              <a:rPr lang="en-US" sz="3000" b="1" dirty="0">
                <a:solidFill>
                  <a:srgbClr val="7030A0"/>
                </a:solidFill>
              </a:rPr>
              <a:t>reusability of code</a:t>
            </a:r>
            <a:r>
              <a:rPr lang="en-US" sz="3000" dirty="0"/>
              <a:t>. </a:t>
            </a:r>
          </a:p>
          <a:p>
            <a:r>
              <a:rPr lang="en-US" sz="3000" dirty="0"/>
              <a:t>It also provides the </a:t>
            </a:r>
            <a:r>
              <a:rPr lang="en-US" sz="3000" b="1" dirty="0">
                <a:solidFill>
                  <a:srgbClr val="7030A0"/>
                </a:solidFill>
              </a:rPr>
              <a:t>easy modification</a:t>
            </a:r>
            <a:r>
              <a:rPr lang="en-US" sz="3000" dirty="0">
                <a:solidFill>
                  <a:srgbClr val="7030A0"/>
                </a:solidFill>
              </a:rPr>
              <a:t> and </a:t>
            </a:r>
            <a:r>
              <a:rPr lang="en-US" sz="3000" b="1" dirty="0">
                <a:solidFill>
                  <a:srgbClr val="7030A0"/>
                </a:solidFill>
              </a:rPr>
              <a:t>readability</a:t>
            </a:r>
            <a:r>
              <a:rPr lang="en-US" sz="3000" dirty="0">
                <a:solidFill>
                  <a:srgbClr val="7030A0"/>
                </a:solidFill>
              </a:rPr>
              <a:t> of code,</a:t>
            </a:r>
            <a:r>
              <a:rPr lang="en-US" sz="3000" dirty="0"/>
              <a:t> , just by adding or removing a chunk of code. </a:t>
            </a:r>
            <a:endParaRPr lang="en-US" sz="3000" dirty="0">
              <a:solidFill>
                <a:srgbClr val="7030A0"/>
              </a:solidFill>
            </a:endParaRPr>
          </a:p>
          <a:p>
            <a:pPr algn="l">
              <a:buFont typeface="Arial" panose="020B0604020202020204" pitchFamily="34" charset="0"/>
              <a:buChar char="•"/>
            </a:pPr>
            <a:r>
              <a:rPr lang="en-US" sz="3000" b="0" i="0" dirty="0">
                <a:solidFill>
                  <a:srgbClr val="202124"/>
                </a:solidFill>
                <a:effectLst/>
              </a:rPr>
              <a:t>Function are useful in </a:t>
            </a:r>
            <a:r>
              <a:rPr lang="en-US" sz="3000" b="1" i="0" dirty="0">
                <a:solidFill>
                  <a:srgbClr val="7030A0"/>
                </a:solidFill>
                <a:effectLst/>
              </a:rPr>
              <a:t>hiding the implementation details</a:t>
            </a:r>
            <a:r>
              <a:rPr lang="en-US" sz="3000" b="0" i="0" dirty="0">
                <a:solidFill>
                  <a:srgbClr val="202124"/>
                </a:solidFill>
                <a:effectLst/>
              </a:rPr>
              <a:t>.</a:t>
            </a:r>
          </a:p>
          <a:p>
            <a:pPr algn="l">
              <a:buFont typeface="Arial" panose="020B0604020202020204" pitchFamily="34" charset="0"/>
              <a:buChar char="•"/>
            </a:pPr>
            <a:r>
              <a:rPr lang="en-US" sz="3000" b="0" i="0" dirty="0">
                <a:effectLst/>
              </a:rPr>
              <a:t>It is easier to edit a program, which is written using methods</a:t>
            </a:r>
          </a:p>
          <a:p>
            <a:pPr marL="0" indent="0">
              <a:buNone/>
            </a:pPr>
            <a:br>
              <a:rPr lang="en-US" dirty="0"/>
            </a:br>
            <a:endParaRPr lang="en-US" sz="2800" b="1" dirty="0"/>
          </a:p>
          <a:p>
            <a:pPr marL="0" indent="0">
              <a:buNone/>
            </a:pPr>
            <a:endParaRPr lang="en-IN" dirty="0"/>
          </a:p>
        </p:txBody>
      </p:sp>
    </p:spTree>
    <p:extLst>
      <p:ext uri="{BB962C8B-B14F-4D97-AF65-F5344CB8AC3E}">
        <p14:creationId xmlns:p14="http://schemas.microsoft.com/office/powerpoint/2010/main" val="40675569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8C5F0-4EDB-C8E1-84C3-DBC9597B5A1D}"/>
              </a:ext>
            </a:extLst>
          </p:cNvPr>
          <p:cNvSpPr>
            <a:spLocks noGrp="1"/>
          </p:cNvSpPr>
          <p:nvPr>
            <p:ph type="title"/>
          </p:nvPr>
        </p:nvSpPr>
        <p:spPr/>
        <p:txBody>
          <a:bodyPr/>
          <a:lstStyle/>
          <a:p>
            <a:pPr algn="ctr"/>
            <a:r>
              <a:rPr lang="en-IN" dirty="0"/>
              <a:t>Syntax for Function</a:t>
            </a:r>
          </a:p>
        </p:txBody>
      </p:sp>
      <p:pic>
        <p:nvPicPr>
          <p:cNvPr id="4" name="Picture 2" descr="C:\Users\STAFF\Desktop\Kokila\method-in-java.png">
            <a:extLst>
              <a:ext uri="{FF2B5EF4-FFF2-40B4-BE49-F238E27FC236}">
                <a16:creationId xmlns:a16="http://schemas.microsoft.com/office/drawing/2014/main" id="{640D1D8D-B097-99CD-6066-F408F15ABD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3711" y="2010375"/>
            <a:ext cx="6667500" cy="30861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F4A1CEBB-8F22-E518-C104-E1D62B0AC228}"/>
              </a:ext>
            </a:extLst>
          </p:cNvPr>
          <p:cNvSpPr/>
          <p:nvPr/>
        </p:nvSpPr>
        <p:spPr>
          <a:xfrm>
            <a:off x="4376057" y="2010375"/>
            <a:ext cx="2164702" cy="312947"/>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755500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BC38-546A-C834-A593-FB58CFD45E80}"/>
              </a:ext>
            </a:extLst>
          </p:cNvPr>
          <p:cNvSpPr>
            <a:spLocks noGrp="1"/>
          </p:cNvSpPr>
          <p:nvPr>
            <p:ph type="title"/>
          </p:nvPr>
        </p:nvSpPr>
        <p:spPr/>
        <p:txBody>
          <a:bodyPr/>
          <a:lstStyle/>
          <a:p>
            <a:pPr algn="ctr"/>
            <a:r>
              <a:rPr lang="en-US" sz="4400" dirty="0"/>
              <a:t>Types of Functions</a:t>
            </a:r>
            <a:endParaRPr lang="en-IN" dirty="0"/>
          </a:p>
        </p:txBody>
      </p:sp>
      <p:sp>
        <p:nvSpPr>
          <p:cNvPr id="3" name="Content Placeholder 2">
            <a:extLst>
              <a:ext uri="{FF2B5EF4-FFF2-40B4-BE49-F238E27FC236}">
                <a16:creationId xmlns:a16="http://schemas.microsoft.com/office/drawing/2014/main" id="{EF9F027C-0476-65DF-1CC9-8B3F1549ED63}"/>
              </a:ext>
            </a:extLst>
          </p:cNvPr>
          <p:cNvSpPr>
            <a:spLocks noGrp="1"/>
          </p:cNvSpPr>
          <p:nvPr>
            <p:ph idx="1"/>
          </p:nvPr>
        </p:nvSpPr>
        <p:spPr>
          <a:xfrm>
            <a:off x="2099388" y="1825625"/>
            <a:ext cx="8108302" cy="4351338"/>
          </a:xfrm>
        </p:spPr>
        <p:txBody>
          <a:bodyPr/>
          <a:lstStyle/>
          <a:p>
            <a:pPr marL="0" indent="0">
              <a:buNone/>
            </a:pPr>
            <a:r>
              <a:rPr lang="en-US" sz="2800" dirty="0"/>
              <a:t>There are </a:t>
            </a:r>
            <a:r>
              <a:rPr lang="en-US" b="1" dirty="0">
                <a:solidFill>
                  <a:srgbClr val="7030A0"/>
                </a:solidFill>
              </a:rPr>
              <a:t>Four</a:t>
            </a:r>
            <a:r>
              <a:rPr lang="en-US" sz="2800" b="1" dirty="0">
                <a:solidFill>
                  <a:srgbClr val="7030A0"/>
                </a:solidFill>
              </a:rPr>
              <a:t> types </a:t>
            </a:r>
            <a:r>
              <a:rPr lang="en-US" sz="2800" dirty="0"/>
              <a:t>of methods in Java:</a:t>
            </a:r>
          </a:p>
          <a:p>
            <a:r>
              <a:rPr lang="en-US" sz="2800" dirty="0"/>
              <a:t>Predefined Method</a:t>
            </a:r>
          </a:p>
          <a:p>
            <a:r>
              <a:rPr lang="en-US" sz="2800" dirty="0"/>
              <a:t>User-defined Method</a:t>
            </a:r>
          </a:p>
          <a:p>
            <a:r>
              <a:rPr lang="en-US" dirty="0"/>
              <a:t>Return Method</a:t>
            </a:r>
          </a:p>
          <a:p>
            <a:r>
              <a:rPr lang="en-US" dirty="0"/>
              <a:t>R</a:t>
            </a:r>
            <a:r>
              <a:rPr lang="en-US" sz="2800" dirty="0"/>
              <a:t>ecursive Method</a:t>
            </a:r>
          </a:p>
          <a:p>
            <a:endParaRPr lang="en-IN" dirty="0"/>
          </a:p>
        </p:txBody>
      </p:sp>
    </p:spTree>
    <p:extLst>
      <p:ext uri="{BB962C8B-B14F-4D97-AF65-F5344CB8AC3E}">
        <p14:creationId xmlns:p14="http://schemas.microsoft.com/office/powerpoint/2010/main" val="665742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1B7BA-FF0F-25A4-9E6F-D4D7C9E5C34B}"/>
              </a:ext>
            </a:extLst>
          </p:cNvPr>
          <p:cNvSpPr>
            <a:spLocks noGrp="1"/>
          </p:cNvSpPr>
          <p:nvPr>
            <p:ph idx="1"/>
          </p:nvPr>
        </p:nvSpPr>
        <p:spPr>
          <a:xfrm>
            <a:off x="1502228" y="793102"/>
            <a:ext cx="8322907" cy="5383861"/>
          </a:xfrm>
        </p:spPr>
        <p:txBody>
          <a:bodyPr/>
          <a:lstStyle/>
          <a:p>
            <a:r>
              <a:rPr lang="en-IN" sz="2800" b="1" dirty="0">
                <a:solidFill>
                  <a:srgbClr val="7030A0"/>
                </a:solidFill>
              </a:rPr>
              <a:t>Predefined Method</a:t>
            </a:r>
          </a:p>
          <a:p>
            <a:r>
              <a:rPr lang="en-US" sz="2800" dirty="0"/>
              <a:t> </a:t>
            </a:r>
            <a:r>
              <a:rPr lang="en-US" dirty="0"/>
              <a:t>T</a:t>
            </a:r>
            <a:r>
              <a:rPr lang="en-US" sz="2800" dirty="0"/>
              <a:t>he method that is already defined in the Java class libraries is known as predefined methods. </a:t>
            </a:r>
          </a:p>
          <a:p>
            <a:r>
              <a:rPr lang="en-US" sz="2800" dirty="0"/>
              <a:t>It is also known as the </a:t>
            </a:r>
            <a:r>
              <a:rPr lang="en-US" sz="2800" b="1" dirty="0">
                <a:solidFill>
                  <a:srgbClr val="7030A0"/>
                </a:solidFill>
              </a:rPr>
              <a:t>standard library method</a:t>
            </a:r>
            <a:r>
              <a:rPr lang="en-US" sz="2800" dirty="0">
                <a:solidFill>
                  <a:srgbClr val="7030A0"/>
                </a:solidFill>
              </a:rPr>
              <a:t> or </a:t>
            </a:r>
            <a:r>
              <a:rPr lang="en-US" sz="2800" b="1" dirty="0">
                <a:solidFill>
                  <a:srgbClr val="7030A0"/>
                </a:solidFill>
              </a:rPr>
              <a:t>built-in method</a:t>
            </a:r>
            <a:r>
              <a:rPr lang="en-US" sz="2800" dirty="0">
                <a:solidFill>
                  <a:srgbClr val="7030A0"/>
                </a:solidFill>
              </a:rPr>
              <a:t>.</a:t>
            </a:r>
          </a:p>
          <a:p>
            <a:r>
              <a:rPr lang="en-US" sz="2800" dirty="0"/>
              <a:t>Some pre-defined methods are </a:t>
            </a:r>
            <a:r>
              <a:rPr lang="en-US" sz="2800" b="1" dirty="0">
                <a:solidFill>
                  <a:srgbClr val="7030A0"/>
                </a:solidFill>
              </a:rPr>
              <a:t>length(), equals(), compareTo(), sqrt(),</a:t>
            </a:r>
            <a:r>
              <a:rPr lang="en-US" sz="2800" dirty="0">
                <a:solidFill>
                  <a:srgbClr val="7030A0"/>
                </a:solidFill>
              </a:rPr>
              <a:t> etc.</a:t>
            </a:r>
            <a:endParaRPr lang="en-IN" sz="2800" b="1" dirty="0">
              <a:solidFill>
                <a:srgbClr val="7030A0"/>
              </a:solidFill>
            </a:endParaRPr>
          </a:p>
          <a:p>
            <a:pPr marL="0" indent="0">
              <a:buNone/>
            </a:pPr>
            <a:endParaRPr lang="en-US" sz="2800" dirty="0">
              <a:solidFill>
                <a:srgbClr val="7030A0"/>
              </a:solidFill>
            </a:endParaRPr>
          </a:p>
          <a:p>
            <a:endParaRPr lang="en-IN" sz="2800" b="1" dirty="0">
              <a:solidFill>
                <a:srgbClr val="7030A0"/>
              </a:solidFill>
            </a:endParaRPr>
          </a:p>
          <a:p>
            <a:endParaRPr lang="en-IN" dirty="0"/>
          </a:p>
        </p:txBody>
      </p:sp>
    </p:spTree>
    <p:extLst>
      <p:ext uri="{BB962C8B-B14F-4D97-AF65-F5344CB8AC3E}">
        <p14:creationId xmlns:p14="http://schemas.microsoft.com/office/powerpoint/2010/main" val="13990996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3764E-B5E9-94C8-ABE7-3956A4F9DABB}"/>
              </a:ext>
            </a:extLst>
          </p:cNvPr>
          <p:cNvSpPr>
            <a:spLocks noGrp="1"/>
          </p:cNvSpPr>
          <p:nvPr>
            <p:ph idx="1"/>
          </p:nvPr>
        </p:nvSpPr>
        <p:spPr>
          <a:xfrm>
            <a:off x="681135" y="653143"/>
            <a:ext cx="10515600" cy="5523820"/>
          </a:xfrm>
        </p:spPr>
        <p:txBody>
          <a:bodyPr/>
          <a:lstStyle/>
          <a:p>
            <a:pPr marL="0" indent="0">
              <a:buNone/>
            </a:pPr>
            <a:r>
              <a:rPr lang="en-IN" b="1" dirty="0">
                <a:solidFill>
                  <a:srgbClr val="7030A0"/>
                </a:solidFill>
              </a:rPr>
              <a:t>User-defined Method</a:t>
            </a:r>
          </a:p>
          <a:p>
            <a:r>
              <a:rPr lang="en-US" sz="2800" dirty="0"/>
              <a:t>The method written by the </a:t>
            </a:r>
            <a:r>
              <a:rPr lang="en-US" sz="2800" b="1" dirty="0">
                <a:solidFill>
                  <a:srgbClr val="7030A0"/>
                </a:solidFill>
              </a:rPr>
              <a:t>user or programmer </a:t>
            </a:r>
            <a:r>
              <a:rPr lang="en-US" sz="2800" dirty="0"/>
              <a:t>is known as </a:t>
            </a:r>
            <a:r>
              <a:rPr lang="en-US" sz="2800" b="1" dirty="0">
                <a:solidFill>
                  <a:srgbClr val="7030A0"/>
                </a:solidFill>
              </a:rPr>
              <a:t>a user-defined</a:t>
            </a:r>
            <a:r>
              <a:rPr lang="en-US" sz="2800" dirty="0"/>
              <a:t> method.</a:t>
            </a:r>
          </a:p>
          <a:p>
            <a:r>
              <a:rPr lang="en-US" sz="2800" dirty="0"/>
              <a:t> These methods are modified according to the requirement</a:t>
            </a:r>
            <a:r>
              <a:rPr lang="en-US" dirty="0"/>
              <a:t>.</a:t>
            </a:r>
          </a:p>
          <a:p>
            <a:r>
              <a:rPr lang="en-IN" dirty="0"/>
              <a:t>It is 4 types</a:t>
            </a:r>
          </a:p>
          <a:p>
            <a:pPr marL="514350" indent="-514350">
              <a:buFont typeface="+mj-lt"/>
              <a:buAutoNum type="arabicPeriod"/>
            </a:pPr>
            <a:r>
              <a:rPr lang="en-IN" dirty="0"/>
              <a:t>Function with argument , with return value.</a:t>
            </a:r>
          </a:p>
          <a:p>
            <a:pPr marL="514350" indent="-514350">
              <a:buFont typeface="+mj-lt"/>
              <a:buAutoNum type="arabicPeriod"/>
            </a:pPr>
            <a:r>
              <a:rPr lang="en-IN" dirty="0"/>
              <a:t>Function with argument , without return value.</a:t>
            </a:r>
          </a:p>
          <a:p>
            <a:pPr marL="514350" indent="-514350">
              <a:buFont typeface="+mj-lt"/>
              <a:buAutoNum type="arabicPeriod"/>
            </a:pPr>
            <a:r>
              <a:rPr lang="en-IN" dirty="0"/>
              <a:t>Function without argument , with return value.</a:t>
            </a:r>
          </a:p>
          <a:p>
            <a:pPr marL="514350" indent="-514350">
              <a:buFont typeface="+mj-lt"/>
              <a:buAutoNum type="arabicPeriod"/>
            </a:pPr>
            <a:r>
              <a:rPr lang="en-IN" dirty="0"/>
              <a:t>Function without argument , without return value.</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6599706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6B49B-A699-C4B9-184A-4868B3AF00E5}"/>
              </a:ext>
            </a:extLst>
          </p:cNvPr>
          <p:cNvSpPr>
            <a:spLocks noGrp="1"/>
          </p:cNvSpPr>
          <p:nvPr>
            <p:ph idx="1"/>
          </p:nvPr>
        </p:nvSpPr>
        <p:spPr>
          <a:xfrm>
            <a:off x="1110343" y="410547"/>
            <a:ext cx="9573208" cy="5766416"/>
          </a:xfrm>
        </p:spPr>
        <p:txBody>
          <a:bodyPr>
            <a:normAutofit fontScale="85000" lnSpcReduction="20000"/>
          </a:bodyPr>
          <a:lstStyle/>
          <a:p>
            <a:r>
              <a:rPr lang="en-IN" dirty="0"/>
              <a:t>Simple Example for Creating and invoking the function</a:t>
            </a:r>
          </a:p>
          <a:p>
            <a:pPr marL="0" indent="0">
              <a:buNone/>
            </a:pPr>
            <a:r>
              <a:rPr lang="en-IN" dirty="0"/>
              <a:t>public class Operation</a:t>
            </a:r>
          </a:p>
          <a:p>
            <a:pPr marL="0" indent="0">
              <a:buNone/>
            </a:pPr>
            <a:r>
              <a:rPr lang="en-IN" dirty="0"/>
              <a:t>{</a:t>
            </a:r>
          </a:p>
          <a:p>
            <a:pPr marL="0" indent="0">
              <a:buNone/>
            </a:pPr>
            <a:r>
              <a:rPr lang="en-IN" dirty="0"/>
              <a:t>public void sum()//</a:t>
            </a:r>
            <a:r>
              <a:rPr lang="en-IN" dirty="0">
                <a:solidFill>
                  <a:srgbClr val="00B0F0"/>
                </a:solidFill>
              </a:rPr>
              <a:t>Function Creation</a:t>
            </a:r>
          </a:p>
          <a:p>
            <a:pPr marL="0" indent="0">
              <a:buNone/>
            </a:pPr>
            <a:r>
              <a:rPr lang="en-IN" dirty="0"/>
              <a:t>{</a:t>
            </a:r>
          </a:p>
          <a:p>
            <a:pPr marL="0" indent="0">
              <a:buNone/>
            </a:pPr>
            <a:r>
              <a:rPr lang="en-IN" dirty="0"/>
              <a:t>int a=10,b=20;</a:t>
            </a:r>
          </a:p>
          <a:p>
            <a:pPr marL="0" indent="0">
              <a:buNone/>
            </a:pPr>
            <a:r>
              <a:rPr lang="en-IN" dirty="0"/>
              <a:t>int sum=</a:t>
            </a:r>
            <a:r>
              <a:rPr lang="en-IN" dirty="0" err="1"/>
              <a:t>a+b</a:t>
            </a:r>
            <a:r>
              <a:rPr lang="en-IN" dirty="0"/>
              <a:t>;</a:t>
            </a:r>
          </a:p>
          <a:p>
            <a:pPr marL="0" indent="0">
              <a:buNone/>
            </a:pPr>
            <a:r>
              <a:rPr lang="en-IN" dirty="0"/>
              <a:t>System.out.println(“The sum is “+sum);</a:t>
            </a:r>
          </a:p>
          <a:p>
            <a:pPr marL="0" indent="0">
              <a:buNone/>
            </a:pPr>
            <a:r>
              <a:rPr lang="en-IN" dirty="0"/>
              <a:t>}</a:t>
            </a:r>
          </a:p>
          <a:p>
            <a:pPr marL="0" indent="0">
              <a:buNone/>
            </a:pPr>
            <a:r>
              <a:rPr lang="en-IN" dirty="0"/>
              <a:t>public static void main(String[] </a:t>
            </a:r>
            <a:r>
              <a:rPr lang="en-IN" dirty="0" err="1"/>
              <a:t>args</a:t>
            </a:r>
            <a:r>
              <a:rPr lang="en-IN" dirty="0"/>
              <a:t>)</a:t>
            </a:r>
          </a:p>
          <a:p>
            <a:pPr marL="0" indent="0">
              <a:buNone/>
            </a:pPr>
            <a:r>
              <a:rPr lang="en-IN" dirty="0"/>
              <a:t>{</a:t>
            </a:r>
          </a:p>
          <a:p>
            <a:pPr marL="0" indent="0">
              <a:buNone/>
            </a:pPr>
            <a:r>
              <a:rPr lang="en-IN" dirty="0"/>
              <a:t>Operation op=new Operation();//</a:t>
            </a:r>
            <a:r>
              <a:rPr lang="en-IN" dirty="0">
                <a:solidFill>
                  <a:srgbClr val="00B0F0"/>
                </a:solidFill>
              </a:rPr>
              <a:t>Object creation</a:t>
            </a:r>
          </a:p>
          <a:p>
            <a:pPr marL="0" indent="0">
              <a:buNone/>
            </a:pPr>
            <a:r>
              <a:rPr lang="en-IN" dirty="0" err="1"/>
              <a:t>op.sum</a:t>
            </a:r>
            <a:r>
              <a:rPr lang="en-IN" dirty="0"/>
              <a:t>();//</a:t>
            </a:r>
            <a:r>
              <a:rPr lang="en-IN" dirty="0">
                <a:solidFill>
                  <a:srgbClr val="00B0F0"/>
                </a:solidFill>
              </a:rPr>
              <a:t>Function call</a:t>
            </a:r>
          </a:p>
          <a:p>
            <a:pPr marL="0" indent="0">
              <a:buNone/>
            </a:pPr>
            <a:r>
              <a:rPr lang="en-IN" dirty="0"/>
              <a:t>}}</a:t>
            </a:r>
          </a:p>
          <a:p>
            <a:pPr marL="0" indent="0">
              <a:buNone/>
            </a:pPr>
            <a:r>
              <a:rPr lang="en-IN" dirty="0"/>
              <a:t> </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2074AFC2-ED6E-DBCD-76EF-141751578CD1}"/>
                  </a:ext>
                </a:extLst>
              </p14:cNvPr>
              <p14:cNvContentPartPr/>
              <p14:nvPr/>
            </p14:nvContentPartPr>
            <p14:xfrm>
              <a:off x="3638968" y="2556470"/>
              <a:ext cx="360" cy="360"/>
            </p14:xfrm>
          </p:contentPart>
        </mc:Choice>
        <mc:Fallback xmlns="">
          <p:pic>
            <p:nvPicPr>
              <p:cNvPr id="20" name="Ink 19">
                <a:extLst>
                  <a:ext uri="{FF2B5EF4-FFF2-40B4-BE49-F238E27FC236}">
                    <a16:creationId xmlns:a16="http://schemas.microsoft.com/office/drawing/2014/main" id="{2074AFC2-ED6E-DBCD-76EF-141751578CD1}"/>
                  </a:ext>
                </a:extLst>
              </p:cNvPr>
              <p:cNvPicPr/>
              <p:nvPr/>
            </p:nvPicPr>
            <p:blipFill>
              <a:blip r:embed="rId3"/>
              <a:stretch>
                <a:fillRect/>
              </a:stretch>
            </p:blipFill>
            <p:spPr>
              <a:xfrm>
                <a:off x="3629968" y="25474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398C077B-0CC1-74AE-72AA-00348E4996E7}"/>
                  </a:ext>
                </a:extLst>
              </p14:cNvPr>
              <p14:cNvContentPartPr/>
              <p14:nvPr/>
            </p14:nvContentPartPr>
            <p14:xfrm>
              <a:off x="2966848" y="2369990"/>
              <a:ext cx="360" cy="360"/>
            </p14:xfrm>
          </p:contentPart>
        </mc:Choice>
        <mc:Fallback xmlns="">
          <p:pic>
            <p:nvPicPr>
              <p:cNvPr id="21" name="Ink 20">
                <a:extLst>
                  <a:ext uri="{FF2B5EF4-FFF2-40B4-BE49-F238E27FC236}">
                    <a16:creationId xmlns:a16="http://schemas.microsoft.com/office/drawing/2014/main" id="{398C077B-0CC1-74AE-72AA-00348E4996E7}"/>
                  </a:ext>
                </a:extLst>
              </p:cNvPr>
              <p:cNvPicPr/>
              <p:nvPr/>
            </p:nvPicPr>
            <p:blipFill>
              <a:blip r:embed="rId5"/>
              <a:stretch>
                <a:fillRect/>
              </a:stretch>
            </p:blipFill>
            <p:spPr>
              <a:xfrm>
                <a:off x="2958208" y="2360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F795CD11-B2ED-A26D-8B32-6162DD814225}"/>
                  </a:ext>
                </a:extLst>
              </p14:cNvPr>
              <p14:cNvContentPartPr/>
              <p14:nvPr/>
            </p14:nvContentPartPr>
            <p14:xfrm>
              <a:off x="3060448" y="2500310"/>
              <a:ext cx="360" cy="360"/>
            </p14:xfrm>
          </p:contentPart>
        </mc:Choice>
        <mc:Fallback xmlns="">
          <p:pic>
            <p:nvPicPr>
              <p:cNvPr id="22" name="Ink 21">
                <a:extLst>
                  <a:ext uri="{FF2B5EF4-FFF2-40B4-BE49-F238E27FC236}">
                    <a16:creationId xmlns:a16="http://schemas.microsoft.com/office/drawing/2014/main" id="{F795CD11-B2ED-A26D-8B32-6162DD814225}"/>
                  </a:ext>
                </a:extLst>
              </p:cNvPr>
              <p:cNvPicPr/>
              <p:nvPr/>
            </p:nvPicPr>
            <p:blipFill>
              <a:blip r:embed="rId3"/>
              <a:stretch>
                <a:fillRect/>
              </a:stretch>
            </p:blipFill>
            <p:spPr>
              <a:xfrm>
                <a:off x="3051808" y="24916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B131B1F0-C2FA-6794-97F9-B1DE3E69DE20}"/>
                  </a:ext>
                </a:extLst>
              </p14:cNvPr>
              <p14:cNvContentPartPr/>
              <p14:nvPr/>
            </p14:nvContentPartPr>
            <p14:xfrm>
              <a:off x="1754008" y="5150601"/>
              <a:ext cx="360" cy="360"/>
            </p14:xfrm>
          </p:contentPart>
        </mc:Choice>
        <mc:Fallback xmlns="">
          <p:pic>
            <p:nvPicPr>
              <p:cNvPr id="25" name="Ink 24">
                <a:extLst>
                  <a:ext uri="{FF2B5EF4-FFF2-40B4-BE49-F238E27FC236}">
                    <a16:creationId xmlns:a16="http://schemas.microsoft.com/office/drawing/2014/main" id="{B131B1F0-C2FA-6794-97F9-B1DE3E69DE20}"/>
                  </a:ext>
                </a:extLst>
              </p:cNvPr>
              <p:cNvPicPr/>
              <p:nvPr/>
            </p:nvPicPr>
            <p:blipFill>
              <a:blip r:embed="rId3"/>
              <a:stretch>
                <a:fillRect/>
              </a:stretch>
            </p:blipFill>
            <p:spPr>
              <a:xfrm>
                <a:off x="1745008" y="514160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9AA93B74-B5A2-E986-68C7-40FCE8170EE5}"/>
                  </a:ext>
                </a:extLst>
              </p14:cNvPr>
              <p14:cNvContentPartPr/>
              <p14:nvPr/>
            </p14:nvContentPartPr>
            <p14:xfrm>
              <a:off x="1548808" y="5187681"/>
              <a:ext cx="360" cy="360"/>
            </p14:xfrm>
          </p:contentPart>
        </mc:Choice>
        <mc:Fallback xmlns="">
          <p:pic>
            <p:nvPicPr>
              <p:cNvPr id="26" name="Ink 25">
                <a:extLst>
                  <a:ext uri="{FF2B5EF4-FFF2-40B4-BE49-F238E27FC236}">
                    <a16:creationId xmlns:a16="http://schemas.microsoft.com/office/drawing/2014/main" id="{9AA93B74-B5A2-E986-68C7-40FCE8170EE5}"/>
                  </a:ext>
                </a:extLst>
              </p:cNvPr>
              <p:cNvPicPr/>
              <p:nvPr/>
            </p:nvPicPr>
            <p:blipFill>
              <a:blip r:embed="rId3"/>
              <a:stretch>
                <a:fillRect/>
              </a:stretch>
            </p:blipFill>
            <p:spPr>
              <a:xfrm>
                <a:off x="1540168" y="517868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C8F4C7E0-0098-98AB-1DEE-BB23A46DAFD8}"/>
                  </a:ext>
                </a:extLst>
              </p14:cNvPr>
              <p14:cNvContentPartPr/>
              <p14:nvPr/>
            </p14:nvContentPartPr>
            <p14:xfrm>
              <a:off x="1809808" y="5178321"/>
              <a:ext cx="360" cy="360"/>
            </p14:xfrm>
          </p:contentPart>
        </mc:Choice>
        <mc:Fallback xmlns="">
          <p:pic>
            <p:nvPicPr>
              <p:cNvPr id="27" name="Ink 26">
                <a:extLst>
                  <a:ext uri="{FF2B5EF4-FFF2-40B4-BE49-F238E27FC236}">
                    <a16:creationId xmlns:a16="http://schemas.microsoft.com/office/drawing/2014/main" id="{C8F4C7E0-0098-98AB-1DEE-BB23A46DAFD8}"/>
                  </a:ext>
                </a:extLst>
              </p:cNvPr>
              <p:cNvPicPr/>
              <p:nvPr/>
            </p:nvPicPr>
            <p:blipFill>
              <a:blip r:embed="rId3"/>
              <a:stretch>
                <a:fillRect/>
              </a:stretch>
            </p:blipFill>
            <p:spPr>
              <a:xfrm>
                <a:off x="1801168" y="51693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3AD89810-C73B-D299-43F3-17CF26374215}"/>
                  </a:ext>
                </a:extLst>
              </p14:cNvPr>
              <p14:cNvContentPartPr/>
              <p14:nvPr/>
            </p14:nvContentPartPr>
            <p14:xfrm>
              <a:off x="1809808" y="5178321"/>
              <a:ext cx="360" cy="360"/>
            </p14:xfrm>
          </p:contentPart>
        </mc:Choice>
        <mc:Fallback xmlns="">
          <p:pic>
            <p:nvPicPr>
              <p:cNvPr id="28" name="Ink 27">
                <a:extLst>
                  <a:ext uri="{FF2B5EF4-FFF2-40B4-BE49-F238E27FC236}">
                    <a16:creationId xmlns:a16="http://schemas.microsoft.com/office/drawing/2014/main" id="{3AD89810-C73B-D299-43F3-17CF26374215}"/>
                  </a:ext>
                </a:extLst>
              </p:cNvPr>
              <p:cNvPicPr/>
              <p:nvPr/>
            </p:nvPicPr>
            <p:blipFill>
              <a:blip r:embed="rId3"/>
              <a:stretch>
                <a:fillRect/>
              </a:stretch>
            </p:blipFill>
            <p:spPr>
              <a:xfrm>
                <a:off x="1801168" y="51693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D93521A9-38D8-C336-D6AE-E420D9D761AD}"/>
                  </a:ext>
                </a:extLst>
              </p14:cNvPr>
              <p14:cNvContentPartPr/>
              <p14:nvPr/>
            </p14:nvContentPartPr>
            <p14:xfrm>
              <a:off x="1809808" y="5178321"/>
              <a:ext cx="360" cy="360"/>
            </p14:xfrm>
          </p:contentPart>
        </mc:Choice>
        <mc:Fallback xmlns="">
          <p:pic>
            <p:nvPicPr>
              <p:cNvPr id="29" name="Ink 28">
                <a:extLst>
                  <a:ext uri="{FF2B5EF4-FFF2-40B4-BE49-F238E27FC236}">
                    <a16:creationId xmlns:a16="http://schemas.microsoft.com/office/drawing/2014/main" id="{D93521A9-38D8-C336-D6AE-E420D9D761AD}"/>
                  </a:ext>
                </a:extLst>
              </p:cNvPr>
              <p:cNvPicPr/>
              <p:nvPr/>
            </p:nvPicPr>
            <p:blipFill>
              <a:blip r:embed="rId3"/>
              <a:stretch>
                <a:fillRect/>
              </a:stretch>
            </p:blipFill>
            <p:spPr>
              <a:xfrm>
                <a:off x="1801168" y="51693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 name="Ink 35">
                <a:extLst>
                  <a:ext uri="{FF2B5EF4-FFF2-40B4-BE49-F238E27FC236}">
                    <a16:creationId xmlns:a16="http://schemas.microsoft.com/office/drawing/2014/main" id="{7CFBC56F-6182-708A-E134-8FD9BA86BB99}"/>
                  </a:ext>
                </a:extLst>
              </p14:cNvPr>
              <p14:cNvContentPartPr/>
              <p14:nvPr/>
            </p14:nvContentPartPr>
            <p14:xfrm>
              <a:off x="-849152" y="876710"/>
              <a:ext cx="360" cy="360"/>
            </p14:xfrm>
          </p:contentPart>
        </mc:Choice>
        <mc:Fallback xmlns="">
          <p:pic>
            <p:nvPicPr>
              <p:cNvPr id="36" name="Ink 35">
                <a:extLst>
                  <a:ext uri="{FF2B5EF4-FFF2-40B4-BE49-F238E27FC236}">
                    <a16:creationId xmlns:a16="http://schemas.microsoft.com/office/drawing/2014/main" id="{7CFBC56F-6182-708A-E134-8FD9BA86BB99}"/>
                  </a:ext>
                </a:extLst>
              </p:cNvPr>
              <p:cNvPicPr/>
              <p:nvPr/>
            </p:nvPicPr>
            <p:blipFill>
              <a:blip r:embed="rId3"/>
              <a:stretch>
                <a:fillRect/>
              </a:stretch>
            </p:blipFill>
            <p:spPr>
              <a:xfrm>
                <a:off x="-857792" y="868070"/>
                <a:ext cx="18000" cy="18000"/>
              </a:xfrm>
              <a:prstGeom prst="rect">
                <a:avLst/>
              </a:prstGeom>
            </p:spPr>
          </p:pic>
        </mc:Fallback>
      </mc:AlternateContent>
    </p:spTree>
    <p:extLst>
      <p:ext uri="{BB962C8B-B14F-4D97-AF65-F5344CB8AC3E}">
        <p14:creationId xmlns:p14="http://schemas.microsoft.com/office/powerpoint/2010/main" val="36144496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FD75E-6676-55E5-6D72-160903C074AC}"/>
              </a:ext>
            </a:extLst>
          </p:cNvPr>
          <p:cNvSpPr>
            <a:spLocks noGrp="1"/>
          </p:cNvSpPr>
          <p:nvPr>
            <p:ph idx="1"/>
          </p:nvPr>
        </p:nvSpPr>
        <p:spPr>
          <a:xfrm>
            <a:off x="838200" y="513184"/>
            <a:ext cx="10515600" cy="5663779"/>
          </a:xfrm>
        </p:spPr>
        <p:txBody>
          <a:bodyPr>
            <a:normAutofit lnSpcReduction="10000"/>
          </a:bodyPr>
          <a:lstStyle/>
          <a:p>
            <a:pPr marL="0" indent="0">
              <a:lnSpc>
                <a:spcPct val="150000"/>
              </a:lnSpc>
              <a:buNone/>
            </a:pPr>
            <a:r>
              <a:rPr lang="en-IN" b="1" i="0" dirty="0">
                <a:solidFill>
                  <a:srgbClr val="7030A0"/>
                </a:solidFill>
                <a:effectLst/>
              </a:rPr>
              <a:t>Recursion in Java</a:t>
            </a:r>
          </a:p>
          <a:p>
            <a:pPr>
              <a:lnSpc>
                <a:spcPct val="150000"/>
              </a:lnSpc>
            </a:pPr>
            <a:r>
              <a:rPr lang="en-US" b="0" i="0" dirty="0">
                <a:solidFill>
                  <a:srgbClr val="333333"/>
                </a:solidFill>
                <a:effectLst/>
              </a:rPr>
              <a:t>Recursion in java is a process in which a method calls itself continuously.</a:t>
            </a:r>
          </a:p>
          <a:p>
            <a:pPr>
              <a:lnSpc>
                <a:spcPct val="150000"/>
              </a:lnSpc>
            </a:pPr>
            <a:r>
              <a:rPr lang="en-US" b="0" i="0" dirty="0">
                <a:solidFill>
                  <a:srgbClr val="333333"/>
                </a:solidFill>
                <a:effectLst/>
              </a:rPr>
              <a:t> A method in java that calls itself is called recursive method.</a:t>
            </a:r>
          </a:p>
          <a:p>
            <a:pPr marL="0" indent="0">
              <a:lnSpc>
                <a:spcPct val="150000"/>
              </a:lnSpc>
              <a:buNone/>
            </a:pPr>
            <a:r>
              <a:rPr lang="en-IN" b="1" i="0" dirty="0">
                <a:solidFill>
                  <a:srgbClr val="7030A0"/>
                </a:solidFill>
                <a:effectLst/>
                <a:latin typeface="inter-bold"/>
              </a:rPr>
              <a:t>Syntax:</a:t>
            </a:r>
          </a:p>
          <a:p>
            <a:pPr marL="0" indent="0">
              <a:lnSpc>
                <a:spcPct val="150000"/>
              </a:lnSpc>
              <a:buNone/>
            </a:pPr>
            <a:r>
              <a:rPr lang="en-US" b="0" i="0" dirty="0">
                <a:solidFill>
                  <a:srgbClr val="000000"/>
                </a:solidFill>
                <a:effectLst/>
              </a:rPr>
              <a:t>Return type method name(){  </a:t>
            </a:r>
          </a:p>
          <a:p>
            <a:pPr marL="0" indent="0">
              <a:lnSpc>
                <a:spcPct val="150000"/>
              </a:lnSpc>
              <a:buNone/>
            </a:pPr>
            <a:r>
              <a:rPr lang="en-US" b="0" i="0" dirty="0">
                <a:solidFill>
                  <a:srgbClr val="000000"/>
                </a:solidFill>
                <a:effectLst/>
              </a:rPr>
              <a:t>Method name();</a:t>
            </a:r>
            <a:r>
              <a:rPr lang="en-US" b="0" i="0" dirty="0">
                <a:solidFill>
                  <a:srgbClr val="008200"/>
                </a:solidFill>
                <a:effectLst/>
              </a:rPr>
              <a:t>//calling same method</a:t>
            </a:r>
            <a:r>
              <a:rPr lang="en-US" b="0" i="0" dirty="0">
                <a:solidFill>
                  <a:srgbClr val="000000"/>
                </a:solidFill>
                <a:effectLst/>
              </a:rPr>
              <a:t>  </a:t>
            </a:r>
          </a:p>
          <a:p>
            <a:pPr marL="0" indent="0">
              <a:lnSpc>
                <a:spcPct val="150000"/>
              </a:lnSpc>
              <a:buNone/>
            </a:pPr>
            <a:r>
              <a:rPr lang="en-US" b="0" i="0" dirty="0">
                <a:solidFill>
                  <a:srgbClr val="000000"/>
                </a:solidFill>
                <a:effectLst/>
              </a:rPr>
              <a:t>}  </a:t>
            </a:r>
          </a:p>
          <a:p>
            <a:pPr marL="0" indent="0">
              <a:lnSpc>
                <a:spcPct val="150000"/>
              </a:lnSpc>
              <a:buNone/>
            </a:pPr>
            <a:endParaRPr lang="en-IN" dirty="0">
              <a:solidFill>
                <a:srgbClr val="7030A0"/>
              </a:solidFill>
            </a:endParaRPr>
          </a:p>
        </p:txBody>
      </p:sp>
    </p:spTree>
    <p:extLst>
      <p:ext uri="{BB962C8B-B14F-4D97-AF65-F5344CB8AC3E}">
        <p14:creationId xmlns:p14="http://schemas.microsoft.com/office/powerpoint/2010/main" val="33332082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92295-863E-E01E-3ECF-E071C12D785D}"/>
              </a:ext>
            </a:extLst>
          </p:cNvPr>
          <p:cNvSpPr>
            <a:spLocks noGrp="1"/>
          </p:cNvSpPr>
          <p:nvPr>
            <p:ph idx="1"/>
          </p:nvPr>
        </p:nvSpPr>
        <p:spPr>
          <a:xfrm>
            <a:off x="838200" y="559837"/>
            <a:ext cx="10515600" cy="5617126"/>
          </a:xfrm>
        </p:spPr>
        <p:txBody>
          <a:bodyPr>
            <a:normAutofit fontScale="92500" lnSpcReduction="10000"/>
          </a:bodyPr>
          <a:lstStyle/>
          <a:p>
            <a:pPr marL="0" indent="0">
              <a:buNone/>
            </a:pPr>
            <a:r>
              <a:rPr lang="en-IN" dirty="0"/>
              <a:t>Example Program To find factorial of given number.</a:t>
            </a:r>
          </a:p>
          <a:p>
            <a:pPr marL="0" indent="0" algn="just">
              <a:buNone/>
            </a:pPr>
            <a:r>
              <a:rPr lang="en-IN" sz="3000" b="1" i="0" dirty="0">
                <a:solidFill>
                  <a:srgbClr val="006699"/>
                </a:solidFill>
                <a:effectLst/>
              </a:rPr>
              <a:t>public</a:t>
            </a:r>
            <a:r>
              <a:rPr lang="en-IN" sz="3000" b="0" i="0" dirty="0">
                <a:solidFill>
                  <a:srgbClr val="000000"/>
                </a:solidFill>
                <a:effectLst/>
              </a:rPr>
              <a:t> </a:t>
            </a:r>
            <a:r>
              <a:rPr lang="en-IN" sz="3000" b="1" i="0" dirty="0">
                <a:solidFill>
                  <a:srgbClr val="006699"/>
                </a:solidFill>
                <a:effectLst/>
              </a:rPr>
              <a:t>class</a:t>
            </a:r>
            <a:r>
              <a:rPr lang="en-IN" sz="3000" b="0" i="0" dirty="0">
                <a:solidFill>
                  <a:srgbClr val="000000"/>
                </a:solidFill>
                <a:effectLst/>
              </a:rPr>
              <a:t> RecursionExample3 {  </a:t>
            </a:r>
          </a:p>
          <a:p>
            <a:pPr marL="0" indent="0" algn="just">
              <a:buNone/>
            </a:pPr>
            <a:r>
              <a:rPr lang="en-IN" sz="3000" b="0" i="0" dirty="0">
                <a:solidFill>
                  <a:srgbClr val="000000"/>
                </a:solidFill>
                <a:effectLst/>
              </a:rPr>
              <a:t>    </a:t>
            </a:r>
            <a:r>
              <a:rPr lang="en-IN" sz="3000" b="1" i="0" dirty="0">
                <a:solidFill>
                  <a:srgbClr val="006699"/>
                </a:solidFill>
                <a:effectLst/>
              </a:rPr>
              <a:t>static</a:t>
            </a:r>
            <a:r>
              <a:rPr lang="en-IN" sz="3000" b="0" i="0" dirty="0">
                <a:solidFill>
                  <a:srgbClr val="000000"/>
                </a:solidFill>
                <a:effectLst/>
              </a:rPr>
              <a:t> </a:t>
            </a:r>
            <a:r>
              <a:rPr lang="en-IN" sz="3000" b="1" i="0" dirty="0">
                <a:solidFill>
                  <a:srgbClr val="006699"/>
                </a:solidFill>
                <a:effectLst/>
              </a:rPr>
              <a:t>int</a:t>
            </a:r>
            <a:r>
              <a:rPr lang="en-IN" sz="3000" b="0" i="0" dirty="0">
                <a:solidFill>
                  <a:srgbClr val="000000"/>
                </a:solidFill>
                <a:effectLst/>
              </a:rPr>
              <a:t> factorial(</a:t>
            </a:r>
            <a:r>
              <a:rPr lang="en-IN" sz="3000" b="1" i="0" dirty="0">
                <a:solidFill>
                  <a:srgbClr val="006699"/>
                </a:solidFill>
                <a:effectLst/>
              </a:rPr>
              <a:t>int</a:t>
            </a:r>
            <a:r>
              <a:rPr lang="en-IN" sz="3000" b="0" i="0" dirty="0">
                <a:solidFill>
                  <a:srgbClr val="000000"/>
                </a:solidFill>
                <a:effectLst/>
              </a:rPr>
              <a:t> n){      </a:t>
            </a:r>
          </a:p>
          <a:p>
            <a:pPr marL="0" indent="0" algn="just">
              <a:buNone/>
            </a:pPr>
            <a:r>
              <a:rPr lang="en-IN" sz="3000" b="0" i="0" dirty="0">
                <a:solidFill>
                  <a:srgbClr val="000000"/>
                </a:solidFill>
                <a:effectLst/>
              </a:rPr>
              <a:t>          </a:t>
            </a:r>
            <a:r>
              <a:rPr lang="en-IN" sz="3000" b="1" i="0" dirty="0">
                <a:solidFill>
                  <a:srgbClr val="006699"/>
                </a:solidFill>
                <a:effectLst/>
              </a:rPr>
              <a:t>if</a:t>
            </a:r>
            <a:r>
              <a:rPr lang="en-IN" sz="3000" b="0" i="0" dirty="0">
                <a:solidFill>
                  <a:srgbClr val="000000"/>
                </a:solidFill>
                <a:effectLst/>
              </a:rPr>
              <a:t> (n == </a:t>
            </a:r>
            <a:r>
              <a:rPr lang="en-IN" sz="3000" b="0" i="0" dirty="0">
                <a:solidFill>
                  <a:srgbClr val="C00000"/>
                </a:solidFill>
                <a:effectLst/>
              </a:rPr>
              <a:t>1</a:t>
            </a:r>
            <a:r>
              <a:rPr lang="en-IN" sz="3000" b="0" i="0" dirty="0">
                <a:solidFill>
                  <a:srgbClr val="000000"/>
                </a:solidFill>
                <a:effectLst/>
              </a:rPr>
              <a:t>)      </a:t>
            </a:r>
          </a:p>
          <a:p>
            <a:pPr marL="0" indent="0" algn="just">
              <a:buNone/>
            </a:pPr>
            <a:r>
              <a:rPr lang="en-IN" sz="3000" b="0" i="0" dirty="0">
                <a:solidFill>
                  <a:srgbClr val="000000"/>
                </a:solidFill>
                <a:effectLst/>
              </a:rPr>
              <a:t>            </a:t>
            </a:r>
            <a:r>
              <a:rPr lang="en-IN" sz="3000" b="1" i="0" dirty="0">
                <a:solidFill>
                  <a:srgbClr val="006699"/>
                </a:solidFill>
                <a:effectLst/>
              </a:rPr>
              <a:t>return</a:t>
            </a:r>
            <a:r>
              <a:rPr lang="en-IN" sz="3000" b="0" i="0" dirty="0">
                <a:solidFill>
                  <a:srgbClr val="000000"/>
                </a:solidFill>
                <a:effectLst/>
              </a:rPr>
              <a:t> </a:t>
            </a:r>
            <a:r>
              <a:rPr lang="en-IN" sz="3000" b="0" i="0" dirty="0">
                <a:solidFill>
                  <a:srgbClr val="C00000"/>
                </a:solidFill>
                <a:effectLst/>
              </a:rPr>
              <a:t>1</a:t>
            </a:r>
            <a:r>
              <a:rPr lang="en-IN" sz="3000" b="0" i="0" dirty="0">
                <a:solidFill>
                  <a:srgbClr val="000000"/>
                </a:solidFill>
                <a:effectLst/>
              </a:rPr>
              <a:t>;      </a:t>
            </a:r>
          </a:p>
          <a:p>
            <a:pPr marL="0" indent="0" algn="just">
              <a:buNone/>
            </a:pPr>
            <a:r>
              <a:rPr lang="en-IN" sz="3000" b="0" i="0" dirty="0">
                <a:solidFill>
                  <a:srgbClr val="000000"/>
                </a:solidFill>
                <a:effectLst/>
              </a:rPr>
              <a:t>          </a:t>
            </a:r>
            <a:r>
              <a:rPr lang="en-IN" sz="3000" b="1" i="0" dirty="0">
                <a:solidFill>
                  <a:srgbClr val="006699"/>
                </a:solidFill>
                <a:effectLst/>
              </a:rPr>
              <a:t>else</a:t>
            </a:r>
            <a:r>
              <a:rPr lang="en-IN" sz="3000" b="0" i="0" dirty="0">
                <a:solidFill>
                  <a:srgbClr val="000000"/>
                </a:solidFill>
                <a:effectLst/>
              </a:rPr>
              <a:t>      </a:t>
            </a:r>
          </a:p>
          <a:p>
            <a:pPr marL="0" indent="0" algn="just">
              <a:buNone/>
            </a:pPr>
            <a:r>
              <a:rPr lang="en-IN" sz="3000" b="0" i="0" dirty="0">
                <a:solidFill>
                  <a:srgbClr val="000000"/>
                </a:solidFill>
                <a:effectLst/>
              </a:rPr>
              <a:t>            </a:t>
            </a:r>
            <a:r>
              <a:rPr lang="en-IN" sz="3000" b="1" i="0" dirty="0">
                <a:solidFill>
                  <a:srgbClr val="006699"/>
                </a:solidFill>
                <a:effectLst/>
              </a:rPr>
              <a:t>return</a:t>
            </a:r>
            <a:r>
              <a:rPr lang="en-IN" sz="3000" b="0" i="0" dirty="0">
                <a:solidFill>
                  <a:srgbClr val="000000"/>
                </a:solidFill>
                <a:effectLst/>
              </a:rPr>
              <a:t>(n * factorial(n-</a:t>
            </a:r>
            <a:r>
              <a:rPr lang="en-IN" sz="3000" b="0" i="0" dirty="0">
                <a:solidFill>
                  <a:srgbClr val="C00000"/>
                </a:solidFill>
                <a:effectLst/>
              </a:rPr>
              <a:t>1</a:t>
            </a:r>
            <a:r>
              <a:rPr lang="en-IN" sz="3000" b="0" i="0" dirty="0">
                <a:solidFill>
                  <a:srgbClr val="000000"/>
                </a:solidFill>
                <a:effectLst/>
              </a:rPr>
              <a:t>));      </a:t>
            </a:r>
          </a:p>
          <a:p>
            <a:pPr marL="0" indent="0" algn="just">
              <a:buNone/>
            </a:pPr>
            <a:r>
              <a:rPr lang="en-IN" sz="3000" b="0" i="0" dirty="0">
                <a:solidFill>
                  <a:srgbClr val="000000"/>
                </a:solidFill>
                <a:effectLst/>
              </a:rPr>
              <a:t>    }      </a:t>
            </a:r>
          </a:p>
          <a:p>
            <a:pPr marL="0" indent="0" algn="just">
              <a:buNone/>
            </a:pPr>
            <a:r>
              <a:rPr lang="en-IN" sz="3000" b="1" i="0" dirty="0">
                <a:solidFill>
                  <a:srgbClr val="006699"/>
                </a:solidFill>
                <a:effectLst/>
              </a:rPr>
              <a:t>public</a:t>
            </a:r>
            <a:r>
              <a:rPr lang="en-IN" sz="3000" b="0" i="0" dirty="0">
                <a:solidFill>
                  <a:srgbClr val="000000"/>
                </a:solidFill>
                <a:effectLst/>
              </a:rPr>
              <a:t> </a:t>
            </a:r>
            <a:r>
              <a:rPr lang="en-IN" sz="3000" b="1" i="0" dirty="0">
                <a:solidFill>
                  <a:srgbClr val="006699"/>
                </a:solidFill>
                <a:effectLst/>
              </a:rPr>
              <a:t>static</a:t>
            </a:r>
            <a:r>
              <a:rPr lang="en-IN" sz="3000" b="0" i="0" dirty="0">
                <a:solidFill>
                  <a:srgbClr val="000000"/>
                </a:solidFill>
                <a:effectLst/>
              </a:rPr>
              <a:t> </a:t>
            </a:r>
            <a:r>
              <a:rPr lang="en-IN" sz="3000" b="1" i="0" dirty="0">
                <a:solidFill>
                  <a:srgbClr val="006699"/>
                </a:solidFill>
                <a:effectLst/>
              </a:rPr>
              <a:t>void</a:t>
            </a:r>
            <a:r>
              <a:rPr lang="en-IN" sz="3000" b="0" i="0" dirty="0">
                <a:solidFill>
                  <a:srgbClr val="000000"/>
                </a:solidFill>
                <a:effectLst/>
              </a:rPr>
              <a:t> main(String[] </a:t>
            </a:r>
            <a:r>
              <a:rPr lang="en-IN" sz="3000" b="0" i="0" dirty="0" err="1">
                <a:solidFill>
                  <a:srgbClr val="000000"/>
                </a:solidFill>
                <a:effectLst/>
              </a:rPr>
              <a:t>args</a:t>
            </a:r>
            <a:r>
              <a:rPr lang="en-IN" sz="3000" b="0" i="0" dirty="0">
                <a:solidFill>
                  <a:srgbClr val="000000"/>
                </a:solidFill>
                <a:effectLst/>
              </a:rPr>
              <a:t>) {  </a:t>
            </a:r>
          </a:p>
          <a:p>
            <a:pPr marL="0" indent="0" algn="just">
              <a:buNone/>
            </a:pPr>
            <a:r>
              <a:rPr lang="en-IN" sz="3000" b="0" i="0" dirty="0">
                <a:solidFill>
                  <a:srgbClr val="000000"/>
                </a:solidFill>
                <a:effectLst/>
              </a:rPr>
              <a:t>System.out.println(</a:t>
            </a:r>
            <a:r>
              <a:rPr lang="en-IN" sz="3000" b="0" i="0" dirty="0">
                <a:solidFill>
                  <a:srgbClr val="0000FF"/>
                </a:solidFill>
                <a:effectLst/>
              </a:rPr>
              <a:t>"Factorial of 5 is: "</a:t>
            </a:r>
            <a:r>
              <a:rPr lang="en-IN" sz="3000" b="0" i="0" dirty="0">
                <a:solidFill>
                  <a:srgbClr val="000000"/>
                </a:solidFill>
                <a:effectLst/>
              </a:rPr>
              <a:t>+factorial(</a:t>
            </a:r>
            <a:r>
              <a:rPr lang="en-IN" sz="3000" b="0" i="0" dirty="0">
                <a:solidFill>
                  <a:srgbClr val="C00000"/>
                </a:solidFill>
                <a:effectLst/>
              </a:rPr>
              <a:t>5</a:t>
            </a:r>
            <a:r>
              <a:rPr lang="en-IN" sz="3000" b="0" i="0" dirty="0">
                <a:solidFill>
                  <a:srgbClr val="000000"/>
                </a:solidFill>
                <a:effectLst/>
              </a:rPr>
              <a:t>));  </a:t>
            </a:r>
          </a:p>
          <a:p>
            <a:pPr marL="0" indent="0" algn="just">
              <a:buNone/>
            </a:pPr>
            <a:r>
              <a:rPr lang="en-IN" sz="3000" b="0" i="0" dirty="0">
                <a:solidFill>
                  <a:srgbClr val="000000"/>
                </a:solidFill>
                <a:effectLst/>
              </a:rPr>
              <a:t>}  </a:t>
            </a:r>
          </a:p>
          <a:p>
            <a:pPr marL="0" indent="0" algn="just">
              <a:buNone/>
            </a:pPr>
            <a:r>
              <a:rPr lang="en-IN" sz="3000" b="0" i="0" dirty="0">
                <a:solidFill>
                  <a:srgbClr val="000000"/>
                </a:solidFill>
                <a:effectLst/>
              </a:rPr>
              <a:t>} </a:t>
            </a:r>
            <a:endParaRPr lang="en-IN" sz="3000" b="0" i="0" dirty="0">
              <a:solidFill>
                <a:srgbClr val="333333"/>
              </a:solidFill>
              <a:effectLst/>
            </a:endParaRPr>
          </a:p>
          <a:p>
            <a:pPr marL="0" indent="0">
              <a:buNone/>
            </a:pPr>
            <a:endParaRPr lang="en-IN" dirty="0"/>
          </a:p>
        </p:txBody>
      </p:sp>
    </p:spTree>
    <p:extLst>
      <p:ext uri="{BB962C8B-B14F-4D97-AF65-F5344CB8AC3E}">
        <p14:creationId xmlns:p14="http://schemas.microsoft.com/office/powerpoint/2010/main" val="14301432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449D-A63D-1310-1910-2B263956F4F6}"/>
              </a:ext>
            </a:extLst>
          </p:cNvPr>
          <p:cNvSpPr>
            <a:spLocks noGrp="1"/>
          </p:cNvSpPr>
          <p:nvPr>
            <p:ph type="ctrTitle"/>
          </p:nvPr>
        </p:nvSpPr>
        <p:spPr/>
        <p:txBody>
          <a:bodyPr/>
          <a:lstStyle/>
          <a:p>
            <a:r>
              <a:rPr lang="en-IN" dirty="0"/>
              <a:t>STRINGS IN JAVA</a:t>
            </a:r>
          </a:p>
        </p:txBody>
      </p:sp>
    </p:spTree>
    <p:extLst>
      <p:ext uri="{BB962C8B-B14F-4D97-AF65-F5344CB8AC3E}">
        <p14:creationId xmlns:p14="http://schemas.microsoft.com/office/powerpoint/2010/main" val="34775127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AD459-21FF-6CE7-7F3A-1D4EE9FF11D3}"/>
              </a:ext>
            </a:extLst>
          </p:cNvPr>
          <p:cNvSpPr>
            <a:spLocks noGrp="1"/>
          </p:cNvSpPr>
          <p:nvPr>
            <p:ph type="title"/>
          </p:nvPr>
        </p:nvSpPr>
        <p:spPr/>
        <p:txBody>
          <a:bodyPr/>
          <a:lstStyle/>
          <a:p>
            <a:r>
              <a:rPr lang="en-IN" dirty="0"/>
              <a:t>Strings</a:t>
            </a:r>
          </a:p>
        </p:txBody>
      </p:sp>
      <p:sp>
        <p:nvSpPr>
          <p:cNvPr id="3" name="Content Placeholder 2">
            <a:extLst>
              <a:ext uri="{FF2B5EF4-FFF2-40B4-BE49-F238E27FC236}">
                <a16:creationId xmlns:a16="http://schemas.microsoft.com/office/drawing/2014/main" id="{EB59CC34-9DEC-5AA6-067F-7FF57589C3B2}"/>
              </a:ext>
            </a:extLst>
          </p:cNvPr>
          <p:cNvSpPr>
            <a:spLocks noGrp="1"/>
          </p:cNvSpPr>
          <p:nvPr>
            <p:ph idx="1"/>
          </p:nvPr>
        </p:nvSpPr>
        <p:spPr>
          <a:xfrm>
            <a:off x="716902" y="1555037"/>
            <a:ext cx="10515600" cy="4351338"/>
          </a:xfrm>
        </p:spPr>
        <p:txBody>
          <a:bodyPr/>
          <a:lstStyle/>
          <a:p>
            <a:r>
              <a:rPr lang="en-US" b="0" i="0" dirty="0">
                <a:solidFill>
                  <a:srgbClr val="333333"/>
                </a:solidFill>
                <a:effectLst/>
                <a:latin typeface="inter-regular"/>
              </a:rPr>
              <a:t>String is a sequence of characters. But in Java, string is an object that represents a sequence of characters. The </a:t>
            </a:r>
            <a:r>
              <a:rPr lang="en-US" b="0" i="0" dirty="0" err="1">
                <a:solidFill>
                  <a:srgbClr val="333333"/>
                </a:solidFill>
                <a:effectLst/>
                <a:latin typeface="inter-regular"/>
              </a:rPr>
              <a:t>java.lang.String</a:t>
            </a:r>
            <a:r>
              <a:rPr lang="en-US" b="0" i="0" dirty="0">
                <a:solidFill>
                  <a:srgbClr val="333333"/>
                </a:solidFill>
                <a:effectLst/>
                <a:latin typeface="inter-regular"/>
              </a:rPr>
              <a:t> class is used to create a string object.</a:t>
            </a:r>
          </a:p>
          <a:p>
            <a:r>
              <a:rPr lang="en-US" dirty="0"/>
              <a:t> For example:</a:t>
            </a:r>
          </a:p>
          <a:p>
            <a:pPr marL="0" indent="0">
              <a:buNone/>
            </a:pPr>
            <a:r>
              <a:rPr lang="en-IN" b="0" i="0">
                <a:solidFill>
                  <a:srgbClr val="000000"/>
                </a:solidFill>
                <a:effectLst/>
                <a:latin typeface="inter-regular"/>
              </a:rPr>
              <a:t>  </a:t>
            </a:r>
            <a:endParaRPr lang="en-IN" b="0" i="0" dirty="0">
              <a:solidFill>
                <a:srgbClr val="000000"/>
              </a:solidFill>
              <a:effectLst/>
              <a:latin typeface="inter-regular"/>
            </a:endParaRPr>
          </a:p>
          <a:p>
            <a:pPr marL="0" indent="0">
              <a:buNone/>
            </a:pPr>
            <a:br>
              <a:rPr lang="en-US" b="0" i="0" dirty="0">
                <a:solidFill>
                  <a:srgbClr val="333333"/>
                </a:solidFill>
                <a:effectLst/>
                <a:latin typeface="inter-regular"/>
              </a:rPr>
            </a:br>
            <a:endParaRPr lang="en-IN" dirty="0"/>
          </a:p>
        </p:txBody>
      </p:sp>
    </p:spTree>
    <p:extLst>
      <p:ext uri="{BB962C8B-B14F-4D97-AF65-F5344CB8AC3E}">
        <p14:creationId xmlns:p14="http://schemas.microsoft.com/office/powerpoint/2010/main" val="1542255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7F031E-FFB6-217F-BA57-3BA2B6C04E26}"/>
              </a:ext>
            </a:extLst>
          </p:cNvPr>
          <p:cNvSpPr>
            <a:spLocks noGrp="1"/>
          </p:cNvSpPr>
          <p:nvPr>
            <p:ph idx="1"/>
          </p:nvPr>
        </p:nvSpPr>
        <p:spPr>
          <a:xfrm>
            <a:off x="838200" y="765110"/>
            <a:ext cx="10515600" cy="5411853"/>
          </a:xfrm>
        </p:spPr>
        <p:txBody>
          <a:bodyPr/>
          <a:lstStyle/>
          <a:p>
            <a:r>
              <a:rPr lang="en-US" b="0" i="0" dirty="0">
                <a:solidFill>
                  <a:srgbClr val="333333"/>
                </a:solidFill>
                <a:effectLst/>
                <a:latin typeface="inter-regular"/>
              </a:rPr>
              <a:t>The java.lang.String class implements </a:t>
            </a:r>
            <a:r>
              <a:rPr lang="en-US" b="0" i="1" dirty="0">
                <a:solidFill>
                  <a:srgbClr val="333333"/>
                </a:solidFill>
                <a:effectLst/>
                <a:latin typeface="inter-regular"/>
              </a:rPr>
              <a:t>Serializable</a:t>
            </a:r>
            <a:r>
              <a:rPr lang="en-US" b="0" i="0" dirty="0">
                <a:solidFill>
                  <a:srgbClr val="333333"/>
                </a:solidFill>
                <a:effectLst/>
                <a:latin typeface="inter-regular"/>
              </a:rPr>
              <a:t>, </a:t>
            </a:r>
            <a:r>
              <a:rPr lang="en-US" b="0" i="1" dirty="0">
                <a:solidFill>
                  <a:srgbClr val="333333"/>
                </a:solidFill>
                <a:effectLst/>
                <a:latin typeface="inter-regular"/>
              </a:rPr>
              <a:t>Comparable</a:t>
            </a:r>
            <a:r>
              <a:rPr lang="en-US" b="0" i="0" dirty="0">
                <a:solidFill>
                  <a:srgbClr val="333333"/>
                </a:solidFill>
                <a:effectLst/>
                <a:latin typeface="inter-regular"/>
              </a:rPr>
              <a:t> and </a:t>
            </a:r>
            <a:r>
              <a:rPr lang="en-US" b="0" i="1" dirty="0" err="1">
                <a:solidFill>
                  <a:srgbClr val="333333"/>
                </a:solidFill>
                <a:effectLst/>
                <a:latin typeface="inter-regular"/>
              </a:rPr>
              <a:t>CharSequence</a:t>
            </a:r>
            <a:r>
              <a:rPr lang="en-US" b="0" i="0" dirty="0">
                <a:solidFill>
                  <a:srgbClr val="333333"/>
                </a:solidFill>
                <a:effectLst/>
                <a:latin typeface="inter-regular"/>
              </a:rPr>
              <a:t> </a:t>
            </a:r>
            <a:r>
              <a:rPr lang="en-US" b="0" i="0" u="none" strike="noStrike" dirty="0">
                <a:solidFill>
                  <a:srgbClr val="008000"/>
                </a:solidFill>
                <a:effectLst/>
                <a:latin typeface="inter-regular"/>
                <a:hlinkClick r:id="rId2"/>
              </a:rPr>
              <a:t>interfaces</a:t>
            </a:r>
            <a:r>
              <a:rPr lang="en-US" b="0" i="0" dirty="0">
                <a:solidFill>
                  <a:srgbClr val="333333"/>
                </a:solidFill>
                <a:effectLst/>
                <a:latin typeface="inter-regular"/>
              </a:rPr>
              <a:t>.</a:t>
            </a:r>
          </a:p>
          <a:p>
            <a:r>
              <a:rPr lang="en-IN" b="0" i="0" dirty="0">
                <a:solidFill>
                  <a:srgbClr val="610B38"/>
                </a:solidFill>
                <a:effectLst/>
                <a:latin typeface="erdana"/>
              </a:rPr>
              <a:t>CharSequence Interface</a:t>
            </a:r>
          </a:p>
          <a:p>
            <a:pPr marL="0" indent="0">
              <a:buNone/>
            </a:pPr>
            <a:endParaRPr lang="en-IN" dirty="0"/>
          </a:p>
        </p:txBody>
      </p:sp>
      <p:pic>
        <p:nvPicPr>
          <p:cNvPr id="7" name="Picture 6">
            <a:extLst>
              <a:ext uri="{FF2B5EF4-FFF2-40B4-BE49-F238E27FC236}">
                <a16:creationId xmlns:a16="http://schemas.microsoft.com/office/drawing/2014/main" id="{3CE854BB-C5D0-B1E7-10DC-60FF86B99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9551" y="2789728"/>
            <a:ext cx="3095527" cy="1954205"/>
          </a:xfrm>
          <a:prstGeom prst="rect">
            <a:avLst/>
          </a:prstGeom>
        </p:spPr>
      </p:pic>
    </p:spTree>
    <p:extLst>
      <p:ext uri="{BB962C8B-B14F-4D97-AF65-F5344CB8AC3E}">
        <p14:creationId xmlns:p14="http://schemas.microsoft.com/office/powerpoint/2010/main" val="14058778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1094" y="718457"/>
            <a:ext cx="10767526" cy="5335699"/>
          </a:xfrm>
        </p:spPr>
        <p:txBody>
          <a:bodyPr/>
          <a:lstStyle/>
          <a:p>
            <a:pPr marL="0" indent="0">
              <a:buNone/>
            </a:pPr>
            <a:r>
              <a:rPr lang="en-IN" b="1" spc="15" dirty="0">
                <a:solidFill>
                  <a:srgbClr val="7030A0"/>
                </a:solidFill>
              </a:rPr>
              <a:t>String</a:t>
            </a:r>
            <a:r>
              <a:rPr lang="en-IN" b="1" spc="-215" dirty="0">
                <a:solidFill>
                  <a:srgbClr val="7030A0"/>
                </a:solidFill>
              </a:rPr>
              <a:t> </a:t>
            </a:r>
            <a:r>
              <a:rPr lang="en-IN" b="1" spc="5" dirty="0">
                <a:solidFill>
                  <a:srgbClr val="7030A0"/>
                </a:solidFill>
              </a:rPr>
              <a:t>pool</a:t>
            </a:r>
          </a:p>
          <a:p>
            <a:pPr marL="355600" marR="5080" indent="-343535">
              <a:lnSpc>
                <a:spcPct val="101800"/>
              </a:lnSpc>
              <a:spcBef>
                <a:spcPts val="60"/>
              </a:spcBef>
              <a:buFont typeface="Arial"/>
              <a:buChar char="•"/>
              <a:tabLst>
                <a:tab pos="355600" algn="l"/>
                <a:tab pos="356235" algn="l"/>
              </a:tabLst>
            </a:pPr>
            <a:r>
              <a:rPr lang="en-US" sz="3000" spc="10" dirty="0">
                <a:latin typeface="Calibri" pitchFamily="34" charset="0"/>
                <a:cs typeface="Calibri" pitchFamily="34" charset="0"/>
              </a:rPr>
              <a:t>String</a:t>
            </a:r>
            <a:r>
              <a:rPr lang="en-US" sz="3000" spc="-70" dirty="0">
                <a:latin typeface="Calibri" pitchFamily="34" charset="0"/>
                <a:cs typeface="Calibri" pitchFamily="34" charset="0"/>
              </a:rPr>
              <a:t> </a:t>
            </a:r>
            <a:r>
              <a:rPr lang="en-US" sz="3000" spc="25" dirty="0">
                <a:latin typeface="Calibri" pitchFamily="34" charset="0"/>
                <a:cs typeface="Calibri" pitchFamily="34" charset="0"/>
              </a:rPr>
              <a:t>pool</a:t>
            </a:r>
            <a:r>
              <a:rPr lang="en-US" sz="3000" spc="-114" dirty="0">
                <a:latin typeface="Calibri" pitchFamily="34" charset="0"/>
                <a:cs typeface="Calibri" pitchFamily="34" charset="0"/>
              </a:rPr>
              <a:t> </a:t>
            </a:r>
            <a:r>
              <a:rPr lang="en-US" sz="3000" spc="5" dirty="0">
                <a:latin typeface="Calibri" pitchFamily="34" charset="0"/>
                <a:cs typeface="Calibri" pitchFamily="34" charset="0"/>
              </a:rPr>
              <a:t>is</a:t>
            </a:r>
            <a:r>
              <a:rPr lang="en-US" sz="3000" spc="-30" dirty="0">
                <a:latin typeface="Calibri" pitchFamily="34" charset="0"/>
                <a:cs typeface="Calibri" pitchFamily="34" charset="0"/>
              </a:rPr>
              <a:t> </a:t>
            </a:r>
            <a:r>
              <a:rPr lang="en-US" sz="3000" spc="10" dirty="0">
                <a:latin typeface="Calibri" pitchFamily="34" charset="0"/>
                <a:cs typeface="Calibri" pitchFamily="34" charset="0"/>
              </a:rPr>
              <a:t>a</a:t>
            </a:r>
            <a:r>
              <a:rPr lang="en-US" sz="3000" spc="-25" dirty="0">
                <a:latin typeface="Calibri" pitchFamily="34" charset="0"/>
                <a:cs typeface="Calibri" pitchFamily="34" charset="0"/>
              </a:rPr>
              <a:t> </a:t>
            </a:r>
            <a:r>
              <a:rPr lang="en-US" sz="3000" spc="25" dirty="0">
                <a:latin typeface="Calibri" pitchFamily="34" charset="0"/>
                <a:cs typeface="Calibri" pitchFamily="34" charset="0"/>
              </a:rPr>
              <a:t>pool</a:t>
            </a:r>
            <a:r>
              <a:rPr lang="en-US" sz="3000" spc="-114" dirty="0">
                <a:latin typeface="Calibri" pitchFamily="34" charset="0"/>
                <a:cs typeface="Calibri" pitchFamily="34" charset="0"/>
              </a:rPr>
              <a:t> </a:t>
            </a:r>
            <a:r>
              <a:rPr lang="en-US" sz="3000" spc="20" dirty="0">
                <a:latin typeface="Calibri" pitchFamily="34" charset="0"/>
                <a:cs typeface="Calibri" pitchFamily="34" charset="0"/>
              </a:rPr>
              <a:t>of</a:t>
            </a:r>
            <a:r>
              <a:rPr lang="en-US" sz="3000" spc="-55" dirty="0">
                <a:latin typeface="Calibri" pitchFamily="34" charset="0"/>
                <a:cs typeface="Calibri" pitchFamily="34" charset="0"/>
              </a:rPr>
              <a:t> </a:t>
            </a:r>
            <a:r>
              <a:rPr lang="en-US" sz="3000" spc="10" dirty="0">
                <a:latin typeface="Calibri" pitchFamily="34" charset="0"/>
                <a:cs typeface="Calibri" pitchFamily="34" charset="0"/>
              </a:rPr>
              <a:t>string</a:t>
            </a:r>
            <a:r>
              <a:rPr lang="en-US" sz="3000" spc="-70" dirty="0">
                <a:latin typeface="Calibri" pitchFamily="34" charset="0"/>
                <a:cs typeface="Calibri" pitchFamily="34" charset="0"/>
              </a:rPr>
              <a:t> </a:t>
            </a:r>
            <a:r>
              <a:rPr lang="en-US" sz="3000" spc="20" dirty="0">
                <a:latin typeface="Calibri" pitchFamily="34" charset="0"/>
                <a:cs typeface="Calibri" pitchFamily="34" charset="0"/>
              </a:rPr>
              <a:t>which</a:t>
            </a:r>
            <a:r>
              <a:rPr lang="en-US" sz="3000" spc="-100" dirty="0">
                <a:latin typeface="Calibri" pitchFamily="34" charset="0"/>
                <a:cs typeface="Calibri" pitchFamily="34" charset="0"/>
              </a:rPr>
              <a:t> </a:t>
            </a:r>
            <a:r>
              <a:rPr lang="en-US" sz="3000" spc="5" dirty="0">
                <a:latin typeface="Calibri" pitchFamily="34" charset="0"/>
                <a:cs typeface="Calibri" pitchFamily="34" charset="0"/>
              </a:rPr>
              <a:t>is</a:t>
            </a:r>
            <a:r>
              <a:rPr lang="en-US" sz="3000" spc="-35" dirty="0">
                <a:latin typeface="Calibri" pitchFamily="34" charset="0"/>
                <a:cs typeface="Calibri" pitchFamily="34" charset="0"/>
              </a:rPr>
              <a:t> </a:t>
            </a:r>
            <a:r>
              <a:rPr lang="en-US" sz="3000" spc="-10" dirty="0">
                <a:latin typeface="Calibri" pitchFamily="34" charset="0"/>
                <a:cs typeface="Calibri" pitchFamily="34" charset="0"/>
              </a:rPr>
              <a:t>stored</a:t>
            </a:r>
            <a:r>
              <a:rPr lang="en-US" sz="3000" spc="-95" dirty="0">
                <a:latin typeface="Calibri" pitchFamily="34" charset="0"/>
                <a:cs typeface="Calibri" pitchFamily="34" charset="0"/>
              </a:rPr>
              <a:t> </a:t>
            </a:r>
            <a:r>
              <a:rPr lang="en-US" sz="3000" spc="10" dirty="0">
                <a:latin typeface="Calibri" pitchFamily="34" charset="0"/>
                <a:cs typeface="Calibri" pitchFamily="34" charset="0"/>
              </a:rPr>
              <a:t>in  </a:t>
            </a:r>
            <a:r>
              <a:rPr lang="en-US" sz="3000" spc="-20" dirty="0">
                <a:latin typeface="Calibri" pitchFamily="34" charset="0"/>
                <a:cs typeface="Calibri" pitchFamily="34" charset="0"/>
              </a:rPr>
              <a:t>javas </a:t>
            </a:r>
            <a:r>
              <a:rPr lang="en-US" sz="3000" spc="15" dirty="0">
                <a:latin typeface="Calibri" pitchFamily="34" charset="0"/>
                <a:cs typeface="Calibri" pitchFamily="34" charset="0"/>
              </a:rPr>
              <a:t>heap</a:t>
            </a:r>
            <a:r>
              <a:rPr lang="en-US" sz="3000" spc="-50" dirty="0">
                <a:latin typeface="Calibri" pitchFamily="34" charset="0"/>
                <a:cs typeface="Calibri" pitchFamily="34" charset="0"/>
              </a:rPr>
              <a:t> </a:t>
            </a:r>
            <a:r>
              <a:rPr lang="en-US" sz="3000" spc="-35" dirty="0">
                <a:latin typeface="Calibri" pitchFamily="34" charset="0"/>
                <a:cs typeface="Calibri" pitchFamily="34" charset="0"/>
              </a:rPr>
              <a:t>memory.</a:t>
            </a:r>
            <a:endParaRPr lang="en-US" sz="3000" dirty="0">
              <a:latin typeface="Calibri" pitchFamily="34" charset="0"/>
              <a:cs typeface="Calibri" pitchFamily="34" charset="0"/>
            </a:endParaRPr>
          </a:p>
          <a:p>
            <a:pPr marL="355600" marR="45085" indent="-343535">
              <a:spcBef>
                <a:spcPts val="740"/>
              </a:spcBef>
              <a:buFont typeface="Arial"/>
              <a:buChar char="•"/>
              <a:tabLst>
                <a:tab pos="355600" algn="l"/>
                <a:tab pos="356235" algn="l"/>
              </a:tabLst>
            </a:pPr>
            <a:r>
              <a:rPr lang="en-US" sz="3000" spc="10" dirty="0">
                <a:latin typeface="Calibri" pitchFamily="34" charset="0"/>
                <a:cs typeface="Calibri" pitchFamily="34" charset="0"/>
              </a:rPr>
              <a:t>String</a:t>
            </a:r>
            <a:r>
              <a:rPr lang="en-US" sz="3000" spc="-65" dirty="0">
                <a:latin typeface="Calibri" pitchFamily="34" charset="0"/>
                <a:cs typeface="Calibri" pitchFamily="34" charset="0"/>
              </a:rPr>
              <a:t> </a:t>
            </a:r>
            <a:r>
              <a:rPr lang="en-US" sz="3000" spc="25" dirty="0">
                <a:latin typeface="Calibri" pitchFamily="34" charset="0"/>
                <a:cs typeface="Calibri" pitchFamily="34" charset="0"/>
              </a:rPr>
              <a:t>pool</a:t>
            </a:r>
            <a:r>
              <a:rPr lang="en-US" sz="3000" spc="-110" dirty="0">
                <a:latin typeface="Calibri" pitchFamily="34" charset="0"/>
                <a:cs typeface="Calibri" pitchFamily="34" charset="0"/>
              </a:rPr>
              <a:t> </a:t>
            </a:r>
            <a:r>
              <a:rPr lang="en-US" sz="3000" spc="5" dirty="0">
                <a:latin typeface="Calibri" pitchFamily="34" charset="0"/>
                <a:cs typeface="Calibri" pitchFamily="34" charset="0"/>
              </a:rPr>
              <a:t>is</a:t>
            </a:r>
            <a:r>
              <a:rPr lang="en-US" sz="3000" spc="-25" dirty="0">
                <a:latin typeface="Calibri" pitchFamily="34" charset="0"/>
                <a:cs typeface="Calibri" pitchFamily="34" charset="0"/>
              </a:rPr>
              <a:t> </a:t>
            </a:r>
            <a:r>
              <a:rPr lang="en-US" sz="3000" spc="20" dirty="0">
                <a:latin typeface="Calibri" pitchFamily="34" charset="0"/>
                <a:cs typeface="Calibri" pitchFamily="34" charset="0"/>
              </a:rPr>
              <a:t>possible</a:t>
            </a:r>
            <a:r>
              <a:rPr lang="en-US" sz="3000" spc="-215" dirty="0">
                <a:latin typeface="Calibri" pitchFamily="34" charset="0"/>
                <a:cs typeface="Calibri" pitchFamily="34" charset="0"/>
              </a:rPr>
              <a:t> </a:t>
            </a:r>
            <a:r>
              <a:rPr lang="en-US" sz="3000" spc="20" dirty="0">
                <a:latin typeface="Calibri" pitchFamily="34" charset="0"/>
                <a:cs typeface="Calibri" pitchFamily="34" charset="0"/>
              </a:rPr>
              <a:t>only</a:t>
            </a:r>
            <a:r>
              <a:rPr lang="en-US" sz="3000" spc="-70" dirty="0">
                <a:latin typeface="Calibri" pitchFamily="34" charset="0"/>
                <a:cs typeface="Calibri" pitchFamily="34" charset="0"/>
              </a:rPr>
              <a:t> </a:t>
            </a:r>
            <a:r>
              <a:rPr lang="en-US" sz="3000" spc="15" dirty="0">
                <a:latin typeface="Calibri" pitchFamily="34" charset="0"/>
                <a:cs typeface="Calibri" pitchFamily="34" charset="0"/>
              </a:rPr>
              <a:t>because</a:t>
            </a:r>
            <a:r>
              <a:rPr lang="en-US" sz="3000" spc="-150" dirty="0">
                <a:latin typeface="Calibri" pitchFamily="34" charset="0"/>
                <a:cs typeface="Calibri" pitchFamily="34" charset="0"/>
              </a:rPr>
              <a:t> </a:t>
            </a:r>
            <a:r>
              <a:rPr lang="en-US" sz="3000" spc="5" dirty="0">
                <a:latin typeface="Calibri" pitchFamily="34" charset="0"/>
                <a:cs typeface="Calibri" pitchFamily="34" charset="0"/>
              </a:rPr>
              <a:t>strings</a:t>
            </a:r>
            <a:r>
              <a:rPr lang="en-US" sz="3000" spc="-105" dirty="0">
                <a:latin typeface="Calibri" pitchFamily="34" charset="0"/>
                <a:cs typeface="Calibri" pitchFamily="34" charset="0"/>
              </a:rPr>
              <a:t> </a:t>
            </a:r>
            <a:r>
              <a:rPr lang="en-US" sz="3000" spc="-10" dirty="0">
                <a:latin typeface="Calibri" pitchFamily="34" charset="0"/>
                <a:cs typeface="Calibri" pitchFamily="34" charset="0"/>
              </a:rPr>
              <a:t>are  </a:t>
            </a:r>
            <a:r>
              <a:rPr lang="en-US" sz="3000" dirty="0">
                <a:latin typeface="Calibri" pitchFamily="34" charset="0"/>
                <a:cs typeface="Calibri" pitchFamily="34" charset="0"/>
              </a:rPr>
              <a:t>immutable</a:t>
            </a:r>
          </a:p>
          <a:p>
            <a:pPr marL="355600" indent="-343535">
              <a:spcBef>
                <a:spcPts val="805"/>
              </a:spcBef>
              <a:buFont typeface="Arial"/>
              <a:buChar char="•"/>
              <a:tabLst>
                <a:tab pos="355600" algn="l"/>
                <a:tab pos="356235" algn="l"/>
              </a:tabLst>
            </a:pPr>
            <a:r>
              <a:rPr lang="en-US" sz="3000" spc="5" dirty="0">
                <a:latin typeface="Calibri" pitchFamily="34" charset="0"/>
                <a:cs typeface="Calibri" pitchFamily="34" charset="0"/>
              </a:rPr>
              <a:t>Once it </a:t>
            </a:r>
            <a:r>
              <a:rPr lang="en-US" sz="3000" spc="-15" dirty="0">
                <a:latin typeface="Calibri" pitchFamily="34" charset="0"/>
                <a:cs typeface="Calibri" pitchFamily="34" charset="0"/>
              </a:rPr>
              <a:t>created </a:t>
            </a:r>
            <a:r>
              <a:rPr lang="en-US" sz="3000" spc="5" dirty="0">
                <a:latin typeface="Calibri" pitchFamily="34" charset="0"/>
                <a:cs typeface="Calibri" pitchFamily="34" charset="0"/>
              </a:rPr>
              <a:t>it </a:t>
            </a:r>
            <a:r>
              <a:rPr lang="en-US" sz="3000" spc="20" dirty="0">
                <a:latin typeface="Calibri" pitchFamily="34" charset="0"/>
                <a:cs typeface="Calibri" pitchFamily="34" charset="0"/>
              </a:rPr>
              <a:t>can’t </a:t>
            </a:r>
            <a:r>
              <a:rPr lang="en-US" sz="3000" spc="25" dirty="0">
                <a:latin typeface="Calibri" pitchFamily="34" charset="0"/>
                <a:cs typeface="Calibri" pitchFamily="34" charset="0"/>
              </a:rPr>
              <a:t>be</a:t>
            </a:r>
            <a:r>
              <a:rPr lang="en-US" sz="3000" spc="-310" dirty="0">
                <a:latin typeface="Calibri" pitchFamily="34" charset="0"/>
                <a:cs typeface="Calibri" pitchFamily="34" charset="0"/>
              </a:rPr>
              <a:t> </a:t>
            </a:r>
            <a:r>
              <a:rPr lang="en-US" sz="3000" spc="20" dirty="0">
                <a:latin typeface="Calibri" pitchFamily="34" charset="0"/>
                <a:cs typeface="Calibri" pitchFamily="34" charset="0"/>
              </a:rPr>
              <a:t>change</a:t>
            </a:r>
            <a:endParaRPr lang="en-US" sz="3000" dirty="0">
              <a:latin typeface="Calibri" pitchFamily="34" charset="0"/>
              <a:cs typeface="Calibri" pitchFamily="34" charset="0"/>
            </a:endParaRPr>
          </a:p>
          <a:p>
            <a:pPr marL="0" indent="0">
              <a:buNone/>
            </a:pPr>
            <a:r>
              <a:rPr lang="en-IN" sz="3000" b="1" dirty="0">
                <a:solidFill>
                  <a:srgbClr val="7030A0"/>
                </a:solidFill>
              </a:rPr>
              <a:t>String</a:t>
            </a:r>
          </a:p>
          <a:p>
            <a:pPr marL="469265" indent="-457200">
              <a:spcBef>
                <a:spcPts val="795"/>
              </a:spcBef>
              <a:tabLst>
                <a:tab pos="357505" algn="l"/>
              </a:tabLst>
            </a:pPr>
            <a:r>
              <a:rPr lang="en-US" sz="3000" spc="-5" dirty="0">
                <a:cs typeface="Calibri"/>
              </a:rPr>
              <a:t>String</a:t>
            </a:r>
            <a:r>
              <a:rPr lang="en-US" sz="3000" spc="-30" dirty="0">
                <a:cs typeface="Calibri"/>
              </a:rPr>
              <a:t> </a:t>
            </a:r>
            <a:r>
              <a:rPr lang="en-US" sz="3000" dirty="0">
                <a:cs typeface="Calibri"/>
              </a:rPr>
              <a:t>is</a:t>
            </a:r>
            <a:r>
              <a:rPr lang="en-US" sz="3000" spc="-45" dirty="0">
                <a:cs typeface="Calibri"/>
              </a:rPr>
              <a:t> </a:t>
            </a:r>
            <a:r>
              <a:rPr lang="en-US" sz="3000" b="1" spc="-10" dirty="0">
                <a:solidFill>
                  <a:srgbClr val="FF0000"/>
                </a:solidFill>
                <a:cs typeface="Calibri"/>
              </a:rPr>
              <a:t>immutable.</a:t>
            </a:r>
            <a:endParaRPr lang="en-US" sz="3000" b="1" dirty="0">
              <a:solidFill>
                <a:srgbClr val="FF0000"/>
              </a:solidFill>
              <a:cs typeface="Calibri"/>
            </a:endParaRPr>
          </a:p>
          <a:p>
            <a:pPr marL="469265" indent="-457200">
              <a:spcBef>
                <a:spcPts val="795"/>
              </a:spcBef>
              <a:tabLst>
                <a:tab pos="357505" algn="l"/>
              </a:tabLst>
            </a:pPr>
            <a:r>
              <a:rPr lang="en-US" sz="3000" dirty="0">
                <a:cs typeface="Calibri"/>
              </a:rPr>
              <a:t>Multiple</a:t>
            </a:r>
            <a:r>
              <a:rPr lang="en-US" sz="3000" spc="-50" dirty="0">
                <a:cs typeface="Calibri"/>
              </a:rPr>
              <a:t> </a:t>
            </a:r>
            <a:r>
              <a:rPr lang="en-US" sz="3000" spc="-35" dirty="0">
                <a:cs typeface="Calibri"/>
              </a:rPr>
              <a:t>thread</a:t>
            </a:r>
            <a:r>
              <a:rPr lang="en-US" sz="3000" spc="90" dirty="0">
                <a:cs typeface="Calibri"/>
              </a:rPr>
              <a:t> </a:t>
            </a:r>
            <a:r>
              <a:rPr lang="en-US" sz="3000" spc="-30" dirty="0">
                <a:cs typeface="Calibri"/>
              </a:rPr>
              <a:t>can</a:t>
            </a:r>
            <a:r>
              <a:rPr lang="en-US" sz="3000" spc="35" dirty="0">
                <a:cs typeface="Calibri"/>
              </a:rPr>
              <a:t> </a:t>
            </a:r>
            <a:r>
              <a:rPr lang="en-US" sz="3000" spc="-10" dirty="0">
                <a:cs typeface="Calibri"/>
              </a:rPr>
              <a:t>access</a:t>
            </a:r>
            <a:r>
              <a:rPr lang="en-US" sz="3000" spc="-30" dirty="0">
                <a:cs typeface="Calibri"/>
              </a:rPr>
              <a:t> </a:t>
            </a:r>
            <a:r>
              <a:rPr lang="en-US" sz="3000" spc="-5" dirty="0">
                <a:cs typeface="Calibri"/>
              </a:rPr>
              <a:t>the</a:t>
            </a:r>
            <a:r>
              <a:rPr lang="en-US" sz="3000" spc="-10" dirty="0">
                <a:cs typeface="Calibri"/>
              </a:rPr>
              <a:t> same</a:t>
            </a:r>
            <a:r>
              <a:rPr lang="en-US" sz="3000" spc="-15" dirty="0">
                <a:cs typeface="Calibri"/>
              </a:rPr>
              <a:t> </a:t>
            </a:r>
            <a:r>
              <a:rPr lang="en-US" sz="3000" spc="-30" dirty="0">
                <a:cs typeface="Calibri"/>
              </a:rPr>
              <a:t>string</a:t>
            </a:r>
            <a:endParaRPr lang="en-US" sz="3000" dirty="0">
              <a:cs typeface="Calibri"/>
            </a:endParaRPr>
          </a:p>
          <a:p>
            <a:pPr marL="471170" indent="-457200"/>
            <a:r>
              <a:rPr lang="en-US" sz="3000" spc="-5" dirty="0">
                <a:cs typeface="Calibri"/>
              </a:rPr>
              <a:t>since</a:t>
            </a:r>
            <a:r>
              <a:rPr lang="en-US" sz="3000" spc="-15" dirty="0">
                <a:cs typeface="Calibri"/>
              </a:rPr>
              <a:t> </a:t>
            </a:r>
            <a:r>
              <a:rPr lang="en-US" sz="3000" dirty="0">
                <a:cs typeface="Calibri"/>
              </a:rPr>
              <a:t>its</a:t>
            </a:r>
            <a:r>
              <a:rPr lang="en-US" sz="3000" spc="-30" dirty="0">
                <a:cs typeface="Calibri"/>
              </a:rPr>
              <a:t> </a:t>
            </a:r>
            <a:r>
              <a:rPr lang="en-US" sz="3000" spc="-10" dirty="0">
                <a:cs typeface="Calibri"/>
              </a:rPr>
              <a:t>immutable </a:t>
            </a:r>
            <a:r>
              <a:rPr lang="en-US" sz="3000" b="1" spc="-5" dirty="0">
                <a:solidFill>
                  <a:srgbClr val="FF0000"/>
                </a:solidFill>
                <a:cs typeface="Calibri"/>
              </a:rPr>
              <a:t>.</a:t>
            </a:r>
            <a:r>
              <a:rPr lang="en-US" sz="3000" b="1" spc="10" dirty="0">
                <a:solidFill>
                  <a:srgbClr val="FF0000"/>
                </a:solidFill>
                <a:cs typeface="Calibri"/>
              </a:rPr>
              <a:t> </a:t>
            </a:r>
            <a:r>
              <a:rPr lang="en-US" sz="3000" b="1" spc="-35" dirty="0">
                <a:solidFill>
                  <a:srgbClr val="FF0000"/>
                </a:solidFill>
                <a:cs typeface="Calibri"/>
              </a:rPr>
              <a:t>Thread</a:t>
            </a:r>
            <a:r>
              <a:rPr lang="en-US" sz="3000" b="1" spc="105" dirty="0">
                <a:solidFill>
                  <a:srgbClr val="FF0000"/>
                </a:solidFill>
                <a:cs typeface="Calibri"/>
              </a:rPr>
              <a:t> </a:t>
            </a:r>
            <a:r>
              <a:rPr lang="en-US" sz="3000" b="1" spc="-45" dirty="0">
                <a:solidFill>
                  <a:srgbClr val="FF0000"/>
                </a:solidFill>
                <a:cs typeface="Calibri"/>
              </a:rPr>
              <a:t>safe</a:t>
            </a:r>
            <a:r>
              <a:rPr lang="en-US" sz="3000" spc="-45" dirty="0">
                <a:cs typeface="Calibri"/>
              </a:rPr>
              <a:t>.</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9810657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143F7-CAAC-EBA7-CA2C-18106802E876}"/>
              </a:ext>
            </a:extLst>
          </p:cNvPr>
          <p:cNvSpPr>
            <a:spLocks noGrp="1"/>
          </p:cNvSpPr>
          <p:nvPr>
            <p:ph idx="1"/>
          </p:nvPr>
        </p:nvSpPr>
        <p:spPr>
          <a:xfrm>
            <a:off x="838200" y="699796"/>
            <a:ext cx="10515600" cy="5477167"/>
          </a:xfrm>
        </p:spPr>
        <p:txBody>
          <a:bodyPr/>
          <a:lstStyle/>
          <a:p>
            <a:pPr marL="0" indent="0" algn="just">
              <a:buNone/>
            </a:pPr>
            <a:r>
              <a:rPr lang="en-US" b="0" i="0" dirty="0">
                <a:solidFill>
                  <a:srgbClr val="610B4B"/>
                </a:solidFill>
                <a:effectLst/>
                <a:latin typeface="erdana"/>
              </a:rPr>
              <a:t>How to create a string object?</a:t>
            </a:r>
          </a:p>
          <a:p>
            <a:pPr algn="just"/>
            <a:r>
              <a:rPr lang="en-US" b="0" i="0" dirty="0">
                <a:solidFill>
                  <a:srgbClr val="333333"/>
                </a:solidFill>
                <a:effectLst/>
                <a:latin typeface="inter-regular"/>
              </a:rPr>
              <a:t>There are two ways to create String object:</a:t>
            </a:r>
          </a:p>
          <a:p>
            <a:pPr algn="just">
              <a:buFont typeface="+mj-lt"/>
              <a:buAutoNum type="arabicPeriod"/>
            </a:pPr>
            <a:r>
              <a:rPr lang="en-US" b="0" i="0" dirty="0">
                <a:solidFill>
                  <a:srgbClr val="000000"/>
                </a:solidFill>
                <a:effectLst/>
                <a:latin typeface="inter-regular"/>
              </a:rPr>
              <a:t>By string literal</a:t>
            </a:r>
          </a:p>
          <a:p>
            <a:pPr algn="just">
              <a:buFont typeface="+mj-lt"/>
              <a:buAutoNum type="arabicPeriod"/>
            </a:pPr>
            <a:r>
              <a:rPr lang="en-US" b="0" i="0" dirty="0">
                <a:solidFill>
                  <a:srgbClr val="000000"/>
                </a:solidFill>
                <a:effectLst/>
                <a:latin typeface="inter-regular"/>
              </a:rPr>
              <a:t>By new keyword</a:t>
            </a:r>
          </a:p>
          <a:p>
            <a:pPr marL="0" indent="0" algn="just">
              <a:buNone/>
            </a:pPr>
            <a:r>
              <a:rPr lang="en-US" b="0" i="0" dirty="0">
                <a:solidFill>
                  <a:srgbClr val="610B38"/>
                </a:solidFill>
                <a:effectLst/>
                <a:latin typeface="erdana"/>
              </a:rPr>
              <a:t>1) String Literal</a:t>
            </a:r>
          </a:p>
          <a:p>
            <a:pPr algn="just"/>
            <a:r>
              <a:rPr lang="en-US" b="0" i="0" dirty="0">
                <a:solidFill>
                  <a:srgbClr val="333333"/>
                </a:solidFill>
                <a:effectLst/>
                <a:latin typeface="inter-regular"/>
              </a:rPr>
              <a:t>Java String literal is created by using double quotes. </a:t>
            </a:r>
          </a:p>
          <a:p>
            <a:pPr algn="just"/>
            <a:r>
              <a:rPr lang="en-US" b="0" i="0" dirty="0">
                <a:solidFill>
                  <a:srgbClr val="333333"/>
                </a:solidFill>
                <a:effectLst/>
                <a:latin typeface="inter-regular"/>
              </a:rPr>
              <a:t>For Example:</a:t>
            </a:r>
          </a:p>
          <a:p>
            <a:pPr marL="0" indent="0" algn="just">
              <a:buNone/>
            </a:pPr>
            <a:r>
              <a:rPr lang="en-US" b="0" i="0" dirty="0">
                <a:solidFill>
                  <a:srgbClr val="000000"/>
                </a:solidFill>
                <a:effectLst/>
                <a:latin typeface="inter-regular"/>
              </a:rPr>
              <a:t>String s=</a:t>
            </a:r>
            <a:r>
              <a:rPr lang="en-US" b="0" i="0" dirty="0">
                <a:solidFill>
                  <a:srgbClr val="0000FF"/>
                </a:solidFill>
                <a:effectLst/>
                <a:latin typeface="inter-regular"/>
              </a:rPr>
              <a:t>"welcome"</a:t>
            </a:r>
            <a:r>
              <a:rPr lang="en-US" b="0" i="0" dirty="0">
                <a:solidFill>
                  <a:srgbClr val="000000"/>
                </a:solidFill>
                <a:effectLst/>
                <a:latin typeface="inter-regular"/>
              </a:rPr>
              <a:t>;  </a:t>
            </a:r>
          </a:p>
          <a:p>
            <a:pPr marL="0" indent="0">
              <a:buNone/>
            </a:pPr>
            <a:r>
              <a:rPr lang="en-US" b="0" i="0" dirty="0">
                <a:solidFill>
                  <a:srgbClr val="000000"/>
                </a:solidFill>
                <a:effectLst/>
                <a:latin typeface="inter-regular"/>
              </a:rPr>
              <a:t>String s2=</a:t>
            </a:r>
            <a:r>
              <a:rPr lang="en-US" b="0" i="0" dirty="0">
                <a:solidFill>
                  <a:srgbClr val="0000FF"/>
                </a:solidFill>
                <a:effectLst/>
                <a:latin typeface="inter-regular"/>
              </a:rPr>
              <a:t>“welcome"</a:t>
            </a:r>
            <a:r>
              <a:rPr lang="en-US" b="0" i="0" dirty="0">
                <a:solidFill>
                  <a:srgbClr val="000000"/>
                </a:solidFill>
                <a:effectLst/>
                <a:latin typeface="inter-regular"/>
              </a:rPr>
              <a:t>;  </a:t>
            </a:r>
          </a:p>
          <a:p>
            <a:endParaRPr lang="en-IN" dirty="0"/>
          </a:p>
        </p:txBody>
      </p:sp>
      <p:pic>
        <p:nvPicPr>
          <p:cNvPr id="5" name="Picture 4">
            <a:extLst>
              <a:ext uri="{FF2B5EF4-FFF2-40B4-BE49-F238E27FC236}">
                <a16:creationId xmlns:a16="http://schemas.microsoft.com/office/drawing/2014/main" id="{85F89697-2D56-237B-9A2F-6346B8974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913" y="3629608"/>
            <a:ext cx="3292583" cy="2528596"/>
          </a:xfrm>
          <a:prstGeom prst="rect">
            <a:avLst/>
          </a:prstGeom>
        </p:spPr>
      </p:pic>
    </p:spTree>
    <p:extLst>
      <p:ext uri="{BB962C8B-B14F-4D97-AF65-F5344CB8AC3E}">
        <p14:creationId xmlns:p14="http://schemas.microsoft.com/office/powerpoint/2010/main" val="8329845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400EE-6059-304A-53C0-02B1744AC18D}"/>
              </a:ext>
            </a:extLst>
          </p:cNvPr>
          <p:cNvSpPr>
            <a:spLocks noGrp="1"/>
          </p:cNvSpPr>
          <p:nvPr>
            <p:ph idx="1"/>
          </p:nvPr>
        </p:nvSpPr>
        <p:spPr>
          <a:xfrm>
            <a:off x="838200" y="466530"/>
            <a:ext cx="10515600" cy="5654351"/>
          </a:xfrm>
        </p:spPr>
        <p:txBody>
          <a:bodyPr/>
          <a:lstStyle/>
          <a:p>
            <a:pPr marL="0" indent="0" algn="just">
              <a:buNone/>
            </a:pPr>
            <a:r>
              <a:rPr lang="en-US" b="0" i="0" dirty="0">
                <a:solidFill>
                  <a:srgbClr val="610B38"/>
                </a:solidFill>
                <a:effectLst/>
                <a:latin typeface="erdana"/>
              </a:rPr>
              <a:t>2.By new keyword</a:t>
            </a:r>
          </a:p>
          <a:p>
            <a:pPr algn="just"/>
            <a:endParaRPr lang="en-US" b="0" i="0" dirty="0">
              <a:solidFill>
                <a:srgbClr val="000000"/>
              </a:solidFill>
              <a:effectLst/>
              <a:latin typeface="inter-regular"/>
            </a:endParaRPr>
          </a:p>
          <a:p>
            <a:pPr marL="0" indent="0" algn="just">
              <a:buNone/>
            </a:pPr>
            <a:r>
              <a:rPr lang="en-US" b="0" i="0" dirty="0">
                <a:solidFill>
                  <a:srgbClr val="000000"/>
                </a:solidFill>
                <a:effectLst/>
                <a:latin typeface="inter-regular"/>
              </a:rPr>
              <a:t>String s=</a:t>
            </a:r>
            <a:r>
              <a:rPr lang="en-US" b="1" i="0" dirty="0">
                <a:solidFill>
                  <a:srgbClr val="006699"/>
                </a:solidFill>
                <a:effectLst/>
                <a:latin typeface="inter-regular"/>
              </a:rPr>
              <a:t>new</a:t>
            </a:r>
            <a:r>
              <a:rPr lang="en-US" b="0" i="0" dirty="0">
                <a:solidFill>
                  <a:srgbClr val="000000"/>
                </a:solidFill>
                <a:effectLst/>
                <a:latin typeface="inter-regular"/>
              </a:rPr>
              <a:t> String(</a:t>
            </a:r>
            <a:r>
              <a:rPr lang="en-US" b="0" i="0" dirty="0">
                <a:solidFill>
                  <a:srgbClr val="0000FF"/>
                </a:solidFill>
                <a:effectLst/>
                <a:latin typeface="inter-regular"/>
              </a:rPr>
              <a:t>"Welcome"</a:t>
            </a:r>
            <a:r>
              <a:rPr lang="en-US" b="0" i="0" dirty="0">
                <a:solidFill>
                  <a:srgbClr val="000000"/>
                </a:solidFill>
                <a:effectLst/>
                <a:latin typeface="inter-regular"/>
              </a:rPr>
              <a:t>);</a:t>
            </a:r>
          </a:p>
          <a:p>
            <a:pPr marL="0" indent="0" algn="just">
              <a:buNone/>
            </a:pPr>
            <a:endParaRPr lang="en-US" b="0" i="0" dirty="0">
              <a:solidFill>
                <a:srgbClr val="000000"/>
              </a:solidFill>
              <a:effectLst/>
              <a:latin typeface="inter-regular"/>
            </a:endParaRPr>
          </a:p>
          <a:p>
            <a:pPr algn="just"/>
            <a:r>
              <a:rPr lang="en-US" b="0" i="0" dirty="0">
                <a:solidFill>
                  <a:srgbClr val="333333"/>
                </a:solidFill>
                <a:effectLst/>
                <a:latin typeface="inter-regular"/>
              </a:rPr>
              <a:t>In such case, </a:t>
            </a:r>
            <a:r>
              <a:rPr lang="en-US" i="0" strike="noStrike" dirty="0">
                <a:solidFill>
                  <a:srgbClr val="008000"/>
                </a:solidFill>
                <a:effectLst/>
                <a:latin typeface="inter-regular"/>
                <a:hlinkClick r:id="rId2"/>
              </a:rPr>
              <a:t>JVM</a:t>
            </a:r>
            <a:r>
              <a:rPr lang="en-US" b="0" i="0" dirty="0">
                <a:solidFill>
                  <a:srgbClr val="333333"/>
                </a:solidFill>
                <a:effectLst/>
                <a:latin typeface="inter-regular"/>
              </a:rPr>
              <a:t> will create a new string object in normal (non-pool) heap memory. </a:t>
            </a:r>
            <a:endParaRPr lang="en-US" dirty="0">
              <a:solidFill>
                <a:srgbClr val="333333"/>
              </a:solidFill>
              <a:latin typeface="inter-regular"/>
            </a:endParaRPr>
          </a:p>
          <a:p>
            <a:pPr algn="just"/>
            <a:r>
              <a:rPr lang="en-US" dirty="0">
                <a:solidFill>
                  <a:srgbClr val="333333"/>
                </a:solidFill>
                <a:latin typeface="inter-regular"/>
              </a:rPr>
              <a:t>T</a:t>
            </a:r>
            <a:r>
              <a:rPr lang="en-US" b="0" i="0" dirty="0">
                <a:solidFill>
                  <a:srgbClr val="333333"/>
                </a:solidFill>
                <a:effectLst/>
                <a:latin typeface="inter-regular"/>
              </a:rPr>
              <a:t>he literal "Welcome" will be placed in the string constant pool.</a:t>
            </a:r>
          </a:p>
          <a:p>
            <a:pPr algn="just"/>
            <a:r>
              <a:rPr lang="en-US" b="0" i="0" dirty="0">
                <a:solidFill>
                  <a:srgbClr val="333333"/>
                </a:solidFill>
                <a:effectLst/>
                <a:latin typeface="inter-regular"/>
              </a:rPr>
              <a:t> The variable s will refer to the object in a heap (non-pool).</a:t>
            </a:r>
          </a:p>
          <a:p>
            <a:endParaRPr lang="en-IN" dirty="0"/>
          </a:p>
        </p:txBody>
      </p:sp>
    </p:spTree>
    <p:extLst>
      <p:ext uri="{BB962C8B-B14F-4D97-AF65-F5344CB8AC3E}">
        <p14:creationId xmlns:p14="http://schemas.microsoft.com/office/powerpoint/2010/main" val="25102345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72072AA-5271-C4F7-4C4E-4EED1D8A3CFE}"/>
                  </a:ext>
                </a:extLst>
              </p14:cNvPr>
              <p14:cNvContentPartPr/>
              <p14:nvPr/>
            </p14:nvContentPartPr>
            <p14:xfrm>
              <a:off x="2907000" y="292680"/>
              <a:ext cx="7437240" cy="4651200"/>
            </p14:xfrm>
          </p:contentPart>
        </mc:Choice>
        <mc:Fallback>
          <p:pic>
            <p:nvPicPr>
              <p:cNvPr id="4" name="Ink 3">
                <a:extLst>
                  <a:ext uri="{FF2B5EF4-FFF2-40B4-BE49-F238E27FC236}">
                    <a16:creationId xmlns:a16="http://schemas.microsoft.com/office/drawing/2014/main" id="{E72072AA-5271-C4F7-4C4E-4EED1D8A3CFE}"/>
                  </a:ext>
                </a:extLst>
              </p:cNvPr>
              <p:cNvPicPr/>
              <p:nvPr/>
            </p:nvPicPr>
            <p:blipFill>
              <a:blip r:embed="rId3"/>
              <a:stretch>
                <a:fillRect/>
              </a:stretch>
            </p:blipFill>
            <p:spPr>
              <a:xfrm>
                <a:off x="2897640" y="283320"/>
                <a:ext cx="7455960" cy="4669920"/>
              </a:xfrm>
              <a:prstGeom prst="rect">
                <a:avLst/>
              </a:prstGeom>
            </p:spPr>
          </p:pic>
        </mc:Fallback>
      </mc:AlternateContent>
    </p:spTree>
    <p:extLst>
      <p:ext uri="{BB962C8B-B14F-4D97-AF65-F5344CB8AC3E}">
        <p14:creationId xmlns:p14="http://schemas.microsoft.com/office/powerpoint/2010/main" val="9090374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64B850-F8BF-5AF2-F4DF-0E9DCDECB60B}"/>
              </a:ext>
            </a:extLst>
          </p:cNvPr>
          <p:cNvSpPr>
            <a:spLocks noGrp="1"/>
          </p:cNvSpPr>
          <p:nvPr>
            <p:ph idx="1"/>
          </p:nvPr>
        </p:nvSpPr>
        <p:spPr>
          <a:xfrm>
            <a:off x="838200" y="0"/>
            <a:ext cx="10515600" cy="6858000"/>
          </a:xfrm>
        </p:spPr>
        <p:txBody>
          <a:bodyPr>
            <a:normAutofit/>
          </a:bodyPr>
          <a:lstStyle/>
          <a:p>
            <a:r>
              <a:rPr lang="en-IN" sz="1800" dirty="0">
                <a:solidFill>
                  <a:srgbClr val="000000"/>
                </a:solidFill>
                <a:effectLst/>
                <a:latin typeface="Courier New" panose="02070309020205020404" pitchFamily="49" charset="0"/>
              </a:rPr>
              <a:t>String </a:t>
            </a:r>
            <a:r>
              <a:rPr lang="en-IN" sz="1800" dirty="0">
                <a:solidFill>
                  <a:srgbClr val="6A3E3E"/>
                </a:solidFill>
                <a:effectLst/>
                <a:latin typeface="Courier New" panose="02070309020205020404" pitchFamily="49" charset="0"/>
              </a:rPr>
              <a:t>s</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new</a:t>
            </a:r>
            <a:r>
              <a:rPr lang="en-IN" sz="1800" dirty="0">
                <a:solidFill>
                  <a:srgbClr val="000000"/>
                </a:solidFill>
                <a:effectLst/>
                <a:latin typeface="Courier New" panose="02070309020205020404" pitchFamily="49" charset="0"/>
              </a:rPr>
              <a:t> String(</a:t>
            </a:r>
            <a:r>
              <a:rPr lang="en-IN" sz="1800" dirty="0">
                <a:solidFill>
                  <a:srgbClr val="2A00FF"/>
                </a:solidFill>
                <a:effectLst/>
                <a:latin typeface="Courier New" panose="02070309020205020404" pitchFamily="49" charset="0"/>
              </a:rPr>
              <a:t>"WELCOME"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.charAt</a:t>
            </a:r>
            <a:r>
              <a:rPr lang="en-IN" sz="1800" dirty="0">
                <a:solidFill>
                  <a:srgbClr val="000000"/>
                </a:solidFill>
                <a:effectLst/>
                <a:latin typeface="Courier New" panose="02070309020205020404" pitchFamily="49" charset="0"/>
              </a:rPr>
              <a:t>(0));</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.codePointAt</a:t>
            </a:r>
            <a:r>
              <a:rPr lang="en-IN" sz="1800" dirty="0">
                <a:solidFill>
                  <a:srgbClr val="000000"/>
                </a:solidFill>
                <a:effectLst/>
                <a:latin typeface="Courier New" panose="02070309020205020404" pitchFamily="49" charset="0"/>
              </a:rPr>
              <a:t>(1));</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.codePointBefore</a:t>
            </a:r>
            <a:r>
              <a:rPr lang="en-IN" sz="1800" dirty="0">
                <a:solidFill>
                  <a:srgbClr val="000000"/>
                </a:solidFill>
                <a:effectLst/>
                <a:latin typeface="Courier New" panose="02070309020205020404" pitchFamily="49" charset="0"/>
              </a:rPr>
              <a:t>(1));</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.compareTo</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s</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.compareToIgnoreCase</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a:t>
            </a:r>
            <a:r>
              <a:rPr lang="en-IN" sz="1800" dirty="0" err="1">
                <a:solidFill>
                  <a:srgbClr val="2A00FF"/>
                </a:solidFill>
                <a:effectLst/>
                <a:latin typeface="Courier New" panose="02070309020205020404" pitchFamily="49" charset="0"/>
              </a:rPr>
              <a:t>kokila</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.concat</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 </a:t>
            </a:r>
            <a:r>
              <a:rPr lang="en-IN" sz="1800" dirty="0" err="1">
                <a:solidFill>
                  <a:srgbClr val="2A00FF"/>
                </a:solidFill>
                <a:effectLst/>
                <a:latin typeface="Courier New" panose="02070309020205020404" pitchFamily="49" charset="0"/>
              </a:rPr>
              <a:t>kokila</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.contains</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"k"</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.contentEquals</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a:t>
            </a:r>
            <a:r>
              <a:rPr lang="en-IN" sz="1800" dirty="0" err="1">
                <a:solidFill>
                  <a:srgbClr val="2A00FF"/>
                </a:solidFill>
                <a:effectLst/>
                <a:latin typeface="Courier New" panose="02070309020205020404" pitchFamily="49" charset="0"/>
              </a:rPr>
              <a:t>WELCOMe</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.endsWith</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.contentEquals</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"Welcome"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.equalsIgnoreCase</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a:t>
            </a:r>
            <a:r>
              <a:rPr lang="en-IN" sz="1800" dirty="0" err="1">
                <a:solidFill>
                  <a:srgbClr val="2A00FF"/>
                </a:solidFill>
                <a:effectLst/>
                <a:latin typeface="Courier New" panose="02070309020205020404" pitchFamily="49" charset="0"/>
              </a:rPr>
              <a:t>kokila</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u="sng" dirty="0" err="1">
                <a:solidFill>
                  <a:srgbClr val="6A3E3E"/>
                </a:solidFill>
                <a:effectLst/>
                <a:latin typeface="Courier New" panose="02070309020205020404" pitchFamily="49" charset="0"/>
              </a:rPr>
              <a:t>s</a:t>
            </a:r>
            <a:r>
              <a:rPr lang="en-IN" sz="1800" u="sng" dirty="0" err="1">
                <a:solidFill>
                  <a:srgbClr val="000000"/>
                </a:solidFill>
                <a:effectLst/>
                <a:latin typeface="Courier New" panose="02070309020205020404" pitchFamily="49" charset="0"/>
              </a:rPr>
              <a:t>.formatted</a:t>
            </a:r>
            <a:r>
              <a:rPr lang="en-IN" sz="1800" u="sng" dirty="0">
                <a:solidFill>
                  <a:srgbClr val="000000"/>
                </a:solidFill>
                <a:effectLst/>
                <a:latin typeface="Courier New" panose="02070309020205020404" pitchFamily="49" charset="0"/>
              </a:rPr>
              <a:t>(</a:t>
            </a:r>
            <a:r>
              <a:rPr lang="en-IN" sz="1800" u="sng" dirty="0" err="1">
                <a:solidFill>
                  <a:srgbClr val="6A3E3E"/>
                </a:solidFill>
                <a:effectLst/>
                <a:latin typeface="Courier New" panose="02070309020205020404" pitchFamily="49" charset="0"/>
              </a:rPr>
              <a:t>args</a:t>
            </a:r>
            <a:r>
              <a:rPr lang="en-IN" sz="1800" u="sng" dirty="0">
                <a:solidFill>
                  <a:srgbClr val="000000"/>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.hashCode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.indent</a:t>
            </a:r>
            <a:r>
              <a:rPr lang="en-IN" sz="1800" dirty="0">
                <a:solidFill>
                  <a:srgbClr val="000000"/>
                </a:solidFill>
                <a:effectLst/>
                <a:latin typeface="Courier New" panose="02070309020205020404" pitchFamily="49" charset="0"/>
              </a:rPr>
              <a:t>(5));</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.indexOf</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"O"</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.equalsIgnoreCase</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"welcome"</a:t>
            </a:r>
            <a:r>
              <a:rPr lang="en-IN" sz="1800" dirty="0">
                <a:solidFill>
                  <a:srgbClr val="000000"/>
                </a:solidFill>
                <a:effectLst/>
                <a:latin typeface="Courier New" panose="02070309020205020404" pitchFamily="49" charset="0"/>
              </a:rPr>
              <a:t>));</a:t>
            </a:r>
          </a:p>
          <a:p>
            <a:endParaRPr lang="en-IN" dirty="0"/>
          </a:p>
        </p:txBody>
      </p:sp>
    </p:spTree>
    <p:extLst>
      <p:ext uri="{BB962C8B-B14F-4D97-AF65-F5344CB8AC3E}">
        <p14:creationId xmlns:p14="http://schemas.microsoft.com/office/powerpoint/2010/main" val="26036985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B182E7-FE60-BCA2-8B3C-7C789A0BD8F3}"/>
              </a:ext>
            </a:extLst>
          </p:cNvPr>
          <p:cNvSpPr>
            <a:spLocks noGrp="1"/>
          </p:cNvSpPr>
          <p:nvPr>
            <p:ph idx="1"/>
          </p:nvPr>
        </p:nvSpPr>
        <p:spPr>
          <a:xfrm>
            <a:off x="838200" y="326571"/>
            <a:ext cx="10515600" cy="5850392"/>
          </a:xfrm>
        </p:spPr>
        <p:txBody>
          <a:bodyPr>
            <a:normAutofit fontScale="85000" lnSpcReduction="20000"/>
          </a:bodyPr>
          <a:lstStyle/>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.indexOf</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"L"</a:t>
            </a:r>
            <a:r>
              <a:rPr lang="en-IN" sz="2800" dirty="0">
                <a:solidFill>
                  <a:srgbClr val="000000"/>
                </a:solidFill>
                <a:effectLst/>
                <a:latin typeface="Courier New" panose="02070309020205020404" pitchFamily="49" charset="0"/>
              </a:rPr>
              <a:t>, 2));</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.intern</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.isBlank</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.isEmpty</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.lastIndexOf</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"E"</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.length</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.replace</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'W'</a:t>
            </a:r>
            <a:r>
              <a:rPr lang="en-IN" sz="2800" dirty="0">
                <a:solidFill>
                  <a:srgbClr val="000000"/>
                </a:solidFill>
                <a:effectLst/>
                <a:latin typeface="Courier New" panose="02070309020205020404" pitchFamily="49" charset="0"/>
              </a:rPr>
              <a:t>, </a:t>
            </a:r>
            <a:r>
              <a:rPr lang="en-IN" sz="2800" dirty="0">
                <a:solidFill>
                  <a:srgbClr val="2A00FF"/>
                </a:solidFill>
                <a:effectLst/>
                <a:latin typeface="Courier New" panose="02070309020205020404" pitchFamily="49" charset="0"/>
              </a:rPr>
              <a:t>'O'</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.toCharArray</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.toLowerCase</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.toUpperCase</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.startsWith</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"k"</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.substring</a:t>
            </a:r>
            <a:r>
              <a:rPr lang="en-IN" sz="2800" dirty="0">
                <a:solidFill>
                  <a:srgbClr val="000000"/>
                </a:solidFill>
                <a:effectLst/>
                <a:latin typeface="Courier New" panose="02070309020205020404" pitchFamily="49" charset="0"/>
              </a:rPr>
              <a:t>(2));</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.substring</a:t>
            </a:r>
            <a:r>
              <a:rPr lang="en-IN" sz="2800" dirty="0">
                <a:solidFill>
                  <a:srgbClr val="000000"/>
                </a:solidFill>
                <a:effectLst/>
                <a:latin typeface="Courier New" panose="02070309020205020404" pitchFamily="49" charset="0"/>
              </a:rPr>
              <a:t>(0, 5));</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u="sng" dirty="0" err="1">
                <a:solidFill>
                  <a:srgbClr val="6A3E3E"/>
                </a:solidFill>
                <a:effectLst/>
                <a:latin typeface="Courier New" panose="02070309020205020404" pitchFamily="49" charset="0"/>
              </a:rPr>
              <a:t>s</a:t>
            </a:r>
            <a:r>
              <a:rPr lang="en-IN" sz="2800" u="sng" dirty="0" err="1">
                <a:solidFill>
                  <a:srgbClr val="000000"/>
                </a:solidFill>
                <a:effectLst/>
                <a:latin typeface="Courier New" panose="02070309020205020404" pitchFamily="49" charset="0"/>
              </a:rPr>
              <a:t>.</a:t>
            </a:r>
            <a:r>
              <a:rPr lang="en-IN" sz="2800" i="1" u="sng" dirty="0" err="1">
                <a:solidFill>
                  <a:srgbClr val="000000"/>
                </a:solidFill>
                <a:effectLst/>
                <a:latin typeface="Courier New" panose="02070309020205020404" pitchFamily="49" charset="0"/>
              </a:rPr>
              <a:t>valueOf</a:t>
            </a:r>
            <a:r>
              <a:rPr lang="en-IN" sz="2800" u="sng" dirty="0">
                <a:solidFill>
                  <a:srgbClr val="000000"/>
                </a:solidFill>
                <a:effectLst/>
                <a:latin typeface="Courier New" panose="02070309020205020404" pitchFamily="49" charset="0"/>
              </a:rPr>
              <a:t>(0)</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a:solidFill>
                  <a:srgbClr val="6A3E3E"/>
                </a:solidFill>
                <a:effectLst/>
                <a:latin typeface="Courier New" panose="02070309020205020404" pitchFamily="49" charset="0"/>
              </a:rPr>
              <a:t>s</a:t>
            </a:r>
            <a:r>
              <a:rPr lang="en-IN" sz="2800" dirty="0">
                <a:solidFill>
                  <a:srgbClr val="000000"/>
                </a:solidFill>
                <a:effectLst/>
                <a:latin typeface="Courier New" panose="02070309020205020404" pitchFamily="49" charset="0"/>
              </a:rPr>
              <a:t>);</a:t>
            </a:r>
          </a:p>
          <a:p>
            <a:endParaRPr lang="en-IN" dirty="0"/>
          </a:p>
        </p:txBody>
      </p:sp>
    </p:spTree>
    <p:extLst>
      <p:ext uri="{BB962C8B-B14F-4D97-AF65-F5344CB8AC3E}">
        <p14:creationId xmlns:p14="http://schemas.microsoft.com/office/powerpoint/2010/main" val="4771448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72BF5-9FFC-2B1F-2024-0ADF03BC684D}"/>
              </a:ext>
            </a:extLst>
          </p:cNvPr>
          <p:cNvSpPr>
            <a:spLocks noGrp="1"/>
          </p:cNvSpPr>
          <p:nvPr>
            <p:ph type="title"/>
          </p:nvPr>
        </p:nvSpPr>
        <p:spPr/>
        <p:txBody>
          <a:bodyPr/>
          <a:lstStyle/>
          <a:p>
            <a:pPr algn="ctr"/>
            <a:r>
              <a:rPr lang="en-IN" b="1" spc="20" dirty="0">
                <a:solidFill>
                  <a:srgbClr val="7030A0"/>
                </a:solidFill>
              </a:rPr>
              <a:t>String </a:t>
            </a:r>
            <a:r>
              <a:rPr lang="en-IN" b="1" spc="-20" dirty="0">
                <a:solidFill>
                  <a:srgbClr val="7030A0"/>
                </a:solidFill>
              </a:rPr>
              <a:t>buffer</a:t>
            </a:r>
            <a:r>
              <a:rPr lang="en-IN" b="1" spc="-245" dirty="0">
                <a:solidFill>
                  <a:srgbClr val="7030A0"/>
                </a:solidFill>
              </a:rPr>
              <a:t> </a:t>
            </a:r>
            <a:r>
              <a:rPr lang="en-IN" b="1" spc="10" dirty="0">
                <a:solidFill>
                  <a:srgbClr val="7030A0"/>
                </a:solidFill>
              </a:rPr>
              <a:t>class</a:t>
            </a:r>
            <a:endParaRPr lang="en-IN" b="1" dirty="0">
              <a:solidFill>
                <a:srgbClr val="7030A0"/>
              </a:solidFill>
            </a:endParaRPr>
          </a:p>
        </p:txBody>
      </p:sp>
      <p:sp>
        <p:nvSpPr>
          <p:cNvPr id="3" name="Content Placeholder 2">
            <a:extLst>
              <a:ext uri="{FF2B5EF4-FFF2-40B4-BE49-F238E27FC236}">
                <a16:creationId xmlns:a16="http://schemas.microsoft.com/office/drawing/2014/main" id="{8344E198-F4F9-A428-CD9B-15E12406373F}"/>
              </a:ext>
            </a:extLst>
          </p:cNvPr>
          <p:cNvSpPr>
            <a:spLocks noGrp="1"/>
          </p:cNvSpPr>
          <p:nvPr>
            <p:ph idx="1"/>
          </p:nvPr>
        </p:nvSpPr>
        <p:spPr/>
        <p:txBody>
          <a:bodyPr/>
          <a:lstStyle/>
          <a:p>
            <a:pPr marL="355600" marR="60325" indent="-343535">
              <a:lnSpc>
                <a:spcPts val="3829"/>
              </a:lnSpc>
              <a:spcBef>
                <a:spcPts val="265"/>
              </a:spcBef>
              <a:buFont typeface="Arial"/>
              <a:buChar char="•"/>
              <a:tabLst>
                <a:tab pos="355600" algn="l"/>
                <a:tab pos="356235" algn="l"/>
              </a:tabLst>
            </a:pPr>
            <a:r>
              <a:rPr lang="en-US" spc="-25" dirty="0">
                <a:latin typeface="Calibri" pitchFamily="34" charset="0"/>
                <a:cs typeface="Calibri" pitchFamily="34" charset="0"/>
              </a:rPr>
              <a:t>Java </a:t>
            </a:r>
            <a:r>
              <a:rPr lang="en-US" spc="10" dirty="0">
                <a:latin typeface="Calibri" pitchFamily="34" charset="0"/>
                <a:cs typeface="Calibri" pitchFamily="34" charset="0"/>
              </a:rPr>
              <a:t>String </a:t>
            </a:r>
            <a:r>
              <a:rPr lang="en-US" spc="-5" dirty="0">
                <a:latin typeface="Calibri" pitchFamily="34" charset="0"/>
                <a:cs typeface="Calibri" pitchFamily="34" charset="0"/>
              </a:rPr>
              <a:t>buffer </a:t>
            </a:r>
            <a:r>
              <a:rPr lang="en-US" spc="5" dirty="0">
                <a:latin typeface="Calibri" pitchFamily="34" charset="0"/>
                <a:cs typeface="Calibri" pitchFamily="34" charset="0"/>
              </a:rPr>
              <a:t>is </a:t>
            </a:r>
            <a:r>
              <a:rPr lang="en-US" spc="10" dirty="0">
                <a:latin typeface="Calibri" pitchFamily="34" charset="0"/>
                <a:cs typeface="Calibri" pitchFamily="34" charset="0"/>
              </a:rPr>
              <a:t>used </a:t>
            </a:r>
            <a:r>
              <a:rPr lang="en-US" spc="-5" dirty="0">
                <a:latin typeface="Calibri" pitchFamily="34" charset="0"/>
                <a:cs typeface="Calibri" pitchFamily="34" charset="0"/>
              </a:rPr>
              <a:t>to </a:t>
            </a:r>
            <a:r>
              <a:rPr lang="en-US" spc="-15" dirty="0">
                <a:latin typeface="Calibri" pitchFamily="34" charset="0"/>
                <a:cs typeface="Calibri" pitchFamily="34" charset="0"/>
              </a:rPr>
              <a:t>create</a:t>
            </a:r>
            <a:r>
              <a:rPr lang="en-US" spc="-315" dirty="0">
                <a:latin typeface="Calibri" pitchFamily="34" charset="0"/>
                <a:cs typeface="Calibri" pitchFamily="34" charset="0"/>
              </a:rPr>
              <a:t> </a:t>
            </a:r>
            <a:r>
              <a:rPr lang="en-US" spc="5" dirty="0">
                <a:latin typeface="Calibri" pitchFamily="34" charset="0"/>
                <a:cs typeface="Calibri" pitchFamily="34" charset="0"/>
              </a:rPr>
              <a:t>mutable  string.</a:t>
            </a:r>
            <a:endParaRPr lang="en-US" dirty="0">
              <a:latin typeface="Calibri" pitchFamily="34" charset="0"/>
              <a:cs typeface="Calibri" pitchFamily="34" charset="0"/>
            </a:endParaRPr>
          </a:p>
          <a:p>
            <a:pPr marL="355600" marR="5080" indent="-343535">
              <a:lnSpc>
                <a:spcPts val="3829"/>
              </a:lnSpc>
              <a:spcBef>
                <a:spcPts val="825"/>
              </a:spcBef>
              <a:buFont typeface="Arial"/>
              <a:buChar char="•"/>
              <a:tabLst>
                <a:tab pos="355600" algn="l"/>
                <a:tab pos="356235" algn="l"/>
              </a:tabLst>
            </a:pPr>
            <a:endParaRPr lang="en-US" spc="10" dirty="0">
              <a:latin typeface="Calibri" pitchFamily="34" charset="0"/>
              <a:cs typeface="Calibri" pitchFamily="34" charset="0"/>
            </a:endParaRPr>
          </a:p>
          <a:p>
            <a:pPr marL="355600" marR="5080" indent="-343535">
              <a:lnSpc>
                <a:spcPts val="3829"/>
              </a:lnSpc>
              <a:spcBef>
                <a:spcPts val="825"/>
              </a:spcBef>
              <a:buFont typeface="Arial"/>
              <a:buChar char="•"/>
              <a:tabLst>
                <a:tab pos="355600" algn="l"/>
                <a:tab pos="356235" algn="l"/>
              </a:tabLst>
            </a:pPr>
            <a:r>
              <a:rPr lang="en-US" spc="10" dirty="0">
                <a:latin typeface="Calibri" pitchFamily="34" charset="0"/>
                <a:cs typeface="Calibri" pitchFamily="34" charset="0"/>
              </a:rPr>
              <a:t>Memory</a:t>
            </a:r>
            <a:r>
              <a:rPr lang="en-US" spc="-95" dirty="0">
                <a:latin typeface="Calibri" pitchFamily="34" charset="0"/>
                <a:cs typeface="Calibri" pitchFamily="34" charset="0"/>
              </a:rPr>
              <a:t> </a:t>
            </a:r>
            <a:r>
              <a:rPr lang="en-US" spc="10" dirty="0">
                <a:latin typeface="Calibri" pitchFamily="34" charset="0"/>
                <a:cs typeface="Calibri" pitchFamily="34" charset="0"/>
              </a:rPr>
              <a:t>allocated</a:t>
            </a:r>
            <a:r>
              <a:rPr lang="en-US" spc="-170" dirty="0">
                <a:latin typeface="Calibri" pitchFamily="34" charset="0"/>
                <a:cs typeface="Calibri" pitchFamily="34" charset="0"/>
              </a:rPr>
              <a:t> </a:t>
            </a:r>
            <a:r>
              <a:rPr lang="en-US" spc="-10" dirty="0">
                <a:latin typeface="Calibri" pitchFamily="34" charset="0"/>
                <a:cs typeface="Calibri" pitchFamily="34" charset="0"/>
              </a:rPr>
              <a:t>to</a:t>
            </a:r>
            <a:r>
              <a:rPr lang="en-US" spc="-35" dirty="0">
                <a:latin typeface="Calibri" pitchFamily="34" charset="0"/>
                <a:cs typeface="Calibri" pitchFamily="34" charset="0"/>
              </a:rPr>
              <a:t> </a:t>
            </a:r>
            <a:r>
              <a:rPr lang="en-US" spc="10" dirty="0">
                <a:latin typeface="Calibri" pitchFamily="34" charset="0"/>
                <a:cs typeface="Calibri" pitchFamily="34" charset="0"/>
              </a:rPr>
              <a:t>a</a:t>
            </a:r>
            <a:r>
              <a:rPr lang="en-US" spc="-25" dirty="0">
                <a:latin typeface="Calibri" pitchFamily="34" charset="0"/>
                <a:cs typeface="Calibri" pitchFamily="34" charset="0"/>
              </a:rPr>
              <a:t> </a:t>
            </a:r>
            <a:r>
              <a:rPr lang="en-US" spc="10" dirty="0">
                <a:latin typeface="Calibri" pitchFamily="34" charset="0"/>
                <a:cs typeface="Calibri" pitchFamily="34" charset="0"/>
              </a:rPr>
              <a:t>string</a:t>
            </a:r>
            <a:r>
              <a:rPr lang="en-US" spc="-65" dirty="0">
                <a:latin typeface="Calibri" pitchFamily="34" charset="0"/>
                <a:cs typeface="Calibri" pitchFamily="34" charset="0"/>
              </a:rPr>
              <a:t> </a:t>
            </a:r>
            <a:r>
              <a:rPr lang="en-US" spc="5" dirty="0">
                <a:latin typeface="Calibri" pitchFamily="34" charset="0"/>
                <a:cs typeface="Calibri" pitchFamily="34" charset="0"/>
              </a:rPr>
              <a:t>is</a:t>
            </a:r>
            <a:r>
              <a:rPr lang="en-US" spc="-40" dirty="0">
                <a:latin typeface="Calibri" pitchFamily="34" charset="0"/>
                <a:cs typeface="Calibri" pitchFamily="34" charset="0"/>
              </a:rPr>
              <a:t> </a:t>
            </a:r>
            <a:r>
              <a:rPr lang="en-US" spc="25" dirty="0">
                <a:latin typeface="Calibri" pitchFamily="34" charset="0"/>
                <a:cs typeface="Calibri" pitchFamily="34" charset="0"/>
              </a:rPr>
              <a:t>not</a:t>
            </a:r>
            <a:r>
              <a:rPr lang="en-US" spc="-85" dirty="0">
                <a:latin typeface="Calibri" pitchFamily="34" charset="0"/>
                <a:cs typeface="Calibri" pitchFamily="34" charset="0"/>
              </a:rPr>
              <a:t> </a:t>
            </a:r>
            <a:r>
              <a:rPr lang="en-US" spc="-10" dirty="0">
                <a:latin typeface="Calibri" pitchFamily="34" charset="0"/>
                <a:cs typeface="Calibri" pitchFamily="34" charset="0"/>
              </a:rPr>
              <a:t>fixed</a:t>
            </a:r>
            <a:r>
              <a:rPr lang="en-US" spc="-105" dirty="0">
                <a:latin typeface="Calibri" pitchFamily="34" charset="0"/>
                <a:cs typeface="Calibri" pitchFamily="34" charset="0"/>
              </a:rPr>
              <a:t> </a:t>
            </a:r>
            <a:r>
              <a:rPr lang="en-US" spc="5" dirty="0">
                <a:latin typeface="Calibri" pitchFamily="34" charset="0"/>
                <a:cs typeface="Calibri" pitchFamily="34" charset="0"/>
              </a:rPr>
              <a:t>,</a:t>
            </a:r>
            <a:r>
              <a:rPr lang="en-US" spc="35" dirty="0">
                <a:latin typeface="Calibri" pitchFamily="34" charset="0"/>
                <a:cs typeface="Calibri" pitchFamily="34" charset="0"/>
              </a:rPr>
              <a:t> </a:t>
            </a:r>
            <a:r>
              <a:rPr lang="en-US" spc="5" dirty="0">
                <a:latin typeface="Calibri" pitchFamily="34" charset="0"/>
                <a:cs typeface="Calibri" pitchFamily="34" charset="0"/>
              </a:rPr>
              <a:t>it  </a:t>
            </a:r>
            <a:r>
              <a:rPr lang="en-US" spc="10" dirty="0">
                <a:latin typeface="Calibri" pitchFamily="34" charset="0"/>
                <a:cs typeface="Calibri" pitchFamily="34" charset="0"/>
              </a:rPr>
              <a:t>can</a:t>
            </a:r>
            <a:r>
              <a:rPr lang="en-US" spc="-105" dirty="0">
                <a:latin typeface="Calibri" pitchFamily="34" charset="0"/>
                <a:cs typeface="Calibri" pitchFamily="34" charset="0"/>
              </a:rPr>
              <a:t> </a:t>
            </a:r>
            <a:r>
              <a:rPr lang="en-US" spc="10" dirty="0">
                <a:latin typeface="Calibri" pitchFamily="34" charset="0"/>
                <a:cs typeface="Calibri" pitchFamily="34" charset="0"/>
              </a:rPr>
              <a:t>change.</a:t>
            </a:r>
            <a:endParaRPr lang="en-US" dirty="0">
              <a:latin typeface="Calibri" pitchFamily="34" charset="0"/>
              <a:cs typeface="Calibri" pitchFamily="34" charset="0"/>
            </a:endParaRPr>
          </a:p>
          <a:p>
            <a:pPr marL="355600" indent="-343535">
              <a:spcBef>
                <a:spcPts val="615"/>
              </a:spcBef>
              <a:buFont typeface="Arial"/>
              <a:buChar char="•"/>
              <a:tabLst>
                <a:tab pos="355600" algn="l"/>
                <a:tab pos="356235" algn="l"/>
              </a:tabLst>
            </a:pPr>
            <a:endParaRPr lang="en-US" spc="10" dirty="0">
              <a:latin typeface="Calibri" pitchFamily="34" charset="0"/>
              <a:cs typeface="Calibri" pitchFamily="34" charset="0"/>
            </a:endParaRPr>
          </a:p>
          <a:p>
            <a:pPr marL="355600" indent="-343535">
              <a:spcBef>
                <a:spcPts val="615"/>
              </a:spcBef>
              <a:buFont typeface="Arial"/>
              <a:buChar char="•"/>
              <a:tabLst>
                <a:tab pos="355600" algn="l"/>
                <a:tab pos="356235" algn="l"/>
              </a:tabLst>
            </a:pPr>
            <a:r>
              <a:rPr lang="en-US" spc="10" dirty="0">
                <a:latin typeface="Calibri" pitchFamily="34" charset="0"/>
                <a:cs typeface="Calibri" pitchFamily="34" charset="0"/>
              </a:rPr>
              <a:t>It </a:t>
            </a:r>
            <a:r>
              <a:rPr lang="en-US" spc="5" dirty="0">
                <a:latin typeface="Calibri" pitchFamily="34" charset="0"/>
                <a:cs typeface="Calibri" pitchFamily="34" charset="0"/>
              </a:rPr>
              <a:t>is synchronous </a:t>
            </a:r>
            <a:r>
              <a:rPr lang="en-US" spc="10" dirty="0">
                <a:latin typeface="Calibri" pitchFamily="34" charset="0"/>
                <a:cs typeface="Calibri" pitchFamily="34" charset="0"/>
              </a:rPr>
              <a:t>in </a:t>
            </a:r>
            <a:r>
              <a:rPr lang="en-US" spc="5" dirty="0">
                <a:latin typeface="Calibri" pitchFamily="34" charset="0"/>
                <a:cs typeface="Calibri" pitchFamily="34" charset="0"/>
              </a:rPr>
              <a:t>nature </a:t>
            </a:r>
            <a:r>
              <a:rPr lang="en-US" spc="-15" dirty="0">
                <a:latin typeface="Calibri" pitchFamily="34" charset="0"/>
                <a:cs typeface="Calibri" pitchFamily="34" charset="0"/>
              </a:rPr>
              <a:t>.thread</a:t>
            </a:r>
            <a:r>
              <a:rPr lang="en-US" spc="-470" dirty="0">
                <a:latin typeface="Calibri" pitchFamily="34" charset="0"/>
                <a:cs typeface="Calibri" pitchFamily="34" charset="0"/>
              </a:rPr>
              <a:t> </a:t>
            </a:r>
            <a:r>
              <a:rPr lang="en-US" spc="-5" dirty="0">
                <a:latin typeface="Calibri" pitchFamily="34" charset="0"/>
                <a:cs typeface="Calibri" pitchFamily="34" charset="0"/>
              </a:rPr>
              <a:t>safe</a:t>
            </a:r>
          </a:p>
          <a:p>
            <a:pPr marL="12065" indent="0">
              <a:spcBef>
                <a:spcPts val="615"/>
              </a:spcBef>
              <a:buNone/>
              <a:tabLst>
                <a:tab pos="355600" algn="l"/>
                <a:tab pos="356235" algn="l"/>
              </a:tabLst>
            </a:pPr>
            <a:endParaRPr lang="en-US" dirty="0">
              <a:latin typeface="Calibri" pitchFamily="34" charset="0"/>
              <a:cs typeface="Calibri" pitchFamily="34" charset="0"/>
            </a:endParaRPr>
          </a:p>
          <a:p>
            <a:pPr marL="0" indent="0">
              <a:buNone/>
            </a:pPr>
            <a:r>
              <a:rPr lang="en-US" spc="-5" dirty="0" err="1">
                <a:solidFill>
                  <a:srgbClr val="7030A0"/>
                </a:solidFill>
                <a:latin typeface="Calibri" pitchFamily="34" charset="0"/>
                <a:cs typeface="Calibri" pitchFamily="34" charset="0"/>
              </a:rPr>
              <a:t>StringBuffer</a:t>
            </a:r>
            <a:r>
              <a:rPr lang="en-US" spc="-5" dirty="0">
                <a:solidFill>
                  <a:srgbClr val="7030A0"/>
                </a:solidFill>
                <a:latin typeface="Calibri" pitchFamily="34" charset="0"/>
                <a:cs typeface="Calibri" pitchFamily="34" charset="0"/>
              </a:rPr>
              <a:t> </a:t>
            </a:r>
            <a:r>
              <a:rPr lang="en-US" spc="5" dirty="0">
                <a:solidFill>
                  <a:srgbClr val="7030A0"/>
                </a:solidFill>
                <a:latin typeface="Calibri" pitchFamily="34" charset="0"/>
                <a:cs typeface="Calibri" pitchFamily="34" charset="0"/>
              </a:rPr>
              <a:t>s=new </a:t>
            </a:r>
            <a:r>
              <a:rPr lang="en-US" dirty="0" err="1">
                <a:solidFill>
                  <a:srgbClr val="7030A0"/>
                </a:solidFill>
                <a:latin typeface="Calibri" pitchFamily="34" charset="0"/>
                <a:cs typeface="Calibri" pitchFamily="34" charset="0"/>
              </a:rPr>
              <a:t>StringBuffer</a:t>
            </a:r>
            <a:r>
              <a:rPr lang="en-US" dirty="0">
                <a:solidFill>
                  <a:srgbClr val="7030A0"/>
                </a:solidFill>
                <a:latin typeface="Calibri" pitchFamily="34" charset="0"/>
                <a:cs typeface="Calibri" pitchFamily="34" charset="0"/>
              </a:rPr>
              <a:t>(“live</a:t>
            </a:r>
            <a:r>
              <a:rPr lang="en-US" spc="-315" dirty="0">
                <a:solidFill>
                  <a:srgbClr val="7030A0"/>
                </a:solidFill>
                <a:latin typeface="Calibri" pitchFamily="34" charset="0"/>
                <a:cs typeface="Calibri" pitchFamily="34" charset="0"/>
              </a:rPr>
              <a:t> </a:t>
            </a:r>
            <a:r>
              <a:rPr lang="en-US" spc="-5" dirty="0">
                <a:solidFill>
                  <a:srgbClr val="7030A0"/>
                </a:solidFill>
                <a:latin typeface="Calibri" pitchFamily="34" charset="0"/>
                <a:cs typeface="Calibri" pitchFamily="34" charset="0"/>
              </a:rPr>
              <a:t>wire”);</a:t>
            </a:r>
            <a:endParaRPr lang="en-US" dirty="0">
              <a:solidFill>
                <a:srgbClr val="7030A0"/>
              </a:solidFill>
              <a:latin typeface="Calibri" pitchFamily="34" charset="0"/>
              <a:cs typeface="Calibri" pitchFamily="34" charset="0"/>
            </a:endParaRPr>
          </a:p>
          <a:p>
            <a:endParaRPr lang="en-IN" dirty="0"/>
          </a:p>
        </p:txBody>
      </p:sp>
    </p:spTree>
    <p:extLst>
      <p:ext uri="{BB962C8B-B14F-4D97-AF65-F5344CB8AC3E}">
        <p14:creationId xmlns:p14="http://schemas.microsoft.com/office/powerpoint/2010/main" val="24873353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E4E4A-6347-B577-DB7A-4E52D4B75E75}"/>
              </a:ext>
            </a:extLst>
          </p:cNvPr>
          <p:cNvSpPr>
            <a:spLocks noGrp="1"/>
          </p:cNvSpPr>
          <p:nvPr>
            <p:ph idx="1"/>
          </p:nvPr>
        </p:nvSpPr>
        <p:spPr>
          <a:xfrm>
            <a:off x="838200" y="326571"/>
            <a:ext cx="10515600" cy="5850392"/>
          </a:xfrm>
        </p:spPr>
        <p:txBody>
          <a:bodyPr>
            <a:normAutofit/>
          </a:bodyPr>
          <a:lstStyle/>
          <a:p>
            <a:r>
              <a:rPr lang="en-IN" sz="2400" dirty="0" err="1">
                <a:solidFill>
                  <a:srgbClr val="000000"/>
                </a:solidFill>
                <a:effectLst/>
              </a:rPr>
              <a:t>StringBuffer</a:t>
            </a:r>
            <a:r>
              <a:rPr lang="en-IN" sz="2400" dirty="0">
                <a:solidFill>
                  <a:srgbClr val="000000"/>
                </a:solidFill>
                <a:effectLst/>
              </a:rPr>
              <a:t> </a:t>
            </a:r>
            <a:r>
              <a:rPr lang="en-IN" sz="2400" dirty="0">
                <a:solidFill>
                  <a:srgbClr val="6A3E3E"/>
                </a:solidFill>
                <a:effectLst/>
              </a:rPr>
              <a:t>a</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StringBuffer</a:t>
            </a:r>
            <a:r>
              <a:rPr lang="en-IN" sz="2400" dirty="0">
                <a:solidFill>
                  <a:srgbClr val="000000"/>
                </a:solidFill>
                <a:effectLst/>
              </a:rPr>
              <a:t>(</a:t>
            </a:r>
            <a:r>
              <a:rPr lang="en-IN" sz="2400" dirty="0">
                <a:solidFill>
                  <a:srgbClr val="2A00FF"/>
                </a:solidFill>
                <a:effectLst/>
              </a:rPr>
              <a:t>"hello"</a:t>
            </a:r>
            <a:r>
              <a:rPr lang="en-IN" sz="2400" dirty="0">
                <a:solidFill>
                  <a:srgbClr val="000000"/>
                </a:solidFill>
                <a:effectLst/>
              </a:rPr>
              <a:t>);</a:t>
            </a:r>
          </a:p>
          <a:p>
            <a:r>
              <a:rPr lang="en-IN" sz="2400" dirty="0" err="1">
                <a:solidFill>
                  <a:srgbClr val="6A3E3E"/>
                </a:solidFill>
                <a:effectLst/>
              </a:rPr>
              <a:t>a</a:t>
            </a:r>
            <a:r>
              <a:rPr lang="en-IN" sz="2400" dirty="0" err="1">
                <a:solidFill>
                  <a:srgbClr val="000000"/>
                </a:solidFill>
                <a:effectLst/>
              </a:rPr>
              <a:t>.append</a:t>
            </a:r>
            <a:r>
              <a:rPr lang="en-IN" sz="2400" dirty="0">
                <a:solidFill>
                  <a:srgbClr val="000000"/>
                </a:solidFill>
                <a:effectLst/>
              </a:rPr>
              <a:t>(</a:t>
            </a:r>
            <a:r>
              <a:rPr lang="en-IN" sz="2400" dirty="0">
                <a:solidFill>
                  <a:srgbClr val="2A00FF"/>
                </a:solidFill>
                <a:effectLst/>
              </a:rPr>
              <a:t>"hi"</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a</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.length</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.capacity</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a</a:t>
            </a:r>
            <a:r>
              <a:rPr lang="en-IN" sz="2400" dirty="0">
                <a:solidFill>
                  <a:srgbClr val="000000"/>
                </a:solidFill>
                <a:effectLst/>
              </a:rPr>
              <a:t>);</a:t>
            </a:r>
          </a:p>
          <a:p>
            <a:r>
              <a:rPr lang="en-IN" sz="2400" dirty="0" err="1">
                <a:solidFill>
                  <a:srgbClr val="6A3E3E"/>
                </a:solidFill>
                <a:effectLst/>
              </a:rPr>
              <a:t>a</a:t>
            </a:r>
            <a:r>
              <a:rPr lang="en-IN" sz="2400" dirty="0" err="1">
                <a:solidFill>
                  <a:srgbClr val="000000"/>
                </a:solidFill>
                <a:effectLst/>
              </a:rPr>
              <a:t>.ensureCapacity</a:t>
            </a:r>
            <a:r>
              <a:rPr lang="en-IN" sz="2400" dirty="0">
                <a:solidFill>
                  <a:srgbClr val="000000"/>
                </a:solidFill>
                <a:effectLst/>
              </a:rPr>
              <a:t>(22);</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.capacity</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.deleteCharAt</a:t>
            </a:r>
            <a:r>
              <a:rPr lang="en-IN" sz="2400" dirty="0">
                <a:solidFill>
                  <a:srgbClr val="000000"/>
                </a:solidFill>
                <a:effectLst/>
              </a:rPr>
              <a:t>(0));</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.insert</a:t>
            </a:r>
            <a:r>
              <a:rPr lang="en-IN" sz="2400" dirty="0">
                <a:solidFill>
                  <a:srgbClr val="000000"/>
                </a:solidFill>
                <a:effectLst/>
              </a:rPr>
              <a:t>(0, </a:t>
            </a:r>
            <a:r>
              <a:rPr lang="en-IN" sz="2400" dirty="0">
                <a:solidFill>
                  <a:srgbClr val="2A00FF"/>
                </a:solidFill>
                <a:effectLst/>
              </a:rPr>
              <a:t>'k'</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.delete</a:t>
            </a:r>
            <a:r>
              <a:rPr lang="en-IN" sz="2400" dirty="0">
                <a:solidFill>
                  <a:srgbClr val="000000"/>
                </a:solidFill>
                <a:effectLst/>
              </a:rPr>
              <a:t>(0, 3));</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.replace</a:t>
            </a:r>
            <a:r>
              <a:rPr lang="en-IN" sz="2400" dirty="0">
                <a:solidFill>
                  <a:srgbClr val="000000"/>
                </a:solidFill>
                <a:effectLst/>
              </a:rPr>
              <a:t>(0, 2, </a:t>
            </a:r>
            <a:r>
              <a:rPr lang="en-IN" sz="2400" dirty="0">
                <a:solidFill>
                  <a:srgbClr val="2A00FF"/>
                </a:solidFill>
                <a:effectLst/>
              </a:rPr>
              <a:t>"</a:t>
            </a:r>
            <a:r>
              <a:rPr lang="en-IN" sz="2400" dirty="0" err="1">
                <a:solidFill>
                  <a:srgbClr val="2A00FF"/>
                </a:solidFill>
                <a:effectLst/>
              </a:rPr>
              <a:t>kokila</a:t>
            </a:r>
            <a:r>
              <a:rPr lang="en-IN" sz="2400" dirty="0">
                <a:solidFill>
                  <a:srgbClr val="2A00FF"/>
                </a:solidFill>
                <a:effectLst/>
              </a:rPr>
              <a:t>"</a:t>
            </a:r>
            <a:r>
              <a:rPr lang="en-IN" sz="2400" dirty="0">
                <a:solidFill>
                  <a:srgbClr val="000000"/>
                </a:solidFill>
                <a:effectLst/>
              </a:rPr>
              <a:t>));</a:t>
            </a:r>
          </a:p>
        </p:txBody>
      </p:sp>
    </p:spTree>
    <p:extLst>
      <p:ext uri="{BB962C8B-B14F-4D97-AF65-F5344CB8AC3E}">
        <p14:creationId xmlns:p14="http://schemas.microsoft.com/office/powerpoint/2010/main" val="21173659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C7E449-37A0-E666-1E64-729F9DE22746}"/>
              </a:ext>
            </a:extLst>
          </p:cNvPr>
          <p:cNvSpPr>
            <a:spLocks noGrp="1"/>
          </p:cNvSpPr>
          <p:nvPr>
            <p:ph idx="1"/>
          </p:nvPr>
        </p:nvSpPr>
        <p:spPr>
          <a:xfrm>
            <a:off x="838200" y="522514"/>
            <a:ext cx="10515600" cy="5654449"/>
          </a:xfrm>
        </p:spPr>
        <p:txBody>
          <a:bodyPr>
            <a:normAutofit/>
          </a:bodyPr>
          <a:lstStyle/>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.substring</a:t>
            </a:r>
            <a:r>
              <a:rPr lang="en-IN" sz="2800" dirty="0">
                <a:solidFill>
                  <a:srgbClr val="000000"/>
                </a:solidFill>
                <a:effectLst/>
              </a:rPr>
              <a:t>(0, 3));</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.substring</a:t>
            </a:r>
            <a:r>
              <a:rPr lang="en-IN" sz="2800" dirty="0">
                <a:solidFill>
                  <a:srgbClr val="000000"/>
                </a:solidFill>
                <a:effectLst/>
              </a:rPr>
              <a:t>(5));</a:t>
            </a:r>
          </a:p>
          <a:p>
            <a:r>
              <a:rPr lang="en-IN" sz="2800" dirty="0" err="1">
                <a:solidFill>
                  <a:srgbClr val="6A3E3E"/>
                </a:solidFill>
                <a:effectLst/>
              </a:rPr>
              <a:t>a</a:t>
            </a:r>
            <a:r>
              <a:rPr lang="en-IN" sz="2800" dirty="0" err="1">
                <a:solidFill>
                  <a:srgbClr val="000000"/>
                </a:solidFill>
                <a:effectLst/>
              </a:rPr>
              <a:t>.setCharAt</a:t>
            </a:r>
            <a:r>
              <a:rPr lang="en-IN" sz="2800" dirty="0">
                <a:solidFill>
                  <a:srgbClr val="000000"/>
                </a:solidFill>
                <a:effectLst/>
              </a:rPr>
              <a:t>(0, </a:t>
            </a:r>
            <a:r>
              <a:rPr lang="en-IN" sz="2800" dirty="0">
                <a:solidFill>
                  <a:srgbClr val="2A00FF"/>
                </a:solidFill>
                <a:effectLst/>
              </a:rPr>
              <a:t>'r'</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a:solidFill>
                  <a:srgbClr val="6A3E3E"/>
                </a:solidFill>
                <a:effectLst/>
              </a:rPr>
              <a:t>a</a:t>
            </a:r>
            <a:r>
              <a:rPr lang="en-IN" sz="2800" dirty="0">
                <a:solidFill>
                  <a:srgbClr val="000000"/>
                </a:solidFill>
                <a:effectLst/>
              </a:rPr>
              <a:t>);</a:t>
            </a:r>
          </a:p>
          <a:p>
            <a:r>
              <a:rPr lang="en-IN" sz="2800" dirty="0" err="1">
                <a:solidFill>
                  <a:srgbClr val="6A3E3E"/>
                </a:solidFill>
                <a:effectLst/>
              </a:rPr>
              <a:t>a</a:t>
            </a:r>
            <a:r>
              <a:rPr lang="en-IN" sz="2800" dirty="0" err="1">
                <a:solidFill>
                  <a:srgbClr val="000000"/>
                </a:solidFill>
                <a:effectLst/>
              </a:rPr>
              <a:t>.setLength</a:t>
            </a:r>
            <a:r>
              <a:rPr lang="en-IN" sz="2800" dirty="0">
                <a:solidFill>
                  <a:srgbClr val="000000"/>
                </a:solidFill>
                <a:effectLst/>
              </a:rPr>
              <a:t>(15);</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.length</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a:solidFill>
                  <a:srgbClr val="6A3E3E"/>
                </a:solidFill>
                <a:effectLst/>
              </a:rPr>
              <a:t>a</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.reverse</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a:solidFill>
                  <a:srgbClr val="6A3E3E"/>
                </a:solidFill>
                <a:effectLst/>
              </a:rPr>
              <a:t>a</a:t>
            </a:r>
            <a:r>
              <a:rPr lang="en-IN" sz="2800" dirty="0">
                <a:solidFill>
                  <a:srgbClr val="000000"/>
                </a:solidFill>
                <a:effectLst/>
              </a:rPr>
              <a:t>);</a:t>
            </a:r>
          </a:p>
          <a:p>
            <a:endParaRPr lang="en-IN" dirty="0"/>
          </a:p>
        </p:txBody>
      </p:sp>
    </p:spTree>
    <p:extLst>
      <p:ext uri="{BB962C8B-B14F-4D97-AF65-F5344CB8AC3E}">
        <p14:creationId xmlns:p14="http://schemas.microsoft.com/office/powerpoint/2010/main" val="167833940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F35D9-C596-1CC3-C64C-193EF3299EFE}"/>
              </a:ext>
            </a:extLst>
          </p:cNvPr>
          <p:cNvSpPr>
            <a:spLocks noGrp="1"/>
          </p:cNvSpPr>
          <p:nvPr>
            <p:ph type="title"/>
          </p:nvPr>
        </p:nvSpPr>
        <p:spPr/>
        <p:txBody>
          <a:bodyPr/>
          <a:lstStyle/>
          <a:p>
            <a:pPr algn="ctr"/>
            <a:r>
              <a:rPr lang="en-IN" sz="4400" b="1" spc="-10" dirty="0">
                <a:solidFill>
                  <a:srgbClr val="7030A0"/>
                </a:solidFill>
              </a:rPr>
              <a:t>String</a:t>
            </a:r>
            <a:r>
              <a:rPr lang="en-IN" sz="4400" b="1" spc="-40" dirty="0">
                <a:solidFill>
                  <a:srgbClr val="7030A0"/>
                </a:solidFill>
              </a:rPr>
              <a:t> </a:t>
            </a:r>
            <a:r>
              <a:rPr lang="en-IN" sz="4400" b="1" spc="10" dirty="0">
                <a:solidFill>
                  <a:srgbClr val="7030A0"/>
                </a:solidFill>
              </a:rPr>
              <a:t>Builder</a:t>
            </a:r>
            <a:endParaRPr lang="en-IN" b="1" dirty="0">
              <a:solidFill>
                <a:srgbClr val="7030A0"/>
              </a:solidFill>
            </a:endParaRPr>
          </a:p>
        </p:txBody>
      </p:sp>
      <p:sp>
        <p:nvSpPr>
          <p:cNvPr id="3" name="Content Placeholder 2">
            <a:extLst>
              <a:ext uri="{FF2B5EF4-FFF2-40B4-BE49-F238E27FC236}">
                <a16:creationId xmlns:a16="http://schemas.microsoft.com/office/drawing/2014/main" id="{900FAC97-928F-A836-5E91-D3A8C15B8079}"/>
              </a:ext>
            </a:extLst>
          </p:cNvPr>
          <p:cNvSpPr>
            <a:spLocks noGrp="1"/>
          </p:cNvSpPr>
          <p:nvPr>
            <p:ph idx="1"/>
          </p:nvPr>
        </p:nvSpPr>
        <p:spPr/>
        <p:txBody>
          <a:bodyPr/>
          <a:lstStyle/>
          <a:p>
            <a:pPr marL="355600" marR="5080" indent="-343535">
              <a:lnSpc>
                <a:spcPts val="3829"/>
              </a:lnSpc>
              <a:spcBef>
                <a:spcPts val="265"/>
              </a:spcBef>
              <a:buFont typeface="Arial"/>
              <a:buChar char="•"/>
              <a:tabLst>
                <a:tab pos="355600" algn="l"/>
                <a:tab pos="356235" algn="l"/>
              </a:tabLst>
            </a:pPr>
            <a:r>
              <a:rPr lang="en-US" sz="2800" spc="20" dirty="0">
                <a:latin typeface="Calibri" pitchFamily="34" charset="0"/>
                <a:cs typeface="Calibri" pitchFamily="34" charset="0"/>
              </a:rPr>
              <a:t>The </a:t>
            </a:r>
            <a:r>
              <a:rPr lang="en-US" sz="2800" spc="-35" dirty="0">
                <a:latin typeface="Calibri" pitchFamily="34" charset="0"/>
                <a:cs typeface="Calibri" pitchFamily="34" charset="0"/>
              </a:rPr>
              <a:t>java </a:t>
            </a:r>
            <a:r>
              <a:rPr lang="en-US" sz="2800" spc="10" dirty="0">
                <a:latin typeface="Calibri" pitchFamily="34" charset="0"/>
                <a:cs typeface="Calibri" pitchFamily="34" charset="0"/>
              </a:rPr>
              <a:t>stringBuilder </a:t>
            </a:r>
            <a:r>
              <a:rPr lang="en-US" sz="2800" spc="15" dirty="0">
                <a:latin typeface="Calibri" pitchFamily="34" charset="0"/>
                <a:cs typeface="Calibri" pitchFamily="34" charset="0"/>
              </a:rPr>
              <a:t>class </a:t>
            </a:r>
            <a:r>
              <a:rPr lang="en-US" sz="2800" spc="5" dirty="0">
                <a:latin typeface="Calibri" pitchFamily="34" charset="0"/>
                <a:cs typeface="Calibri" pitchFamily="34" charset="0"/>
              </a:rPr>
              <a:t>is </a:t>
            </a:r>
            <a:r>
              <a:rPr lang="en-US" sz="2800" spc="10" dirty="0">
                <a:latin typeface="Calibri" pitchFamily="34" charset="0"/>
                <a:cs typeface="Calibri" pitchFamily="34" charset="0"/>
              </a:rPr>
              <a:t>used </a:t>
            </a:r>
            <a:r>
              <a:rPr lang="en-US" sz="2800" spc="-5" dirty="0">
                <a:latin typeface="Calibri" pitchFamily="34" charset="0"/>
                <a:cs typeface="Calibri" pitchFamily="34" charset="0"/>
              </a:rPr>
              <a:t>to</a:t>
            </a:r>
            <a:r>
              <a:rPr lang="en-US" sz="2800" spc="-500" dirty="0">
                <a:latin typeface="Calibri" pitchFamily="34" charset="0"/>
                <a:cs typeface="Calibri" pitchFamily="34" charset="0"/>
              </a:rPr>
              <a:t> </a:t>
            </a:r>
            <a:r>
              <a:rPr lang="en-US" sz="2800" spc="-15" dirty="0">
                <a:latin typeface="Calibri" pitchFamily="34" charset="0"/>
                <a:cs typeface="Calibri" pitchFamily="34" charset="0"/>
              </a:rPr>
              <a:t>create  </a:t>
            </a:r>
            <a:r>
              <a:rPr lang="en-US" sz="2800" spc="5" dirty="0">
                <a:latin typeface="Calibri" pitchFamily="34" charset="0"/>
                <a:cs typeface="Calibri" pitchFamily="34" charset="0"/>
              </a:rPr>
              <a:t>mutable</a:t>
            </a:r>
            <a:r>
              <a:rPr lang="en-US" sz="2800" spc="-75" dirty="0">
                <a:latin typeface="Calibri" pitchFamily="34" charset="0"/>
                <a:cs typeface="Calibri" pitchFamily="34" charset="0"/>
              </a:rPr>
              <a:t> </a:t>
            </a:r>
            <a:r>
              <a:rPr lang="en-US" sz="2800" spc="5" dirty="0">
                <a:latin typeface="Calibri" pitchFamily="34" charset="0"/>
                <a:cs typeface="Calibri" pitchFamily="34" charset="0"/>
              </a:rPr>
              <a:t>string.</a:t>
            </a:r>
            <a:endParaRPr lang="en-US" sz="2800" dirty="0">
              <a:latin typeface="Calibri" pitchFamily="34" charset="0"/>
              <a:cs typeface="Calibri" pitchFamily="34" charset="0"/>
            </a:endParaRPr>
          </a:p>
          <a:p>
            <a:pPr marL="355600" marR="24130" indent="-343535">
              <a:lnSpc>
                <a:spcPts val="3829"/>
              </a:lnSpc>
              <a:spcBef>
                <a:spcPts val="825"/>
              </a:spcBef>
              <a:buFont typeface="Arial"/>
              <a:buChar char="•"/>
              <a:tabLst>
                <a:tab pos="355600" algn="l"/>
                <a:tab pos="356235" algn="l"/>
              </a:tabLst>
            </a:pPr>
            <a:endParaRPr lang="en-US" sz="2800" dirty="0">
              <a:latin typeface="Calibri" pitchFamily="34" charset="0"/>
              <a:cs typeface="Calibri" pitchFamily="34" charset="0"/>
            </a:endParaRPr>
          </a:p>
          <a:p>
            <a:pPr marL="355600" marR="24130" indent="-343535">
              <a:lnSpc>
                <a:spcPts val="3829"/>
              </a:lnSpc>
              <a:spcBef>
                <a:spcPts val="825"/>
              </a:spcBef>
              <a:buFont typeface="Arial"/>
              <a:buChar char="•"/>
              <a:tabLst>
                <a:tab pos="355600" algn="l"/>
                <a:tab pos="356235" algn="l"/>
              </a:tabLst>
            </a:pPr>
            <a:r>
              <a:rPr lang="en-US" sz="2800" dirty="0">
                <a:latin typeface="Calibri" pitchFamily="34" charset="0"/>
                <a:cs typeface="Calibri" pitchFamily="34" charset="0"/>
              </a:rPr>
              <a:t>But, </a:t>
            </a:r>
            <a:r>
              <a:rPr lang="en-US" sz="2800" spc="10" dirty="0">
                <a:latin typeface="Calibri" pitchFamily="34" charset="0"/>
                <a:cs typeface="Calibri" pitchFamily="34" charset="0"/>
              </a:rPr>
              <a:t>String </a:t>
            </a:r>
            <a:r>
              <a:rPr lang="en-US" sz="2800" spc="15" dirty="0">
                <a:latin typeface="Calibri" pitchFamily="34" charset="0"/>
                <a:cs typeface="Calibri" pitchFamily="34" charset="0"/>
              </a:rPr>
              <a:t>builder </a:t>
            </a:r>
            <a:r>
              <a:rPr lang="en-US" sz="2800" spc="10" dirty="0">
                <a:latin typeface="Calibri" pitchFamily="34" charset="0"/>
                <a:cs typeface="Calibri" pitchFamily="34" charset="0"/>
              </a:rPr>
              <a:t>class </a:t>
            </a:r>
            <a:r>
              <a:rPr lang="en-US" sz="2800" spc="5" dirty="0">
                <a:latin typeface="Calibri" pitchFamily="34" charset="0"/>
                <a:cs typeface="Calibri" pitchFamily="34" charset="0"/>
              </a:rPr>
              <a:t>is </a:t>
            </a:r>
            <a:r>
              <a:rPr lang="en-US" sz="2800" spc="25" dirty="0">
                <a:latin typeface="Calibri" pitchFamily="34" charset="0"/>
                <a:cs typeface="Calibri" pitchFamily="34" charset="0"/>
              </a:rPr>
              <a:t>non</a:t>
            </a:r>
            <a:r>
              <a:rPr lang="en-US" sz="2800" spc="-445" dirty="0">
                <a:latin typeface="Calibri" pitchFamily="34" charset="0"/>
                <a:cs typeface="Calibri" pitchFamily="34" charset="0"/>
              </a:rPr>
              <a:t> </a:t>
            </a:r>
            <a:r>
              <a:rPr lang="en-US" sz="2800" spc="-5" dirty="0">
                <a:latin typeface="Calibri" pitchFamily="34" charset="0"/>
                <a:cs typeface="Calibri" pitchFamily="34" charset="0"/>
              </a:rPr>
              <a:t>synchronized  </a:t>
            </a:r>
            <a:r>
              <a:rPr lang="en-US" sz="2800" spc="5" dirty="0">
                <a:latin typeface="Calibri" pitchFamily="34" charset="0"/>
                <a:cs typeface="Calibri" pitchFamily="34" charset="0"/>
              </a:rPr>
              <a:t>i.e.it is </a:t>
            </a:r>
            <a:r>
              <a:rPr lang="en-US" sz="2800" spc="25" dirty="0">
                <a:latin typeface="Calibri" pitchFamily="34" charset="0"/>
                <a:cs typeface="Calibri" pitchFamily="34" charset="0"/>
              </a:rPr>
              <a:t>not </a:t>
            </a:r>
            <a:r>
              <a:rPr lang="en-US" sz="2800" spc="-5" dirty="0">
                <a:latin typeface="Calibri" pitchFamily="34" charset="0"/>
                <a:cs typeface="Calibri" pitchFamily="34" charset="0"/>
              </a:rPr>
              <a:t>thread</a:t>
            </a:r>
            <a:r>
              <a:rPr lang="en-US" sz="2800" spc="-185" dirty="0">
                <a:latin typeface="Calibri" pitchFamily="34" charset="0"/>
                <a:cs typeface="Calibri" pitchFamily="34" charset="0"/>
              </a:rPr>
              <a:t> </a:t>
            </a:r>
            <a:r>
              <a:rPr lang="en-US" sz="2800" spc="-10" dirty="0">
                <a:latin typeface="Calibri" pitchFamily="34" charset="0"/>
                <a:cs typeface="Calibri" pitchFamily="34" charset="0"/>
              </a:rPr>
              <a:t>safe.</a:t>
            </a:r>
            <a:endParaRPr lang="en-US" sz="2800" dirty="0">
              <a:latin typeface="Calibri" pitchFamily="34" charset="0"/>
              <a:cs typeface="Calibri" pitchFamily="34" charset="0"/>
            </a:endParaRPr>
          </a:p>
          <a:p>
            <a:pPr marL="355600" marR="62865" indent="-343535">
              <a:spcBef>
                <a:spcPts val="615"/>
              </a:spcBef>
              <a:buFont typeface="Arial"/>
              <a:buChar char="•"/>
              <a:tabLst>
                <a:tab pos="355600" algn="l"/>
                <a:tab pos="356235" algn="l"/>
              </a:tabLst>
            </a:pPr>
            <a:endParaRPr lang="en-US" sz="2800" spc="-20" dirty="0">
              <a:latin typeface="Calibri" pitchFamily="34" charset="0"/>
              <a:cs typeface="Calibri" pitchFamily="34" charset="0"/>
            </a:endParaRPr>
          </a:p>
          <a:p>
            <a:pPr marL="355600" marR="62865" indent="-343535">
              <a:spcBef>
                <a:spcPts val="615"/>
              </a:spcBef>
              <a:buFont typeface="Arial"/>
              <a:buChar char="•"/>
              <a:tabLst>
                <a:tab pos="355600" algn="l"/>
                <a:tab pos="356235" algn="l"/>
              </a:tabLst>
            </a:pPr>
            <a:r>
              <a:rPr lang="en-US" sz="2800" spc="-20" dirty="0">
                <a:latin typeface="Calibri" pitchFamily="34" charset="0"/>
                <a:cs typeface="Calibri" pitchFamily="34" charset="0"/>
              </a:rPr>
              <a:t>Therefore </a:t>
            </a:r>
            <a:r>
              <a:rPr lang="en-US" sz="2800" spc="10" dirty="0">
                <a:latin typeface="Calibri" pitchFamily="34" charset="0"/>
                <a:cs typeface="Calibri" pitchFamily="34" charset="0"/>
              </a:rPr>
              <a:t>string </a:t>
            </a:r>
            <a:r>
              <a:rPr lang="en-US" sz="2800" spc="15" dirty="0">
                <a:latin typeface="Calibri" pitchFamily="34" charset="0"/>
                <a:cs typeface="Calibri" pitchFamily="34" charset="0"/>
              </a:rPr>
              <a:t>builder </a:t>
            </a:r>
            <a:r>
              <a:rPr lang="en-US" sz="2800" spc="5" dirty="0">
                <a:latin typeface="Calibri" pitchFamily="34" charset="0"/>
                <a:cs typeface="Calibri" pitchFamily="34" charset="0"/>
              </a:rPr>
              <a:t>is </a:t>
            </a:r>
            <a:r>
              <a:rPr lang="en-US" sz="2800" spc="-10" dirty="0">
                <a:latin typeface="Calibri" pitchFamily="34" charset="0"/>
                <a:cs typeface="Calibri" pitchFamily="34" charset="0"/>
              </a:rPr>
              <a:t>faster </a:t>
            </a:r>
            <a:r>
              <a:rPr lang="en-US" sz="2800" spc="15" dirty="0">
                <a:latin typeface="Calibri" pitchFamily="34" charset="0"/>
                <a:cs typeface="Calibri" pitchFamily="34" charset="0"/>
              </a:rPr>
              <a:t>than </a:t>
            </a:r>
            <a:r>
              <a:rPr lang="en-US" sz="2800" spc="-455" dirty="0">
                <a:latin typeface="Calibri" pitchFamily="34" charset="0"/>
                <a:cs typeface="Calibri" pitchFamily="34" charset="0"/>
              </a:rPr>
              <a:t> </a:t>
            </a:r>
            <a:r>
              <a:rPr lang="en-US" sz="2800" spc="10" dirty="0">
                <a:latin typeface="Calibri" pitchFamily="34" charset="0"/>
                <a:cs typeface="Calibri" pitchFamily="34" charset="0"/>
              </a:rPr>
              <a:t>string </a:t>
            </a:r>
            <a:r>
              <a:rPr lang="en-US" sz="2800" spc="-45" dirty="0">
                <a:latin typeface="Calibri" pitchFamily="34" charset="0"/>
                <a:cs typeface="Calibri" pitchFamily="34" charset="0"/>
              </a:rPr>
              <a:t>buffer.</a:t>
            </a:r>
            <a:endParaRPr lang="en-US" sz="2800" dirty="0">
              <a:latin typeface="Calibri" pitchFamily="34" charset="0"/>
              <a:cs typeface="Calibri" pitchFamily="34" charset="0"/>
            </a:endParaRPr>
          </a:p>
          <a:p>
            <a:pPr marL="355600" indent="-343535">
              <a:spcBef>
                <a:spcPts val="810"/>
              </a:spcBef>
              <a:buFont typeface="Arial"/>
              <a:buChar char="•"/>
              <a:tabLst>
                <a:tab pos="355600" algn="l"/>
                <a:tab pos="356235" algn="l"/>
              </a:tabLst>
            </a:pPr>
            <a:endParaRPr lang="en-US" sz="2800" spc="10" dirty="0">
              <a:latin typeface="Calibri" pitchFamily="34" charset="0"/>
              <a:cs typeface="Calibri" pitchFamily="34" charset="0"/>
            </a:endParaRPr>
          </a:p>
          <a:p>
            <a:pPr marL="355600" indent="-343535">
              <a:spcBef>
                <a:spcPts val="810"/>
              </a:spcBef>
              <a:buFont typeface="Arial"/>
              <a:buChar char="•"/>
              <a:tabLst>
                <a:tab pos="355600" algn="l"/>
                <a:tab pos="356235" algn="l"/>
              </a:tabLst>
            </a:pPr>
            <a:r>
              <a:rPr lang="en-US" sz="2800" spc="10" dirty="0">
                <a:latin typeface="Calibri" pitchFamily="34" charset="0"/>
                <a:cs typeface="Calibri" pitchFamily="34" charset="0"/>
              </a:rPr>
              <a:t>StringBuilder </a:t>
            </a:r>
            <a:r>
              <a:rPr lang="en-US" sz="2800" spc="5" dirty="0">
                <a:latin typeface="Calibri" pitchFamily="34" charset="0"/>
                <a:cs typeface="Calibri" pitchFamily="34" charset="0"/>
              </a:rPr>
              <a:t>s=new</a:t>
            </a:r>
            <a:r>
              <a:rPr lang="en-US" sz="2800" spc="-254" dirty="0">
                <a:latin typeface="Calibri" pitchFamily="34" charset="0"/>
                <a:cs typeface="Calibri" pitchFamily="34" charset="0"/>
              </a:rPr>
              <a:t> </a:t>
            </a:r>
            <a:r>
              <a:rPr lang="en-US" sz="2800" dirty="0">
                <a:latin typeface="Calibri" pitchFamily="34" charset="0"/>
                <a:cs typeface="Calibri" pitchFamily="34" charset="0"/>
              </a:rPr>
              <a:t>StringBuilder(“java”);</a:t>
            </a:r>
          </a:p>
        </p:txBody>
      </p:sp>
    </p:spTree>
    <p:extLst>
      <p:ext uri="{BB962C8B-B14F-4D97-AF65-F5344CB8AC3E}">
        <p14:creationId xmlns:p14="http://schemas.microsoft.com/office/powerpoint/2010/main" val="34499801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512C1E-5A3E-B4C7-8B53-B5BB68E250D1}"/>
              </a:ext>
            </a:extLst>
          </p:cNvPr>
          <p:cNvSpPr>
            <a:spLocks noGrp="1"/>
          </p:cNvSpPr>
          <p:nvPr>
            <p:ph idx="1"/>
          </p:nvPr>
        </p:nvSpPr>
        <p:spPr>
          <a:xfrm>
            <a:off x="838200" y="261257"/>
            <a:ext cx="10515600" cy="5915706"/>
          </a:xfrm>
        </p:spPr>
        <p:txBody>
          <a:bodyPr/>
          <a:lstStyle/>
          <a:p>
            <a:r>
              <a:rPr lang="en-IN" sz="2400" dirty="0">
                <a:solidFill>
                  <a:srgbClr val="000000"/>
                </a:solidFill>
                <a:effectLst/>
              </a:rPr>
              <a:t>StringBuilder </a:t>
            </a:r>
            <a:r>
              <a:rPr lang="en-IN" sz="2400" dirty="0">
                <a:solidFill>
                  <a:srgbClr val="6A3E3E"/>
                </a:solidFill>
                <a:effectLst/>
              </a:rPr>
              <a:t>s</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StringBuilder(</a:t>
            </a:r>
            <a:r>
              <a:rPr lang="en-IN" sz="2400" dirty="0">
                <a:solidFill>
                  <a:srgbClr val="2A00FF"/>
                </a:solidFill>
                <a:effectLst/>
              </a:rPr>
              <a:t>"</a:t>
            </a:r>
            <a:r>
              <a:rPr lang="en-IN" sz="2400" dirty="0" err="1">
                <a:solidFill>
                  <a:srgbClr val="2A00FF"/>
                </a:solidFill>
                <a:effectLst/>
              </a:rPr>
              <a:t>kokila</a:t>
            </a:r>
            <a:r>
              <a:rPr lang="en-IN" sz="2400" dirty="0">
                <a:solidFill>
                  <a:srgbClr val="2A00FF"/>
                </a:solidFill>
                <a:effectLst/>
              </a:rPr>
              <a:t>"</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s</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.capacity</a:t>
            </a:r>
            <a:r>
              <a:rPr lang="en-IN" sz="2400" dirty="0">
                <a:solidFill>
                  <a:srgbClr val="000000"/>
                </a:solidFill>
                <a:effectLst/>
              </a:rPr>
              <a:t>());</a:t>
            </a:r>
          </a:p>
          <a:p>
            <a:r>
              <a:rPr lang="en-IN" sz="2400" dirty="0" err="1">
                <a:solidFill>
                  <a:srgbClr val="6A3E3E"/>
                </a:solidFill>
                <a:effectLst/>
              </a:rPr>
              <a:t>s</a:t>
            </a:r>
            <a:r>
              <a:rPr lang="en-IN" sz="2400" dirty="0" err="1">
                <a:solidFill>
                  <a:srgbClr val="000000"/>
                </a:solidFill>
                <a:effectLst/>
              </a:rPr>
              <a:t>.ensureCapacity</a:t>
            </a:r>
            <a:r>
              <a:rPr lang="en-IN" sz="2400" dirty="0">
                <a:solidFill>
                  <a:srgbClr val="000000"/>
                </a:solidFill>
                <a:effectLst/>
              </a:rPr>
              <a:t>(23);</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.capacity</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.insert</a:t>
            </a:r>
            <a:r>
              <a:rPr lang="en-IN" sz="2400" dirty="0">
                <a:solidFill>
                  <a:srgbClr val="000000"/>
                </a:solidFill>
                <a:effectLst/>
              </a:rPr>
              <a:t>(0, </a:t>
            </a:r>
            <a:r>
              <a:rPr lang="en-IN" sz="2400" dirty="0">
                <a:solidFill>
                  <a:srgbClr val="2A00FF"/>
                </a:solidFill>
                <a:effectLst/>
              </a:rPr>
              <a:t>'K'</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.replace</a:t>
            </a:r>
            <a:r>
              <a:rPr lang="en-IN" sz="2400" dirty="0">
                <a:solidFill>
                  <a:srgbClr val="000000"/>
                </a:solidFill>
                <a:effectLst/>
              </a:rPr>
              <a:t>(0, 0, </a:t>
            </a:r>
            <a:r>
              <a:rPr lang="en-IN" sz="2400" dirty="0">
                <a:solidFill>
                  <a:srgbClr val="2A00FF"/>
                </a:solidFill>
                <a:effectLst/>
              </a:rPr>
              <a:t>"</a:t>
            </a:r>
            <a:r>
              <a:rPr lang="en-IN" sz="2400" dirty="0" err="1">
                <a:solidFill>
                  <a:srgbClr val="2A00FF"/>
                </a:solidFill>
                <a:effectLst/>
              </a:rPr>
              <a:t>kokila</a:t>
            </a:r>
            <a:r>
              <a:rPr lang="en-IN" sz="2400" dirty="0">
                <a:solidFill>
                  <a:srgbClr val="2A00FF"/>
                </a:solidFill>
                <a:effectLst/>
              </a:rPr>
              <a:t>"</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.delete</a:t>
            </a:r>
            <a:r>
              <a:rPr lang="en-IN" sz="2400" dirty="0">
                <a:solidFill>
                  <a:srgbClr val="000000"/>
                </a:solidFill>
                <a:effectLst/>
              </a:rPr>
              <a:t>(0, 6));</a:t>
            </a:r>
          </a:p>
          <a:p>
            <a:r>
              <a:rPr lang="en-IN" sz="2400" dirty="0" err="1">
                <a:solidFill>
                  <a:srgbClr val="6A3E3E"/>
                </a:solidFill>
                <a:effectLst/>
              </a:rPr>
              <a:t>s</a:t>
            </a:r>
            <a:r>
              <a:rPr lang="en-IN" sz="2400" dirty="0" err="1">
                <a:solidFill>
                  <a:srgbClr val="000000"/>
                </a:solidFill>
                <a:effectLst/>
              </a:rPr>
              <a:t>.setCharAt</a:t>
            </a:r>
            <a:r>
              <a:rPr lang="en-IN" sz="2400" dirty="0">
                <a:solidFill>
                  <a:srgbClr val="000000"/>
                </a:solidFill>
                <a:effectLst/>
              </a:rPr>
              <a:t>(0, </a:t>
            </a:r>
            <a:r>
              <a:rPr lang="en-IN" sz="2400" dirty="0">
                <a:solidFill>
                  <a:srgbClr val="2A00FF"/>
                </a:solidFill>
                <a:effectLst/>
              </a:rPr>
              <a:t>'J'</a:t>
            </a:r>
            <a:r>
              <a:rPr lang="en-IN" sz="2400" dirty="0">
                <a:solidFill>
                  <a:srgbClr val="000000"/>
                </a:solidFill>
                <a:effectLst/>
              </a:rPr>
              <a:t>);</a:t>
            </a:r>
          </a:p>
          <a:p>
            <a:r>
              <a:rPr lang="en-IN" sz="2400" dirty="0" err="1">
                <a:solidFill>
                  <a:srgbClr val="6A3E3E"/>
                </a:solidFill>
                <a:effectLst/>
              </a:rPr>
              <a:t>s</a:t>
            </a:r>
            <a:r>
              <a:rPr lang="en-IN" sz="2400" dirty="0" err="1">
                <a:solidFill>
                  <a:srgbClr val="000000"/>
                </a:solidFill>
                <a:effectLst/>
              </a:rPr>
              <a:t>.setLength</a:t>
            </a:r>
            <a:r>
              <a:rPr lang="en-IN" sz="2400" dirty="0">
                <a:solidFill>
                  <a:srgbClr val="000000"/>
                </a:solidFill>
                <a:effectLst/>
              </a:rPr>
              <a:t>(20);</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.length</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.reverse</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s</a:t>
            </a:r>
            <a:r>
              <a:rPr lang="en-IN" sz="2400" dirty="0">
                <a:solidFill>
                  <a:srgbClr val="000000"/>
                </a:solidFill>
                <a:effectLst/>
              </a:rPr>
              <a:t>);</a:t>
            </a:r>
          </a:p>
          <a:p>
            <a:endParaRPr lang="en-IN" dirty="0"/>
          </a:p>
        </p:txBody>
      </p:sp>
    </p:spTree>
    <p:extLst>
      <p:ext uri="{BB962C8B-B14F-4D97-AF65-F5344CB8AC3E}">
        <p14:creationId xmlns:p14="http://schemas.microsoft.com/office/powerpoint/2010/main" val="19835946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76673"/>
            <a:ext cx="8229600" cy="5649491"/>
          </a:xfrm>
        </p:spPr>
        <p:txBody>
          <a:bodyPr/>
          <a:lstStyle/>
          <a:p>
            <a:pPr marL="0" indent="0">
              <a:buNone/>
            </a:pPr>
            <a:r>
              <a:rPr lang="en-US" spc="5" dirty="0">
                <a:solidFill>
                  <a:srgbClr val="7030A0"/>
                </a:solidFill>
              </a:rPr>
              <a:t>When</a:t>
            </a:r>
            <a:r>
              <a:rPr lang="en-US" spc="5" dirty="0">
                <a:solidFill>
                  <a:srgbClr val="000000"/>
                </a:solidFill>
              </a:rPr>
              <a:t> </a:t>
            </a:r>
            <a:r>
              <a:rPr lang="en-US" spc="-20" dirty="0">
                <a:solidFill>
                  <a:srgbClr val="7030A0"/>
                </a:solidFill>
              </a:rPr>
              <a:t>to</a:t>
            </a:r>
            <a:r>
              <a:rPr lang="en-US" spc="-20" dirty="0">
                <a:solidFill>
                  <a:srgbClr val="000000"/>
                </a:solidFill>
              </a:rPr>
              <a:t> </a:t>
            </a:r>
            <a:r>
              <a:rPr lang="en-US" spc="20" dirty="0">
                <a:solidFill>
                  <a:srgbClr val="7030A0"/>
                </a:solidFill>
              </a:rPr>
              <a:t>use</a:t>
            </a:r>
            <a:r>
              <a:rPr lang="en-US" spc="20" dirty="0">
                <a:solidFill>
                  <a:srgbClr val="000000"/>
                </a:solidFill>
              </a:rPr>
              <a:t> </a:t>
            </a:r>
            <a:r>
              <a:rPr lang="en-US" spc="-5" dirty="0">
                <a:solidFill>
                  <a:srgbClr val="7030A0"/>
                </a:solidFill>
              </a:rPr>
              <a:t>string</a:t>
            </a:r>
            <a:r>
              <a:rPr lang="en-US" spc="-5" dirty="0">
                <a:solidFill>
                  <a:srgbClr val="000000"/>
                </a:solidFill>
              </a:rPr>
              <a:t> </a:t>
            </a:r>
            <a:r>
              <a:rPr lang="en-US" spc="-25" dirty="0">
                <a:solidFill>
                  <a:srgbClr val="7030A0"/>
                </a:solidFill>
              </a:rPr>
              <a:t>buffer</a:t>
            </a:r>
            <a:r>
              <a:rPr lang="en-US" spc="-25" dirty="0">
                <a:solidFill>
                  <a:srgbClr val="000000"/>
                </a:solidFill>
              </a:rPr>
              <a:t> </a:t>
            </a:r>
            <a:r>
              <a:rPr lang="en-US" spc="5" dirty="0">
                <a:solidFill>
                  <a:srgbClr val="7030A0"/>
                </a:solidFill>
              </a:rPr>
              <a:t>and</a:t>
            </a:r>
            <a:r>
              <a:rPr lang="en-US" spc="5" dirty="0">
                <a:solidFill>
                  <a:srgbClr val="000000"/>
                </a:solidFill>
              </a:rPr>
              <a:t> </a:t>
            </a:r>
            <a:r>
              <a:rPr lang="en-US" spc="-5" dirty="0">
                <a:solidFill>
                  <a:srgbClr val="7030A0"/>
                </a:solidFill>
              </a:rPr>
              <a:t>string</a:t>
            </a:r>
            <a:r>
              <a:rPr lang="en-US" spc="-5" dirty="0">
                <a:solidFill>
                  <a:srgbClr val="000000"/>
                </a:solidFill>
              </a:rPr>
              <a:t>  </a:t>
            </a:r>
            <a:r>
              <a:rPr lang="en-US" spc="5" dirty="0">
                <a:solidFill>
                  <a:srgbClr val="7030A0"/>
                </a:solidFill>
              </a:rPr>
              <a:t>builder</a:t>
            </a:r>
          </a:p>
          <a:p>
            <a:pPr marL="12065" marR="5080" indent="0">
              <a:lnSpc>
                <a:spcPts val="3829"/>
              </a:lnSpc>
              <a:spcBef>
                <a:spcPts val="265"/>
              </a:spcBef>
              <a:buNone/>
              <a:tabLst>
                <a:tab pos="355600" algn="l"/>
                <a:tab pos="356235" algn="l"/>
              </a:tabLst>
            </a:pPr>
            <a:r>
              <a:rPr lang="en-US" spc="10" dirty="0">
                <a:solidFill>
                  <a:srgbClr val="7030A0"/>
                </a:solidFill>
                <a:latin typeface="Carlito"/>
                <a:cs typeface="Carlito"/>
              </a:rPr>
              <a:t>String </a:t>
            </a:r>
            <a:r>
              <a:rPr lang="en-US" spc="-5" dirty="0">
                <a:solidFill>
                  <a:srgbClr val="7030A0"/>
                </a:solidFill>
                <a:latin typeface="Carlito"/>
                <a:cs typeface="Carlito"/>
              </a:rPr>
              <a:t>buffer </a:t>
            </a:r>
            <a:endParaRPr lang="en-US" spc="5" dirty="0">
              <a:solidFill>
                <a:srgbClr val="7030A0"/>
              </a:solidFill>
              <a:latin typeface="Carlito"/>
              <a:cs typeface="Carlito"/>
            </a:endParaRPr>
          </a:p>
          <a:p>
            <a:pPr marL="469265" marR="5080" indent="-457200">
              <a:lnSpc>
                <a:spcPts val="3829"/>
              </a:lnSpc>
              <a:spcBef>
                <a:spcPts val="265"/>
              </a:spcBef>
              <a:tabLst>
                <a:tab pos="355600" algn="l"/>
                <a:tab pos="356235" algn="l"/>
              </a:tabLst>
            </a:pPr>
            <a:r>
              <a:rPr lang="en-US" spc="5" dirty="0">
                <a:latin typeface="Carlito"/>
                <a:cs typeface="Carlito"/>
              </a:rPr>
              <a:t>String </a:t>
            </a:r>
            <a:r>
              <a:rPr lang="en-US" spc="-5" dirty="0">
                <a:latin typeface="Carlito"/>
                <a:cs typeface="Carlito"/>
              </a:rPr>
              <a:t>buffer </a:t>
            </a:r>
            <a:r>
              <a:rPr lang="en-US" spc="15" dirty="0">
                <a:latin typeface="Carlito"/>
                <a:cs typeface="Carlito"/>
              </a:rPr>
              <a:t>can </a:t>
            </a:r>
            <a:r>
              <a:rPr lang="en-US" spc="25" dirty="0">
                <a:latin typeface="Carlito"/>
                <a:cs typeface="Carlito"/>
              </a:rPr>
              <a:t>be</a:t>
            </a:r>
            <a:r>
              <a:rPr lang="en-US" spc="-525" dirty="0">
                <a:latin typeface="Carlito"/>
                <a:cs typeface="Carlito"/>
              </a:rPr>
              <a:t>  </a:t>
            </a:r>
            <a:r>
              <a:rPr lang="en-US" dirty="0">
                <a:latin typeface="Carlito"/>
                <a:cs typeface="Carlito"/>
              </a:rPr>
              <a:t>accessed </a:t>
            </a:r>
            <a:r>
              <a:rPr lang="en-US" spc="20" dirty="0">
                <a:latin typeface="Carlito"/>
                <a:cs typeface="Carlito"/>
              </a:rPr>
              <a:t>by  </a:t>
            </a:r>
            <a:r>
              <a:rPr lang="en-US" spc="10" dirty="0">
                <a:latin typeface="Carlito"/>
                <a:cs typeface="Carlito"/>
              </a:rPr>
              <a:t>multiple </a:t>
            </a:r>
            <a:r>
              <a:rPr lang="en-US" dirty="0">
                <a:latin typeface="Carlito"/>
                <a:cs typeface="Carlito"/>
              </a:rPr>
              <a:t>threads </a:t>
            </a:r>
            <a:r>
              <a:rPr lang="en-US" spc="20" dirty="0">
                <a:latin typeface="Carlito"/>
                <a:cs typeface="Carlito"/>
              </a:rPr>
              <a:t>at </a:t>
            </a:r>
            <a:r>
              <a:rPr lang="en-US" spc="10" dirty="0">
                <a:latin typeface="Carlito"/>
                <a:cs typeface="Carlito"/>
              </a:rPr>
              <a:t>a</a:t>
            </a:r>
            <a:r>
              <a:rPr lang="en-US" spc="-254" dirty="0">
                <a:latin typeface="Carlito"/>
                <a:cs typeface="Carlito"/>
              </a:rPr>
              <a:t> </a:t>
            </a:r>
            <a:r>
              <a:rPr lang="en-US" spc="-10" dirty="0">
                <a:latin typeface="Carlito"/>
                <a:cs typeface="Carlito"/>
              </a:rPr>
              <a:t>time.</a:t>
            </a:r>
            <a:endParaRPr lang="en-US" dirty="0">
              <a:latin typeface="Carlito"/>
              <a:cs typeface="Carlito"/>
            </a:endParaRPr>
          </a:p>
          <a:p>
            <a:pPr marL="355600" indent="-343535">
              <a:spcBef>
                <a:spcPts val="690"/>
              </a:spcBef>
              <a:buFont typeface="Arial"/>
              <a:buChar char="•"/>
              <a:tabLst>
                <a:tab pos="355600" algn="l"/>
                <a:tab pos="356235" algn="l"/>
              </a:tabLst>
            </a:pPr>
            <a:r>
              <a:rPr lang="en-US" spc="15" dirty="0">
                <a:latin typeface="Carlito"/>
                <a:cs typeface="Carlito"/>
              </a:rPr>
              <a:t>Slower </a:t>
            </a:r>
            <a:r>
              <a:rPr lang="en-US" spc="20" dirty="0">
                <a:latin typeface="Carlito"/>
                <a:cs typeface="Carlito"/>
              </a:rPr>
              <a:t>as </a:t>
            </a:r>
            <a:r>
              <a:rPr lang="en-US" dirty="0">
                <a:latin typeface="Carlito"/>
                <a:cs typeface="Carlito"/>
              </a:rPr>
              <a:t>compared </a:t>
            </a:r>
            <a:r>
              <a:rPr lang="en-US" spc="-10" dirty="0">
                <a:latin typeface="Carlito"/>
                <a:cs typeface="Carlito"/>
              </a:rPr>
              <a:t>to </a:t>
            </a:r>
            <a:r>
              <a:rPr lang="en-US" spc="10" dirty="0">
                <a:latin typeface="Carlito"/>
                <a:cs typeface="Carlito"/>
              </a:rPr>
              <a:t>string</a:t>
            </a:r>
            <a:r>
              <a:rPr lang="en-US" spc="-470" dirty="0">
                <a:latin typeface="Carlito"/>
                <a:cs typeface="Carlito"/>
              </a:rPr>
              <a:t> </a:t>
            </a:r>
            <a:r>
              <a:rPr lang="en-US" spc="-20" dirty="0">
                <a:latin typeface="Carlito"/>
                <a:cs typeface="Carlito"/>
              </a:rPr>
              <a:t>builder.</a:t>
            </a:r>
            <a:endParaRPr lang="en-US" dirty="0">
              <a:latin typeface="Carlito"/>
              <a:cs typeface="Carlito"/>
            </a:endParaRPr>
          </a:p>
          <a:p>
            <a:pPr marL="12065" marR="12065" indent="0">
              <a:spcBef>
                <a:spcPts val="740"/>
              </a:spcBef>
              <a:buNone/>
              <a:tabLst>
                <a:tab pos="355600" algn="l"/>
                <a:tab pos="356235" algn="l"/>
                <a:tab pos="3063240" algn="l"/>
              </a:tabLst>
            </a:pPr>
            <a:r>
              <a:rPr lang="en-US" spc="10" dirty="0">
                <a:solidFill>
                  <a:srgbClr val="7030A0"/>
                </a:solidFill>
                <a:latin typeface="Carlito"/>
                <a:cs typeface="Carlito"/>
              </a:rPr>
              <a:t>String</a:t>
            </a:r>
            <a:r>
              <a:rPr lang="en-US" spc="-50" dirty="0">
                <a:solidFill>
                  <a:srgbClr val="7030A0"/>
                </a:solidFill>
                <a:latin typeface="Carlito"/>
                <a:cs typeface="Carlito"/>
              </a:rPr>
              <a:t> </a:t>
            </a:r>
            <a:r>
              <a:rPr lang="en-US" spc="15" dirty="0">
                <a:solidFill>
                  <a:srgbClr val="7030A0"/>
                </a:solidFill>
                <a:latin typeface="Carlito"/>
                <a:cs typeface="Carlito"/>
              </a:rPr>
              <a:t>builder</a:t>
            </a:r>
            <a:r>
              <a:rPr lang="en-US" spc="-85" dirty="0">
                <a:solidFill>
                  <a:srgbClr val="7030A0"/>
                </a:solidFill>
                <a:latin typeface="Carlito"/>
                <a:cs typeface="Carlito"/>
              </a:rPr>
              <a:t> </a:t>
            </a:r>
            <a:endParaRPr lang="en-US" spc="10" dirty="0">
              <a:solidFill>
                <a:srgbClr val="7030A0"/>
              </a:solidFill>
              <a:latin typeface="Carlito"/>
              <a:cs typeface="Carlito"/>
            </a:endParaRPr>
          </a:p>
          <a:p>
            <a:pPr marL="469265" marR="12065" indent="-457200">
              <a:spcBef>
                <a:spcPts val="740"/>
              </a:spcBef>
              <a:tabLst>
                <a:tab pos="355600" algn="l"/>
                <a:tab pos="356235" algn="l"/>
                <a:tab pos="3063240" algn="l"/>
              </a:tabLst>
            </a:pPr>
            <a:r>
              <a:rPr lang="en-US" spc="10" dirty="0">
                <a:latin typeface="Carlito"/>
                <a:cs typeface="Carlito"/>
              </a:rPr>
              <a:t>String </a:t>
            </a:r>
            <a:r>
              <a:rPr lang="en-US" spc="15" dirty="0">
                <a:latin typeface="Carlito"/>
                <a:cs typeface="Carlito"/>
              </a:rPr>
              <a:t>builder can </a:t>
            </a:r>
            <a:r>
              <a:rPr lang="en-US" spc="25" dirty="0">
                <a:latin typeface="Carlito"/>
                <a:cs typeface="Carlito"/>
              </a:rPr>
              <a:t>be</a:t>
            </a:r>
            <a:r>
              <a:rPr lang="en-US" spc="-450" dirty="0">
                <a:latin typeface="Carlito"/>
                <a:cs typeface="Carlito"/>
              </a:rPr>
              <a:t> </a:t>
            </a:r>
            <a:r>
              <a:rPr lang="en-US" dirty="0">
                <a:latin typeface="Carlito"/>
                <a:cs typeface="Carlito"/>
              </a:rPr>
              <a:t>accessed  </a:t>
            </a:r>
            <a:r>
              <a:rPr lang="en-US" spc="25" dirty="0">
                <a:latin typeface="Carlito"/>
                <a:cs typeface="Carlito"/>
              </a:rPr>
              <a:t>by </a:t>
            </a:r>
            <a:r>
              <a:rPr lang="en-US" spc="10" dirty="0">
                <a:latin typeface="Carlito"/>
                <a:cs typeface="Carlito"/>
              </a:rPr>
              <a:t>a </a:t>
            </a:r>
            <a:r>
              <a:rPr lang="en-US" spc="15" dirty="0">
                <a:latin typeface="Carlito"/>
                <a:cs typeface="Carlito"/>
              </a:rPr>
              <a:t>single </a:t>
            </a:r>
            <a:r>
              <a:rPr lang="en-US" spc="-5" dirty="0">
                <a:latin typeface="Carlito"/>
                <a:cs typeface="Carlito"/>
              </a:rPr>
              <a:t>thread </a:t>
            </a:r>
            <a:r>
              <a:rPr lang="en-US" spc="20" dirty="0">
                <a:latin typeface="Carlito"/>
                <a:cs typeface="Carlito"/>
              </a:rPr>
              <a:t>at </a:t>
            </a:r>
            <a:r>
              <a:rPr lang="en-US" spc="10" dirty="0">
                <a:latin typeface="Carlito"/>
                <a:cs typeface="Carlito"/>
              </a:rPr>
              <a:t>a</a:t>
            </a:r>
            <a:r>
              <a:rPr lang="en-US" spc="-325" dirty="0">
                <a:latin typeface="Carlito"/>
                <a:cs typeface="Carlito"/>
              </a:rPr>
              <a:t> </a:t>
            </a:r>
            <a:r>
              <a:rPr lang="en-US" spc="-10" dirty="0">
                <a:latin typeface="Carlito"/>
                <a:cs typeface="Carlito"/>
              </a:rPr>
              <a:t>time.</a:t>
            </a:r>
            <a:endParaRPr lang="en-US" dirty="0">
              <a:latin typeface="Carlito"/>
              <a:cs typeface="Carlito"/>
            </a:endParaRPr>
          </a:p>
          <a:p>
            <a:pPr marL="355600" indent="-343535">
              <a:spcBef>
                <a:spcPts val="810"/>
              </a:spcBef>
              <a:buFont typeface="Arial"/>
              <a:buChar char="•"/>
              <a:tabLst>
                <a:tab pos="355600" algn="l"/>
                <a:tab pos="356235" algn="l"/>
              </a:tabLst>
            </a:pPr>
            <a:r>
              <a:rPr lang="en-US" spc="-5" dirty="0">
                <a:latin typeface="Carlito"/>
                <a:cs typeface="Carlito"/>
              </a:rPr>
              <a:t>Faster </a:t>
            </a:r>
            <a:r>
              <a:rPr lang="en-US" spc="15" dirty="0">
                <a:latin typeface="Carlito"/>
                <a:cs typeface="Carlito"/>
              </a:rPr>
              <a:t>than </a:t>
            </a:r>
            <a:r>
              <a:rPr lang="en-US" spc="10" dirty="0">
                <a:latin typeface="Carlito"/>
                <a:cs typeface="Carlito"/>
              </a:rPr>
              <a:t>sting</a:t>
            </a:r>
            <a:r>
              <a:rPr lang="en-US" spc="-305" dirty="0">
                <a:latin typeface="Carlito"/>
                <a:cs typeface="Carlito"/>
              </a:rPr>
              <a:t> </a:t>
            </a:r>
            <a:r>
              <a:rPr lang="en-US" spc="-45" dirty="0">
                <a:latin typeface="Carlito"/>
                <a:cs typeface="Carlito"/>
              </a:rPr>
              <a:t>buffer.</a:t>
            </a:r>
            <a:endParaRPr lang="en-US" dirty="0">
              <a:latin typeface="Carlito"/>
              <a:cs typeface="Carlito"/>
            </a:endParaRPr>
          </a:p>
        </p:txBody>
      </p:sp>
    </p:spTree>
    <p:extLst>
      <p:ext uri="{BB962C8B-B14F-4D97-AF65-F5344CB8AC3E}">
        <p14:creationId xmlns:p14="http://schemas.microsoft.com/office/powerpoint/2010/main" val="27407448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C38F-F503-BBF7-603C-F5F09A5A6667}"/>
              </a:ext>
            </a:extLst>
          </p:cNvPr>
          <p:cNvSpPr>
            <a:spLocks noGrp="1"/>
          </p:cNvSpPr>
          <p:nvPr>
            <p:ph type="ctrTitle"/>
          </p:nvPr>
        </p:nvSpPr>
        <p:spPr/>
        <p:txBody>
          <a:bodyPr>
            <a:normAutofit/>
          </a:bodyPr>
          <a:lstStyle/>
          <a:p>
            <a:r>
              <a:rPr lang="en-IN" sz="9600" dirty="0"/>
              <a:t>oops</a:t>
            </a:r>
          </a:p>
        </p:txBody>
      </p:sp>
      <p:sp>
        <p:nvSpPr>
          <p:cNvPr id="3" name="Subtitle 2">
            <a:extLst>
              <a:ext uri="{FF2B5EF4-FFF2-40B4-BE49-F238E27FC236}">
                <a16:creationId xmlns:a16="http://schemas.microsoft.com/office/drawing/2014/main" id="{10A6E304-B788-AF8A-2A00-5D374329AB9D}"/>
              </a:ext>
            </a:extLst>
          </p:cNvPr>
          <p:cNvSpPr>
            <a:spLocks noGrp="1"/>
          </p:cNvSpPr>
          <p:nvPr>
            <p:ph type="subTitle" idx="1"/>
          </p:nvPr>
        </p:nvSpPr>
        <p:spPr/>
        <p:txBody>
          <a:bodyPr>
            <a:normAutofit/>
          </a:bodyPr>
          <a:lstStyle/>
          <a:p>
            <a:r>
              <a:rPr lang="en-IN" sz="4400" dirty="0"/>
              <a:t>Object Oriented Programming Structure</a:t>
            </a:r>
          </a:p>
        </p:txBody>
      </p:sp>
    </p:spTree>
    <p:extLst>
      <p:ext uri="{BB962C8B-B14F-4D97-AF65-F5344CB8AC3E}">
        <p14:creationId xmlns:p14="http://schemas.microsoft.com/office/powerpoint/2010/main" val="32897470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38EF8-812B-1C09-D618-CE2964557D4B}"/>
              </a:ext>
            </a:extLst>
          </p:cNvPr>
          <p:cNvSpPr>
            <a:spLocks noGrp="1"/>
          </p:cNvSpPr>
          <p:nvPr>
            <p:ph idx="1"/>
          </p:nvPr>
        </p:nvSpPr>
        <p:spPr>
          <a:xfrm>
            <a:off x="838200" y="531845"/>
            <a:ext cx="10515600" cy="5645118"/>
          </a:xfrm>
        </p:spPr>
        <p:txBody>
          <a:bodyPr>
            <a:normAutofit lnSpcReduction="10000"/>
          </a:bodyPr>
          <a:lstStyle/>
          <a:p>
            <a:pPr marL="0" indent="0" algn="l">
              <a:lnSpc>
                <a:spcPct val="150000"/>
              </a:lnSpc>
              <a:buNone/>
            </a:pPr>
            <a:r>
              <a:rPr lang="en-US" b="1" i="0" dirty="0">
                <a:solidFill>
                  <a:srgbClr val="7030A0"/>
                </a:solidFill>
                <a:effectLst/>
              </a:rPr>
              <a:t>What is OOP?</a:t>
            </a:r>
          </a:p>
          <a:p>
            <a:pPr algn="l">
              <a:lnSpc>
                <a:spcPct val="150000"/>
              </a:lnSpc>
            </a:pPr>
            <a:r>
              <a:rPr lang="en-US" b="0" i="0" dirty="0">
                <a:solidFill>
                  <a:srgbClr val="000000"/>
                </a:solidFill>
                <a:effectLst/>
              </a:rPr>
              <a:t>OOP stands for </a:t>
            </a:r>
            <a:r>
              <a:rPr lang="en-US" b="1" i="0" dirty="0">
                <a:solidFill>
                  <a:srgbClr val="7030A0"/>
                </a:solidFill>
                <a:effectLst/>
              </a:rPr>
              <a:t>Object-Oriented Programming</a:t>
            </a:r>
            <a:r>
              <a:rPr lang="en-US" b="0" i="0" dirty="0">
                <a:solidFill>
                  <a:srgbClr val="7030A0"/>
                </a:solidFill>
                <a:effectLst/>
              </a:rPr>
              <a:t>.</a:t>
            </a:r>
          </a:p>
          <a:p>
            <a:pPr algn="l">
              <a:lnSpc>
                <a:spcPct val="150000"/>
              </a:lnSpc>
            </a:pPr>
            <a:r>
              <a:rPr lang="en-US" b="0" i="0" dirty="0">
                <a:solidFill>
                  <a:srgbClr val="000000"/>
                </a:solidFill>
                <a:effectLst/>
              </a:rPr>
              <a:t> Object-oriented programming is about creating objects that contain both data and methods.</a:t>
            </a:r>
          </a:p>
          <a:p>
            <a:pPr marL="469266" indent="-457200">
              <a:lnSpc>
                <a:spcPct val="150000"/>
              </a:lnSpc>
              <a:spcBef>
                <a:spcPts val="1975"/>
              </a:spcBef>
              <a:buSzPct val="95833"/>
              <a:tabLst>
                <a:tab pos="243204" algn="l"/>
              </a:tabLst>
            </a:pPr>
            <a:r>
              <a:rPr lang="en-US" spc="-10" dirty="0">
                <a:latin typeface="Carlito"/>
                <a:cs typeface="Carlito"/>
              </a:rPr>
              <a:t>It is created in </a:t>
            </a:r>
            <a:r>
              <a:rPr lang="en-US" sz="2800" spc="-10" dirty="0">
                <a:latin typeface="Carlito"/>
                <a:cs typeface="Carlito"/>
              </a:rPr>
              <a:t>MIT </a:t>
            </a:r>
            <a:r>
              <a:rPr lang="en-US" sz="2800" spc="15" dirty="0">
                <a:latin typeface="Carlito"/>
                <a:cs typeface="Carlito"/>
              </a:rPr>
              <a:t>AI </a:t>
            </a:r>
            <a:r>
              <a:rPr lang="en-US" sz="2800" spc="-20" dirty="0">
                <a:latin typeface="Carlito"/>
                <a:cs typeface="Carlito"/>
              </a:rPr>
              <a:t>lab in</a:t>
            </a:r>
            <a:r>
              <a:rPr lang="en-US" sz="2800" spc="-10" dirty="0">
                <a:latin typeface="Carlito"/>
                <a:cs typeface="Carlito"/>
              </a:rPr>
              <a:t> </a:t>
            </a:r>
            <a:r>
              <a:rPr lang="en-US" sz="2800" spc="-15" dirty="0">
                <a:latin typeface="Carlito"/>
                <a:cs typeface="Carlito"/>
              </a:rPr>
              <a:t>1960’s.</a:t>
            </a:r>
            <a:endParaRPr lang="en-US" sz="2800" dirty="0">
              <a:latin typeface="Carlito"/>
              <a:cs typeface="Carlito"/>
            </a:endParaRPr>
          </a:p>
          <a:p>
            <a:pPr marL="469264" indent="-457200">
              <a:lnSpc>
                <a:spcPct val="150000"/>
              </a:lnSpc>
              <a:spcBef>
                <a:spcPts val="50"/>
              </a:spcBef>
              <a:buSzPct val="95833"/>
              <a:tabLst>
                <a:tab pos="243840" algn="l"/>
              </a:tabLst>
            </a:pPr>
            <a:r>
              <a:rPr lang="en-US" spc="5" dirty="0">
                <a:latin typeface="Carlito"/>
                <a:cs typeface="Carlito"/>
              </a:rPr>
              <a:t>T</a:t>
            </a:r>
            <a:r>
              <a:rPr lang="en-US" sz="2800" spc="5" dirty="0">
                <a:latin typeface="Carlito"/>
                <a:cs typeface="Carlito"/>
              </a:rPr>
              <a:t>o </a:t>
            </a:r>
            <a:r>
              <a:rPr lang="en-US" sz="2800" spc="-5" dirty="0">
                <a:latin typeface="Carlito"/>
                <a:cs typeface="Carlito"/>
              </a:rPr>
              <a:t>develop </a:t>
            </a:r>
            <a:r>
              <a:rPr lang="en-US" sz="2800" spc="10" dirty="0">
                <a:latin typeface="Carlito"/>
                <a:cs typeface="Carlito"/>
              </a:rPr>
              <a:t>secured</a:t>
            </a:r>
            <a:r>
              <a:rPr lang="en-US" sz="2800" spc="-185" dirty="0">
                <a:latin typeface="Carlito"/>
                <a:cs typeface="Carlito"/>
              </a:rPr>
              <a:t> </a:t>
            </a:r>
            <a:r>
              <a:rPr lang="en-US" sz="2800" spc="-10" dirty="0">
                <a:latin typeface="Carlito"/>
                <a:cs typeface="Carlito"/>
              </a:rPr>
              <a:t>applications.</a:t>
            </a:r>
            <a:endParaRPr lang="en-US" sz="2800" dirty="0">
              <a:latin typeface="Carlito"/>
              <a:cs typeface="Carlito"/>
            </a:endParaRPr>
          </a:p>
          <a:p>
            <a:pPr marR="5080">
              <a:lnSpc>
                <a:spcPct val="150000"/>
              </a:lnSpc>
              <a:spcBef>
                <a:spcPts val="45"/>
              </a:spcBef>
              <a:buSzPct val="95833"/>
              <a:tabLst>
                <a:tab pos="308610" algn="l"/>
              </a:tabLst>
            </a:pPr>
            <a:r>
              <a:rPr lang="en-US" sz="2800" spc="-15" dirty="0">
                <a:latin typeface="Carlito"/>
                <a:cs typeface="Carlito"/>
              </a:rPr>
              <a:t>   It is fast </a:t>
            </a:r>
            <a:r>
              <a:rPr lang="en-US" sz="2800" spc="-5" dirty="0">
                <a:latin typeface="Carlito"/>
                <a:cs typeface="Carlito"/>
              </a:rPr>
              <a:t>and </a:t>
            </a:r>
            <a:r>
              <a:rPr lang="en-US" sz="2800" dirty="0">
                <a:latin typeface="Carlito"/>
                <a:cs typeface="Carlito"/>
              </a:rPr>
              <a:t>efficient.</a:t>
            </a:r>
          </a:p>
          <a:p>
            <a:pPr marR="5080">
              <a:lnSpc>
                <a:spcPct val="150000"/>
              </a:lnSpc>
              <a:spcBef>
                <a:spcPts val="45"/>
              </a:spcBef>
              <a:buSzPct val="95833"/>
              <a:tabLst>
                <a:tab pos="308610" algn="l"/>
              </a:tabLst>
            </a:pPr>
            <a:r>
              <a:rPr lang="en-US" sz="2800" dirty="0">
                <a:latin typeface="Carlito"/>
                <a:cs typeface="Carlito"/>
              </a:rPr>
              <a:t>  </a:t>
            </a:r>
            <a:r>
              <a:rPr lang="en-US" dirty="0">
                <a:latin typeface="Carlito"/>
                <a:cs typeface="Carlito"/>
              </a:rPr>
              <a:t>O</a:t>
            </a:r>
            <a:r>
              <a:rPr lang="en-US" sz="2800" dirty="0">
                <a:latin typeface="Carlito"/>
                <a:cs typeface="Carlito"/>
              </a:rPr>
              <a:t>ops used to reduce  complexity of </a:t>
            </a:r>
            <a:r>
              <a:rPr lang="en-US" sz="2800" spc="10" dirty="0">
                <a:latin typeface="Carlito"/>
                <a:cs typeface="Carlito"/>
              </a:rPr>
              <a:t>code</a:t>
            </a:r>
            <a:r>
              <a:rPr lang="en-US" sz="2800" spc="-270" dirty="0">
                <a:latin typeface="Carlito"/>
                <a:cs typeface="Carlito"/>
              </a:rPr>
              <a:t> </a:t>
            </a:r>
            <a:r>
              <a:rPr lang="en-US" sz="2800" spc="10" dirty="0">
                <a:latin typeface="Carlito"/>
                <a:cs typeface="Carlito"/>
              </a:rPr>
              <a:t>(reduced)</a:t>
            </a:r>
            <a:endParaRPr lang="en-US" sz="2800" dirty="0">
              <a:latin typeface="Carlito"/>
              <a:cs typeface="Carlito"/>
            </a:endParaRPr>
          </a:p>
          <a:p>
            <a:pPr algn="l">
              <a:lnSpc>
                <a:spcPct val="150000"/>
              </a:lnSpc>
            </a:pPr>
            <a:endParaRPr lang="en-IN" dirty="0"/>
          </a:p>
        </p:txBody>
      </p:sp>
    </p:spTree>
    <p:extLst>
      <p:ext uri="{BB962C8B-B14F-4D97-AF65-F5344CB8AC3E}">
        <p14:creationId xmlns:p14="http://schemas.microsoft.com/office/powerpoint/2010/main" val="16167988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2CB25-F924-8D01-FD92-87D5189E1986}"/>
              </a:ext>
            </a:extLst>
          </p:cNvPr>
          <p:cNvSpPr>
            <a:spLocks noGrp="1"/>
          </p:cNvSpPr>
          <p:nvPr>
            <p:ph idx="1"/>
          </p:nvPr>
        </p:nvSpPr>
        <p:spPr>
          <a:xfrm>
            <a:off x="838200" y="513184"/>
            <a:ext cx="10515600" cy="5663779"/>
          </a:xfrm>
        </p:spPr>
        <p:txBody>
          <a:bodyPr/>
          <a:lstStyle/>
          <a:p>
            <a:r>
              <a:rPr lang="en-IN" dirty="0"/>
              <a:t>Oops vs pops</a:t>
            </a:r>
          </a:p>
          <a:p>
            <a:endParaRPr lang="en-IN" dirty="0"/>
          </a:p>
        </p:txBody>
      </p:sp>
      <p:sp>
        <p:nvSpPr>
          <p:cNvPr id="6" name="Rectangle 5">
            <a:extLst>
              <a:ext uri="{FF2B5EF4-FFF2-40B4-BE49-F238E27FC236}">
                <a16:creationId xmlns:a16="http://schemas.microsoft.com/office/drawing/2014/main" id="{2D490A58-C1A0-4A14-3C4E-159D8933CE4F}"/>
              </a:ext>
            </a:extLst>
          </p:cNvPr>
          <p:cNvSpPr/>
          <p:nvPr/>
        </p:nvSpPr>
        <p:spPr>
          <a:xfrm>
            <a:off x="7072603" y="979714"/>
            <a:ext cx="1343607"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BFBE71EC-FE8A-6323-B750-EBF4BD9EEBBF}"/>
              </a:ext>
            </a:extLst>
          </p:cNvPr>
          <p:cNvGraphicFramePr>
            <a:graphicFrameLocks noGrp="1"/>
          </p:cNvGraphicFramePr>
          <p:nvPr>
            <p:extLst>
              <p:ext uri="{D42A27DB-BD31-4B8C-83A1-F6EECF244321}">
                <p14:modId xmlns:p14="http://schemas.microsoft.com/office/powerpoint/2010/main" val="4169834246"/>
              </p:ext>
            </p:extLst>
          </p:nvPr>
        </p:nvGraphicFramePr>
        <p:xfrm>
          <a:off x="762000" y="1049868"/>
          <a:ext cx="10896601" cy="5012262"/>
        </p:xfrm>
        <a:graphic>
          <a:graphicData uri="http://schemas.openxmlformats.org/drawingml/2006/table">
            <a:tbl>
              <a:tblPr/>
              <a:tblGrid>
                <a:gridCol w="2430241">
                  <a:extLst>
                    <a:ext uri="{9D8B030D-6E8A-4147-A177-3AD203B41FA5}">
                      <a16:colId xmlns:a16="http://schemas.microsoft.com/office/drawing/2014/main" val="907932061"/>
                    </a:ext>
                  </a:extLst>
                </a:gridCol>
                <a:gridCol w="4009457">
                  <a:extLst>
                    <a:ext uri="{9D8B030D-6E8A-4147-A177-3AD203B41FA5}">
                      <a16:colId xmlns:a16="http://schemas.microsoft.com/office/drawing/2014/main" val="1877999600"/>
                    </a:ext>
                  </a:extLst>
                </a:gridCol>
                <a:gridCol w="4456903">
                  <a:extLst>
                    <a:ext uri="{9D8B030D-6E8A-4147-A177-3AD203B41FA5}">
                      <a16:colId xmlns:a16="http://schemas.microsoft.com/office/drawing/2014/main" val="3406390952"/>
                    </a:ext>
                  </a:extLst>
                </a:gridCol>
              </a:tblGrid>
              <a:tr h="514078">
                <a:tc>
                  <a:txBody>
                    <a:bodyPr/>
                    <a:lstStyle/>
                    <a:p>
                      <a:pPr>
                        <a:buNone/>
                      </a:pPr>
                      <a:r>
                        <a:rPr lang="en-IN"/>
                        <a:t>Feature</a:t>
                      </a:r>
                    </a:p>
                  </a:txBody>
                  <a:tcPr anchor="ctr">
                    <a:lnL>
                      <a:noFill/>
                    </a:lnL>
                    <a:lnR>
                      <a:noFill/>
                    </a:lnR>
                    <a:lnT>
                      <a:noFill/>
                    </a:lnT>
                    <a:lnB>
                      <a:noFill/>
                    </a:lnB>
                    <a:solidFill>
                      <a:schemeClr val="bg2"/>
                    </a:solidFill>
                  </a:tcPr>
                </a:tc>
                <a:tc>
                  <a:txBody>
                    <a:bodyPr/>
                    <a:lstStyle/>
                    <a:p>
                      <a:pPr>
                        <a:buNone/>
                      </a:pPr>
                      <a:r>
                        <a:rPr lang="en-IN"/>
                        <a:t>OOPS</a:t>
                      </a:r>
                    </a:p>
                  </a:txBody>
                  <a:tcPr anchor="ctr">
                    <a:lnL>
                      <a:noFill/>
                    </a:lnL>
                    <a:lnR>
                      <a:noFill/>
                    </a:lnR>
                    <a:lnT>
                      <a:noFill/>
                    </a:lnT>
                    <a:lnB>
                      <a:noFill/>
                    </a:lnB>
                    <a:solidFill>
                      <a:schemeClr val="bg2"/>
                    </a:solidFill>
                  </a:tcPr>
                </a:tc>
                <a:tc>
                  <a:txBody>
                    <a:bodyPr/>
                    <a:lstStyle/>
                    <a:p>
                      <a:pPr>
                        <a:buNone/>
                      </a:pPr>
                      <a:r>
                        <a:rPr lang="en-IN" dirty="0"/>
                        <a:t>POPS</a:t>
                      </a:r>
                    </a:p>
                  </a:txBody>
                  <a:tcPr anchor="ctr">
                    <a:lnL>
                      <a:noFill/>
                    </a:lnL>
                    <a:lnR>
                      <a:noFill/>
                    </a:lnR>
                    <a:lnT>
                      <a:noFill/>
                    </a:lnT>
                    <a:lnB>
                      <a:noFill/>
                    </a:lnB>
                    <a:solidFill>
                      <a:schemeClr val="bg2"/>
                    </a:solidFill>
                  </a:tcPr>
                </a:tc>
                <a:extLst>
                  <a:ext uri="{0D108BD9-81ED-4DB2-BD59-A6C34878D82A}">
                    <a16:rowId xmlns:a16="http://schemas.microsoft.com/office/drawing/2014/main" val="2946097085"/>
                  </a:ext>
                </a:extLst>
              </a:tr>
              <a:tr h="514078">
                <a:tc>
                  <a:txBody>
                    <a:bodyPr/>
                    <a:lstStyle/>
                    <a:p>
                      <a:pPr>
                        <a:buNone/>
                      </a:pPr>
                      <a:r>
                        <a:rPr lang="en-IN"/>
                        <a:t>Full form</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Object-Oriented Programming System</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Procedure-Oriented Programming System</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294223091"/>
                  </a:ext>
                </a:extLst>
              </a:tr>
              <a:tr h="514078">
                <a:tc>
                  <a:txBody>
                    <a:bodyPr/>
                    <a:lstStyle/>
                    <a:p>
                      <a:pPr>
                        <a:buNone/>
                      </a:pPr>
                      <a:r>
                        <a:rPr lang="en-IN"/>
                        <a:t>Focus</a:t>
                      </a:r>
                    </a:p>
                  </a:txBody>
                  <a:tcPr anchor="ctr">
                    <a:lnL>
                      <a:noFill/>
                    </a:lnL>
                    <a:lnR>
                      <a:noFill/>
                    </a:lnR>
                    <a:lnT>
                      <a:noFill/>
                    </a:lnT>
                    <a:lnB>
                      <a:noFill/>
                    </a:lnB>
                    <a:solidFill>
                      <a:schemeClr val="accent3">
                        <a:lumMod val="20000"/>
                        <a:lumOff val="80000"/>
                      </a:schemeClr>
                    </a:solidFill>
                  </a:tcPr>
                </a:tc>
                <a:tc>
                  <a:txBody>
                    <a:bodyPr/>
                    <a:lstStyle/>
                    <a:p>
                      <a:pPr>
                        <a:buNone/>
                      </a:pPr>
                      <a:r>
                        <a:rPr lang="en-IN"/>
                        <a:t>Objects (data + methods)</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Procedures/functions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374961104"/>
                  </a:ext>
                </a:extLst>
              </a:tr>
              <a:tr h="514078">
                <a:tc>
                  <a:txBody>
                    <a:bodyPr/>
                    <a:lstStyle/>
                    <a:p>
                      <a:pPr>
                        <a:buNone/>
                      </a:pPr>
                      <a:r>
                        <a:rPr lang="en-IN" dirty="0"/>
                        <a:t>Approach</a:t>
                      </a:r>
                    </a:p>
                  </a:txBody>
                  <a:tcPr anchor="ctr">
                    <a:lnL>
                      <a:noFill/>
                    </a:lnL>
                    <a:lnR>
                      <a:noFill/>
                    </a:lnR>
                    <a:lnT>
                      <a:noFill/>
                    </a:lnT>
                    <a:lnB>
                      <a:noFill/>
                    </a:lnB>
                    <a:solidFill>
                      <a:schemeClr val="accent3">
                        <a:lumMod val="20000"/>
                        <a:lumOff val="80000"/>
                      </a:schemeClr>
                    </a:solidFill>
                  </a:tcPr>
                </a:tc>
                <a:tc>
                  <a:txBody>
                    <a:bodyPr/>
                    <a:lstStyle/>
                    <a:p>
                      <a:pPr>
                        <a:buNone/>
                      </a:pPr>
                      <a:r>
                        <a:rPr lang="en-IN"/>
                        <a:t>Bottom-up</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Top-down</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119103027"/>
                  </a:ext>
                </a:extLst>
              </a:tr>
              <a:tr h="514078">
                <a:tc>
                  <a:txBody>
                    <a:bodyPr/>
                    <a:lstStyle/>
                    <a:p>
                      <a:pPr>
                        <a:buNone/>
                      </a:pPr>
                      <a:r>
                        <a:rPr lang="en-IN"/>
                        <a:t>Data security</a:t>
                      </a:r>
                    </a:p>
                  </a:txBody>
                  <a:tcPr anchor="ctr">
                    <a:lnL>
                      <a:noFill/>
                    </a:lnL>
                    <a:lnR>
                      <a:noFill/>
                    </a:lnR>
                    <a:lnT>
                      <a:noFill/>
                    </a:lnT>
                    <a:lnB>
                      <a:noFill/>
                    </a:lnB>
                    <a:solidFill>
                      <a:schemeClr val="accent3">
                        <a:lumMod val="20000"/>
                        <a:lumOff val="80000"/>
                      </a:schemeClr>
                    </a:solidFill>
                  </a:tcPr>
                </a:tc>
                <a:tc>
                  <a:txBody>
                    <a:bodyPr/>
                    <a:lstStyle/>
                    <a:p>
                      <a:pPr>
                        <a:buNone/>
                      </a:pPr>
                      <a:r>
                        <a:rPr lang="en-IN"/>
                        <a:t>High (data hiding using encapsulation)</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Lower (data is often globally accessible)</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970272566"/>
                  </a:ext>
                </a:extLst>
              </a:tr>
              <a:tr h="899638">
                <a:tc>
                  <a:txBody>
                    <a:bodyPr/>
                    <a:lstStyle/>
                    <a:p>
                      <a:pPr>
                        <a:buNone/>
                      </a:pPr>
                      <a:r>
                        <a:rPr lang="en-IN"/>
                        <a:t>Reusability</a:t>
                      </a:r>
                    </a:p>
                  </a:txBody>
                  <a:tcPr anchor="ctr">
                    <a:lnL>
                      <a:noFill/>
                    </a:lnL>
                    <a:lnR>
                      <a:noFill/>
                    </a:lnR>
                    <a:lnT>
                      <a:noFill/>
                    </a:lnT>
                    <a:lnB>
                      <a:noFill/>
                    </a:lnB>
                    <a:solidFill>
                      <a:schemeClr val="accent3">
                        <a:lumMod val="20000"/>
                        <a:lumOff val="80000"/>
                      </a:schemeClr>
                    </a:solidFill>
                  </a:tcPr>
                </a:tc>
                <a:tc>
                  <a:txBody>
                    <a:bodyPr/>
                    <a:lstStyle/>
                    <a:p>
                      <a:pPr>
                        <a:buNone/>
                      </a:pPr>
                      <a:r>
                        <a:rPr lang="en-IN"/>
                        <a:t>High (inheritance, polymorphism)</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Limited (functions can be reused, but no inheritance)</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164098530"/>
                  </a:ext>
                </a:extLst>
              </a:tr>
              <a:tr h="514078">
                <a:tc>
                  <a:txBody>
                    <a:bodyPr/>
                    <a:lstStyle/>
                    <a:p>
                      <a:pPr>
                        <a:buNone/>
                      </a:pPr>
                      <a:r>
                        <a:rPr lang="en-IN"/>
                        <a:t>Code organization</a:t>
                      </a:r>
                    </a:p>
                  </a:txBody>
                  <a:tcPr anchor="ctr">
                    <a:lnL>
                      <a:noFill/>
                    </a:lnL>
                    <a:lnR>
                      <a:noFill/>
                    </a:lnR>
                    <a:lnT>
                      <a:noFill/>
                    </a:lnT>
                    <a:lnB>
                      <a:noFill/>
                    </a:lnB>
                    <a:solidFill>
                      <a:schemeClr val="accent3">
                        <a:lumMod val="20000"/>
                        <a:lumOff val="80000"/>
                      </a:schemeClr>
                    </a:solidFill>
                  </a:tcPr>
                </a:tc>
                <a:tc>
                  <a:txBody>
                    <a:bodyPr/>
                    <a:lstStyle/>
                    <a:p>
                      <a:pPr>
                        <a:buNone/>
                      </a:pPr>
                      <a:r>
                        <a:rPr lang="en-IN"/>
                        <a:t>Divided into classes and objects</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Divided into functions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179817863"/>
                  </a:ext>
                </a:extLst>
              </a:tr>
              <a:tr h="514078">
                <a:tc>
                  <a:txBody>
                    <a:bodyPr/>
                    <a:lstStyle/>
                    <a:p>
                      <a:pPr>
                        <a:buNone/>
                      </a:pPr>
                      <a:r>
                        <a:rPr lang="en-IN"/>
                        <a:t>Maintenance</a:t>
                      </a:r>
                    </a:p>
                  </a:txBody>
                  <a:tcPr anchor="ctr">
                    <a:lnL>
                      <a:noFill/>
                    </a:lnL>
                    <a:lnR>
                      <a:noFill/>
                    </a:lnR>
                    <a:lnT>
                      <a:noFill/>
                    </a:lnT>
                    <a:lnB>
                      <a:noFill/>
                    </a:lnB>
                    <a:solidFill>
                      <a:schemeClr val="accent3">
                        <a:lumMod val="20000"/>
                        <a:lumOff val="80000"/>
                      </a:schemeClr>
                    </a:solidFill>
                  </a:tcPr>
                </a:tc>
                <a:tc>
                  <a:txBody>
                    <a:bodyPr/>
                    <a:lstStyle/>
                    <a:p>
                      <a:pPr>
                        <a:buNone/>
                      </a:pPr>
                      <a:r>
                        <a:rPr lang="en-IN"/>
                        <a:t>Easier for large, complex programs</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Better suited for small programs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223204139"/>
                  </a:ext>
                </a:extLst>
              </a:tr>
              <a:tr h="514078">
                <a:tc>
                  <a:txBody>
                    <a:bodyPr/>
                    <a:lstStyle/>
                    <a:p>
                      <a:pPr>
                        <a:buNone/>
                      </a:pPr>
                      <a:r>
                        <a:rPr lang="en-IN"/>
                        <a:t>Examples</a:t>
                      </a:r>
                    </a:p>
                  </a:txBody>
                  <a:tcPr anchor="ctr">
                    <a:lnL>
                      <a:noFill/>
                    </a:lnL>
                    <a:lnR>
                      <a:noFill/>
                    </a:lnR>
                    <a:lnT>
                      <a:noFill/>
                    </a:lnT>
                    <a:lnB>
                      <a:noFill/>
                    </a:lnB>
                    <a:solidFill>
                      <a:schemeClr val="accent3">
                        <a:lumMod val="20000"/>
                        <a:lumOff val="80000"/>
                      </a:schemeClr>
                    </a:solidFill>
                  </a:tcPr>
                </a:tc>
                <a:tc>
                  <a:txBody>
                    <a:bodyPr/>
                    <a:lstStyle/>
                    <a:p>
                      <a:pPr>
                        <a:buNone/>
                      </a:pPr>
                      <a:r>
                        <a:rPr lang="en-IN"/>
                        <a:t>Java, C++, Python (supports OOP)</a:t>
                      </a:r>
                    </a:p>
                  </a:txBody>
                  <a:tcPr anchor="ctr">
                    <a:lnL>
                      <a:noFill/>
                    </a:lnL>
                    <a:lnR>
                      <a:noFill/>
                    </a:lnR>
                    <a:lnT>
                      <a:noFill/>
                    </a:lnT>
                    <a:lnB>
                      <a:noFill/>
                    </a:lnB>
                    <a:solidFill>
                      <a:schemeClr val="accent3">
                        <a:lumMod val="20000"/>
                        <a:lumOff val="80000"/>
                      </a:schemeClr>
                    </a:solidFill>
                  </a:tcPr>
                </a:tc>
                <a:tc>
                  <a:txBody>
                    <a:bodyPr/>
                    <a:lstStyle/>
                    <a:p>
                      <a:pPr>
                        <a:buNone/>
                      </a:pPr>
                      <a:r>
                        <a:rPr lang="en-IN" dirty="0"/>
                        <a:t>C, Pascal</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657138828"/>
                  </a:ext>
                </a:extLst>
              </a:tr>
            </a:tbl>
          </a:graphicData>
        </a:graphic>
      </p:graphicFrame>
    </p:spTree>
    <p:extLst>
      <p:ext uri="{BB962C8B-B14F-4D97-AF65-F5344CB8AC3E}">
        <p14:creationId xmlns:p14="http://schemas.microsoft.com/office/powerpoint/2010/main" val="14662247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E4D59-972C-0DD1-CD3C-D75A1E36179A}"/>
              </a:ext>
            </a:extLst>
          </p:cNvPr>
          <p:cNvSpPr>
            <a:spLocks noGrp="1"/>
          </p:cNvSpPr>
          <p:nvPr>
            <p:ph idx="1"/>
          </p:nvPr>
        </p:nvSpPr>
        <p:spPr>
          <a:xfrm>
            <a:off x="754225" y="447869"/>
            <a:ext cx="10515600" cy="5943698"/>
          </a:xfrm>
        </p:spPr>
        <p:txBody>
          <a:bodyPr/>
          <a:lstStyle/>
          <a:p>
            <a:pPr marL="0" indent="0">
              <a:lnSpc>
                <a:spcPct val="150000"/>
              </a:lnSpc>
              <a:buNone/>
            </a:pPr>
            <a:r>
              <a:rPr lang="en-IN" dirty="0"/>
              <a:t> </a:t>
            </a:r>
            <a:r>
              <a:rPr lang="en-IN" b="1" dirty="0">
                <a:solidFill>
                  <a:srgbClr val="7030A0"/>
                </a:solidFill>
              </a:rPr>
              <a:t>Advantages of Oops </a:t>
            </a:r>
          </a:p>
          <a:p>
            <a:pPr algn="l">
              <a:lnSpc>
                <a:spcPct val="150000"/>
              </a:lnSpc>
              <a:buFont typeface="Arial" panose="020B0604020202020204" pitchFamily="34" charset="0"/>
              <a:buChar char="•"/>
            </a:pPr>
            <a:r>
              <a:rPr lang="en-US" b="0" i="0" dirty="0">
                <a:solidFill>
                  <a:srgbClr val="000000"/>
                </a:solidFill>
                <a:effectLst/>
              </a:rPr>
              <a:t>OOP is </a:t>
            </a:r>
            <a:r>
              <a:rPr lang="en-US" b="0" i="0" dirty="0">
                <a:solidFill>
                  <a:srgbClr val="7030A0"/>
                </a:solidFill>
                <a:effectLst/>
              </a:rPr>
              <a:t>faster</a:t>
            </a:r>
            <a:r>
              <a:rPr lang="en-US" b="0" i="0" dirty="0">
                <a:solidFill>
                  <a:srgbClr val="000000"/>
                </a:solidFill>
                <a:effectLst/>
              </a:rPr>
              <a:t> and </a:t>
            </a:r>
            <a:r>
              <a:rPr lang="en-US" b="0" i="0" dirty="0">
                <a:solidFill>
                  <a:srgbClr val="7030A0"/>
                </a:solidFill>
                <a:effectLst/>
              </a:rPr>
              <a:t>easier to execute</a:t>
            </a:r>
          </a:p>
          <a:p>
            <a:pPr algn="l">
              <a:lnSpc>
                <a:spcPct val="150000"/>
              </a:lnSpc>
              <a:buFont typeface="Arial" panose="020B0604020202020204" pitchFamily="34" charset="0"/>
              <a:buChar char="•"/>
            </a:pPr>
            <a:r>
              <a:rPr lang="en-US" b="0" i="0" dirty="0">
                <a:solidFill>
                  <a:srgbClr val="000000"/>
                </a:solidFill>
                <a:effectLst/>
              </a:rPr>
              <a:t>OOP provides a </a:t>
            </a:r>
            <a:r>
              <a:rPr lang="en-US" b="0" i="0" dirty="0">
                <a:solidFill>
                  <a:srgbClr val="7030A0"/>
                </a:solidFill>
                <a:effectLst/>
              </a:rPr>
              <a:t>clear structure for the programs</a:t>
            </a:r>
          </a:p>
          <a:p>
            <a:pPr algn="l">
              <a:lnSpc>
                <a:spcPct val="150000"/>
              </a:lnSpc>
              <a:buFont typeface="Arial" panose="020B0604020202020204" pitchFamily="34" charset="0"/>
              <a:buChar char="•"/>
            </a:pPr>
            <a:r>
              <a:rPr lang="en-US" b="0" i="0" dirty="0">
                <a:solidFill>
                  <a:srgbClr val="000000"/>
                </a:solidFill>
                <a:effectLst/>
              </a:rPr>
              <a:t>OOP helps to keep the Java code </a:t>
            </a:r>
            <a:r>
              <a:rPr lang="en-US" b="0" i="0" dirty="0">
                <a:solidFill>
                  <a:srgbClr val="7030A0"/>
                </a:solidFill>
                <a:effectLst/>
              </a:rPr>
              <a:t>DRY "Don't Repeat Yourself", and makes the code easier to maintain, modify and debug</a:t>
            </a:r>
          </a:p>
          <a:p>
            <a:pPr algn="l">
              <a:lnSpc>
                <a:spcPct val="150000"/>
              </a:lnSpc>
              <a:buFont typeface="Arial" panose="020B0604020202020204" pitchFamily="34" charset="0"/>
              <a:buChar char="•"/>
            </a:pPr>
            <a:r>
              <a:rPr lang="en-US" b="0" i="0" dirty="0">
                <a:solidFill>
                  <a:srgbClr val="000000"/>
                </a:solidFill>
                <a:effectLst/>
              </a:rPr>
              <a:t>OOP makes it possible to create full </a:t>
            </a:r>
            <a:r>
              <a:rPr lang="en-US" b="0" i="0" dirty="0">
                <a:solidFill>
                  <a:srgbClr val="7030A0"/>
                </a:solidFill>
                <a:effectLst/>
              </a:rPr>
              <a:t>reusable applications with less code and shorter development time</a:t>
            </a:r>
          </a:p>
          <a:p>
            <a:pPr>
              <a:lnSpc>
                <a:spcPct val="150000"/>
              </a:lnSpc>
            </a:pPr>
            <a:endParaRPr lang="en-IN" dirty="0"/>
          </a:p>
          <a:p>
            <a:endParaRPr lang="en-IN" dirty="0"/>
          </a:p>
        </p:txBody>
      </p:sp>
    </p:spTree>
    <p:extLst>
      <p:ext uri="{BB962C8B-B14F-4D97-AF65-F5344CB8AC3E}">
        <p14:creationId xmlns:p14="http://schemas.microsoft.com/office/powerpoint/2010/main" val="18433840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01CF0B-5EDE-21D2-E3BC-F7D97B8D8434}"/>
              </a:ext>
            </a:extLst>
          </p:cNvPr>
          <p:cNvSpPr>
            <a:spLocks noGrp="1"/>
          </p:cNvSpPr>
          <p:nvPr>
            <p:ph idx="1"/>
          </p:nvPr>
        </p:nvSpPr>
        <p:spPr>
          <a:xfrm>
            <a:off x="838200" y="625151"/>
            <a:ext cx="10515600" cy="5551812"/>
          </a:xfrm>
        </p:spPr>
        <p:txBody>
          <a:bodyPr/>
          <a:lstStyle/>
          <a:p>
            <a:pPr algn="l">
              <a:lnSpc>
                <a:spcPct val="100000"/>
              </a:lnSpc>
            </a:pPr>
            <a:r>
              <a:rPr lang="en-US" b="1" i="0" dirty="0">
                <a:solidFill>
                  <a:srgbClr val="7030A0"/>
                </a:solidFill>
                <a:effectLst/>
              </a:rPr>
              <a:t>A few of the procedural languages that are not object-oriented languages are:</a:t>
            </a:r>
            <a:endParaRPr lang="en-US" b="0" i="0" dirty="0">
              <a:solidFill>
                <a:srgbClr val="7030A0"/>
              </a:solidFill>
              <a:effectLst/>
            </a:endParaRPr>
          </a:p>
          <a:p>
            <a:pPr algn="l">
              <a:lnSpc>
                <a:spcPct val="100000"/>
              </a:lnSpc>
              <a:buFont typeface="Arial" panose="020B0604020202020204" pitchFamily="34" charset="0"/>
              <a:buChar char="•"/>
            </a:pPr>
            <a:r>
              <a:rPr lang="en-US" b="0" i="0" dirty="0">
                <a:solidFill>
                  <a:srgbClr val="202124"/>
                </a:solidFill>
                <a:effectLst/>
              </a:rPr>
              <a:t>FORTRAN</a:t>
            </a:r>
          </a:p>
          <a:p>
            <a:pPr algn="l">
              <a:lnSpc>
                <a:spcPct val="100000"/>
              </a:lnSpc>
              <a:buFont typeface="Arial" panose="020B0604020202020204" pitchFamily="34" charset="0"/>
              <a:buChar char="•"/>
            </a:pPr>
            <a:r>
              <a:rPr lang="en-US" b="0" i="0" dirty="0">
                <a:solidFill>
                  <a:srgbClr val="202124"/>
                </a:solidFill>
                <a:effectLst/>
              </a:rPr>
              <a:t>ALGOL</a:t>
            </a:r>
          </a:p>
          <a:p>
            <a:pPr algn="l">
              <a:lnSpc>
                <a:spcPct val="100000"/>
              </a:lnSpc>
              <a:buFont typeface="Arial" panose="020B0604020202020204" pitchFamily="34" charset="0"/>
              <a:buChar char="•"/>
            </a:pPr>
            <a:r>
              <a:rPr lang="en-US" b="0" i="0" dirty="0">
                <a:solidFill>
                  <a:srgbClr val="202124"/>
                </a:solidFill>
                <a:effectLst/>
              </a:rPr>
              <a:t>COBOL</a:t>
            </a:r>
          </a:p>
          <a:p>
            <a:pPr algn="l">
              <a:lnSpc>
                <a:spcPct val="100000"/>
              </a:lnSpc>
              <a:buFont typeface="Arial" panose="020B0604020202020204" pitchFamily="34" charset="0"/>
              <a:buChar char="•"/>
            </a:pPr>
            <a:r>
              <a:rPr lang="en-US" b="0" i="0" dirty="0">
                <a:solidFill>
                  <a:srgbClr val="202124"/>
                </a:solidFill>
                <a:effectLst/>
              </a:rPr>
              <a:t>BASIC</a:t>
            </a:r>
          </a:p>
          <a:p>
            <a:pPr algn="l">
              <a:lnSpc>
                <a:spcPct val="100000"/>
              </a:lnSpc>
              <a:buFont typeface="Arial" panose="020B0604020202020204" pitchFamily="34" charset="0"/>
              <a:buChar char="•"/>
            </a:pPr>
            <a:r>
              <a:rPr lang="en-US" b="0" i="0" dirty="0">
                <a:solidFill>
                  <a:srgbClr val="202124"/>
                </a:solidFill>
                <a:effectLst/>
              </a:rPr>
              <a:t>PASCAL</a:t>
            </a:r>
          </a:p>
          <a:p>
            <a:pPr algn="l">
              <a:lnSpc>
                <a:spcPct val="100000"/>
              </a:lnSpc>
              <a:buFont typeface="Arial" panose="020B0604020202020204" pitchFamily="34" charset="0"/>
              <a:buChar char="•"/>
            </a:pPr>
            <a:r>
              <a:rPr lang="en-US" b="0" i="0" dirty="0">
                <a:solidFill>
                  <a:srgbClr val="202124"/>
                </a:solidFill>
                <a:effectLst/>
              </a:rPr>
              <a:t>C</a:t>
            </a:r>
          </a:p>
          <a:p>
            <a:pPr algn="l">
              <a:lnSpc>
                <a:spcPct val="100000"/>
              </a:lnSpc>
              <a:buFont typeface="Arial" panose="020B0604020202020204" pitchFamily="34" charset="0"/>
              <a:buChar char="•"/>
            </a:pPr>
            <a:r>
              <a:rPr lang="en-US" b="0" i="0" dirty="0">
                <a:solidFill>
                  <a:srgbClr val="202124"/>
                </a:solidFill>
                <a:effectLst/>
              </a:rPr>
              <a:t>Ada</a:t>
            </a:r>
            <a:endParaRPr lang="en-IN" dirty="0"/>
          </a:p>
        </p:txBody>
      </p:sp>
    </p:spTree>
    <p:extLst>
      <p:ext uri="{BB962C8B-B14F-4D97-AF65-F5344CB8AC3E}">
        <p14:creationId xmlns:p14="http://schemas.microsoft.com/office/powerpoint/2010/main" val="35924550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98EA80-1FCC-B561-3B68-FF3D67562831}"/>
              </a:ext>
            </a:extLst>
          </p:cNvPr>
          <p:cNvSpPr>
            <a:spLocks noGrp="1"/>
          </p:cNvSpPr>
          <p:nvPr>
            <p:ph idx="1"/>
          </p:nvPr>
        </p:nvSpPr>
        <p:spPr>
          <a:xfrm>
            <a:off x="838200" y="531845"/>
            <a:ext cx="10515600" cy="5645118"/>
          </a:xfrm>
        </p:spPr>
        <p:txBody>
          <a:bodyPr/>
          <a:lstStyle/>
          <a:p>
            <a:pPr marL="0" indent="0">
              <a:buNone/>
            </a:pPr>
            <a:r>
              <a:rPr lang="en-IN" b="1" spc="10" dirty="0">
                <a:solidFill>
                  <a:srgbClr val="7030A0"/>
                </a:solidFill>
              </a:rPr>
              <a:t>Oops</a:t>
            </a:r>
            <a:r>
              <a:rPr lang="en-IN" b="1" spc="-105" dirty="0">
                <a:solidFill>
                  <a:srgbClr val="7030A0"/>
                </a:solidFill>
              </a:rPr>
              <a:t> </a:t>
            </a:r>
            <a:r>
              <a:rPr lang="en-IN" b="1" spc="10" dirty="0">
                <a:solidFill>
                  <a:srgbClr val="7030A0"/>
                </a:solidFill>
              </a:rPr>
              <a:t>concepts</a:t>
            </a:r>
          </a:p>
          <a:p>
            <a:pPr marL="514350" marR="537845" indent="-514350">
              <a:lnSpc>
                <a:spcPct val="150000"/>
              </a:lnSpc>
              <a:spcBef>
                <a:spcPts val="50"/>
              </a:spcBef>
              <a:buFont typeface="+mj-lt"/>
              <a:buAutoNum type="arabicPeriod"/>
            </a:pPr>
            <a:r>
              <a:rPr lang="en-IN" sz="2800" spc="15" dirty="0">
                <a:latin typeface="Carlito"/>
                <a:cs typeface="Carlito"/>
              </a:rPr>
              <a:t>Class </a:t>
            </a:r>
          </a:p>
          <a:p>
            <a:pPr marL="514350" marR="537845" indent="-514350">
              <a:lnSpc>
                <a:spcPct val="150000"/>
              </a:lnSpc>
              <a:spcBef>
                <a:spcPts val="50"/>
              </a:spcBef>
              <a:buFont typeface="+mj-lt"/>
              <a:buAutoNum type="arabicPeriod"/>
            </a:pPr>
            <a:r>
              <a:rPr lang="en-IN" sz="2800" spc="5" dirty="0">
                <a:latin typeface="Carlito"/>
                <a:cs typeface="Carlito"/>
              </a:rPr>
              <a:t>Object</a:t>
            </a:r>
          </a:p>
          <a:p>
            <a:pPr marL="514350" marR="537845" indent="-514350">
              <a:lnSpc>
                <a:spcPct val="150000"/>
              </a:lnSpc>
              <a:spcBef>
                <a:spcPts val="50"/>
              </a:spcBef>
              <a:buFont typeface="+mj-lt"/>
              <a:buAutoNum type="arabicPeriod"/>
            </a:pPr>
            <a:r>
              <a:rPr lang="en-IN" spc="5" dirty="0">
                <a:latin typeface="Carlito"/>
                <a:cs typeface="Carlito"/>
              </a:rPr>
              <a:t>I</a:t>
            </a:r>
            <a:r>
              <a:rPr lang="en-IN" sz="2800" spc="50" dirty="0">
                <a:latin typeface="Carlito"/>
                <a:cs typeface="Carlito"/>
              </a:rPr>
              <a:t>n</a:t>
            </a:r>
            <a:r>
              <a:rPr lang="en-IN" sz="2800" spc="40" dirty="0">
                <a:latin typeface="Carlito"/>
                <a:cs typeface="Carlito"/>
              </a:rPr>
              <a:t>h</a:t>
            </a:r>
            <a:r>
              <a:rPr lang="en-IN" sz="2800" spc="-25" dirty="0">
                <a:latin typeface="Carlito"/>
                <a:cs typeface="Carlito"/>
              </a:rPr>
              <a:t>e</a:t>
            </a:r>
            <a:r>
              <a:rPr lang="en-IN" sz="2800" spc="5" dirty="0">
                <a:latin typeface="Carlito"/>
                <a:cs typeface="Carlito"/>
              </a:rPr>
              <a:t>ri</a:t>
            </a:r>
            <a:r>
              <a:rPr lang="en-IN" sz="2800" spc="-95" dirty="0">
                <a:latin typeface="Carlito"/>
                <a:cs typeface="Carlito"/>
              </a:rPr>
              <a:t>t</a:t>
            </a:r>
            <a:r>
              <a:rPr lang="en-IN" sz="2800" spc="40" dirty="0">
                <a:latin typeface="Carlito"/>
                <a:cs typeface="Carlito"/>
              </a:rPr>
              <a:t>an</a:t>
            </a:r>
            <a:r>
              <a:rPr lang="en-IN" sz="2800" spc="-10" dirty="0">
                <a:latin typeface="Carlito"/>
                <a:cs typeface="Carlito"/>
              </a:rPr>
              <a:t>c</a:t>
            </a:r>
            <a:r>
              <a:rPr lang="en-IN" sz="2800" spc="10" dirty="0">
                <a:latin typeface="Carlito"/>
                <a:cs typeface="Carlito"/>
              </a:rPr>
              <a:t>e</a:t>
            </a:r>
          </a:p>
          <a:p>
            <a:pPr marL="514350" marR="537845" indent="-514350">
              <a:lnSpc>
                <a:spcPct val="150000"/>
              </a:lnSpc>
              <a:spcBef>
                <a:spcPts val="50"/>
              </a:spcBef>
              <a:buFont typeface="+mj-lt"/>
              <a:buAutoNum type="arabicPeriod"/>
            </a:pPr>
            <a:r>
              <a:rPr lang="en-IN" spc="40" dirty="0">
                <a:latin typeface="Carlito"/>
                <a:cs typeface="Carlito"/>
              </a:rPr>
              <a:t>P</a:t>
            </a:r>
            <a:r>
              <a:rPr lang="en-IN" spc="35" dirty="0">
                <a:latin typeface="Carlito"/>
                <a:cs typeface="Carlito"/>
              </a:rPr>
              <a:t>o</a:t>
            </a:r>
            <a:r>
              <a:rPr lang="en-IN" spc="5" dirty="0">
                <a:latin typeface="Carlito"/>
                <a:cs typeface="Carlito"/>
              </a:rPr>
              <a:t>l</a:t>
            </a:r>
            <a:r>
              <a:rPr lang="en-IN" spc="-25" dirty="0">
                <a:latin typeface="Carlito"/>
                <a:cs typeface="Carlito"/>
              </a:rPr>
              <a:t>y</a:t>
            </a:r>
            <a:r>
              <a:rPr lang="en-IN" spc="-10" dirty="0">
                <a:latin typeface="Carlito"/>
                <a:cs typeface="Carlito"/>
              </a:rPr>
              <a:t>m</a:t>
            </a:r>
            <a:r>
              <a:rPr lang="en-IN" spc="35" dirty="0">
                <a:latin typeface="Carlito"/>
                <a:cs typeface="Carlito"/>
              </a:rPr>
              <a:t>o</a:t>
            </a:r>
            <a:r>
              <a:rPr lang="en-IN" spc="10" dirty="0">
                <a:latin typeface="Carlito"/>
                <a:cs typeface="Carlito"/>
              </a:rPr>
              <a:t>r</a:t>
            </a:r>
            <a:r>
              <a:rPr lang="en-IN" spc="40" dirty="0">
                <a:latin typeface="Carlito"/>
                <a:cs typeface="Carlito"/>
              </a:rPr>
              <a:t>ph</a:t>
            </a:r>
            <a:r>
              <a:rPr lang="en-IN" spc="5" dirty="0">
                <a:latin typeface="Carlito"/>
                <a:cs typeface="Carlito"/>
              </a:rPr>
              <a:t>i</a:t>
            </a:r>
            <a:r>
              <a:rPr lang="en-IN" spc="25" dirty="0">
                <a:latin typeface="Carlito"/>
                <a:cs typeface="Carlito"/>
              </a:rPr>
              <a:t>s</a:t>
            </a:r>
            <a:r>
              <a:rPr lang="en-IN" spc="10" dirty="0">
                <a:latin typeface="Carlito"/>
                <a:cs typeface="Carlito"/>
              </a:rPr>
              <a:t>m</a:t>
            </a:r>
          </a:p>
          <a:p>
            <a:pPr marL="514350" marR="537845" indent="-514350">
              <a:lnSpc>
                <a:spcPct val="150000"/>
              </a:lnSpc>
              <a:spcBef>
                <a:spcPts val="50"/>
              </a:spcBef>
              <a:buFont typeface="+mj-lt"/>
              <a:buAutoNum type="arabicPeriod"/>
            </a:pPr>
            <a:r>
              <a:rPr lang="en-IN" spc="5" dirty="0">
                <a:latin typeface="Carlito"/>
                <a:cs typeface="Carlito"/>
              </a:rPr>
              <a:t>Abstraction</a:t>
            </a:r>
            <a:endParaRPr lang="en-IN" dirty="0">
              <a:latin typeface="Carlito"/>
              <a:cs typeface="Carlito"/>
            </a:endParaRPr>
          </a:p>
          <a:p>
            <a:pPr marL="514350" marR="537845" indent="-514350">
              <a:lnSpc>
                <a:spcPct val="150000"/>
              </a:lnSpc>
              <a:spcBef>
                <a:spcPts val="50"/>
              </a:spcBef>
              <a:buFont typeface="+mj-lt"/>
              <a:buAutoNum type="arabicPeriod"/>
            </a:pPr>
            <a:r>
              <a:rPr lang="en-IN" spc="5" dirty="0">
                <a:latin typeface="Carlito"/>
                <a:cs typeface="Carlito"/>
              </a:rPr>
              <a:t>E</a:t>
            </a:r>
            <a:r>
              <a:rPr lang="en-IN" sz="2800" spc="5" dirty="0">
                <a:latin typeface="Carlito"/>
                <a:cs typeface="Carlito"/>
              </a:rPr>
              <a:t>ncapsulation</a:t>
            </a:r>
            <a:endParaRPr lang="en-IN" sz="2800" dirty="0">
              <a:latin typeface="Carlito"/>
              <a:cs typeface="Carlito"/>
            </a:endParaRPr>
          </a:p>
          <a:p>
            <a:endParaRPr lang="en-IN" dirty="0"/>
          </a:p>
        </p:txBody>
      </p:sp>
    </p:spTree>
    <p:extLst>
      <p:ext uri="{BB962C8B-B14F-4D97-AF65-F5344CB8AC3E}">
        <p14:creationId xmlns:p14="http://schemas.microsoft.com/office/powerpoint/2010/main" val="22516045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124DA7-42D0-4354-EAA8-A8CDCED83BC4}"/>
              </a:ext>
            </a:extLst>
          </p:cNvPr>
          <p:cNvSpPr>
            <a:spLocks noGrp="1"/>
          </p:cNvSpPr>
          <p:nvPr>
            <p:ph idx="1"/>
          </p:nvPr>
        </p:nvSpPr>
        <p:spPr>
          <a:xfrm>
            <a:off x="838200" y="578498"/>
            <a:ext cx="10515600" cy="5598465"/>
          </a:xfrm>
        </p:spPr>
        <p:txBody>
          <a:bodyPr>
            <a:normAutofit lnSpcReduction="10000"/>
          </a:bodyPr>
          <a:lstStyle/>
          <a:p>
            <a:pPr marL="0" indent="0">
              <a:buNone/>
            </a:pPr>
            <a:r>
              <a:rPr lang="en-IN" b="1" spc="-25" dirty="0">
                <a:solidFill>
                  <a:srgbClr val="7030A0"/>
                </a:solidFill>
              </a:rPr>
              <a:t>C</a:t>
            </a:r>
            <a:r>
              <a:rPr lang="en-IN" b="1" spc="20" dirty="0">
                <a:solidFill>
                  <a:srgbClr val="7030A0"/>
                </a:solidFill>
              </a:rPr>
              <a:t>L</a:t>
            </a:r>
            <a:r>
              <a:rPr lang="en-IN" b="1" spc="15" dirty="0">
                <a:solidFill>
                  <a:srgbClr val="7030A0"/>
                </a:solidFill>
              </a:rPr>
              <a:t>A</a:t>
            </a:r>
            <a:r>
              <a:rPr lang="en-IN" b="1" spc="-10" dirty="0">
                <a:solidFill>
                  <a:srgbClr val="7030A0"/>
                </a:solidFill>
              </a:rPr>
              <a:t>S</a:t>
            </a:r>
            <a:r>
              <a:rPr lang="en-IN" b="1" spc="10" dirty="0">
                <a:solidFill>
                  <a:srgbClr val="7030A0"/>
                </a:solidFill>
              </a:rPr>
              <a:t>S</a:t>
            </a:r>
          </a:p>
          <a:p>
            <a:pPr marL="355600" marR="1042669" indent="-343535">
              <a:lnSpc>
                <a:spcPct val="100000"/>
              </a:lnSpc>
              <a:spcBef>
                <a:spcPts val="570"/>
              </a:spcBef>
              <a:buFont typeface="Arial"/>
              <a:buChar char="•"/>
              <a:tabLst>
                <a:tab pos="355600" algn="l"/>
                <a:tab pos="356235" algn="l"/>
              </a:tabLst>
            </a:pPr>
            <a:r>
              <a:rPr lang="en-US" sz="2800" spc="10" dirty="0">
                <a:cs typeface="Carlito"/>
              </a:rPr>
              <a:t>It</a:t>
            </a:r>
            <a:r>
              <a:rPr lang="en-US" sz="2800" spc="-15" dirty="0">
                <a:cs typeface="Carlito"/>
              </a:rPr>
              <a:t> </a:t>
            </a:r>
            <a:r>
              <a:rPr lang="en-US" sz="2800" spc="5" dirty="0">
                <a:cs typeface="Carlito"/>
              </a:rPr>
              <a:t>is</a:t>
            </a:r>
            <a:r>
              <a:rPr lang="en-US" sz="2800" spc="-35" dirty="0">
                <a:cs typeface="Carlito"/>
              </a:rPr>
              <a:t> </a:t>
            </a:r>
            <a:r>
              <a:rPr lang="en-US" sz="2800" spc="25" dirty="0">
                <a:cs typeface="Carlito"/>
              </a:rPr>
              <a:t>an</a:t>
            </a:r>
            <a:r>
              <a:rPr lang="en-US" sz="2800" spc="-25" dirty="0">
                <a:cs typeface="Carlito"/>
              </a:rPr>
              <a:t> </a:t>
            </a:r>
            <a:r>
              <a:rPr lang="en-US" sz="2800" spc="15" dirty="0">
                <a:solidFill>
                  <a:srgbClr val="7030A0"/>
                </a:solidFill>
                <a:cs typeface="Carlito"/>
              </a:rPr>
              <a:t>imaginary</a:t>
            </a:r>
            <a:r>
              <a:rPr lang="en-US" sz="2800" spc="-165" dirty="0">
                <a:solidFill>
                  <a:srgbClr val="7030A0"/>
                </a:solidFill>
                <a:cs typeface="Carlito"/>
              </a:rPr>
              <a:t> </a:t>
            </a:r>
            <a:r>
              <a:rPr lang="en-US" sz="2800" spc="15" dirty="0">
                <a:solidFill>
                  <a:srgbClr val="7030A0"/>
                </a:solidFill>
                <a:cs typeface="Carlito"/>
              </a:rPr>
              <a:t>thing</a:t>
            </a:r>
            <a:r>
              <a:rPr lang="en-US" sz="2800" spc="-70" dirty="0">
                <a:solidFill>
                  <a:srgbClr val="7030A0"/>
                </a:solidFill>
                <a:cs typeface="Carlito"/>
              </a:rPr>
              <a:t> </a:t>
            </a:r>
            <a:r>
              <a:rPr lang="en-US" sz="2800" spc="20" dirty="0">
                <a:solidFill>
                  <a:srgbClr val="7030A0"/>
                </a:solidFill>
                <a:cs typeface="Carlito"/>
              </a:rPr>
              <a:t>or</a:t>
            </a:r>
            <a:r>
              <a:rPr lang="en-US" sz="2800" spc="-50" dirty="0">
                <a:solidFill>
                  <a:srgbClr val="7030A0"/>
                </a:solidFill>
                <a:cs typeface="Carlito"/>
              </a:rPr>
              <a:t> </a:t>
            </a:r>
            <a:r>
              <a:rPr lang="en-US" sz="2800" spc="25" dirty="0">
                <a:solidFill>
                  <a:srgbClr val="7030A0"/>
                </a:solidFill>
                <a:cs typeface="Carlito"/>
              </a:rPr>
              <a:t>blue</a:t>
            </a:r>
            <a:r>
              <a:rPr lang="en-US" sz="2800" spc="-80" dirty="0">
                <a:solidFill>
                  <a:srgbClr val="7030A0"/>
                </a:solidFill>
                <a:cs typeface="Carlito"/>
              </a:rPr>
              <a:t> </a:t>
            </a:r>
            <a:r>
              <a:rPr lang="en-US" sz="2800" spc="20" dirty="0">
                <a:solidFill>
                  <a:srgbClr val="7030A0"/>
                </a:solidFill>
                <a:cs typeface="Carlito"/>
              </a:rPr>
              <a:t>print</a:t>
            </a:r>
            <a:r>
              <a:rPr lang="en-US" sz="2800" spc="-160" dirty="0">
                <a:solidFill>
                  <a:srgbClr val="7030A0"/>
                </a:solidFill>
                <a:cs typeface="Carlito"/>
              </a:rPr>
              <a:t> </a:t>
            </a:r>
            <a:r>
              <a:rPr lang="en-US" sz="2800" spc="20" dirty="0">
                <a:solidFill>
                  <a:srgbClr val="7030A0"/>
                </a:solidFill>
                <a:cs typeface="Carlito"/>
              </a:rPr>
              <a:t>or  </a:t>
            </a:r>
            <a:r>
              <a:rPr lang="en-US" sz="2800" dirty="0">
                <a:solidFill>
                  <a:srgbClr val="7030A0"/>
                </a:solidFill>
                <a:cs typeface="Carlito"/>
              </a:rPr>
              <a:t>template</a:t>
            </a:r>
          </a:p>
          <a:p>
            <a:pPr marL="355600" marR="5080" indent="-343535">
              <a:lnSpc>
                <a:spcPct val="100000"/>
              </a:lnSpc>
              <a:spcBef>
                <a:spcPts val="760"/>
              </a:spcBef>
              <a:buFont typeface="Arial"/>
              <a:buChar char="•"/>
              <a:tabLst>
                <a:tab pos="355600" algn="l"/>
                <a:tab pos="356235" algn="l"/>
              </a:tabLst>
            </a:pPr>
            <a:r>
              <a:rPr lang="en-US" sz="2800" spc="20" dirty="0">
                <a:cs typeface="Carlito"/>
              </a:rPr>
              <a:t>which</a:t>
            </a:r>
            <a:r>
              <a:rPr lang="en-US" sz="2800" spc="-105" dirty="0">
                <a:cs typeface="Carlito"/>
              </a:rPr>
              <a:t> </a:t>
            </a:r>
            <a:r>
              <a:rPr lang="en-US" sz="2800" spc="5" dirty="0">
                <a:cs typeface="Carlito"/>
              </a:rPr>
              <a:t>contains</a:t>
            </a:r>
            <a:r>
              <a:rPr lang="en-US" sz="2800" spc="-190" dirty="0">
                <a:cs typeface="Carlito"/>
              </a:rPr>
              <a:t> </a:t>
            </a:r>
            <a:r>
              <a:rPr lang="en-US" sz="2800" dirty="0">
                <a:solidFill>
                  <a:srgbClr val="7030A0"/>
                </a:solidFill>
                <a:cs typeface="Carlito"/>
              </a:rPr>
              <a:t>set</a:t>
            </a:r>
            <a:r>
              <a:rPr lang="en-US" sz="2800" spc="-10" dirty="0">
                <a:solidFill>
                  <a:srgbClr val="7030A0"/>
                </a:solidFill>
                <a:cs typeface="Carlito"/>
              </a:rPr>
              <a:t> </a:t>
            </a:r>
            <a:r>
              <a:rPr lang="en-US" sz="2800" spc="20" dirty="0">
                <a:solidFill>
                  <a:srgbClr val="7030A0"/>
                </a:solidFill>
                <a:cs typeface="Carlito"/>
              </a:rPr>
              <a:t>of</a:t>
            </a:r>
            <a:r>
              <a:rPr lang="en-US" sz="2800" spc="-65" dirty="0">
                <a:solidFill>
                  <a:srgbClr val="7030A0"/>
                </a:solidFill>
                <a:cs typeface="Carlito"/>
              </a:rPr>
              <a:t> </a:t>
            </a:r>
            <a:r>
              <a:rPr lang="en-US" sz="2800" spc="-5" dirty="0">
                <a:solidFill>
                  <a:srgbClr val="7030A0"/>
                </a:solidFill>
                <a:cs typeface="Carlito"/>
              </a:rPr>
              <a:t>attributes</a:t>
            </a:r>
            <a:r>
              <a:rPr lang="en-US" sz="2800" spc="-114" dirty="0">
                <a:solidFill>
                  <a:srgbClr val="7030A0"/>
                </a:solidFill>
                <a:cs typeface="Carlito"/>
              </a:rPr>
              <a:t> </a:t>
            </a:r>
            <a:r>
              <a:rPr lang="en-US" sz="2800" spc="30" dirty="0">
                <a:cs typeface="Carlito"/>
              </a:rPr>
              <a:t>and</a:t>
            </a:r>
            <a:r>
              <a:rPr lang="en-US" sz="2800" spc="-100" dirty="0">
                <a:cs typeface="Carlito"/>
              </a:rPr>
              <a:t> </a:t>
            </a:r>
            <a:r>
              <a:rPr lang="en-US" sz="2800" dirty="0">
                <a:solidFill>
                  <a:srgbClr val="7030A0"/>
                </a:solidFill>
                <a:cs typeface="Carlito"/>
              </a:rPr>
              <a:t>member  </a:t>
            </a:r>
            <a:r>
              <a:rPr lang="en-US" sz="2800" spc="15" dirty="0">
                <a:solidFill>
                  <a:srgbClr val="7030A0"/>
                </a:solidFill>
                <a:cs typeface="Carlito"/>
              </a:rPr>
              <a:t>functions</a:t>
            </a:r>
          </a:p>
          <a:p>
            <a:pPr marL="355600" marR="5080" indent="-343535">
              <a:lnSpc>
                <a:spcPct val="100000"/>
              </a:lnSpc>
              <a:spcBef>
                <a:spcPts val="760"/>
              </a:spcBef>
              <a:buFont typeface="Arial"/>
              <a:buChar char="•"/>
              <a:tabLst>
                <a:tab pos="355600" algn="l"/>
                <a:tab pos="356235" algn="l"/>
              </a:tabLst>
            </a:pPr>
            <a:r>
              <a:rPr lang="en-US" b="0" i="0" dirty="0">
                <a:solidFill>
                  <a:srgbClr val="000000"/>
                </a:solidFill>
                <a:effectLst/>
              </a:rPr>
              <a:t>Everything in Java is associated with classes and objects, along with its attributes and methods.</a:t>
            </a:r>
          </a:p>
          <a:p>
            <a:pPr marL="355600" marR="5080" indent="-343535">
              <a:lnSpc>
                <a:spcPct val="100000"/>
              </a:lnSpc>
              <a:spcBef>
                <a:spcPts val="760"/>
              </a:spcBef>
              <a:buFont typeface="Arial"/>
              <a:buChar char="•"/>
              <a:tabLst>
                <a:tab pos="355600" algn="l"/>
                <a:tab pos="356235" algn="l"/>
              </a:tabLst>
            </a:pPr>
            <a:r>
              <a:rPr lang="en-US" b="0" i="0" dirty="0">
                <a:solidFill>
                  <a:srgbClr val="000000"/>
                </a:solidFill>
                <a:effectLst/>
              </a:rPr>
              <a:t> For example: in real life, a car is an object. The car has </a:t>
            </a:r>
            <a:r>
              <a:rPr lang="en-US" b="1" i="0" dirty="0">
                <a:solidFill>
                  <a:srgbClr val="000000"/>
                </a:solidFill>
                <a:effectLst/>
              </a:rPr>
              <a:t>attributes</a:t>
            </a:r>
            <a:r>
              <a:rPr lang="en-US" b="0" i="0" dirty="0">
                <a:solidFill>
                  <a:srgbClr val="000000"/>
                </a:solidFill>
                <a:effectLst/>
              </a:rPr>
              <a:t>, such as weight and color, and </a:t>
            </a:r>
            <a:r>
              <a:rPr lang="en-US" b="1" i="0" dirty="0">
                <a:solidFill>
                  <a:srgbClr val="000000"/>
                </a:solidFill>
                <a:effectLst/>
              </a:rPr>
              <a:t>methods</a:t>
            </a:r>
            <a:r>
              <a:rPr lang="en-US" b="0" i="0" dirty="0">
                <a:solidFill>
                  <a:srgbClr val="000000"/>
                </a:solidFill>
                <a:effectLst/>
              </a:rPr>
              <a:t>, such as drive and break.</a:t>
            </a:r>
            <a:endParaRPr lang="en-US" sz="2800" dirty="0">
              <a:cs typeface="Carlito"/>
            </a:endParaRPr>
          </a:p>
          <a:p>
            <a:pPr marL="12065" indent="0">
              <a:lnSpc>
                <a:spcPct val="100000"/>
              </a:lnSpc>
              <a:spcBef>
                <a:spcPts val="5"/>
              </a:spcBef>
              <a:buNone/>
              <a:tabLst>
                <a:tab pos="355600" algn="l"/>
                <a:tab pos="356235" algn="l"/>
              </a:tabLst>
            </a:pPr>
            <a:r>
              <a:rPr lang="en-US" sz="2800" b="1" spc="-10" dirty="0">
                <a:solidFill>
                  <a:srgbClr val="7030A0"/>
                </a:solidFill>
                <a:cs typeface="Carlito"/>
              </a:rPr>
              <a:t>syntax:</a:t>
            </a:r>
            <a:endParaRPr lang="en-US" sz="2800" b="1" dirty="0">
              <a:solidFill>
                <a:srgbClr val="7030A0"/>
              </a:solidFill>
              <a:cs typeface="Carlito"/>
            </a:endParaRPr>
          </a:p>
          <a:p>
            <a:pPr marL="12065" indent="0">
              <a:lnSpc>
                <a:spcPct val="100000"/>
              </a:lnSpc>
              <a:spcBef>
                <a:spcPts val="365"/>
              </a:spcBef>
              <a:buNone/>
              <a:tabLst>
                <a:tab pos="355600" algn="l"/>
                <a:tab pos="356235" algn="l"/>
              </a:tabLst>
            </a:pPr>
            <a:r>
              <a:rPr lang="en-US" sz="2800" b="1" spc="10" dirty="0">
                <a:solidFill>
                  <a:srgbClr val="7030A0"/>
                </a:solidFill>
                <a:cs typeface="Carlito"/>
              </a:rPr>
              <a:t>class</a:t>
            </a:r>
            <a:r>
              <a:rPr lang="en-US" sz="2800" b="1" spc="-105" dirty="0">
                <a:solidFill>
                  <a:srgbClr val="7030A0"/>
                </a:solidFill>
                <a:cs typeface="Carlito"/>
              </a:rPr>
              <a:t> </a:t>
            </a:r>
            <a:r>
              <a:rPr lang="en-US" sz="2800" b="1" spc="15" dirty="0" err="1">
                <a:solidFill>
                  <a:srgbClr val="7030A0"/>
                </a:solidFill>
                <a:cs typeface="Carlito"/>
              </a:rPr>
              <a:t>classname</a:t>
            </a:r>
            <a:endParaRPr lang="en-US" sz="2800" b="1" spc="15" dirty="0">
              <a:solidFill>
                <a:srgbClr val="7030A0"/>
              </a:solidFill>
              <a:cs typeface="Carlito"/>
            </a:endParaRPr>
          </a:p>
          <a:p>
            <a:pPr marL="12065" indent="0">
              <a:lnSpc>
                <a:spcPct val="100000"/>
              </a:lnSpc>
              <a:spcBef>
                <a:spcPts val="365"/>
              </a:spcBef>
              <a:buNone/>
              <a:tabLst>
                <a:tab pos="355600" algn="l"/>
                <a:tab pos="356235" algn="l"/>
              </a:tabLst>
            </a:pPr>
            <a:r>
              <a:rPr lang="en-US" b="1" spc="15" dirty="0">
                <a:solidFill>
                  <a:srgbClr val="7030A0"/>
                </a:solidFill>
                <a:cs typeface="Carlito"/>
              </a:rPr>
              <a:t>{</a:t>
            </a:r>
            <a:endParaRPr lang="en-US" sz="2800" b="1" dirty="0">
              <a:solidFill>
                <a:srgbClr val="7030A0"/>
              </a:solidFill>
              <a:cs typeface="Carlito"/>
            </a:endParaRPr>
          </a:p>
          <a:p>
            <a:pPr marL="12700" indent="0">
              <a:lnSpc>
                <a:spcPct val="100000"/>
              </a:lnSpc>
              <a:spcBef>
                <a:spcPts val="365"/>
              </a:spcBef>
              <a:buNone/>
              <a:tabLst>
                <a:tab pos="727075" algn="l"/>
                <a:tab pos="727710" algn="l"/>
              </a:tabLst>
            </a:pPr>
            <a:r>
              <a:rPr lang="en-US" b="1" spc="-10" dirty="0">
                <a:solidFill>
                  <a:srgbClr val="7030A0"/>
                </a:solidFill>
                <a:cs typeface="Carlito"/>
              </a:rPr>
              <a:t>//</a:t>
            </a:r>
            <a:r>
              <a:rPr lang="en-US" sz="2800" b="1" spc="-10" dirty="0">
                <a:solidFill>
                  <a:srgbClr val="7030A0"/>
                </a:solidFill>
                <a:cs typeface="Carlito"/>
              </a:rPr>
              <a:t>statements</a:t>
            </a:r>
            <a:endParaRPr lang="en-US" sz="2800" b="1" dirty="0">
              <a:solidFill>
                <a:srgbClr val="7030A0"/>
              </a:solidFill>
              <a:cs typeface="Carlito"/>
            </a:endParaRPr>
          </a:p>
          <a:p>
            <a:pPr marL="0" indent="0">
              <a:buNone/>
            </a:pPr>
            <a:r>
              <a:rPr lang="en-IN" dirty="0"/>
              <a:t>}</a:t>
            </a:r>
          </a:p>
        </p:txBody>
      </p:sp>
    </p:spTree>
    <p:extLst>
      <p:ext uri="{BB962C8B-B14F-4D97-AF65-F5344CB8AC3E}">
        <p14:creationId xmlns:p14="http://schemas.microsoft.com/office/powerpoint/2010/main" val="33385262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DD044-D87E-E368-811A-053A7FF8C5D9}"/>
              </a:ext>
            </a:extLst>
          </p:cNvPr>
          <p:cNvSpPr>
            <a:spLocks noGrp="1"/>
          </p:cNvSpPr>
          <p:nvPr>
            <p:ph idx="1"/>
          </p:nvPr>
        </p:nvSpPr>
        <p:spPr>
          <a:xfrm>
            <a:off x="414867" y="397933"/>
            <a:ext cx="10938933" cy="5935133"/>
          </a:xfrm>
        </p:spPr>
        <p:txBody>
          <a:bodyPr>
            <a:normAutofit fontScale="92500" lnSpcReduction="20000"/>
          </a:bodyPr>
          <a:lstStyle/>
          <a:p>
            <a:pPr marL="0" indent="0">
              <a:lnSpc>
                <a:spcPct val="150000"/>
              </a:lnSpc>
              <a:buNone/>
            </a:pPr>
            <a:r>
              <a:rPr lang="en-IN" b="1" spc="10" dirty="0">
                <a:solidFill>
                  <a:srgbClr val="7030A0"/>
                </a:solidFill>
              </a:rPr>
              <a:t>OBJ</a:t>
            </a:r>
            <a:r>
              <a:rPr lang="en-IN" b="1" spc="-55" dirty="0">
                <a:solidFill>
                  <a:srgbClr val="7030A0"/>
                </a:solidFill>
              </a:rPr>
              <a:t>E</a:t>
            </a:r>
            <a:r>
              <a:rPr lang="en-IN" b="1" spc="-25" dirty="0">
                <a:solidFill>
                  <a:srgbClr val="7030A0"/>
                </a:solidFill>
              </a:rPr>
              <a:t>C</a:t>
            </a:r>
            <a:r>
              <a:rPr lang="en-IN" b="1" spc="10" dirty="0">
                <a:solidFill>
                  <a:srgbClr val="7030A0"/>
                </a:solidFill>
              </a:rPr>
              <a:t>T</a:t>
            </a:r>
          </a:p>
          <a:p>
            <a:pPr marL="355600" marR="5080" indent="-343535">
              <a:lnSpc>
                <a:spcPct val="150000"/>
              </a:lnSpc>
              <a:spcBef>
                <a:spcPts val="520"/>
              </a:spcBef>
              <a:buFont typeface="Arial"/>
              <a:buChar char="•"/>
              <a:tabLst>
                <a:tab pos="355600" algn="l"/>
                <a:tab pos="356235" algn="l"/>
              </a:tabLst>
            </a:pPr>
            <a:r>
              <a:rPr lang="en-US" sz="2800" dirty="0">
                <a:solidFill>
                  <a:srgbClr val="7030A0"/>
                </a:solidFill>
                <a:latin typeface="Carlito"/>
                <a:cs typeface="Carlito"/>
              </a:rPr>
              <a:t>It a </a:t>
            </a:r>
            <a:r>
              <a:rPr lang="en-US" sz="2800" spc="-20" dirty="0">
                <a:solidFill>
                  <a:srgbClr val="7030A0"/>
                </a:solidFill>
                <a:latin typeface="Carlito"/>
                <a:cs typeface="Carlito"/>
              </a:rPr>
              <a:t>real </a:t>
            </a:r>
            <a:r>
              <a:rPr lang="en-US" sz="2800" spc="-15" dirty="0" err="1">
                <a:solidFill>
                  <a:srgbClr val="7030A0"/>
                </a:solidFill>
                <a:latin typeface="Carlito"/>
                <a:cs typeface="Carlito"/>
              </a:rPr>
              <a:t>wolrd</a:t>
            </a:r>
            <a:r>
              <a:rPr lang="en-US" sz="2800" spc="-15" dirty="0">
                <a:solidFill>
                  <a:srgbClr val="7030A0"/>
                </a:solidFill>
                <a:latin typeface="Carlito"/>
                <a:cs typeface="Carlito"/>
              </a:rPr>
              <a:t> </a:t>
            </a:r>
            <a:r>
              <a:rPr lang="en-US" sz="2800" spc="-10" dirty="0">
                <a:solidFill>
                  <a:srgbClr val="7030A0"/>
                </a:solidFill>
                <a:latin typeface="Carlito"/>
                <a:cs typeface="Carlito"/>
              </a:rPr>
              <a:t>thing</a:t>
            </a:r>
            <a:r>
              <a:rPr lang="en-US" sz="2800" spc="-10" dirty="0">
                <a:latin typeface="Carlito"/>
                <a:cs typeface="Carlito"/>
              </a:rPr>
              <a:t>, </a:t>
            </a:r>
            <a:r>
              <a:rPr lang="en-US" sz="2800" spc="-35" dirty="0">
                <a:latin typeface="Carlito"/>
                <a:cs typeface="Carlito"/>
              </a:rPr>
              <a:t>for </a:t>
            </a:r>
            <a:r>
              <a:rPr lang="en-US" sz="2800" dirty="0">
                <a:latin typeface="Carlito"/>
                <a:cs typeface="Carlito"/>
              </a:rPr>
              <a:t>a single class </a:t>
            </a:r>
            <a:r>
              <a:rPr lang="en-US" sz="2800" spc="10" dirty="0">
                <a:latin typeface="Carlito"/>
                <a:cs typeface="Carlito"/>
              </a:rPr>
              <a:t>we </a:t>
            </a:r>
            <a:r>
              <a:rPr lang="en-US" sz="2800" dirty="0">
                <a:latin typeface="Carlito"/>
                <a:cs typeface="Carlito"/>
              </a:rPr>
              <a:t>can  </a:t>
            </a:r>
            <a:r>
              <a:rPr lang="en-US" sz="2800" spc="-20" dirty="0">
                <a:latin typeface="Carlito"/>
                <a:cs typeface="Carlito"/>
              </a:rPr>
              <a:t>create </a:t>
            </a:r>
            <a:r>
              <a:rPr lang="en-US" sz="2800" spc="-10" dirty="0">
                <a:latin typeface="Carlito"/>
                <a:cs typeface="Carlito"/>
              </a:rPr>
              <a:t>multiple </a:t>
            </a:r>
            <a:r>
              <a:rPr lang="en-US" sz="2800" spc="-5" dirty="0">
                <a:latin typeface="Carlito"/>
                <a:cs typeface="Carlito"/>
              </a:rPr>
              <a:t>or</a:t>
            </a:r>
            <a:r>
              <a:rPr lang="en-US" sz="2800" spc="90" dirty="0">
                <a:latin typeface="Carlito"/>
                <a:cs typeface="Carlito"/>
              </a:rPr>
              <a:t> </a:t>
            </a:r>
            <a:r>
              <a:rPr lang="en-US" sz="2800" dirty="0">
                <a:latin typeface="Carlito"/>
                <a:cs typeface="Carlito"/>
              </a:rPr>
              <a:t>"n"</a:t>
            </a:r>
          </a:p>
          <a:p>
            <a:pPr marL="12065" indent="0">
              <a:lnSpc>
                <a:spcPct val="150000"/>
              </a:lnSpc>
              <a:spcBef>
                <a:spcPts val="335"/>
              </a:spcBef>
              <a:buNone/>
              <a:tabLst>
                <a:tab pos="355600" algn="l"/>
                <a:tab pos="356235" algn="l"/>
              </a:tabLst>
            </a:pPr>
            <a:r>
              <a:rPr lang="en-US" sz="2800" spc="-5" dirty="0">
                <a:latin typeface="Carlito"/>
                <a:cs typeface="Carlito"/>
              </a:rPr>
              <a:t>number of</a:t>
            </a:r>
            <a:r>
              <a:rPr lang="en-US" sz="2800" spc="-25" dirty="0">
                <a:latin typeface="Carlito"/>
                <a:cs typeface="Carlito"/>
              </a:rPr>
              <a:t> </a:t>
            </a:r>
            <a:r>
              <a:rPr lang="en-US" sz="2800" spc="-5" dirty="0">
                <a:latin typeface="Carlito"/>
                <a:cs typeface="Carlito"/>
              </a:rPr>
              <a:t>objects</a:t>
            </a:r>
            <a:endParaRPr lang="en-US" dirty="0">
              <a:latin typeface="Carlito"/>
              <a:cs typeface="Carlito"/>
            </a:endParaRPr>
          </a:p>
          <a:p>
            <a:pPr marL="355600" indent="-343535">
              <a:lnSpc>
                <a:spcPct val="150000"/>
              </a:lnSpc>
              <a:spcBef>
                <a:spcPts val="335"/>
              </a:spcBef>
              <a:buFont typeface="Arial"/>
              <a:buChar char="•"/>
              <a:tabLst>
                <a:tab pos="355600" algn="l"/>
                <a:tab pos="356235" algn="l"/>
              </a:tabLst>
            </a:pPr>
            <a:r>
              <a:rPr lang="en-US" sz="2800" spc="-5" dirty="0">
                <a:latin typeface="Carlito"/>
                <a:cs typeface="Carlito"/>
              </a:rPr>
              <a:t>object </a:t>
            </a:r>
            <a:r>
              <a:rPr lang="en-US" sz="2800" spc="-10" dirty="0">
                <a:solidFill>
                  <a:srgbClr val="7030A0"/>
                </a:solidFill>
                <a:latin typeface="Carlito"/>
                <a:cs typeface="Carlito"/>
              </a:rPr>
              <a:t>contains </a:t>
            </a:r>
            <a:r>
              <a:rPr lang="en-US" sz="2800" spc="-25" dirty="0">
                <a:solidFill>
                  <a:srgbClr val="7030A0"/>
                </a:solidFill>
                <a:latin typeface="Carlito"/>
                <a:cs typeface="Carlito"/>
              </a:rPr>
              <a:t>attributes </a:t>
            </a:r>
            <a:r>
              <a:rPr lang="en-US" sz="2800" spc="-5" dirty="0">
                <a:solidFill>
                  <a:srgbClr val="7030A0"/>
                </a:solidFill>
                <a:latin typeface="Carlito"/>
                <a:cs typeface="Carlito"/>
              </a:rPr>
              <a:t>and </a:t>
            </a:r>
            <a:r>
              <a:rPr lang="en-US" sz="2800" dirty="0">
                <a:solidFill>
                  <a:srgbClr val="7030A0"/>
                </a:solidFill>
                <a:latin typeface="Carlito"/>
                <a:cs typeface="Carlito"/>
              </a:rPr>
              <a:t>member  </a:t>
            </a:r>
            <a:r>
              <a:rPr lang="en-US" sz="2800" spc="-10" dirty="0">
                <a:solidFill>
                  <a:srgbClr val="7030A0"/>
                </a:solidFill>
                <a:latin typeface="Carlito"/>
                <a:cs typeface="Carlito"/>
              </a:rPr>
              <a:t>function</a:t>
            </a:r>
            <a:endParaRPr lang="en-US" sz="2800" dirty="0">
              <a:solidFill>
                <a:srgbClr val="7030A0"/>
              </a:solidFill>
              <a:latin typeface="Carlito"/>
              <a:cs typeface="Carlito"/>
            </a:endParaRPr>
          </a:p>
          <a:p>
            <a:pPr marL="355600" indent="-343535">
              <a:lnSpc>
                <a:spcPct val="150000"/>
              </a:lnSpc>
              <a:spcBef>
                <a:spcPts val="335"/>
              </a:spcBef>
              <a:buFont typeface="Arial"/>
              <a:buChar char="•"/>
              <a:tabLst>
                <a:tab pos="355600" algn="l"/>
                <a:tab pos="356235" algn="l"/>
              </a:tabLst>
            </a:pPr>
            <a:r>
              <a:rPr lang="en-US" sz="2800" spc="-5" dirty="0">
                <a:latin typeface="Carlito"/>
                <a:cs typeface="Carlito"/>
              </a:rPr>
              <a:t>class--&gt;animal</a:t>
            </a:r>
            <a:endParaRPr lang="en-US" sz="2800" dirty="0">
              <a:latin typeface="Carlito"/>
              <a:cs typeface="Carlito"/>
            </a:endParaRPr>
          </a:p>
          <a:p>
            <a:pPr marL="355600" indent="-343535">
              <a:lnSpc>
                <a:spcPct val="150000"/>
              </a:lnSpc>
              <a:spcBef>
                <a:spcPts val="380"/>
              </a:spcBef>
              <a:buFont typeface="Arial"/>
              <a:buChar char="•"/>
              <a:tabLst>
                <a:tab pos="355600" algn="l"/>
                <a:tab pos="356235" algn="l"/>
              </a:tabLst>
            </a:pPr>
            <a:r>
              <a:rPr lang="en-US" sz="2800" spc="-5" dirty="0">
                <a:latin typeface="Carlito"/>
                <a:cs typeface="Carlito"/>
              </a:rPr>
              <a:t>object--&gt;dog</a:t>
            </a:r>
            <a:endParaRPr lang="en-US" sz="2800" dirty="0">
              <a:latin typeface="Carlito"/>
              <a:cs typeface="Carlito"/>
            </a:endParaRPr>
          </a:p>
          <a:p>
            <a:pPr marL="355600" indent="-343535">
              <a:lnSpc>
                <a:spcPct val="150000"/>
              </a:lnSpc>
              <a:spcBef>
                <a:spcPts val="380"/>
              </a:spcBef>
              <a:buFont typeface="Arial"/>
              <a:buChar char="•"/>
              <a:tabLst>
                <a:tab pos="355600" algn="l"/>
                <a:tab pos="356235" algn="l"/>
              </a:tabLst>
            </a:pPr>
            <a:r>
              <a:rPr lang="en-US" sz="2800" spc="-20" dirty="0">
                <a:latin typeface="Carlito"/>
                <a:cs typeface="Carlito"/>
              </a:rPr>
              <a:t>variables--&gt;</a:t>
            </a:r>
            <a:r>
              <a:rPr lang="en-US" sz="2800" spc="-20" dirty="0" err="1">
                <a:latin typeface="Carlito"/>
                <a:cs typeface="Carlito"/>
              </a:rPr>
              <a:t>name,color,breed</a:t>
            </a:r>
            <a:endParaRPr lang="en-US" sz="2800" dirty="0">
              <a:latin typeface="Carlito"/>
              <a:cs typeface="Carlito"/>
            </a:endParaRPr>
          </a:p>
          <a:p>
            <a:pPr marL="355600" indent="-343535">
              <a:lnSpc>
                <a:spcPct val="150000"/>
              </a:lnSpc>
              <a:spcBef>
                <a:spcPts val="380"/>
              </a:spcBef>
              <a:buFont typeface="Arial"/>
              <a:buChar char="•"/>
              <a:tabLst>
                <a:tab pos="355600" algn="l"/>
                <a:tab pos="356235" algn="l"/>
              </a:tabLst>
            </a:pPr>
            <a:r>
              <a:rPr lang="en-US" sz="2800" spc="-10" dirty="0">
                <a:latin typeface="Carlito"/>
                <a:cs typeface="Carlito"/>
              </a:rPr>
              <a:t>function--&gt;</a:t>
            </a:r>
            <a:r>
              <a:rPr lang="en-US" sz="2800" spc="-10" dirty="0" err="1">
                <a:latin typeface="Carlito"/>
                <a:cs typeface="Carlito"/>
              </a:rPr>
              <a:t>barking,sleeping,eating</a:t>
            </a:r>
            <a:endParaRPr lang="en-US" sz="2800" spc="-10" dirty="0">
              <a:latin typeface="Carlito"/>
              <a:cs typeface="Carlito"/>
            </a:endParaRPr>
          </a:p>
          <a:p>
            <a:pPr marL="12065" indent="0">
              <a:lnSpc>
                <a:spcPct val="150000"/>
              </a:lnSpc>
              <a:spcBef>
                <a:spcPts val="380"/>
              </a:spcBef>
              <a:buNone/>
              <a:tabLst>
                <a:tab pos="355600" algn="l"/>
                <a:tab pos="356235" algn="l"/>
              </a:tabLst>
            </a:pPr>
            <a:r>
              <a:rPr lang="en-US" spc="-10" dirty="0">
                <a:latin typeface="Carlito"/>
              </a:rPr>
              <a:t>Object syntax</a:t>
            </a:r>
          </a:p>
          <a:p>
            <a:pPr marL="355600" indent="-343535">
              <a:lnSpc>
                <a:spcPct val="150000"/>
              </a:lnSpc>
              <a:spcBef>
                <a:spcPts val="380"/>
              </a:spcBef>
              <a:buFont typeface="Arial"/>
              <a:buChar char="•"/>
              <a:tabLst>
                <a:tab pos="355600" algn="l"/>
                <a:tab pos="356235" algn="l"/>
              </a:tabLst>
            </a:pPr>
            <a:r>
              <a:rPr lang="en-US" spc="-10" dirty="0" err="1">
                <a:latin typeface="Carlito"/>
              </a:rPr>
              <a:t>Classname</a:t>
            </a:r>
            <a:r>
              <a:rPr lang="en-US" spc="-10" dirty="0">
                <a:latin typeface="Carlito"/>
              </a:rPr>
              <a:t> obj=new </a:t>
            </a:r>
            <a:r>
              <a:rPr lang="en-US" spc="-10" dirty="0" err="1">
                <a:latin typeface="Carlito"/>
              </a:rPr>
              <a:t>classname</a:t>
            </a:r>
            <a:r>
              <a:rPr lang="en-US" spc="-10" dirty="0">
                <a:latin typeface="Carlito"/>
              </a:rPr>
              <a:t>();</a:t>
            </a:r>
            <a:endParaRPr lang="en-IN" dirty="0"/>
          </a:p>
        </p:txBody>
      </p:sp>
    </p:spTree>
    <p:extLst>
      <p:ext uri="{BB962C8B-B14F-4D97-AF65-F5344CB8AC3E}">
        <p14:creationId xmlns:p14="http://schemas.microsoft.com/office/powerpoint/2010/main" val="4279176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DFC30-BC76-8BCF-47DE-1951D53EB2A7}"/>
              </a:ext>
            </a:extLst>
          </p:cNvPr>
          <p:cNvSpPr>
            <a:spLocks noGrp="1"/>
          </p:cNvSpPr>
          <p:nvPr>
            <p:ph idx="1"/>
          </p:nvPr>
        </p:nvSpPr>
        <p:spPr>
          <a:xfrm>
            <a:off x="838200" y="653143"/>
            <a:ext cx="10515600" cy="5523820"/>
          </a:xfrm>
        </p:spPr>
        <p:txBody>
          <a:bodyPr>
            <a:normAutofit lnSpcReduction="10000"/>
          </a:bodyPr>
          <a:lstStyle/>
          <a:p>
            <a:pPr marL="0" indent="0">
              <a:lnSpc>
                <a:spcPct val="150000"/>
              </a:lnSpc>
              <a:buNone/>
            </a:pPr>
            <a:r>
              <a:rPr lang="en-IN" b="1" spc="-25" dirty="0">
                <a:solidFill>
                  <a:srgbClr val="7030A0"/>
                </a:solidFill>
              </a:rPr>
              <a:t>INHERITANCE</a:t>
            </a:r>
          </a:p>
          <a:p>
            <a:pPr marL="12700" marR="2862580">
              <a:lnSpc>
                <a:spcPct val="150000"/>
              </a:lnSpc>
              <a:spcBef>
                <a:spcPts val="100"/>
              </a:spcBef>
            </a:pPr>
            <a:r>
              <a:rPr lang="en-US" spc="-15" dirty="0">
                <a:cs typeface="Carlito"/>
              </a:rPr>
              <a:t>mainly </a:t>
            </a:r>
            <a:r>
              <a:rPr lang="en-US" spc="-5" dirty="0">
                <a:cs typeface="Carlito"/>
              </a:rPr>
              <a:t>used </a:t>
            </a:r>
            <a:r>
              <a:rPr lang="en-US" dirty="0">
                <a:cs typeface="Carlito"/>
              </a:rPr>
              <a:t>to </a:t>
            </a:r>
            <a:r>
              <a:rPr lang="en-US" spc="-20" dirty="0">
                <a:cs typeface="Carlito"/>
              </a:rPr>
              <a:t>minimize </a:t>
            </a:r>
            <a:r>
              <a:rPr lang="en-US" dirty="0">
                <a:cs typeface="Carlito"/>
              </a:rPr>
              <a:t>the </a:t>
            </a:r>
            <a:r>
              <a:rPr lang="en-US" spc="-10" dirty="0">
                <a:cs typeface="Carlito"/>
              </a:rPr>
              <a:t>code  </a:t>
            </a:r>
          </a:p>
          <a:p>
            <a:pPr marL="12700" marR="2862580">
              <a:lnSpc>
                <a:spcPct val="150000"/>
              </a:lnSpc>
              <a:spcBef>
                <a:spcPts val="100"/>
              </a:spcBef>
            </a:pPr>
            <a:r>
              <a:rPr lang="en-US" spc="-5" dirty="0">
                <a:cs typeface="Carlito"/>
              </a:rPr>
              <a:t>parent </a:t>
            </a:r>
            <a:r>
              <a:rPr lang="en-US" spc="-15" dirty="0">
                <a:cs typeface="Carlito"/>
              </a:rPr>
              <a:t>child</a:t>
            </a:r>
            <a:r>
              <a:rPr lang="en-US" spc="-30" dirty="0">
                <a:cs typeface="Carlito"/>
              </a:rPr>
              <a:t> </a:t>
            </a:r>
            <a:r>
              <a:rPr lang="en-US" spc="-10" dirty="0">
                <a:cs typeface="Carlito"/>
              </a:rPr>
              <a:t>relationship</a:t>
            </a:r>
            <a:endParaRPr lang="en-US" dirty="0">
              <a:cs typeface="Carlito"/>
            </a:endParaRPr>
          </a:p>
          <a:p>
            <a:pPr marR="5080">
              <a:lnSpc>
                <a:spcPct val="150000"/>
              </a:lnSpc>
              <a:spcBef>
                <a:spcPts val="525"/>
              </a:spcBef>
              <a:buSzPct val="96296"/>
              <a:tabLst>
                <a:tab pos="271780" algn="l"/>
              </a:tabLst>
            </a:pPr>
            <a:r>
              <a:rPr lang="en-US" spc="-15" dirty="0">
                <a:cs typeface="Carlito"/>
              </a:rPr>
              <a:t>child </a:t>
            </a:r>
            <a:r>
              <a:rPr lang="en-US" spc="-10" dirty="0">
                <a:cs typeface="Carlito"/>
              </a:rPr>
              <a:t>class/derived </a:t>
            </a:r>
            <a:r>
              <a:rPr lang="en-US" spc="-15" dirty="0">
                <a:cs typeface="Carlito"/>
              </a:rPr>
              <a:t>class/subclass--&gt;a class </a:t>
            </a:r>
            <a:r>
              <a:rPr lang="en-US" spc="-5" dirty="0">
                <a:cs typeface="Carlito"/>
              </a:rPr>
              <a:t>inherits </a:t>
            </a:r>
            <a:r>
              <a:rPr lang="en-US" dirty="0">
                <a:cs typeface="Carlito"/>
              </a:rPr>
              <a:t>the  </a:t>
            </a:r>
            <a:r>
              <a:rPr lang="en-US" spc="-5" dirty="0">
                <a:cs typeface="Carlito"/>
              </a:rPr>
              <a:t>properties</a:t>
            </a:r>
            <a:endParaRPr lang="en-US" dirty="0">
              <a:cs typeface="Carlito"/>
            </a:endParaRPr>
          </a:p>
          <a:p>
            <a:pPr marL="356870" marR="244475" indent="-344805">
              <a:lnSpc>
                <a:spcPct val="150000"/>
              </a:lnSpc>
              <a:spcBef>
                <a:spcPts val="730"/>
              </a:spcBef>
              <a:buFont typeface="Arial MT"/>
              <a:buChar char="•"/>
              <a:tabLst>
                <a:tab pos="356870" algn="l"/>
                <a:tab pos="357505" algn="l"/>
              </a:tabLst>
            </a:pPr>
            <a:r>
              <a:rPr lang="en-US" dirty="0">
                <a:cs typeface="Carlito"/>
              </a:rPr>
              <a:t>parent </a:t>
            </a:r>
            <a:r>
              <a:rPr lang="en-US" spc="-10" dirty="0">
                <a:cs typeface="Carlito"/>
              </a:rPr>
              <a:t>class/base class--&gt;a </a:t>
            </a:r>
            <a:r>
              <a:rPr lang="en-US" spc="-15" dirty="0">
                <a:cs typeface="Carlito"/>
              </a:rPr>
              <a:t>class </a:t>
            </a:r>
            <a:r>
              <a:rPr lang="en-US" dirty="0">
                <a:cs typeface="Carlito"/>
              </a:rPr>
              <a:t>whose </a:t>
            </a:r>
            <a:r>
              <a:rPr lang="en-US" spc="-5" dirty="0">
                <a:cs typeface="Carlito"/>
              </a:rPr>
              <a:t>properties  inherited</a:t>
            </a:r>
          </a:p>
          <a:p>
            <a:pPr marL="356870" marR="244475" indent="-344805">
              <a:lnSpc>
                <a:spcPct val="150000"/>
              </a:lnSpc>
              <a:spcBef>
                <a:spcPts val="730"/>
              </a:spcBef>
              <a:buFont typeface="Arial MT"/>
              <a:buChar char="•"/>
              <a:tabLst>
                <a:tab pos="356870" algn="l"/>
                <a:tab pos="357505" algn="l"/>
              </a:tabLst>
            </a:pPr>
            <a:r>
              <a:rPr lang="en-US" b="1" dirty="0">
                <a:solidFill>
                  <a:srgbClr val="7030A0"/>
                </a:solidFill>
                <a:cs typeface="Calibri"/>
              </a:rPr>
              <a:t>subclass</a:t>
            </a:r>
            <a:r>
              <a:rPr lang="en-US" b="1" spc="-105" dirty="0">
                <a:solidFill>
                  <a:srgbClr val="7030A0"/>
                </a:solidFill>
                <a:cs typeface="Calibri"/>
              </a:rPr>
              <a:t> </a:t>
            </a:r>
            <a:r>
              <a:rPr lang="en-US" dirty="0">
                <a:cs typeface="Calibri"/>
              </a:rPr>
              <a:t>(child)</a:t>
            </a:r>
            <a:r>
              <a:rPr lang="en-US" spc="-90" dirty="0">
                <a:cs typeface="Calibri"/>
              </a:rPr>
              <a:t> </a:t>
            </a:r>
            <a:r>
              <a:rPr lang="en-US" dirty="0">
                <a:cs typeface="Calibri"/>
              </a:rPr>
              <a:t>- </a:t>
            </a:r>
            <a:r>
              <a:rPr lang="en-US" spc="5" dirty="0">
                <a:cs typeface="Calibri"/>
              </a:rPr>
              <a:t>the</a:t>
            </a:r>
            <a:r>
              <a:rPr lang="en-US" spc="-50" dirty="0">
                <a:cs typeface="Calibri"/>
              </a:rPr>
              <a:t> </a:t>
            </a:r>
            <a:r>
              <a:rPr lang="en-US" spc="5" dirty="0">
                <a:cs typeface="Calibri"/>
              </a:rPr>
              <a:t>class</a:t>
            </a:r>
            <a:r>
              <a:rPr lang="en-US" spc="-95" dirty="0">
                <a:cs typeface="Calibri"/>
              </a:rPr>
              <a:t> </a:t>
            </a:r>
            <a:r>
              <a:rPr lang="en-US" spc="-5" dirty="0">
                <a:cs typeface="Calibri"/>
              </a:rPr>
              <a:t>that</a:t>
            </a:r>
            <a:r>
              <a:rPr lang="en-US" spc="-85" dirty="0">
                <a:cs typeface="Calibri"/>
              </a:rPr>
              <a:t> </a:t>
            </a:r>
            <a:r>
              <a:rPr lang="en-US" dirty="0">
                <a:cs typeface="Calibri"/>
              </a:rPr>
              <a:t>inherits</a:t>
            </a:r>
            <a:r>
              <a:rPr lang="en-US" spc="-70" dirty="0">
                <a:cs typeface="Calibri"/>
              </a:rPr>
              <a:t> </a:t>
            </a:r>
            <a:r>
              <a:rPr lang="en-US" spc="-30" dirty="0">
                <a:cs typeface="Calibri"/>
              </a:rPr>
              <a:t>from</a:t>
            </a:r>
            <a:r>
              <a:rPr lang="en-US" dirty="0">
                <a:cs typeface="Calibri"/>
              </a:rPr>
              <a:t> another </a:t>
            </a:r>
            <a:r>
              <a:rPr lang="en-US" spc="-595" dirty="0">
                <a:cs typeface="Calibri"/>
              </a:rPr>
              <a:t> </a:t>
            </a:r>
            <a:r>
              <a:rPr lang="en-US" dirty="0">
                <a:cs typeface="Calibri"/>
              </a:rPr>
              <a:t>class</a:t>
            </a:r>
          </a:p>
          <a:p>
            <a:pPr marL="356870" indent="-344805">
              <a:lnSpc>
                <a:spcPct val="150000"/>
              </a:lnSpc>
              <a:spcBef>
                <a:spcPts val="244"/>
              </a:spcBef>
              <a:buFont typeface="Arial MT"/>
              <a:buChar char="•"/>
              <a:tabLst>
                <a:tab pos="356870" algn="l"/>
                <a:tab pos="357505" algn="l"/>
              </a:tabLst>
            </a:pPr>
            <a:r>
              <a:rPr lang="en-US" b="1" spc="5" dirty="0">
                <a:solidFill>
                  <a:srgbClr val="7030A0"/>
                </a:solidFill>
                <a:cs typeface="Calibri"/>
              </a:rPr>
              <a:t>su</a:t>
            </a:r>
            <a:r>
              <a:rPr lang="en-US" b="1" spc="15" dirty="0">
                <a:solidFill>
                  <a:srgbClr val="7030A0"/>
                </a:solidFill>
                <a:cs typeface="Calibri"/>
              </a:rPr>
              <a:t>p</a:t>
            </a:r>
            <a:r>
              <a:rPr lang="en-US" b="1" dirty="0">
                <a:solidFill>
                  <a:srgbClr val="7030A0"/>
                </a:solidFill>
                <a:cs typeface="Calibri"/>
              </a:rPr>
              <a:t>e</a:t>
            </a:r>
            <a:r>
              <a:rPr lang="en-US" b="1" spc="-45" dirty="0">
                <a:solidFill>
                  <a:srgbClr val="7030A0"/>
                </a:solidFill>
                <a:cs typeface="Calibri"/>
              </a:rPr>
              <a:t>r</a:t>
            </a:r>
            <a:r>
              <a:rPr lang="en-US" b="1" spc="-5" dirty="0">
                <a:solidFill>
                  <a:srgbClr val="7030A0"/>
                </a:solidFill>
                <a:cs typeface="Calibri"/>
              </a:rPr>
              <a:t>cl</a:t>
            </a:r>
            <a:r>
              <a:rPr lang="en-US" b="1" spc="-20" dirty="0">
                <a:solidFill>
                  <a:srgbClr val="7030A0"/>
                </a:solidFill>
                <a:cs typeface="Calibri"/>
              </a:rPr>
              <a:t>a</a:t>
            </a:r>
            <a:r>
              <a:rPr lang="en-US" b="1" spc="5" dirty="0">
                <a:solidFill>
                  <a:srgbClr val="7030A0"/>
                </a:solidFill>
                <a:cs typeface="Calibri"/>
              </a:rPr>
              <a:t>ss</a:t>
            </a:r>
            <a:r>
              <a:rPr lang="en-US" b="1" spc="-135" dirty="0">
                <a:cs typeface="Calibri"/>
              </a:rPr>
              <a:t> </a:t>
            </a:r>
            <a:r>
              <a:rPr lang="en-US" spc="-5" dirty="0">
                <a:cs typeface="Calibri"/>
              </a:rPr>
              <a:t>(</a:t>
            </a:r>
            <a:r>
              <a:rPr lang="en-US" spc="-15" dirty="0">
                <a:cs typeface="Calibri"/>
              </a:rPr>
              <a:t>p</a:t>
            </a:r>
            <a:r>
              <a:rPr lang="en-US" spc="5" dirty="0">
                <a:cs typeface="Calibri"/>
              </a:rPr>
              <a:t>a</a:t>
            </a:r>
            <a:r>
              <a:rPr lang="en-US" spc="-40" dirty="0">
                <a:cs typeface="Calibri"/>
              </a:rPr>
              <a:t>r</a:t>
            </a:r>
            <a:r>
              <a:rPr lang="en-US" spc="5" dirty="0">
                <a:cs typeface="Calibri"/>
              </a:rPr>
              <a:t>e</a:t>
            </a:r>
            <a:r>
              <a:rPr lang="en-US" spc="-60" dirty="0">
                <a:cs typeface="Calibri"/>
              </a:rPr>
              <a:t>n</a:t>
            </a:r>
            <a:r>
              <a:rPr lang="en-US" spc="-25" dirty="0">
                <a:cs typeface="Calibri"/>
              </a:rPr>
              <a:t>t</a:t>
            </a:r>
            <a:r>
              <a:rPr lang="en-US" dirty="0">
                <a:cs typeface="Calibri"/>
              </a:rPr>
              <a:t>)</a:t>
            </a:r>
            <a:r>
              <a:rPr lang="en-US" spc="-114" dirty="0">
                <a:cs typeface="Calibri"/>
              </a:rPr>
              <a:t> </a:t>
            </a:r>
            <a:r>
              <a:rPr lang="en-US" dirty="0">
                <a:cs typeface="Calibri"/>
              </a:rPr>
              <a:t>-</a:t>
            </a:r>
            <a:r>
              <a:rPr lang="en-US" spc="-25" dirty="0">
                <a:cs typeface="Calibri"/>
              </a:rPr>
              <a:t> </a:t>
            </a:r>
            <a:r>
              <a:rPr lang="en-US" spc="5" dirty="0">
                <a:cs typeface="Calibri"/>
              </a:rPr>
              <a:t>the</a:t>
            </a:r>
            <a:r>
              <a:rPr lang="en-US" spc="-25" dirty="0">
                <a:cs typeface="Calibri"/>
              </a:rPr>
              <a:t> </a:t>
            </a:r>
            <a:r>
              <a:rPr lang="en-US" spc="5" dirty="0">
                <a:cs typeface="Calibri"/>
              </a:rPr>
              <a:t>class</a:t>
            </a:r>
            <a:r>
              <a:rPr lang="en-US" spc="-95" dirty="0">
                <a:cs typeface="Calibri"/>
              </a:rPr>
              <a:t> </a:t>
            </a:r>
            <a:r>
              <a:rPr lang="en-US" spc="-5" dirty="0">
                <a:cs typeface="Calibri"/>
              </a:rPr>
              <a:t>b</a:t>
            </a:r>
            <a:r>
              <a:rPr lang="en-US" spc="5" dirty="0">
                <a:cs typeface="Calibri"/>
              </a:rPr>
              <a:t>ei</a:t>
            </a:r>
            <a:r>
              <a:rPr lang="en-US" spc="-15" dirty="0">
                <a:cs typeface="Calibri"/>
              </a:rPr>
              <a:t>n</a:t>
            </a:r>
            <a:r>
              <a:rPr lang="en-US" spc="5" dirty="0">
                <a:cs typeface="Calibri"/>
              </a:rPr>
              <a:t>g</a:t>
            </a:r>
            <a:r>
              <a:rPr lang="en-US" spc="-20" dirty="0">
                <a:cs typeface="Calibri"/>
              </a:rPr>
              <a:t> </a:t>
            </a:r>
            <a:r>
              <a:rPr lang="en-US" dirty="0">
                <a:cs typeface="Calibri"/>
              </a:rPr>
              <a:t>i</a:t>
            </a:r>
            <a:r>
              <a:rPr lang="en-US" spc="-5" dirty="0">
                <a:cs typeface="Calibri"/>
              </a:rPr>
              <a:t>nh</a:t>
            </a:r>
            <a:r>
              <a:rPr lang="en-US" spc="5" dirty="0">
                <a:cs typeface="Calibri"/>
              </a:rPr>
              <a:t>e</a:t>
            </a:r>
            <a:r>
              <a:rPr lang="en-US" spc="-15" dirty="0">
                <a:cs typeface="Calibri"/>
              </a:rPr>
              <a:t>r</a:t>
            </a:r>
            <a:r>
              <a:rPr lang="en-US" dirty="0">
                <a:cs typeface="Calibri"/>
              </a:rPr>
              <a:t>i</a:t>
            </a:r>
            <a:r>
              <a:rPr lang="en-US" spc="-25" dirty="0">
                <a:cs typeface="Calibri"/>
              </a:rPr>
              <a:t>t</a:t>
            </a:r>
            <a:r>
              <a:rPr lang="en-US" spc="5" dirty="0">
                <a:cs typeface="Calibri"/>
              </a:rPr>
              <a:t>ed</a:t>
            </a:r>
            <a:r>
              <a:rPr lang="en-US" spc="-150" dirty="0">
                <a:cs typeface="Calibri"/>
              </a:rPr>
              <a:t> </a:t>
            </a:r>
            <a:r>
              <a:rPr lang="en-US" spc="-40" dirty="0">
                <a:cs typeface="Calibri"/>
              </a:rPr>
              <a:t>f</a:t>
            </a:r>
            <a:r>
              <a:rPr lang="en-US" spc="-80" dirty="0">
                <a:cs typeface="Calibri"/>
              </a:rPr>
              <a:t>r</a:t>
            </a:r>
            <a:r>
              <a:rPr lang="en-US" spc="-10" dirty="0">
                <a:cs typeface="Calibri"/>
              </a:rPr>
              <a:t>o</a:t>
            </a:r>
            <a:r>
              <a:rPr lang="en-US" spc="10" dirty="0">
                <a:cs typeface="Calibri"/>
              </a:rPr>
              <a:t>m</a:t>
            </a:r>
            <a:endParaRPr lang="en-US" dirty="0">
              <a:cs typeface="Calibri"/>
            </a:endParaRPr>
          </a:p>
          <a:p>
            <a:pPr marL="12065" indent="0">
              <a:lnSpc>
                <a:spcPct val="150000"/>
              </a:lnSpc>
              <a:spcBef>
                <a:spcPts val="315"/>
              </a:spcBef>
              <a:buNone/>
              <a:tabLst>
                <a:tab pos="436245" algn="l"/>
                <a:tab pos="436880" algn="l"/>
              </a:tabLst>
            </a:pPr>
            <a:r>
              <a:rPr lang="en-US" spc="5" dirty="0">
                <a:cs typeface="Calibri"/>
              </a:rPr>
              <a:t>  the</a:t>
            </a:r>
            <a:r>
              <a:rPr lang="en-US" spc="-75" dirty="0">
                <a:cs typeface="Calibri"/>
              </a:rPr>
              <a:t> </a:t>
            </a:r>
            <a:r>
              <a:rPr lang="en-US" spc="-55" dirty="0">
                <a:solidFill>
                  <a:srgbClr val="00AE50"/>
                </a:solidFill>
                <a:cs typeface="Calibri"/>
              </a:rPr>
              <a:t>e</a:t>
            </a:r>
            <a:r>
              <a:rPr lang="en-US" dirty="0">
                <a:solidFill>
                  <a:srgbClr val="00AE50"/>
                </a:solidFill>
                <a:cs typeface="Calibri"/>
              </a:rPr>
              <a:t>x</a:t>
            </a:r>
            <a:r>
              <a:rPr lang="en-US" spc="-25" dirty="0">
                <a:solidFill>
                  <a:srgbClr val="00AE50"/>
                </a:solidFill>
                <a:cs typeface="Calibri"/>
              </a:rPr>
              <a:t>t</a:t>
            </a:r>
            <a:r>
              <a:rPr lang="en-US" spc="5" dirty="0">
                <a:solidFill>
                  <a:srgbClr val="00AE50"/>
                </a:solidFill>
                <a:cs typeface="Calibri"/>
              </a:rPr>
              <a:t>e</a:t>
            </a:r>
            <a:r>
              <a:rPr lang="en-US" spc="-15" dirty="0">
                <a:solidFill>
                  <a:srgbClr val="00AE50"/>
                </a:solidFill>
                <a:cs typeface="Calibri"/>
              </a:rPr>
              <a:t>n</a:t>
            </a:r>
            <a:r>
              <a:rPr lang="en-US" spc="-30" dirty="0">
                <a:solidFill>
                  <a:srgbClr val="00AE50"/>
                </a:solidFill>
                <a:cs typeface="Calibri"/>
              </a:rPr>
              <a:t>d</a:t>
            </a:r>
            <a:r>
              <a:rPr lang="en-US" spc="5" dirty="0">
                <a:solidFill>
                  <a:srgbClr val="00AE50"/>
                </a:solidFill>
                <a:cs typeface="Calibri"/>
              </a:rPr>
              <a:t>s</a:t>
            </a:r>
            <a:r>
              <a:rPr lang="en-US" spc="-160" dirty="0">
                <a:solidFill>
                  <a:srgbClr val="00AE50"/>
                </a:solidFill>
                <a:cs typeface="Calibri"/>
              </a:rPr>
              <a:t> </a:t>
            </a:r>
            <a:r>
              <a:rPr lang="en-US" spc="-125" dirty="0">
                <a:cs typeface="Calibri"/>
              </a:rPr>
              <a:t>k</a:t>
            </a:r>
            <a:r>
              <a:rPr lang="en-US" spc="-50" dirty="0">
                <a:cs typeface="Calibri"/>
              </a:rPr>
              <a:t>e</a:t>
            </a:r>
            <a:r>
              <a:rPr lang="en-US" spc="-25" dirty="0">
                <a:cs typeface="Calibri"/>
              </a:rPr>
              <a:t>y</a:t>
            </a:r>
            <a:r>
              <a:rPr lang="en-US" spc="-35" dirty="0">
                <a:cs typeface="Calibri"/>
              </a:rPr>
              <a:t>w</a:t>
            </a:r>
            <a:r>
              <a:rPr lang="en-US" spc="-10" dirty="0">
                <a:cs typeface="Calibri"/>
              </a:rPr>
              <a:t>o</a:t>
            </a:r>
            <a:r>
              <a:rPr lang="en-US" spc="-80" dirty="0">
                <a:cs typeface="Calibri"/>
              </a:rPr>
              <a:t>r</a:t>
            </a:r>
            <a:r>
              <a:rPr lang="en-US" spc="-30" dirty="0">
                <a:cs typeface="Calibri"/>
              </a:rPr>
              <a:t>d</a:t>
            </a:r>
            <a:endParaRPr lang="en-US" dirty="0"/>
          </a:p>
          <a:p>
            <a:endParaRPr lang="en-IN" dirty="0"/>
          </a:p>
        </p:txBody>
      </p:sp>
    </p:spTree>
    <p:extLst>
      <p:ext uri="{BB962C8B-B14F-4D97-AF65-F5344CB8AC3E}">
        <p14:creationId xmlns:p14="http://schemas.microsoft.com/office/powerpoint/2010/main" val="28492844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B9BC83-AE10-EFDB-A246-F3591EBEC63D}"/>
              </a:ext>
            </a:extLst>
          </p:cNvPr>
          <p:cNvSpPr>
            <a:spLocks noGrp="1"/>
          </p:cNvSpPr>
          <p:nvPr>
            <p:ph idx="1"/>
          </p:nvPr>
        </p:nvSpPr>
        <p:spPr>
          <a:xfrm>
            <a:off x="838200" y="550506"/>
            <a:ext cx="10515600" cy="5626457"/>
          </a:xfrm>
        </p:spPr>
        <p:txBody>
          <a:bodyPr/>
          <a:lstStyle/>
          <a:p>
            <a:r>
              <a:rPr lang="en-IN" dirty="0"/>
              <a:t>Types of Inheritance</a:t>
            </a:r>
          </a:p>
          <a:p>
            <a:endParaRPr lang="en-IN" dirty="0"/>
          </a:p>
        </p:txBody>
      </p:sp>
      <p:pic>
        <p:nvPicPr>
          <p:cNvPr id="5" name="object 3">
            <a:extLst>
              <a:ext uri="{FF2B5EF4-FFF2-40B4-BE49-F238E27FC236}">
                <a16:creationId xmlns:a16="http://schemas.microsoft.com/office/drawing/2014/main" id="{42C36AE9-991B-D499-9C81-F9AA9CA9AF24}"/>
              </a:ext>
            </a:extLst>
          </p:cNvPr>
          <p:cNvPicPr>
            <a:picLocks/>
          </p:cNvPicPr>
          <p:nvPr/>
        </p:nvPicPr>
        <p:blipFill>
          <a:blip r:embed="rId2" cstate="print"/>
          <a:stretch>
            <a:fillRect/>
          </a:stretch>
        </p:blipFill>
        <p:spPr>
          <a:xfrm>
            <a:off x="1828800" y="1607502"/>
            <a:ext cx="8328857" cy="4176464"/>
          </a:xfrm>
          <a:prstGeom prst="rect">
            <a:avLst/>
          </a:prstGeom>
        </p:spPr>
      </p:pic>
    </p:spTree>
    <p:extLst>
      <p:ext uri="{BB962C8B-B14F-4D97-AF65-F5344CB8AC3E}">
        <p14:creationId xmlns:p14="http://schemas.microsoft.com/office/powerpoint/2010/main" val="3266727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362E93C2-0436-37D8-9EAA-A18C07B4439B}"/>
              </a:ext>
            </a:extLst>
          </p:cNvPr>
          <p:cNvPicPr>
            <a:picLocks noGrp="1"/>
          </p:cNvPicPr>
          <p:nvPr>
            <p:ph idx="1"/>
          </p:nvPr>
        </p:nvPicPr>
        <p:blipFill>
          <a:blip r:embed="rId2" cstate="print"/>
          <a:stretch>
            <a:fillRect/>
          </a:stretch>
        </p:blipFill>
        <p:spPr>
          <a:xfrm>
            <a:off x="1362269" y="1427585"/>
            <a:ext cx="8518849" cy="3773066"/>
          </a:xfrm>
          <a:prstGeom prst="rect">
            <a:avLst/>
          </a:prstGeom>
        </p:spPr>
      </p:pic>
    </p:spTree>
    <p:extLst>
      <p:ext uri="{BB962C8B-B14F-4D97-AF65-F5344CB8AC3E}">
        <p14:creationId xmlns:p14="http://schemas.microsoft.com/office/powerpoint/2010/main" val="25915880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EE329-27DB-51AB-6766-34EAD7E4C0EB}"/>
              </a:ext>
            </a:extLst>
          </p:cNvPr>
          <p:cNvSpPr>
            <a:spLocks noGrp="1"/>
          </p:cNvSpPr>
          <p:nvPr>
            <p:ph idx="1"/>
          </p:nvPr>
        </p:nvSpPr>
        <p:spPr>
          <a:xfrm>
            <a:off x="838200" y="662473"/>
            <a:ext cx="10515600" cy="5514490"/>
          </a:xfrm>
        </p:spPr>
        <p:txBody>
          <a:bodyPr>
            <a:normAutofit lnSpcReduction="10000"/>
          </a:bodyPr>
          <a:lstStyle/>
          <a:p>
            <a:pPr marL="0" indent="0">
              <a:lnSpc>
                <a:spcPct val="150000"/>
              </a:lnSpc>
              <a:buNone/>
            </a:pPr>
            <a:r>
              <a:rPr lang="en-IN" b="1" spc="-25" dirty="0">
                <a:solidFill>
                  <a:srgbClr val="7030A0"/>
                </a:solidFill>
              </a:rPr>
              <a:t>C</a:t>
            </a:r>
            <a:r>
              <a:rPr lang="en-IN" b="1" spc="10" dirty="0">
                <a:solidFill>
                  <a:srgbClr val="7030A0"/>
                </a:solidFill>
              </a:rPr>
              <a:t>on</a:t>
            </a:r>
            <a:r>
              <a:rPr lang="en-IN" b="1" spc="-85" dirty="0">
                <a:solidFill>
                  <a:srgbClr val="7030A0"/>
                </a:solidFill>
              </a:rPr>
              <a:t>s</a:t>
            </a:r>
            <a:r>
              <a:rPr lang="en-IN" b="1" spc="20" dirty="0">
                <a:solidFill>
                  <a:srgbClr val="7030A0"/>
                </a:solidFill>
              </a:rPr>
              <a:t>t</a:t>
            </a:r>
            <a:r>
              <a:rPr lang="en-IN" b="1" spc="35" dirty="0">
                <a:solidFill>
                  <a:srgbClr val="7030A0"/>
                </a:solidFill>
              </a:rPr>
              <a:t>r</a:t>
            </a:r>
            <a:r>
              <a:rPr lang="en-IN" b="1" spc="5" dirty="0">
                <a:solidFill>
                  <a:srgbClr val="7030A0"/>
                </a:solidFill>
              </a:rPr>
              <a:t>uc</a:t>
            </a:r>
            <a:r>
              <a:rPr lang="en-IN" b="1" spc="-50" dirty="0">
                <a:solidFill>
                  <a:srgbClr val="7030A0"/>
                </a:solidFill>
              </a:rPr>
              <a:t>t</a:t>
            </a:r>
            <a:r>
              <a:rPr lang="en-IN" b="1" spc="5" dirty="0">
                <a:solidFill>
                  <a:srgbClr val="7030A0"/>
                </a:solidFill>
              </a:rPr>
              <a:t>or</a:t>
            </a:r>
          </a:p>
          <a:p>
            <a:pPr>
              <a:lnSpc>
                <a:spcPct val="160000"/>
              </a:lnSpc>
            </a:pPr>
            <a:r>
              <a:rPr lang="en-US" b="0" i="0" dirty="0">
                <a:solidFill>
                  <a:srgbClr val="333333"/>
                </a:solidFill>
                <a:effectLst/>
              </a:rPr>
              <a:t>A  </a:t>
            </a:r>
            <a:r>
              <a:rPr lang="en-US" b="0" i="0" dirty="0">
                <a:solidFill>
                  <a:srgbClr val="7030A0"/>
                </a:solidFill>
                <a:effectLst/>
              </a:rPr>
              <a:t>constructor is a block of codes similar to the method. </a:t>
            </a:r>
          </a:p>
          <a:p>
            <a:pPr>
              <a:lnSpc>
                <a:spcPct val="150000"/>
              </a:lnSpc>
            </a:pPr>
            <a:r>
              <a:rPr lang="en-US" b="0" i="0" dirty="0">
                <a:solidFill>
                  <a:srgbClr val="333333"/>
                </a:solidFill>
                <a:effectLst/>
              </a:rPr>
              <a:t>It is called when an </a:t>
            </a:r>
            <a:r>
              <a:rPr lang="en-US" b="0" i="0" dirty="0">
                <a:solidFill>
                  <a:srgbClr val="7030A0"/>
                </a:solidFill>
                <a:effectLst/>
              </a:rPr>
              <a:t>instance of the </a:t>
            </a:r>
            <a:r>
              <a:rPr lang="en-US" b="0" i="0" u="none" strike="noStrike" dirty="0">
                <a:solidFill>
                  <a:srgbClr val="7030A0"/>
                </a:solidFill>
                <a:effectLst/>
                <a:hlinkClick r:id="rId2">
                  <a:extLst>
                    <a:ext uri="{A12FA001-AC4F-418D-AE19-62706E023703}">
                      <ahyp:hlinkClr xmlns:ahyp="http://schemas.microsoft.com/office/drawing/2018/hyperlinkcolor" val="tx"/>
                    </a:ext>
                  </a:extLst>
                </a:hlinkClick>
              </a:rPr>
              <a:t>class</a:t>
            </a:r>
            <a:r>
              <a:rPr lang="en-US" b="0" i="0" dirty="0">
                <a:solidFill>
                  <a:srgbClr val="7030A0"/>
                </a:solidFill>
                <a:effectLst/>
              </a:rPr>
              <a:t> is created</a:t>
            </a:r>
            <a:r>
              <a:rPr lang="en-US" b="0" i="0" dirty="0">
                <a:solidFill>
                  <a:srgbClr val="333333"/>
                </a:solidFill>
                <a:effectLst/>
              </a:rPr>
              <a:t>. </a:t>
            </a:r>
          </a:p>
          <a:p>
            <a:pPr>
              <a:lnSpc>
                <a:spcPct val="150000"/>
              </a:lnSpc>
            </a:pPr>
            <a:r>
              <a:rPr lang="en-US" b="0" i="0" dirty="0">
                <a:solidFill>
                  <a:srgbClr val="333333"/>
                </a:solidFill>
                <a:effectLst/>
              </a:rPr>
              <a:t>At the time of calling constructor, memory for the object is allocated in the memory.</a:t>
            </a:r>
          </a:p>
          <a:p>
            <a:pPr algn="just">
              <a:lnSpc>
                <a:spcPct val="150000"/>
              </a:lnSpc>
            </a:pPr>
            <a:r>
              <a:rPr lang="en-US" b="0" i="0" dirty="0">
                <a:solidFill>
                  <a:srgbClr val="7030A0"/>
                </a:solidFill>
                <a:effectLst/>
              </a:rPr>
              <a:t>It is a special type of method which is used to initialize the object.</a:t>
            </a:r>
          </a:p>
          <a:p>
            <a:pPr algn="just">
              <a:lnSpc>
                <a:spcPct val="150000"/>
              </a:lnSpc>
            </a:pPr>
            <a:r>
              <a:rPr lang="en-US" i="0" dirty="0">
                <a:solidFill>
                  <a:srgbClr val="7030A0"/>
                </a:solidFill>
                <a:effectLst/>
              </a:rPr>
              <a:t>Every time an object is created using the new() keyword, at least one constructor is called.</a:t>
            </a:r>
          </a:p>
        </p:txBody>
      </p:sp>
    </p:spTree>
    <p:extLst>
      <p:ext uri="{BB962C8B-B14F-4D97-AF65-F5344CB8AC3E}">
        <p14:creationId xmlns:p14="http://schemas.microsoft.com/office/powerpoint/2010/main" val="30406742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5B3A2F-F73A-B17C-5BAF-6CDAB74E75C9}"/>
              </a:ext>
            </a:extLst>
          </p:cNvPr>
          <p:cNvSpPr>
            <a:spLocks noGrp="1"/>
          </p:cNvSpPr>
          <p:nvPr>
            <p:ph idx="1"/>
          </p:nvPr>
        </p:nvSpPr>
        <p:spPr>
          <a:xfrm>
            <a:off x="569167" y="578498"/>
            <a:ext cx="10784633" cy="5598465"/>
          </a:xfrm>
        </p:spPr>
        <p:txBody>
          <a:bodyPr/>
          <a:lstStyle/>
          <a:p>
            <a:pPr marL="0" indent="0">
              <a:lnSpc>
                <a:spcPct val="100000"/>
              </a:lnSpc>
              <a:buNone/>
            </a:pPr>
            <a:r>
              <a:rPr lang="en-IN" sz="2800" b="1" spc="-15" dirty="0">
                <a:solidFill>
                  <a:srgbClr val="7030A0"/>
                </a:solidFill>
              </a:rPr>
              <a:t>Polymorphism</a:t>
            </a:r>
          </a:p>
          <a:p>
            <a:pPr>
              <a:lnSpc>
                <a:spcPct val="100000"/>
              </a:lnSpc>
            </a:pPr>
            <a:r>
              <a:rPr lang="en-US" b="1" i="0" dirty="0">
                <a:solidFill>
                  <a:srgbClr val="7030A0"/>
                </a:solidFill>
                <a:effectLst/>
              </a:rPr>
              <a:t>Polymorphism in Java is a concept by which we can perform a </a:t>
            </a:r>
            <a:r>
              <a:rPr lang="en-US" b="1" i="1" dirty="0">
                <a:solidFill>
                  <a:srgbClr val="7030A0"/>
                </a:solidFill>
                <a:effectLst/>
              </a:rPr>
              <a:t>single action in different ways</a:t>
            </a:r>
            <a:r>
              <a:rPr lang="en-US" b="1" i="0" dirty="0">
                <a:solidFill>
                  <a:srgbClr val="7030A0"/>
                </a:solidFill>
                <a:effectLst/>
              </a:rPr>
              <a:t>.</a:t>
            </a:r>
          </a:p>
          <a:p>
            <a:pPr>
              <a:lnSpc>
                <a:spcPct val="100000"/>
              </a:lnSpc>
            </a:pPr>
            <a:r>
              <a:rPr lang="en-US" b="0" i="0" dirty="0">
                <a:solidFill>
                  <a:srgbClr val="333333"/>
                </a:solidFill>
                <a:effectLst/>
              </a:rPr>
              <a:t> Polymorphism is derived </a:t>
            </a:r>
            <a:r>
              <a:rPr lang="en-US" b="0" i="0" dirty="0">
                <a:solidFill>
                  <a:srgbClr val="7030A0"/>
                </a:solidFill>
                <a:effectLst/>
              </a:rPr>
              <a:t>from 2 Greek words: poly and morphs.</a:t>
            </a:r>
          </a:p>
          <a:p>
            <a:pPr>
              <a:lnSpc>
                <a:spcPct val="100000"/>
              </a:lnSpc>
            </a:pPr>
            <a:r>
              <a:rPr lang="en-US" b="0" i="0" dirty="0">
                <a:solidFill>
                  <a:srgbClr val="333333"/>
                </a:solidFill>
                <a:effectLst/>
              </a:rPr>
              <a:t> The word "</a:t>
            </a:r>
            <a:r>
              <a:rPr lang="en-US" b="0" i="0" dirty="0">
                <a:solidFill>
                  <a:srgbClr val="7030A0"/>
                </a:solidFill>
                <a:effectLst/>
              </a:rPr>
              <a:t>poly"</a:t>
            </a:r>
            <a:r>
              <a:rPr lang="en-US" b="0" i="0" dirty="0">
                <a:solidFill>
                  <a:srgbClr val="333333"/>
                </a:solidFill>
                <a:effectLst/>
              </a:rPr>
              <a:t> means </a:t>
            </a:r>
            <a:r>
              <a:rPr lang="en-US" b="0" i="0" dirty="0">
                <a:solidFill>
                  <a:srgbClr val="7030A0"/>
                </a:solidFill>
                <a:effectLst/>
              </a:rPr>
              <a:t>many</a:t>
            </a:r>
            <a:r>
              <a:rPr lang="en-US" b="0" i="0" dirty="0">
                <a:solidFill>
                  <a:srgbClr val="333333"/>
                </a:solidFill>
                <a:effectLst/>
              </a:rPr>
              <a:t> and </a:t>
            </a:r>
            <a:r>
              <a:rPr lang="en-US" b="0" i="0" dirty="0">
                <a:solidFill>
                  <a:srgbClr val="7030A0"/>
                </a:solidFill>
                <a:effectLst/>
              </a:rPr>
              <a:t>"morphs" </a:t>
            </a:r>
            <a:r>
              <a:rPr lang="en-US" b="0" i="0" dirty="0">
                <a:solidFill>
                  <a:srgbClr val="333333"/>
                </a:solidFill>
                <a:effectLst/>
              </a:rPr>
              <a:t>means </a:t>
            </a:r>
            <a:r>
              <a:rPr lang="en-US" b="0" i="0" dirty="0">
                <a:solidFill>
                  <a:srgbClr val="7030A0"/>
                </a:solidFill>
                <a:effectLst/>
              </a:rPr>
              <a:t>forms</a:t>
            </a:r>
            <a:r>
              <a:rPr lang="en-US" b="0" i="0" dirty="0">
                <a:solidFill>
                  <a:srgbClr val="333333"/>
                </a:solidFill>
                <a:effectLst/>
              </a:rPr>
              <a:t>. So polymorphism means many forms.</a:t>
            </a:r>
          </a:p>
          <a:p>
            <a:pPr>
              <a:lnSpc>
                <a:spcPct val="100000"/>
              </a:lnSpc>
            </a:pPr>
            <a:r>
              <a:rPr lang="en-US" b="0" i="0" dirty="0">
                <a:solidFill>
                  <a:srgbClr val="333333"/>
                </a:solidFill>
                <a:effectLst/>
              </a:rPr>
              <a:t>There are </a:t>
            </a:r>
            <a:r>
              <a:rPr lang="en-US" b="1" i="0" dirty="0">
                <a:solidFill>
                  <a:srgbClr val="7030A0"/>
                </a:solidFill>
                <a:effectLst/>
              </a:rPr>
              <a:t>three types of polymorphism </a:t>
            </a:r>
            <a:r>
              <a:rPr lang="en-US" b="0" i="0" dirty="0">
                <a:solidFill>
                  <a:srgbClr val="333333"/>
                </a:solidFill>
                <a:effectLst/>
              </a:rPr>
              <a:t>in Java: </a:t>
            </a:r>
            <a:endParaRPr lang="en-US" dirty="0">
              <a:solidFill>
                <a:srgbClr val="333333"/>
              </a:solidFill>
            </a:endParaRPr>
          </a:p>
          <a:p>
            <a:pPr marL="514350" indent="-514350">
              <a:lnSpc>
                <a:spcPct val="100000"/>
              </a:lnSpc>
              <a:buFont typeface="+mj-lt"/>
              <a:buAutoNum type="arabicPeriod"/>
            </a:pPr>
            <a:r>
              <a:rPr lang="en-IN" b="0" i="0" dirty="0">
                <a:solidFill>
                  <a:srgbClr val="333333"/>
                </a:solidFill>
                <a:effectLst/>
              </a:rPr>
              <a:t>compile-time polymorphism/ method overloading.</a:t>
            </a:r>
            <a:endParaRPr lang="en-US" b="0" i="0" dirty="0">
              <a:solidFill>
                <a:srgbClr val="333333"/>
              </a:solidFill>
              <a:effectLst/>
            </a:endParaRPr>
          </a:p>
          <a:p>
            <a:pPr marL="514350" indent="-514350">
              <a:lnSpc>
                <a:spcPct val="100000"/>
              </a:lnSpc>
              <a:buFont typeface="+mj-lt"/>
              <a:buAutoNum type="arabicPeriod"/>
            </a:pPr>
            <a:r>
              <a:rPr lang="en-IN" b="0" i="0" dirty="0">
                <a:solidFill>
                  <a:srgbClr val="333333"/>
                </a:solidFill>
                <a:effectLst/>
              </a:rPr>
              <a:t>runtime polymorphism/method overriding.</a:t>
            </a:r>
          </a:p>
          <a:p>
            <a:pPr marL="514350" indent="-514350">
              <a:lnSpc>
                <a:spcPct val="100000"/>
              </a:lnSpc>
              <a:buFont typeface="+mj-lt"/>
              <a:buAutoNum type="arabicPeriod"/>
            </a:pPr>
            <a:r>
              <a:rPr lang="en-IN" dirty="0">
                <a:solidFill>
                  <a:srgbClr val="333333"/>
                </a:solidFill>
              </a:rPr>
              <a:t>Operator overloading-not support in java</a:t>
            </a:r>
            <a:endParaRPr lang="en-IN" dirty="0"/>
          </a:p>
        </p:txBody>
      </p:sp>
    </p:spTree>
    <p:extLst>
      <p:ext uri="{BB962C8B-B14F-4D97-AF65-F5344CB8AC3E}">
        <p14:creationId xmlns:p14="http://schemas.microsoft.com/office/powerpoint/2010/main" val="51598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F2085-5422-B0EB-96FB-B620DB4E94F0}"/>
              </a:ext>
            </a:extLst>
          </p:cNvPr>
          <p:cNvSpPr>
            <a:spLocks noGrp="1"/>
          </p:cNvSpPr>
          <p:nvPr>
            <p:ph idx="1"/>
          </p:nvPr>
        </p:nvSpPr>
        <p:spPr>
          <a:xfrm>
            <a:off x="838200" y="597159"/>
            <a:ext cx="10515600" cy="5579804"/>
          </a:xfrm>
        </p:spPr>
        <p:txBody>
          <a:bodyPr>
            <a:normAutofit fontScale="92500" lnSpcReduction="10000"/>
          </a:bodyPr>
          <a:lstStyle/>
          <a:p>
            <a:pPr marL="0" indent="0">
              <a:lnSpc>
                <a:spcPct val="110000"/>
              </a:lnSpc>
              <a:buNone/>
            </a:pPr>
            <a:r>
              <a:rPr lang="en-IN" b="1" i="0" dirty="0">
                <a:solidFill>
                  <a:srgbClr val="7030A0"/>
                </a:solidFill>
                <a:effectLst/>
              </a:rPr>
              <a:t>Runtime Polymorphism</a:t>
            </a:r>
          </a:p>
          <a:p>
            <a:pPr marL="0" indent="0">
              <a:lnSpc>
                <a:spcPct val="110000"/>
              </a:lnSpc>
              <a:buNone/>
            </a:pPr>
            <a:r>
              <a:rPr lang="en-IN" dirty="0"/>
              <a:t>Example</a:t>
            </a:r>
          </a:p>
          <a:p>
            <a:pPr marL="0" indent="0" algn="just">
              <a:lnSpc>
                <a:spcPct val="110000"/>
              </a:lnSpc>
              <a:buNone/>
            </a:pPr>
            <a:r>
              <a:rPr lang="en-IN" b="1" i="0" dirty="0">
                <a:solidFill>
                  <a:srgbClr val="006699"/>
                </a:solidFill>
                <a:effectLst/>
              </a:rPr>
              <a:t>class</a:t>
            </a:r>
            <a:r>
              <a:rPr lang="en-IN" b="0" i="0" dirty="0">
                <a:solidFill>
                  <a:srgbClr val="000000"/>
                </a:solidFill>
                <a:effectLst/>
              </a:rPr>
              <a:t> Bike{  </a:t>
            </a:r>
          </a:p>
          <a:p>
            <a:pPr marL="0" indent="0" algn="just">
              <a:lnSpc>
                <a:spcPct val="110000"/>
              </a:lnSpc>
              <a:buNone/>
            </a:pP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"running"</a:t>
            </a:r>
            <a:r>
              <a:rPr lang="en-IN" b="0" i="0" dirty="0">
                <a:solidFill>
                  <a:srgbClr val="000000"/>
                </a:solidFill>
                <a:effectLst/>
              </a:rPr>
              <a:t>);}  }  </a:t>
            </a:r>
          </a:p>
          <a:p>
            <a:pPr marL="0" indent="0" algn="just">
              <a:lnSpc>
                <a:spcPct val="110000"/>
              </a:lnSpc>
              <a:buNone/>
            </a:pP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Splendor</a:t>
            </a:r>
            <a:r>
              <a:rPr lang="en-IN" b="0" i="0" dirty="0">
                <a:solidFill>
                  <a:srgbClr val="000000"/>
                </a:solidFill>
                <a:effectLst/>
              </a:rPr>
              <a:t> </a:t>
            </a:r>
            <a:r>
              <a:rPr lang="en-IN" b="1" i="0" dirty="0">
                <a:solidFill>
                  <a:srgbClr val="006699"/>
                </a:solidFill>
                <a:effectLst/>
              </a:rPr>
              <a:t>extends</a:t>
            </a:r>
            <a:r>
              <a:rPr lang="en-IN" b="0" i="0" dirty="0">
                <a:solidFill>
                  <a:srgbClr val="000000"/>
                </a:solidFill>
                <a:effectLst/>
              </a:rPr>
              <a:t> Bike{  </a:t>
            </a:r>
          </a:p>
          <a:p>
            <a:pPr marL="0" indent="0" algn="just">
              <a:lnSpc>
                <a:spcPct val="110000"/>
              </a:lnSpc>
              <a:buNone/>
            </a:pP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"running safely with 60km"</a:t>
            </a:r>
            <a:r>
              <a:rPr lang="en-IN" b="0" i="0" dirty="0">
                <a:solidFill>
                  <a:srgbClr val="000000"/>
                </a:solidFill>
                <a:effectLst/>
              </a:rPr>
              <a:t>);}  </a:t>
            </a:r>
          </a:p>
          <a:p>
            <a:pPr marL="0" indent="0" algn="just">
              <a:lnSpc>
                <a:spcPct val="110000"/>
              </a:lnSpc>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lnSpc>
                <a:spcPct val="110000"/>
              </a:lnSpc>
              <a:buNone/>
            </a:pPr>
            <a:r>
              <a:rPr lang="en-IN" b="0" i="0" dirty="0">
                <a:solidFill>
                  <a:srgbClr val="000000"/>
                </a:solidFill>
                <a:effectLst/>
              </a:rPr>
              <a:t>    Bike b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Splendor</a:t>
            </a:r>
            <a:r>
              <a:rPr lang="en-IN" b="0" i="0" dirty="0">
                <a:solidFill>
                  <a:srgbClr val="000000"/>
                </a:solidFill>
                <a:effectLst/>
              </a:rPr>
              <a:t>();</a:t>
            </a:r>
            <a:r>
              <a:rPr lang="en-IN" b="0" i="0" dirty="0">
                <a:solidFill>
                  <a:srgbClr val="008200"/>
                </a:solidFill>
                <a:effectLst/>
              </a:rPr>
              <a:t>//upcasting</a:t>
            </a:r>
            <a:r>
              <a:rPr lang="en-IN" b="0" i="0" dirty="0">
                <a:solidFill>
                  <a:srgbClr val="000000"/>
                </a:solidFill>
                <a:effectLst/>
              </a:rPr>
              <a:t>  </a:t>
            </a:r>
          </a:p>
          <a:p>
            <a:pPr marL="0" indent="0" algn="just">
              <a:lnSpc>
                <a:spcPct val="110000"/>
              </a:lnSpc>
              <a:buNone/>
            </a:pPr>
            <a:r>
              <a:rPr lang="en-IN" b="0" i="0" dirty="0">
                <a:solidFill>
                  <a:srgbClr val="000000"/>
                </a:solidFill>
                <a:effectLst/>
              </a:rPr>
              <a:t>    </a:t>
            </a:r>
            <a:r>
              <a:rPr lang="en-IN" b="0" i="0" dirty="0" err="1">
                <a:solidFill>
                  <a:srgbClr val="000000"/>
                </a:solidFill>
                <a:effectLst/>
              </a:rPr>
              <a:t>b.run</a:t>
            </a:r>
            <a:r>
              <a:rPr lang="en-IN" b="0" i="0" dirty="0">
                <a:solidFill>
                  <a:srgbClr val="000000"/>
                </a:solidFill>
                <a:effectLst/>
              </a:rPr>
              <a:t>();  </a:t>
            </a:r>
          </a:p>
          <a:p>
            <a:pPr marL="0" indent="0" algn="just">
              <a:lnSpc>
                <a:spcPct val="110000"/>
              </a:lnSpc>
              <a:buNone/>
            </a:pPr>
            <a:r>
              <a:rPr lang="en-IN" b="0" i="0" dirty="0">
                <a:solidFill>
                  <a:srgbClr val="000000"/>
                </a:solidFill>
                <a:effectLst/>
              </a:rPr>
              <a:t>  }  }</a:t>
            </a:r>
          </a:p>
          <a:p>
            <a:endParaRPr lang="en-IN" dirty="0"/>
          </a:p>
        </p:txBody>
      </p:sp>
    </p:spTree>
    <p:extLst>
      <p:ext uri="{BB962C8B-B14F-4D97-AF65-F5344CB8AC3E}">
        <p14:creationId xmlns:p14="http://schemas.microsoft.com/office/powerpoint/2010/main" val="18291044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2BFFF-DC61-6991-FCCC-53DDBCD98958}"/>
              </a:ext>
            </a:extLst>
          </p:cNvPr>
          <p:cNvSpPr>
            <a:spLocks noGrp="1"/>
          </p:cNvSpPr>
          <p:nvPr>
            <p:ph idx="1"/>
          </p:nvPr>
        </p:nvSpPr>
        <p:spPr>
          <a:xfrm>
            <a:off x="838200" y="615820"/>
            <a:ext cx="10515600" cy="5561143"/>
          </a:xfrm>
        </p:spPr>
        <p:txBody>
          <a:bodyPr>
            <a:normAutofit lnSpcReduction="10000"/>
          </a:bodyPr>
          <a:lstStyle/>
          <a:p>
            <a:pPr marL="0" indent="0">
              <a:buNone/>
            </a:pPr>
            <a:r>
              <a:rPr lang="en-IN" b="1" dirty="0">
                <a:solidFill>
                  <a:srgbClr val="7030A0"/>
                </a:solidFill>
              </a:rPr>
              <a:t>Compile time Polymorphism</a:t>
            </a:r>
          </a:p>
          <a:p>
            <a:pPr marL="0" indent="0">
              <a:buNone/>
            </a:pPr>
            <a:r>
              <a:rPr lang="en-IN" b="0" i="0" dirty="0">
                <a:solidFill>
                  <a:srgbClr val="444444"/>
                </a:solidFill>
                <a:effectLst/>
              </a:rPr>
              <a:t>class Shapes {</a:t>
            </a:r>
          </a:p>
          <a:p>
            <a:pPr marL="0" indent="0">
              <a:buNone/>
            </a:pPr>
            <a:r>
              <a:rPr lang="en-IN" b="0" i="0" dirty="0">
                <a:solidFill>
                  <a:srgbClr val="444444"/>
                </a:solidFill>
                <a:effectLst/>
              </a:rPr>
              <a:t> public void area() </a:t>
            </a:r>
          </a:p>
          <a:p>
            <a:pPr marL="0" indent="0">
              <a:buNone/>
            </a:pPr>
            <a:r>
              <a:rPr lang="en-IN" b="0" i="0" dirty="0">
                <a:solidFill>
                  <a:srgbClr val="444444"/>
                </a:solidFill>
                <a:effectLst/>
              </a:rPr>
              <a:t>{ </a:t>
            </a:r>
            <a:r>
              <a:rPr lang="en-IN" b="0" i="0" dirty="0" err="1">
                <a:solidFill>
                  <a:srgbClr val="444444"/>
                </a:solidFill>
                <a:effectLst/>
              </a:rPr>
              <a:t>System.out.println</a:t>
            </a:r>
            <a:r>
              <a:rPr lang="en-IN" b="0" i="0" dirty="0">
                <a:solidFill>
                  <a:srgbClr val="444444"/>
                </a:solidFill>
                <a:effectLst/>
              </a:rPr>
              <a:t>("Find area "); } </a:t>
            </a:r>
          </a:p>
          <a:p>
            <a:pPr marL="0" indent="0">
              <a:buNone/>
            </a:pPr>
            <a:r>
              <a:rPr lang="en-IN" b="0" i="0" dirty="0">
                <a:solidFill>
                  <a:srgbClr val="444444"/>
                </a:solidFill>
                <a:effectLst/>
              </a:rPr>
              <a:t>public void area(int r)</a:t>
            </a:r>
          </a:p>
          <a:p>
            <a:pPr marL="0" indent="0">
              <a:buNone/>
            </a:pPr>
            <a:r>
              <a:rPr lang="en-IN" b="0" i="0" dirty="0">
                <a:solidFill>
                  <a:srgbClr val="444444"/>
                </a:solidFill>
                <a:effectLst/>
              </a:rPr>
              <a:t> { </a:t>
            </a:r>
            <a:r>
              <a:rPr lang="en-IN" b="0" i="0" dirty="0" err="1">
                <a:solidFill>
                  <a:srgbClr val="444444"/>
                </a:solidFill>
                <a:effectLst/>
              </a:rPr>
              <a:t>System.out.println</a:t>
            </a:r>
            <a:r>
              <a:rPr lang="en-IN" b="0" i="0" dirty="0">
                <a:solidFill>
                  <a:srgbClr val="444444"/>
                </a:solidFill>
                <a:effectLst/>
              </a:rPr>
              <a:t>("Circle area = "+3.14*r*r); }</a:t>
            </a:r>
            <a:r>
              <a:rPr lang="en-IN" dirty="0">
                <a:solidFill>
                  <a:srgbClr val="444444"/>
                </a:solidFill>
              </a:rPr>
              <a:t>}</a:t>
            </a:r>
          </a:p>
          <a:p>
            <a:pPr marL="0" indent="0">
              <a:buNone/>
            </a:pPr>
            <a:r>
              <a:rPr lang="en-IN" b="0" i="0" dirty="0">
                <a:solidFill>
                  <a:srgbClr val="444444"/>
                </a:solidFill>
                <a:effectLst/>
              </a:rPr>
              <a:t>class Main {</a:t>
            </a:r>
          </a:p>
          <a:p>
            <a:pPr marL="0" indent="0">
              <a:buNone/>
            </a:pPr>
            <a:r>
              <a:rPr lang="en-IN" b="0" i="0" dirty="0">
                <a:solidFill>
                  <a:srgbClr val="444444"/>
                </a:solidFill>
                <a:effectLst/>
              </a:rPr>
              <a:t> public static void main(String[] </a:t>
            </a:r>
            <a:r>
              <a:rPr lang="en-IN" b="0" i="0" dirty="0" err="1">
                <a:solidFill>
                  <a:srgbClr val="444444"/>
                </a:solidFill>
                <a:effectLst/>
              </a:rPr>
              <a:t>args</a:t>
            </a:r>
            <a:r>
              <a:rPr lang="en-IN" b="0" i="0" dirty="0">
                <a:solidFill>
                  <a:srgbClr val="444444"/>
                </a:solidFill>
                <a:effectLst/>
              </a:rPr>
              <a:t>) {</a:t>
            </a:r>
          </a:p>
          <a:p>
            <a:pPr marL="0" indent="0">
              <a:buNone/>
            </a:pPr>
            <a:r>
              <a:rPr lang="en-IN" b="0" i="0" dirty="0">
                <a:solidFill>
                  <a:srgbClr val="444444"/>
                </a:solidFill>
                <a:effectLst/>
              </a:rPr>
              <a:t> Shapes </a:t>
            </a:r>
            <a:r>
              <a:rPr lang="en-IN" b="0" i="0" dirty="0" err="1">
                <a:solidFill>
                  <a:srgbClr val="444444"/>
                </a:solidFill>
                <a:effectLst/>
              </a:rPr>
              <a:t>myShape</a:t>
            </a:r>
            <a:r>
              <a:rPr lang="en-IN" b="0" i="0" dirty="0">
                <a:solidFill>
                  <a:srgbClr val="444444"/>
                </a:solidFill>
                <a:effectLst/>
              </a:rPr>
              <a:t> = new Shapes(); </a:t>
            </a:r>
          </a:p>
          <a:p>
            <a:pPr marL="0" indent="0">
              <a:buNone/>
            </a:pPr>
            <a:r>
              <a:rPr lang="en-IN" b="0" i="0" dirty="0" err="1">
                <a:solidFill>
                  <a:srgbClr val="444444"/>
                </a:solidFill>
                <a:effectLst/>
              </a:rPr>
              <a:t>myShape.area</a:t>
            </a:r>
            <a:r>
              <a:rPr lang="en-IN" b="0" i="0" dirty="0">
                <a:solidFill>
                  <a:srgbClr val="444444"/>
                </a:solidFill>
                <a:effectLst/>
              </a:rPr>
              <a:t>(); </a:t>
            </a:r>
          </a:p>
          <a:p>
            <a:pPr marL="0" indent="0">
              <a:buNone/>
            </a:pPr>
            <a:r>
              <a:rPr lang="en-IN" b="0" i="0" dirty="0" err="1">
                <a:solidFill>
                  <a:srgbClr val="444444"/>
                </a:solidFill>
                <a:effectLst/>
              </a:rPr>
              <a:t>myShape.area</a:t>
            </a:r>
            <a:r>
              <a:rPr lang="en-IN" b="0" i="0" dirty="0">
                <a:solidFill>
                  <a:srgbClr val="444444"/>
                </a:solidFill>
                <a:effectLst/>
              </a:rPr>
              <a:t>(5);}}</a:t>
            </a:r>
            <a:endParaRPr lang="en-IN" dirty="0"/>
          </a:p>
          <a:p>
            <a:endParaRPr lang="en-IN" dirty="0"/>
          </a:p>
        </p:txBody>
      </p:sp>
    </p:spTree>
    <p:extLst>
      <p:ext uri="{BB962C8B-B14F-4D97-AF65-F5344CB8AC3E}">
        <p14:creationId xmlns:p14="http://schemas.microsoft.com/office/powerpoint/2010/main" val="16986923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804161-F116-5868-183F-B26346B17ABA}"/>
              </a:ext>
            </a:extLst>
          </p:cNvPr>
          <p:cNvSpPr>
            <a:spLocks noGrp="1"/>
          </p:cNvSpPr>
          <p:nvPr>
            <p:ph idx="1"/>
          </p:nvPr>
        </p:nvSpPr>
        <p:spPr>
          <a:xfrm>
            <a:off x="838200" y="494522"/>
            <a:ext cx="10515600" cy="5682441"/>
          </a:xfrm>
        </p:spPr>
        <p:txBody>
          <a:bodyPr/>
          <a:lstStyle/>
          <a:p>
            <a:pPr marL="0" indent="0">
              <a:lnSpc>
                <a:spcPct val="150000"/>
              </a:lnSpc>
              <a:buNone/>
            </a:pPr>
            <a:r>
              <a:rPr lang="en-IN" b="1" spc="-10" dirty="0">
                <a:solidFill>
                  <a:srgbClr val="7030A0"/>
                </a:solidFill>
              </a:rPr>
              <a:t>Super</a:t>
            </a:r>
            <a:r>
              <a:rPr lang="en-IN" b="1" spc="-120" dirty="0">
                <a:solidFill>
                  <a:srgbClr val="7030A0"/>
                </a:solidFill>
              </a:rPr>
              <a:t> </a:t>
            </a:r>
            <a:r>
              <a:rPr lang="en-IN" b="1" spc="-45" dirty="0">
                <a:solidFill>
                  <a:srgbClr val="7030A0"/>
                </a:solidFill>
              </a:rPr>
              <a:t>keyword</a:t>
            </a:r>
          </a:p>
          <a:p>
            <a:pPr marL="356870" marR="5080" indent="-344805">
              <a:lnSpc>
                <a:spcPct val="150000"/>
              </a:lnSpc>
              <a:spcBef>
                <a:spcPts val="95"/>
              </a:spcBef>
              <a:buFont typeface="Arial MT"/>
              <a:buChar char="•"/>
              <a:tabLst>
                <a:tab pos="356870" algn="l"/>
                <a:tab pos="357505" algn="l"/>
              </a:tabLst>
            </a:pPr>
            <a:r>
              <a:rPr lang="en-US" dirty="0">
                <a:cs typeface="Calibri"/>
              </a:rPr>
              <a:t>It</a:t>
            </a:r>
            <a:r>
              <a:rPr lang="en-US" spc="5" dirty="0">
                <a:cs typeface="Calibri"/>
              </a:rPr>
              <a:t> </a:t>
            </a:r>
            <a:r>
              <a:rPr lang="en-US" dirty="0">
                <a:cs typeface="Calibri"/>
              </a:rPr>
              <a:t>is</a:t>
            </a:r>
            <a:r>
              <a:rPr lang="en-US" spc="-30" dirty="0">
                <a:cs typeface="Calibri"/>
              </a:rPr>
              <a:t> </a:t>
            </a:r>
            <a:r>
              <a:rPr lang="en-US" spc="-5" dirty="0">
                <a:cs typeface="Calibri"/>
              </a:rPr>
              <a:t>a</a:t>
            </a:r>
            <a:r>
              <a:rPr lang="en-US" spc="25" dirty="0">
                <a:cs typeface="Calibri"/>
              </a:rPr>
              <a:t> </a:t>
            </a:r>
            <a:r>
              <a:rPr lang="en-US" spc="-50" dirty="0">
                <a:cs typeface="Calibri"/>
              </a:rPr>
              <a:t>reference </a:t>
            </a:r>
            <a:r>
              <a:rPr lang="en-US" spc="-10" dirty="0">
                <a:cs typeface="Calibri"/>
              </a:rPr>
              <a:t>variable</a:t>
            </a:r>
            <a:r>
              <a:rPr lang="en-US" spc="-55" dirty="0">
                <a:cs typeface="Calibri"/>
              </a:rPr>
              <a:t> </a:t>
            </a:r>
            <a:r>
              <a:rPr lang="en-US" spc="-10" dirty="0">
                <a:cs typeface="Calibri"/>
              </a:rPr>
              <a:t>that </a:t>
            </a:r>
            <a:r>
              <a:rPr lang="en-US" dirty="0">
                <a:cs typeface="Calibri"/>
              </a:rPr>
              <a:t>is</a:t>
            </a:r>
            <a:r>
              <a:rPr lang="en-US" spc="-30" dirty="0">
                <a:cs typeface="Calibri"/>
              </a:rPr>
              <a:t> </a:t>
            </a:r>
            <a:r>
              <a:rPr lang="en-US" spc="-10" dirty="0">
                <a:cs typeface="Calibri"/>
              </a:rPr>
              <a:t>used</a:t>
            </a:r>
            <a:r>
              <a:rPr lang="en-US" spc="-5" dirty="0">
                <a:cs typeface="Calibri"/>
              </a:rPr>
              <a:t> </a:t>
            </a:r>
            <a:r>
              <a:rPr lang="en-US" spc="-10" dirty="0">
                <a:cs typeface="Calibri"/>
              </a:rPr>
              <a:t>to</a:t>
            </a:r>
            <a:r>
              <a:rPr lang="en-US" spc="-30" dirty="0">
                <a:cs typeface="Calibri"/>
              </a:rPr>
              <a:t> </a:t>
            </a:r>
            <a:r>
              <a:rPr lang="en-US" spc="-75" dirty="0">
                <a:cs typeface="Calibri"/>
              </a:rPr>
              <a:t>refer </a:t>
            </a:r>
            <a:r>
              <a:rPr lang="en-US" spc="-710" dirty="0">
                <a:cs typeface="Calibri"/>
              </a:rPr>
              <a:t> </a:t>
            </a:r>
            <a:r>
              <a:rPr lang="en-US" spc="-40" dirty="0">
                <a:cs typeface="Calibri"/>
              </a:rPr>
              <a:t>parent</a:t>
            </a:r>
            <a:r>
              <a:rPr lang="en-US" spc="45" dirty="0">
                <a:cs typeface="Calibri"/>
              </a:rPr>
              <a:t> </a:t>
            </a:r>
            <a:r>
              <a:rPr lang="en-US" spc="-5" dirty="0">
                <a:cs typeface="Calibri"/>
              </a:rPr>
              <a:t>class</a:t>
            </a:r>
            <a:r>
              <a:rPr lang="en-US" dirty="0">
                <a:cs typeface="Calibri"/>
              </a:rPr>
              <a:t> </a:t>
            </a:r>
            <a:r>
              <a:rPr lang="en-US" spc="-10" dirty="0">
                <a:cs typeface="Calibri"/>
              </a:rPr>
              <a:t>objects.</a:t>
            </a:r>
            <a:endParaRPr lang="en-US" dirty="0">
              <a:cs typeface="Calibri"/>
            </a:endParaRPr>
          </a:p>
          <a:p>
            <a:pPr marL="356870" indent="-344805">
              <a:lnSpc>
                <a:spcPct val="150000"/>
              </a:lnSpc>
              <a:spcBef>
                <a:spcPts val="795"/>
              </a:spcBef>
              <a:buFont typeface="Arial MT"/>
              <a:buChar char="•"/>
              <a:tabLst>
                <a:tab pos="356870" algn="l"/>
                <a:tab pos="357505" algn="l"/>
              </a:tabLst>
            </a:pPr>
            <a:r>
              <a:rPr lang="en-US" spc="-40" dirty="0">
                <a:cs typeface="Calibri"/>
              </a:rPr>
              <a:t>parent</a:t>
            </a:r>
            <a:r>
              <a:rPr lang="en-US" spc="20" dirty="0">
                <a:cs typeface="Calibri"/>
              </a:rPr>
              <a:t> </a:t>
            </a:r>
            <a:r>
              <a:rPr lang="en-US" spc="-5" dirty="0">
                <a:cs typeface="Calibri"/>
              </a:rPr>
              <a:t>class</a:t>
            </a:r>
            <a:r>
              <a:rPr lang="en-US" dirty="0">
                <a:cs typeface="Calibri"/>
              </a:rPr>
              <a:t> </a:t>
            </a:r>
            <a:r>
              <a:rPr lang="en-US" spc="-40" dirty="0">
                <a:cs typeface="Calibri"/>
              </a:rPr>
              <a:t>instance</a:t>
            </a:r>
            <a:r>
              <a:rPr lang="en-US" spc="55" dirty="0">
                <a:cs typeface="Calibri"/>
              </a:rPr>
              <a:t> </a:t>
            </a:r>
            <a:r>
              <a:rPr lang="en-US" spc="-10" dirty="0">
                <a:cs typeface="Calibri"/>
              </a:rPr>
              <a:t>variable</a:t>
            </a:r>
            <a:r>
              <a:rPr lang="en-IN" spc="-10" dirty="0">
                <a:cs typeface="Calibri"/>
              </a:rPr>
              <a:t>.</a:t>
            </a:r>
            <a:endParaRPr lang="en-US" dirty="0">
              <a:cs typeface="Calibri"/>
            </a:endParaRPr>
          </a:p>
        </p:txBody>
      </p:sp>
    </p:spTree>
    <p:extLst>
      <p:ext uri="{BB962C8B-B14F-4D97-AF65-F5344CB8AC3E}">
        <p14:creationId xmlns:p14="http://schemas.microsoft.com/office/powerpoint/2010/main" val="427895564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99BD8-F2FE-4D9C-8CE4-582BF20310B1}"/>
              </a:ext>
            </a:extLst>
          </p:cNvPr>
          <p:cNvSpPr>
            <a:spLocks noGrp="1"/>
          </p:cNvSpPr>
          <p:nvPr>
            <p:ph idx="1"/>
          </p:nvPr>
        </p:nvSpPr>
        <p:spPr>
          <a:xfrm>
            <a:off x="838200" y="587829"/>
            <a:ext cx="10515600" cy="5589134"/>
          </a:xfrm>
        </p:spPr>
        <p:txBody>
          <a:bodyPr>
            <a:normAutofit fontScale="85000" lnSpcReduction="20000"/>
          </a:bodyPr>
          <a:lstStyle/>
          <a:p>
            <a:pPr marL="0" indent="0">
              <a:buNone/>
            </a:pPr>
            <a:r>
              <a:rPr lang="en-IN" b="1" dirty="0">
                <a:solidFill>
                  <a:srgbClr val="7030A0"/>
                </a:solidFill>
              </a:rPr>
              <a:t>Example</a:t>
            </a:r>
          </a:p>
          <a:p>
            <a:pPr marL="0" indent="0" algn="just">
              <a:buNone/>
            </a:pPr>
            <a:r>
              <a:rPr lang="en-IN" b="1" i="0" dirty="0">
                <a:solidFill>
                  <a:srgbClr val="006699"/>
                </a:solidFill>
                <a:effectLst/>
              </a:rPr>
              <a:t>class</a:t>
            </a:r>
            <a:r>
              <a:rPr lang="en-IN" b="0" i="0" dirty="0">
                <a:solidFill>
                  <a:srgbClr val="000000"/>
                </a:solidFill>
                <a:effectLst/>
              </a:rPr>
              <a:t> Animal{  </a:t>
            </a:r>
          </a:p>
          <a:p>
            <a:pPr marL="0" indent="0" algn="just">
              <a:buNone/>
            </a:pPr>
            <a:r>
              <a:rPr lang="en-IN" b="0" i="0" dirty="0">
                <a:solidFill>
                  <a:srgbClr val="000000"/>
                </a:solidFill>
                <a:effectLst/>
              </a:rPr>
              <a:t>String </a:t>
            </a:r>
            <a:r>
              <a:rPr lang="en-IN" b="0" i="0" dirty="0" err="1">
                <a:solidFill>
                  <a:srgbClr val="000000"/>
                </a:solidFill>
                <a:effectLst/>
              </a:rPr>
              <a:t>color</a:t>
            </a:r>
            <a:r>
              <a:rPr lang="en-IN" b="0" i="0" dirty="0">
                <a:solidFill>
                  <a:srgbClr val="000000"/>
                </a:solidFill>
                <a:effectLst/>
              </a:rPr>
              <a:t>=</a:t>
            </a:r>
            <a:r>
              <a:rPr lang="en-IN" b="0" i="0" dirty="0">
                <a:solidFill>
                  <a:srgbClr val="0000FF"/>
                </a:solidFill>
                <a:effectLst/>
              </a:rPr>
              <a:t>"white"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class</a:t>
            </a:r>
            <a:r>
              <a:rPr lang="en-IN" b="0" i="0" dirty="0">
                <a:solidFill>
                  <a:srgbClr val="000000"/>
                </a:solidFill>
                <a:effectLst/>
              </a:rPr>
              <a:t> Dog </a:t>
            </a:r>
            <a:r>
              <a:rPr lang="en-IN" b="1" i="0" dirty="0">
                <a:solidFill>
                  <a:srgbClr val="006699"/>
                </a:solidFill>
                <a:effectLst/>
              </a:rPr>
              <a:t>extends</a:t>
            </a:r>
            <a:r>
              <a:rPr lang="en-IN" b="0" i="0" dirty="0">
                <a:solidFill>
                  <a:srgbClr val="000000"/>
                </a:solidFill>
                <a:effectLst/>
              </a:rPr>
              <a:t> Animal{  </a:t>
            </a:r>
          </a:p>
          <a:p>
            <a:pPr marL="0" indent="0" algn="just">
              <a:buNone/>
            </a:pPr>
            <a:r>
              <a:rPr lang="en-IN" b="0" i="0" dirty="0">
                <a:solidFill>
                  <a:srgbClr val="000000"/>
                </a:solidFill>
                <a:effectLst/>
              </a:rPr>
              <a:t>String </a:t>
            </a:r>
            <a:r>
              <a:rPr lang="en-IN" b="0" i="0" dirty="0" err="1">
                <a:solidFill>
                  <a:srgbClr val="000000"/>
                </a:solidFill>
                <a:effectLst/>
              </a:rPr>
              <a:t>color</a:t>
            </a:r>
            <a:r>
              <a:rPr lang="en-IN" b="0" i="0" dirty="0">
                <a:solidFill>
                  <a:srgbClr val="000000"/>
                </a:solidFill>
                <a:effectLst/>
              </a:rPr>
              <a:t>=</a:t>
            </a:r>
            <a:r>
              <a:rPr lang="en-IN" b="0" i="0" dirty="0">
                <a:solidFill>
                  <a:srgbClr val="0000FF"/>
                </a:solidFill>
                <a:effectLst/>
              </a:rPr>
              <a:t>"black"</a:t>
            </a:r>
            <a:r>
              <a:rPr lang="en-IN" b="0" i="0" dirty="0">
                <a:solidFill>
                  <a:srgbClr val="000000"/>
                </a:solidFill>
                <a:effectLst/>
              </a:rPr>
              <a:t>;  </a:t>
            </a:r>
          </a:p>
          <a:p>
            <a:pPr marL="0" indent="0" algn="just">
              <a:buNone/>
            </a:pP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printColor</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color</a:t>
            </a:r>
            <a:r>
              <a:rPr lang="en-IN" b="0" i="0" dirty="0">
                <a:solidFill>
                  <a:srgbClr val="000000"/>
                </a:solidFill>
                <a:effectLst/>
              </a:rPr>
              <a:t>);</a:t>
            </a:r>
            <a:r>
              <a:rPr lang="en-IN" b="0" i="0" dirty="0">
                <a:solidFill>
                  <a:srgbClr val="008200"/>
                </a:solidFill>
                <a:effectLst/>
              </a:rPr>
              <a:t>//prints </a:t>
            </a:r>
            <a:r>
              <a:rPr lang="en-IN" b="0" i="0" dirty="0" err="1">
                <a:solidFill>
                  <a:srgbClr val="008200"/>
                </a:solidFill>
                <a:effectLst/>
              </a:rPr>
              <a:t>color</a:t>
            </a:r>
            <a:r>
              <a:rPr lang="en-IN" b="0" i="0" dirty="0">
                <a:solidFill>
                  <a:srgbClr val="008200"/>
                </a:solidFill>
                <a:effectLst/>
              </a:rPr>
              <a:t> of Dog class</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1" i="0" dirty="0" err="1">
                <a:solidFill>
                  <a:srgbClr val="006699"/>
                </a:solidFill>
                <a:effectLst/>
              </a:rPr>
              <a:t>super</a:t>
            </a:r>
            <a:r>
              <a:rPr lang="en-IN" b="0" i="0" dirty="0" err="1">
                <a:solidFill>
                  <a:srgbClr val="000000"/>
                </a:solidFill>
                <a:effectLst/>
              </a:rPr>
              <a:t>.color</a:t>
            </a:r>
            <a:r>
              <a:rPr lang="en-IN" b="0" i="0" dirty="0">
                <a:solidFill>
                  <a:srgbClr val="000000"/>
                </a:solidFill>
                <a:effectLst/>
              </a:rPr>
              <a:t>);</a:t>
            </a:r>
            <a:r>
              <a:rPr lang="en-IN" b="0" i="0" dirty="0">
                <a:solidFill>
                  <a:srgbClr val="008200"/>
                </a:solidFill>
                <a:effectLst/>
              </a:rPr>
              <a:t>//prints </a:t>
            </a:r>
            <a:r>
              <a:rPr lang="en-IN" b="0" i="0" dirty="0" err="1">
                <a:solidFill>
                  <a:srgbClr val="008200"/>
                </a:solidFill>
                <a:effectLst/>
              </a:rPr>
              <a:t>color</a:t>
            </a:r>
            <a:r>
              <a:rPr lang="en-IN" b="0" i="0" dirty="0">
                <a:solidFill>
                  <a:srgbClr val="008200"/>
                </a:solidFill>
                <a:effectLst/>
              </a:rPr>
              <a:t> of Animal class</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1" i="0" dirty="0">
                <a:solidFill>
                  <a:srgbClr val="006699"/>
                </a:solidFill>
                <a:effectLst/>
              </a:rPr>
              <a:t>class</a:t>
            </a:r>
            <a:r>
              <a:rPr lang="en-IN" b="0" i="0" dirty="0">
                <a:solidFill>
                  <a:srgbClr val="000000"/>
                </a:solidFill>
                <a:effectLst/>
              </a:rPr>
              <a:t> TestSuper1{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Dog d=</a:t>
            </a:r>
            <a:r>
              <a:rPr lang="en-IN" b="1" i="0" dirty="0">
                <a:solidFill>
                  <a:srgbClr val="006699"/>
                </a:solidFill>
                <a:effectLst/>
              </a:rPr>
              <a:t>new</a:t>
            </a:r>
            <a:r>
              <a:rPr lang="en-IN" b="0" i="0" dirty="0">
                <a:solidFill>
                  <a:srgbClr val="000000"/>
                </a:solidFill>
                <a:effectLst/>
              </a:rPr>
              <a:t> Dog();  </a:t>
            </a:r>
          </a:p>
          <a:p>
            <a:pPr marL="0" indent="0" algn="just">
              <a:buNone/>
            </a:pPr>
            <a:r>
              <a:rPr lang="en-IN" b="0" i="0" dirty="0" err="1">
                <a:solidFill>
                  <a:srgbClr val="000000"/>
                </a:solidFill>
                <a:effectLst/>
              </a:rPr>
              <a:t>d.printColor</a:t>
            </a:r>
            <a:r>
              <a:rPr lang="en-IN" b="0" i="0" dirty="0">
                <a:solidFill>
                  <a:srgbClr val="000000"/>
                </a:solidFill>
                <a:effectLst/>
              </a:rPr>
              <a:t>(); }}  </a:t>
            </a:r>
          </a:p>
          <a:p>
            <a:endParaRPr lang="en-IN" dirty="0"/>
          </a:p>
        </p:txBody>
      </p:sp>
    </p:spTree>
    <p:extLst>
      <p:ext uri="{BB962C8B-B14F-4D97-AF65-F5344CB8AC3E}">
        <p14:creationId xmlns:p14="http://schemas.microsoft.com/office/powerpoint/2010/main" val="329479285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BA3EF-2C3E-5C58-C5C4-985D67A0AE77}"/>
              </a:ext>
            </a:extLst>
          </p:cNvPr>
          <p:cNvSpPr>
            <a:spLocks noGrp="1"/>
          </p:cNvSpPr>
          <p:nvPr>
            <p:ph idx="1"/>
          </p:nvPr>
        </p:nvSpPr>
        <p:spPr>
          <a:xfrm>
            <a:off x="838200" y="485192"/>
            <a:ext cx="10515600" cy="5691771"/>
          </a:xfrm>
        </p:spPr>
        <p:txBody>
          <a:bodyPr/>
          <a:lstStyle/>
          <a:p>
            <a:pPr marL="0" indent="0">
              <a:lnSpc>
                <a:spcPct val="150000"/>
              </a:lnSpc>
              <a:buNone/>
            </a:pPr>
            <a:r>
              <a:rPr lang="en-IN" b="1" spc="-10" dirty="0">
                <a:solidFill>
                  <a:srgbClr val="7030A0"/>
                </a:solidFill>
              </a:rPr>
              <a:t>This</a:t>
            </a:r>
            <a:r>
              <a:rPr lang="en-IN" b="1" spc="-105" dirty="0">
                <a:solidFill>
                  <a:srgbClr val="7030A0"/>
                </a:solidFill>
              </a:rPr>
              <a:t> </a:t>
            </a:r>
            <a:r>
              <a:rPr lang="en-IN" b="1" spc="-45" dirty="0">
                <a:solidFill>
                  <a:srgbClr val="7030A0"/>
                </a:solidFill>
              </a:rPr>
              <a:t>keyword</a:t>
            </a:r>
          </a:p>
          <a:p>
            <a:pPr marL="125095">
              <a:lnSpc>
                <a:spcPct val="150000"/>
              </a:lnSpc>
              <a:spcBef>
                <a:spcPts val="484"/>
              </a:spcBef>
            </a:pPr>
            <a:r>
              <a:rPr lang="en-US" sz="2800" spc="-5" dirty="0">
                <a:solidFill>
                  <a:srgbClr val="333333"/>
                </a:solidFill>
                <a:cs typeface="Arial MT"/>
              </a:rPr>
              <a:t>In</a:t>
            </a:r>
            <a:r>
              <a:rPr lang="en-US" sz="2800" spc="-30" dirty="0">
                <a:solidFill>
                  <a:srgbClr val="333333"/>
                </a:solidFill>
                <a:cs typeface="Arial MT"/>
              </a:rPr>
              <a:t> </a:t>
            </a:r>
            <a:r>
              <a:rPr lang="en-US" sz="2800" spc="-5" dirty="0">
                <a:solidFill>
                  <a:srgbClr val="333333"/>
                </a:solidFill>
                <a:cs typeface="Arial MT"/>
              </a:rPr>
              <a:t>Java,</a:t>
            </a:r>
            <a:r>
              <a:rPr lang="en-US" sz="2800" spc="-70" dirty="0">
                <a:solidFill>
                  <a:srgbClr val="333333"/>
                </a:solidFill>
                <a:cs typeface="Arial MT"/>
              </a:rPr>
              <a:t> </a:t>
            </a:r>
            <a:r>
              <a:rPr lang="en-US" sz="2800" spc="-5" dirty="0">
                <a:solidFill>
                  <a:srgbClr val="333333"/>
                </a:solidFill>
                <a:cs typeface="Arial MT"/>
              </a:rPr>
              <a:t>this</a:t>
            </a:r>
            <a:r>
              <a:rPr lang="en-US" sz="2800" spc="-60" dirty="0">
                <a:solidFill>
                  <a:srgbClr val="333333"/>
                </a:solidFill>
                <a:cs typeface="Arial MT"/>
              </a:rPr>
              <a:t> </a:t>
            </a:r>
            <a:r>
              <a:rPr lang="en-US" sz="2800" dirty="0">
                <a:solidFill>
                  <a:srgbClr val="333333"/>
                </a:solidFill>
                <a:cs typeface="Arial MT"/>
              </a:rPr>
              <a:t>is </a:t>
            </a:r>
            <a:r>
              <a:rPr lang="en-US" sz="2800" spc="-5" dirty="0">
                <a:solidFill>
                  <a:srgbClr val="333333"/>
                </a:solidFill>
                <a:cs typeface="Arial MT"/>
              </a:rPr>
              <a:t>a</a:t>
            </a:r>
            <a:r>
              <a:rPr lang="en-US" sz="2800" spc="20" dirty="0">
                <a:solidFill>
                  <a:srgbClr val="333333"/>
                </a:solidFill>
                <a:cs typeface="Arial MT"/>
              </a:rPr>
              <a:t> </a:t>
            </a:r>
            <a:r>
              <a:rPr lang="en-US" sz="2800" b="1" spc="-5" dirty="0">
                <a:solidFill>
                  <a:srgbClr val="333333"/>
                </a:solidFill>
                <a:cs typeface="Arial"/>
              </a:rPr>
              <a:t>reference</a:t>
            </a:r>
            <a:r>
              <a:rPr lang="en-US" sz="2800" b="1" spc="-50" dirty="0">
                <a:solidFill>
                  <a:srgbClr val="333333"/>
                </a:solidFill>
                <a:cs typeface="Arial"/>
              </a:rPr>
              <a:t> </a:t>
            </a:r>
            <a:r>
              <a:rPr lang="en-US" sz="2800" b="1" spc="-35" dirty="0">
                <a:solidFill>
                  <a:srgbClr val="333333"/>
                </a:solidFill>
                <a:cs typeface="Arial"/>
              </a:rPr>
              <a:t>variable</a:t>
            </a:r>
            <a:endParaRPr lang="en-US" sz="2800" dirty="0">
              <a:cs typeface="Arial"/>
            </a:endParaRPr>
          </a:p>
          <a:p>
            <a:pPr marL="12700">
              <a:lnSpc>
                <a:spcPct val="150000"/>
              </a:lnSpc>
              <a:spcBef>
                <a:spcPts val="385"/>
              </a:spcBef>
            </a:pPr>
            <a:r>
              <a:rPr lang="en-US" sz="2800" spc="-5" dirty="0">
                <a:solidFill>
                  <a:srgbClr val="333333"/>
                </a:solidFill>
                <a:cs typeface="Arial MT"/>
              </a:rPr>
              <a:t>that</a:t>
            </a:r>
            <a:r>
              <a:rPr lang="en-US" sz="2800" spc="-30" dirty="0">
                <a:solidFill>
                  <a:srgbClr val="333333"/>
                </a:solidFill>
                <a:cs typeface="Arial MT"/>
              </a:rPr>
              <a:t> </a:t>
            </a:r>
            <a:r>
              <a:rPr lang="en-US" sz="2800" spc="-10" dirty="0">
                <a:solidFill>
                  <a:srgbClr val="333333"/>
                </a:solidFill>
                <a:cs typeface="Arial MT"/>
              </a:rPr>
              <a:t>refers</a:t>
            </a:r>
            <a:r>
              <a:rPr lang="en-US" sz="2800" spc="-45" dirty="0">
                <a:solidFill>
                  <a:srgbClr val="333333"/>
                </a:solidFill>
                <a:cs typeface="Arial MT"/>
              </a:rPr>
              <a:t> </a:t>
            </a:r>
            <a:r>
              <a:rPr lang="en-US" sz="2800" spc="-5" dirty="0">
                <a:solidFill>
                  <a:srgbClr val="333333"/>
                </a:solidFill>
                <a:cs typeface="Arial MT"/>
              </a:rPr>
              <a:t>to the</a:t>
            </a:r>
            <a:r>
              <a:rPr lang="en-US" sz="2800" spc="-40" dirty="0">
                <a:solidFill>
                  <a:srgbClr val="333333"/>
                </a:solidFill>
                <a:cs typeface="Arial MT"/>
              </a:rPr>
              <a:t> </a:t>
            </a:r>
            <a:r>
              <a:rPr lang="en-US" sz="2800" spc="-5" dirty="0">
                <a:solidFill>
                  <a:srgbClr val="333333"/>
                </a:solidFill>
                <a:cs typeface="Arial MT"/>
              </a:rPr>
              <a:t>current</a:t>
            </a:r>
            <a:r>
              <a:rPr lang="en-US" sz="2800" spc="-85" dirty="0">
                <a:solidFill>
                  <a:srgbClr val="333333"/>
                </a:solidFill>
                <a:cs typeface="Arial MT"/>
              </a:rPr>
              <a:t> </a:t>
            </a:r>
            <a:r>
              <a:rPr lang="en-US" sz="2800" spc="-5" dirty="0">
                <a:solidFill>
                  <a:srgbClr val="333333"/>
                </a:solidFill>
                <a:cs typeface="Arial MT"/>
              </a:rPr>
              <a:t>object.</a:t>
            </a:r>
            <a:endParaRPr lang="en-US" sz="2800" dirty="0">
              <a:cs typeface="Arial MT"/>
            </a:endParaRPr>
          </a:p>
          <a:p>
            <a:pPr marL="356870" indent="-344805">
              <a:lnSpc>
                <a:spcPct val="150000"/>
              </a:lnSpc>
              <a:spcBef>
                <a:spcPts val="195"/>
              </a:spcBef>
              <a:buFont typeface="Arial MT"/>
              <a:buChar char="•"/>
              <a:tabLst>
                <a:tab pos="356870" algn="l"/>
                <a:tab pos="357505" algn="l"/>
              </a:tabLst>
            </a:pPr>
            <a:r>
              <a:rPr lang="en-US" sz="2800" spc="-75" dirty="0">
                <a:cs typeface="Calibri"/>
              </a:rPr>
              <a:t>Invoke</a:t>
            </a:r>
            <a:r>
              <a:rPr lang="en-US" sz="2800" dirty="0">
                <a:cs typeface="Calibri"/>
              </a:rPr>
              <a:t> </a:t>
            </a:r>
            <a:r>
              <a:rPr lang="en-US" sz="2800" spc="-40" dirty="0">
                <a:cs typeface="Calibri"/>
              </a:rPr>
              <a:t>current</a:t>
            </a:r>
            <a:r>
              <a:rPr lang="en-US" sz="2800" spc="100" dirty="0">
                <a:cs typeface="Calibri"/>
              </a:rPr>
              <a:t> </a:t>
            </a:r>
            <a:r>
              <a:rPr lang="en-US" sz="2800" spc="-5" dirty="0">
                <a:cs typeface="Calibri"/>
              </a:rPr>
              <a:t>class</a:t>
            </a:r>
            <a:r>
              <a:rPr lang="en-US" sz="2800" spc="-25" dirty="0">
                <a:cs typeface="Calibri"/>
              </a:rPr>
              <a:t> </a:t>
            </a:r>
            <a:r>
              <a:rPr lang="en-US" sz="2800" spc="-40" dirty="0">
                <a:cs typeface="Calibri"/>
              </a:rPr>
              <a:t>constructor</a:t>
            </a:r>
            <a:endParaRPr lang="en-US" sz="2800" dirty="0">
              <a:cs typeface="Calibri"/>
            </a:endParaRPr>
          </a:p>
          <a:p>
            <a:pPr marL="356870" indent="-344805">
              <a:lnSpc>
                <a:spcPct val="150000"/>
              </a:lnSpc>
              <a:spcBef>
                <a:spcPts val="409"/>
              </a:spcBef>
              <a:buFont typeface="Arial MT"/>
              <a:buChar char="•"/>
              <a:tabLst>
                <a:tab pos="356870" algn="l"/>
                <a:tab pos="357505" algn="l"/>
              </a:tabLst>
            </a:pPr>
            <a:r>
              <a:rPr lang="en-US" sz="2800" spc="-55" dirty="0">
                <a:cs typeface="Calibri"/>
              </a:rPr>
              <a:t>Invoke</a:t>
            </a:r>
            <a:r>
              <a:rPr lang="en-US" sz="2800" spc="-100" dirty="0">
                <a:cs typeface="Calibri"/>
              </a:rPr>
              <a:t> </a:t>
            </a:r>
            <a:r>
              <a:rPr lang="en-US" sz="2800" spc="-40" dirty="0">
                <a:cs typeface="Calibri"/>
              </a:rPr>
              <a:t>current</a:t>
            </a:r>
            <a:r>
              <a:rPr lang="en-US" sz="2800" spc="65" dirty="0">
                <a:cs typeface="Calibri"/>
              </a:rPr>
              <a:t> </a:t>
            </a:r>
            <a:r>
              <a:rPr lang="en-US" sz="2800" spc="-5" dirty="0">
                <a:cs typeface="Calibri"/>
              </a:rPr>
              <a:t>class</a:t>
            </a:r>
            <a:r>
              <a:rPr lang="en-US" sz="2800" spc="-30" dirty="0">
                <a:cs typeface="Calibri"/>
              </a:rPr>
              <a:t> </a:t>
            </a:r>
            <a:r>
              <a:rPr lang="en-US" sz="2800" spc="-35" dirty="0">
                <a:cs typeface="Calibri"/>
              </a:rPr>
              <a:t>method</a:t>
            </a:r>
            <a:endParaRPr lang="en-US" sz="2800" dirty="0">
              <a:cs typeface="Calibri"/>
            </a:endParaRPr>
          </a:p>
          <a:p>
            <a:pPr marL="356870" indent="-344805">
              <a:lnSpc>
                <a:spcPct val="150000"/>
              </a:lnSpc>
              <a:spcBef>
                <a:spcPts val="385"/>
              </a:spcBef>
              <a:buFont typeface="Arial MT"/>
              <a:buChar char="•"/>
              <a:tabLst>
                <a:tab pos="356870" algn="l"/>
                <a:tab pos="357505" algn="l"/>
              </a:tabLst>
            </a:pPr>
            <a:r>
              <a:rPr lang="en-US" sz="2800" spc="-40" dirty="0">
                <a:cs typeface="Calibri"/>
              </a:rPr>
              <a:t>Return</a:t>
            </a:r>
            <a:r>
              <a:rPr lang="en-US" sz="2800" spc="5" dirty="0">
                <a:cs typeface="Calibri"/>
              </a:rPr>
              <a:t> </a:t>
            </a:r>
            <a:r>
              <a:rPr lang="en-US" sz="2800" spc="-5" dirty="0">
                <a:cs typeface="Calibri"/>
              </a:rPr>
              <a:t>the</a:t>
            </a:r>
            <a:r>
              <a:rPr lang="en-US" sz="2800" spc="-10" dirty="0">
                <a:cs typeface="Calibri"/>
              </a:rPr>
              <a:t> </a:t>
            </a:r>
            <a:r>
              <a:rPr lang="en-US" sz="2800" spc="-40" dirty="0">
                <a:cs typeface="Calibri"/>
              </a:rPr>
              <a:t>current</a:t>
            </a:r>
            <a:r>
              <a:rPr lang="en-US" sz="2800" spc="85" dirty="0">
                <a:cs typeface="Calibri"/>
              </a:rPr>
              <a:t> </a:t>
            </a:r>
            <a:r>
              <a:rPr lang="en-US" sz="2800" spc="-5" dirty="0">
                <a:cs typeface="Calibri"/>
              </a:rPr>
              <a:t>class</a:t>
            </a:r>
            <a:r>
              <a:rPr lang="en-US" sz="2800" spc="-30" dirty="0">
                <a:cs typeface="Calibri"/>
              </a:rPr>
              <a:t> </a:t>
            </a:r>
            <a:r>
              <a:rPr lang="en-US" sz="2800" spc="-10" dirty="0">
                <a:cs typeface="Calibri"/>
              </a:rPr>
              <a:t>object</a:t>
            </a:r>
            <a:endParaRPr lang="en-US" sz="2800" dirty="0">
              <a:cs typeface="Calibri"/>
            </a:endParaRPr>
          </a:p>
          <a:p>
            <a:pPr marL="356870" indent="-344805">
              <a:lnSpc>
                <a:spcPct val="150000"/>
              </a:lnSpc>
              <a:spcBef>
                <a:spcPts val="409"/>
              </a:spcBef>
              <a:buFont typeface="Arial MT"/>
              <a:buChar char="•"/>
              <a:tabLst>
                <a:tab pos="356870" algn="l"/>
                <a:tab pos="357505" algn="l"/>
              </a:tabLst>
            </a:pPr>
            <a:r>
              <a:rPr lang="en-US" sz="2800" spc="-40" dirty="0">
                <a:cs typeface="Calibri"/>
              </a:rPr>
              <a:t>Pass </a:t>
            </a:r>
            <a:r>
              <a:rPr lang="en-US" sz="2800" spc="-5" dirty="0">
                <a:cs typeface="Calibri"/>
              </a:rPr>
              <a:t>an</a:t>
            </a:r>
            <a:r>
              <a:rPr lang="en-US" sz="2800" spc="15" dirty="0">
                <a:cs typeface="Calibri"/>
              </a:rPr>
              <a:t> </a:t>
            </a:r>
            <a:r>
              <a:rPr lang="en-US" sz="2800" spc="-40" dirty="0">
                <a:cs typeface="Calibri"/>
              </a:rPr>
              <a:t>argument</a:t>
            </a:r>
            <a:r>
              <a:rPr lang="en-US" sz="2800" spc="155" dirty="0">
                <a:cs typeface="Calibri"/>
              </a:rPr>
              <a:t> </a:t>
            </a:r>
            <a:r>
              <a:rPr lang="en-US" sz="2800" dirty="0">
                <a:cs typeface="Calibri"/>
              </a:rPr>
              <a:t>in</a:t>
            </a:r>
            <a:r>
              <a:rPr lang="en-US" sz="2800" spc="-10" dirty="0">
                <a:cs typeface="Calibri"/>
              </a:rPr>
              <a:t> </a:t>
            </a:r>
            <a:r>
              <a:rPr lang="en-US" sz="2800" spc="-5" dirty="0">
                <a:cs typeface="Calibri"/>
              </a:rPr>
              <a:t>the </a:t>
            </a:r>
            <a:r>
              <a:rPr lang="en-US" sz="2800" spc="-30" dirty="0">
                <a:cs typeface="Calibri"/>
              </a:rPr>
              <a:t>method</a:t>
            </a:r>
            <a:r>
              <a:rPr lang="en-US" sz="2800" spc="90" dirty="0">
                <a:cs typeface="Calibri"/>
              </a:rPr>
              <a:t> </a:t>
            </a:r>
            <a:r>
              <a:rPr lang="en-US" sz="2800" spc="-10" dirty="0">
                <a:cs typeface="Calibri"/>
              </a:rPr>
              <a:t>call</a:t>
            </a:r>
            <a:endParaRPr lang="en-US" sz="2800" dirty="0">
              <a:cs typeface="Calibri"/>
            </a:endParaRPr>
          </a:p>
          <a:p>
            <a:pPr marL="356870" indent="-344805">
              <a:lnSpc>
                <a:spcPct val="150000"/>
              </a:lnSpc>
              <a:spcBef>
                <a:spcPts val="409"/>
              </a:spcBef>
              <a:buFont typeface="Arial MT"/>
              <a:buChar char="•"/>
              <a:tabLst>
                <a:tab pos="356870" algn="l"/>
                <a:tab pos="357505" algn="l"/>
              </a:tabLst>
            </a:pPr>
            <a:r>
              <a:rPr lang="en-US" sz="2800" spc="-40" dirty="0">
                <a:cs typeface="Calibri"/>
              </a:rPr>
              <a:t>Pass</a:t>
            </a:r>
            <a:r>
              <a:rPr lang="en-US" sz="2800" spc="-35" dirty="0">
                <a:cs typeface="Calibri"/>
              </a:rPr>
              <a:t> </a:t>
            </a:r>
            <a:r>
              <a:rPr lang="en-US" sz="2800" spc="-5" dirty="0">
                <a:cs typeface="Calibri"/>
              </a:rPr>
              <a:t>an</a:t>
            </a:r>
            <a:r>
              <a:rPr lang="en-US" sz="2800" spc="25" dirty="0">
                <a:cs typeface="Calibri"/>
              </a:rPr>
              <a:t> </a:t>
            </a:r>
            <a:r>
              <a:rPr lang="en-US" sz="2800" spc="-40" dirty="0">
                <a:cs typeface="Calibri"/>
              </a:rPr>
              <a:t>argument</a:t>
            </a:r>
            <a:r>
              <a:rPr lang="en-US" sz="2800" spc="160" dirty="0">
                <a:cs typeface="Calibri"/>
              </a:rPr>
              <a:t> </a:t>
            </a:r>
            <a:r>
              <a:rPr lang="en-US" sz="2800" spc="-5" dirty="0">
                <a:cs typeface="Calibri"/>
              </a:rPr>
              <a:t>in</a:t>
            </a:r>
            <a:r>
              <a:rPr lang="en-US" sz="2800" spc="-15" dirty="0">
                <a:cs typeface="Calibri"/>
              </a:rPr>
              <a:t> </a:t>
            </a:r>
            <a:r>
              <a:rPr lang="en-US" sz="2800" spc="-5" dirty="0">
                <a:cs typeface="Calibri"/>
              </a:rPr>
              <a:t>the</a:t>
            </a:r>
            <a:r>
              <a:rPr lang="en-US" sz="2800" dirty="0">
                <a:cs typeface="Calibri"/>
              </a:rPr>
              <a:t> </a:t>
            </a:r>
            <a:r>
              <a:rPr lang="en-US" sz="2800" spc="-40" dirty="0">
                <a:cs typeface="Calibri"/>
              </a:rPr>
              <a:t>constructor</a:t>
            </a:r>
            <a:r>
              <a:rPr lang="en-US" sz="2800" spc="120" dirty="0">
                <a:cs typeface="Calibri"/>
              </a:rPr>
              <a:t> </a:t>
            </a:r>
            <a:r>
              <a:rPr lang="en-US" sz="2800" spc="-10" dirty="0">
                <a:cs typeface="Calibri"/>
              </a:rPr>
              <a:t>call</a:t>
            </a:r>
            <a:endParaRPr lang="en-US" sz="2800" dirty="0">
              <a:cs typeface="Calibri"/>
            </a:endParaRPr>
          </a:p>
          <a:p>
            <a:endParaRPr lang="en-IN" dirty="0"/>
          </a:p>
        </p:txBody>
      </p:sp>
    </p:spTree>
    <p:extLst>
      <p:ext uri="{BB962C8B-B14F-4D97-AF65-F5344CB8AC3E}">
        <p14:creationId xmlns:p14="http://schemas.microsoft.com/office/powerpoint/2010/main" val="41032022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120B0-EF06-76EF-BA18-9A244DA83B27}"/>
              </a:ext>
            </a:extLst>
          </p:cNvPr>
          <p:cNvSpPr>
            <a:spLocks noGrp="1"/>
          </p:cNvSpPr>
          <p:nvPr>
            <p:ph idx="1"/>
          </p:nvPr>
        </p:nvSpPr>
        <p:spPr>
          <a:xfrm>
            <a:off x="838200" y="578498"/>
            <a:ext cx="10515600" cy="5598465"/>
          </a:xfrm>
        </p:spPr>
        <p:txBody>
          <a:bodyPr>
            <a:normAutofit fontScale="77500" lnSpcReduction="20000"/>
          </a:bodyPr>
          <a:lstStyle/>
          <a:p>
            <a:pPr marL="0" indent="0">
              <a:buNone/>
            </a:pPr>
            <a:r>
              <a:rPr lang="en-IN" b="1" dirty="0">
                <a:solidFill>
                  <a:srgbClr val="7030A0"/>
                </a:solidFill>
              </a:rPr>
              <a:t>Example</a:t>
            </a:r>
          </a:p>
          <a:p>
            <a:pPr marL="0" indent="0" algn="just">
              <a:buNone/>
            </a:pPr>
            <a:r>
              <a:rPr lang="en-IN" b="1" i="0" dirty="0">
                <a:solidFill>
                  <a:srgbClr val="006699"/>
                </a:solidFill>
                <a:effectLst/>
              </a:rPr>
              <a:t>class</a:t>
            </a:r>
            <a:r>
              <a:rPr lang="en-IN" b="0" i="0" dirty="0">
                <a:solidFill>
                  <a:srgbClr val="000000"/>
                </a:solidFill>
                <a:effectLst/>
              </a:rPr>
              <a:t> Student{  </a:t>
            </a:r>
          </a:p>
          <a:p>
            <a:pPr marL="0" indent="0" algn="just">
              <a:buNone/>
            </a:pPr>
            <a:r>
              <a:rPr lang="en-IN" b="1" i="0" dirty="0">
                <a:solidFill>
                  <a:srgbClr val="006699"/>
                </a:solidFill>
                <a:effectLst/>
              </a:rPr>
              <a:t>int</a:t>
            </a:r>
            <a:r>
              <a:rPr lang="en-IN" b="0" i="0" dirty="0">
                <a:solidFill>
                  <a:srgbClr val="000000"/>
                </a:solidFill>
                <a:effectLst/>
              </a:rPr>
              <a:t> </a:t>
            </a:r>
            <a:r>
              <a:rPr lang="en-IN" b="0" i="0" dirty="0" err="1">
                <a:solidFill>
                  <a:srgbClr val="000000"/>
                </a:solidFill>
                <a:effectLst/>
              </a:rPr>
              <a:t>rollno</a:t>
            </a:r>
            <a:r>
              <a:rPr lang="en-IN" b="0" i="0" dirty="0">
                <a:solidFill>
                  <a:srgbClr val="000000"/>
                </a:solidFill>
                <a:effectLst/>
              </a:rPr>
              <a:t>;  </a:t>
            </a:r>
          </a:p>
          <a:p>
            <a:pPr marL="0" indent="0" algn="just">
              <a:buNone/>
            </a:pPr>
            <a:r>
              <a:rPr lang="en-IN" b="0" i="0" dirty="0">
                <a:solidFill>
                  <a:srgbClr val="000000"/>
                </a:solidFill>
                <a:effectLst/>
              </a:rPr>
              <a:t>String name;  </a:t>
            </a:r>
          </a:p>
          <a:p>
            <a:pPr marL="0" indent="0" algn="just">
              <a:buNone/>
            </a:pPr>
            <a:r>
              <a:rPr lang="en-IN" b="1" i="0" dirty="0">
                <a:solidFill>
                  <a:srgbClr val="006699"/>
                </a:solidFill>
                <a:effectLst/>
              </a:rPr>
              <a:t>float</a:t>
            </a:r>
            <a:r>
              <a:rPr lang="en-IN" b="0" i="0" dirty="0">
                <a:solidFill>
                  <a:srgbClr val="000000"/>
                </a:solidFill>
                <a:effectLst/>
              </a:rPr>
              <a:t> fee;  </a:t>
            </a:r>
          </a:p>
          <a:p>
            <a:pPr marL="0" indent="0" algn="just">
              <a:buNone/>
            </a:pPr>
            <a:r>
              <a:rPr lang="en-IN" b="0" i="0" dirty="0">
                <a:solidFill>
                  <a:srgbClr val="000000"/>
                </a:solidFill>
                <a:effectLst/>
              </a:rPr>
              <a:t>Student(</a:t>
            </a:r>
            <a:r>
              <a:rPr lang="en-IN" b="1" i="0" dirty="0">
                <a:solidFill>
                  <a:srgbClr val="006699"/>
                </a:solidFill>
                <a:effectLst/>
              </a:rPr>
              <a:t>int</a:t>
            </a:r>
            <a:r>
              <a:rPr lang="en-IN" b="0" i="0" dirty="0">
                <a:solidFill>
                  <a:srgbClr val="000000"/>
                </a:solidFill>
                <a:effectLst/>
              </a:rPr>
              <a:t> </a:t>
            </a:r>
            <a:r>
              <a:rPr lang="en-IN" b="0" i="0" dirty="0" err="1">
                <a:solidFill>
                  <a:srgbClr val="000000"/>
                </a:solidFill>
                <a:effectLst/>
              </a:rPr>
              <a:t>rollno,String</a:t>
            </a:r>
            <a:r>
              <a:rPr lang="en-IN" b="0" i="0" dirty="0">
                <a:solidFill>
                  <a:srgbClr val="000000"/>
                </a:solidFill>
                <a:effectLst/>
              </a:rPr>
              <a:t> </a:t>
            </a:r>
            <a:r>
              <a:rPr lang="en-IN" b="0" i="0" dirty="0" err="1">
                <a:solidFill>
                  <a:srgbClr val="000000"/>
                </a:solidFill>
                <a:effectLst/>
              </a:rPr>
              <a:t>name,</a:t>
            </a:r>
            <a:r>
              <a:rPr lang="en-IN" b="1" i="0" dirty="0" err="1">
                <a:solidFill>
                  <a:srgbClr val="006699"/>
                </a:solidFill>
                <a:effectLst/>
              </a:rPr>
              <a:t>float</a:t>
            </a:r>
            <a:r>
              <a:rPr lang="en-IN" b="0" i="0" dirty="0">
                <a:solidFill>
                  <a:srgbClr val="000000"/>
                </a:solidFill>
                <a:effectLst/>
              </a:rPr>
              <a:t> fee){  </a:t>
            </a:r>
          </a:p>
          <a:p>
            <a:pPr marL="0" indent="0" algn="just">
              <a:buNone/>
            </a:pPr>
            <a:r>
              <a:rPr lang="en-IN" b="1" i="0" dirty="0" err="1">
                <a:solidFill>
                  <a:srgbClr val="006699"/>
                </a:solidFill>
                <a:effectLst/>
              </a:rPr>
              <a:t>this</a:t>
            </a:r>
            <a:r>
              <a:rPr lang="en-IN" b="0" i="0" dirty="0" err="1">
                <a:solidFill>
                  <a:srgbClr val="000000"/>
                </a:solidFill>
                <a:effectLst/>
              </a:rPr>
              <a:t>.rollno</a:t>
            </a:r>
            <a:r>
              <a:rPr lang="en-IN" b="0" i="0" dirty="0">
                <a:solidFill>
                  <a:srgbClr val="000000"/>
                </a:solidFill>
                <a:effectLst/>
              </a:rPr>
              <a:t>=</a:t>
            </a:r>
            <a:r>
              <a:rPr lang="en-IN" b="0" i="0" dirty="0" err="1">
                <a:solidFill>
                  <a:srgbClr val="000000"/>
                </a:solidFill>
                <a:effectLst/>
              </a:rPr>
              <a:t>rollno</a:t>
            </a:r>
            <a:r>
              <a:rPr lang="en-IN" b="0" i="0" dirty="0">
                <a:solidFill>
                  <a:srgbClr val="000000"/>
                </a:solidFill>
                <a:effectLst/>
              </a:rPr>
              <a:t>;  </a:t>
            </a:r>
          </a:p>
          <a:p>
            <a:pPr marL="0" indent="0" algn="just">
              <a:buNone/>
            </a:pPr>
            <a:r>
              <a:rPr lang="en-IN" b="1" i="0" dirty="0">
                <a:solidFill>
                  <a:srgbClr val="006699"/>
                </a:solidFill>
                <a:effectLst/>
              </a:rPr>
              <a:t>this</a:t>
            </a:r>
            <a:r>
              <a:rPr lang="en-IN" b="0" i="0" dirty="0">
                <a:solidFill>
                  <a:srgbClr val="000000"/>
                </a:solidFill>
                <a:effectLst/>
              </a:rPr>
              <a:t>.name=name;  </a:t>
            </a:r>
          </a:p>
          <a:p>
            <a:pPr marL="0" indent="0" algn="just">
              <a:buNone/>
            </a:pPr>
            <a:r>
              <a:rPr lang="en-IN" b="1" i="0" dirty="0" err="1">
                <a:solidFill>
                  <a:srgbClr val="006699"/>
                </a:solidFill>
                <a:effectLst/>
              </a:rPr>
              <a:t>this</a:t>
            </a:r>
            <a:r>
              <a:rPr lang="en-IN" b="0" i="0" dirty="0" err="1">
                <a:solidFill>
                  <a:srgbClr val="000000"/>
                </a:solidFill>
                <a:effectLst/>
              </a:rPr>
              <a:t>.fee</a:t>
            </a:r>
            <a:r>
              <a:rPr lang="en-IN" b="0" i="0" dirty="0">
                <a:solidFill>
                  <a:srgbClr val="000000"/>
                </a:solidFill>
                <a:effectLst/>
              </a:rPr>
              <a:t>=fee;  }  </a:t>
            </a:r>
          </a:p>
          <a:p>
            <a:pPr marL="0" indent="0" algn="just">
              <a:buNone/>
            </a:pPr>
            <a:r>
              <a:rPr lang="en-IN" b="1" i="0" dirty="0">
                <a:solidFill>
                  <a:srgbClr val="006699"/>
                </a:solidFill>
                <a:effectLst/>
              </a:rPr>
              <a:t>void</a:t>
            </a:r>
            <a:r>
              <a:rPr lang="en-IN" b="0" i="0" dirty="0">
                <a:solidFill>
                  <a:srgbClr val="000000"/>
                </a:solidFill>
                <a:effectLst/>
              </a:rPr>
              <a:t> display(){</a:t>
            </a: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rollno</a:t>
            </a:r>
            <a:r>
              <a:rPr lang="en-IN" b="0" i="0" dirty="0">
                <a:solidFill>
                  <a:srgbClr val="000000"/>
                </a:solidFill>
                <a:effectLst/>
              </a:rPr>
              <a:t>+</a:t>
            </a:r>
            <a:r>
              <a:rPr lang="en-IN" b="0" i="0" dirty="0">
                <a:solidFill>
                  <a:srgbClr val="0000FF"/>
                </a:solidFill>
                <a:effectLst/>
              </a:rPr>
              <a:t>" "</a:t>
            </a:r>
            <a:r>
              <a:rPr lang="en-IN" b="0" i="0" dirty="0">
                <a:solidFill>
                  <a:srgbClr val="000000"/>
                </a:solidFill>
                <a:effectLst/>
              </a:rPr>
              <a:t>+name+</a:t>
            </a:r>
            <a:r>
              <a:rPr lang="en-IN" b="0" i="0" dirty="0">
                <a:solidFill>
                  <a:srgbClr val="0000FF"/>
                </a:solidFill>
                <a:effectLst/>
              </a:rPr>
              <a:t>" "</a:t>
            </a:r>
            <a:r>
              <a:rPr lang="en-IN" b="0" i="0" dirty="0">
                <a:solidFill>
                  <a:srgbClr val="000000"/>
                </a:solidFill>
                <a:effectLst/>
              </a:rPr>
              <a:t>+fee);}  }  </a:t>
            </a:r>
          </a:p>
          <a:p>
            <a:pPr marL="0" indent="0" algn="just">
              <a:buNone/>
            </a:pP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TestThis2{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Student s1=</a:t>
            </a:r>
            <a:r>
              <a:rPr lang="en-IN" b="1" i="0" dirty="0">
                <a:solidFill>
                  <a:srgbClr val="006699"/>
                </a:solidFill>
                <a:effectLst/>
              </a:rPr>
              <a:t>new</a:t>
            </a:r>
            <a:r>
              <a:rPr lang="en-IN" b="0" i="0" dirty="0">
                <a:solidFill>
                  <a:srgbClr val="000000"/>
                </a:solidFill>
                <a:effectLst/>
              </a:rPr>
              <a:t> Student(</a:t>
            </a:r>
            <a:r>
              <a:rPr lang="en-IN" b="0" i="0" dirty="0">
                <a:solidFill>
                  <a:srgbClr val="C00000"/>
                </a:solidFill>
                <a:effectLst/>
              </a:rPr>
              <a:t>111</a:t>
            </a:r>
            <a:r>
              <a:rPr lang="en-IN" b="0" i="0" dirty="0">
                <a:solidFill>
                  <a:srgbClr val="000000"/>
                </a:solidFill>
                <a:effectLst/>
              </a:rPr>
              <a:t>,</a:t>
            </a:r>
            <a:r>
              <a:rPr lang="en-IN" b="0" i="0" dirty="0">
                <a:solidFill>
                  <a:srgbClr val="0000FF"/>
                </a:solidFill>
                <a:effectLst/>
              </a:rPr>
              <a:t>"ankit"</a:t>
            </a:r>
            <a:r>
              <a:rPr lang="en-IN" b="0" i="0" dirty="0">
                <a:solidFill>
                  <a:srgbClr val="000000"/>
                </a:solidFill>
                <a:effectLst/>
              </a:rPr>
              <a:t>,5000f);  </a:t>
            </a:r>
          </a:p>
          <a:p>
            <a:pPr marL="0" indent="0" algn="just">
              <a:buNone/>
            </a:pPr>
            <a:r>
              <a:rPr lang="en-IN" b="0" i="0" dirty="0">
                <a:solidFill>
                  <a:srgbClr val="000000"/>
                </a:solidFill>
                <a:effectLst/>
              </a:rPr>
              <a:t>Student s2=</a:t>
            </a:r>
            <a:r>
              <a:rPr lang="en-IN" b="1" i="0" dirty="0">
                <a:solidFill>
                  <a:srgbClr val="006699"/>
                </a:solidFill>
                <a:effectLst/>
              </a:rPr>
              <a:t>new</a:t>
            </a:r>
            <a:r>
              <a:rPr lang="en-IN" b="0" i="0" dirty="0">
                <a:solidFill>
                  <a:srgbClr val="000000"/>
                </a:solidFill>
                <a:effectLst/>
              </a:rPr>
              <a:t> Student(</a:t>
            </a:r>
            <a:r>
              <a:rPr lang="en-IN" b="0" i="0" dirty="0">
                <a:solidFill>
                  <a:srgbClr val="C00000"/>
                </a:solidFill>
                <a:effectLst/>
              </a:rPr>
              <a:t>112</a:t>
            </a:r>
            <a:r>
              <a:rPr lang="en-IN" b="0" i="0" dirty="0">
                <a:solidFill>
                  <a:srgbClr val="000000"/>
                </a:solidFill>
                <a:effectLst/>
              </a:rPr>
              <a:t>,</a:t>
            </a:r>
            <a:r>
              <a:rPr lang="en-IN" b="0" i="0" dirty="0">
                <a:solidFill>
                  <a:srgbClr val="0000FF"/>
                </a:solidFill>
                <a:effectLst/>
              </a:rPr>
              <a:t>"sumit"</a:t>
            </a:r>
            <a:r>
              <a:rPr lang="en-IN" b="0" i="0" dirty="0">
                <a:solidFill>
                  <a:srgbClr val="000000"/>
                </a:solidFill>
                <a:effectLst/>
              </a:rPr>
              <a:t>,6000f);  </a:t>
            </a:r>
          </a:p>
          <a:p>
            <a:pPr marL="0" indent="0" algn="just">
              <a:buNone/>
            </a:pPr>
            <a:r>
              <a:rPr lang="en-IN" b="0" i="0" dirty="0">
                <a:solidFill>
                  <a:srgbClr val="000000"/>
                </a:solidFill>
                <a:effectLst/>
              </a:rPr>
              <a:t>s1.display();  s2.display(); }}  </a:t>
            </a:r>
          </a:p>
        </p:txBody>
      </p:sp>
    </p:spTree>
    <p:extLst>
      <p:ext uri="{BB962C8B-B14F-4D97-AF65-F5344CB8AC3E}">
        <p14:creationId xmlns:p14="http://schemas.microsoft.com/office/powerpoint/2010/main" val="116015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18018-E88D-680C-580E-9E72BA2B8A6E}"/>
              </a:ext>
            </a:extLst>
          </p:cNvPr>
          <p:cNvSpPr>
            <a:spLocks noGrp="1"/>
          </p:cNvSpPr>
          <p:nvPr>
            <p:ph idx="1"/>
          </p:nvPr>
        </p:nvSpPr>
        <p:spPr>
          <a:xfrm>
            <a:off x="838200" y="503853"/>
            <a:ext cx="10515600" cy="5673110"/>
          </a:xfrm>
        </p:spPr>
        <p:txBody>
          <a:bodyPr/>
          <a:lstStyle/>
          <a:p>
            <a:pPr marL="0" indent="0">
              <a:buNone/>
            </a:pPr>
            <a:r>
              <a:rPr lang="en-IN" b="1" spc="10" dirty="0">
                <a:solidFill>
                  <a:srgbClr val="7030A0"/>
                </a:solidFill>
                <a:cs typeface="Carlito"/>
              </a:rPr>
              <a:t>Final </a:t>
            </a:r>
            <a:r>
              <a:rPr lang="en-IN" b="1" spc="-135" dirty="0">
                <a:solidFill>
                  <a:srgbClr val="7030A0"/>
                </a:solidFill>
                <a:cs typeface="Carlito"/>
              </a:rPr>
              <a:t> </a:t>
            </a:r>
            <a:r>
              <a:rPr lang="en-IN" b="1" spc="-30" dirty="0">
                <a:solidFill>
                  <a:srgbClr val="7030A0"/>
                </a:solidFill>
                <a:cs typeface="Carlito"/>
              </a:rPr>
              <a:t>keyword</a:t>
            </a:r>
          </a:p>
          <a:p>
            <a:r>
              <a:rPr lang="en-US" sz="2800" dirty="0"/>
              <a:t>If you make any </a:t>
            </a:r>
            <a:r>
              <a:rPr lang="en-US" sz="2800" b="1" dirty="0">
                <a:solidFill>
                  <a:srgbClr val="7030A0"/>
                </a:solidFill>
              </a:rPr>
              <a:t>variable as final, you cannot change the value of final variable</a:t>
            </a:r>
            <a:r>
              <a:rPr lang="en-US" sz="2800" dirty="0"/>
              <a:t>(It will be constant).</a:t>
            </a:r>
          </a:p>
          <a:p>
            <a:endParaRPr lang="en-IN" dirty="0"/>
          </a:p>
        </p:txBody>
      </p:sp>
      <p:pic>
        <p:nvPicPr>
          <p:cNvPr id="4" name="Picture 2" descr="C:\Users\STAFF\Desktop\Kokila\final.jpg">
            <a:extLst>
              <a:ext uri="{FF2B5EF4-FFF2-40B4-BE49-F238E27FC236}">
                <a16:creationId xmlns:a16="http://schemas.microsoft.com/office/drawing/2014/main" id="{5EC12A9E-66E0-4738-393C-141188CC1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765" y="2654559"/>
            <a:ext cx="5328592" cy="3126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57278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05041-67B2-1550-81EA-42D13BEAD24C}"/>
              </a:ext>
            </a:extLst>
          </p:cNvPr>
          <p:cNvSpPr>
            <a:spLocks noGrp="1"/>
          </p:cNvSpPr>
          <p:nvPr>
            <p:ph idx="1"/>
          </p:nvPr>
        </p:nvSpPr>
        <p:spPr>
          <a:xfrm>
            <a:off x="838200" y="550506"/>
            <a:ext cx="10515600" cy="5626457"/>
          </a:xfrm>
        </p:spPr>
        <p:txBody>
          <a:bodyPr>
            <a:normAutofit fontScale="92500"/>
          </a:bodyPr>
          <a:lstStyle/>
          <a:p>
            <a:pPr marL="0" indent="0">
              <a:lnSpc>
                <a:spcPct val="150000"/>
              </a:lnSpc>
              <a:buNone/>
            </a:pPr>
            <a:r>
              <a:rPr lang="en-IN" b="1" dirty="0">
                <a:solidFill>
                  <a:srgbClr val="7030A0"/>
                </a:solidFill>
              </a:rPr>
              <a:t>Abstraction</a:t>
            </a:r>
          </a:p>
          <a:p>
            <a:pPr>
              <a:lnSpc>
                <a:spcPct val="150000"/>
              </a:lnSpc>
            </a:pPr>
            <a:r>
              <a:rPr lang="en-US" b="1" i="1" dirty="0">
                <a:solidFill>
                  <a:srgbClr val="7030A0"/>
                </a:solidFill>
              </a:rPr>
              <a:t>Hiding internal details and showing functionality</a:t>
            </a:r>
            <a:r>
              <a:rPr lang="en-US" b="1" dirty="0">
                <a:solidFill>
                  <a:srgbClr val="7030A0"/>
                </a:solidFill>
              </a:rPr>
              <a:t> is known as abstraction. </a:t>
            </a:r>
            <a:r>
              <a:rPr lang="en-US" dirty="0"/>
              <a:t>For example phone call, we don't know the internal processing.</a:t>
            </a:r>
          </a:p>
          <a:p>
            <a:pPr>
              <a:lnSpc>
                <a:spcPct val="150000"/>
              </a:lnSpc>
            </a:pPr>
            <a:r>
              <a:rPr lang="en-US" dirty="0"/>
              <a:t>In Java, we use abstract class and interface to achieve abstraction.</a:t>
            </a:r>
          </a:p>
          <a:p>
            <a:pPr marL="356870" marR="198120" indent="-344805">
              <a:lnSpc>
                <a:spcPct val="150000"/>
              </a:lnSpc>
              <a:spcBef>
                <a:spcPts val="795"/>
              </a:spcBef>
              <a:buFont typeface="Arial MT"/>
              <a:buChar char="•"/>
              <a:tabLst>
                <a:tab pos="356870" algn="l"/>
                <a:tab pos="357505" algn="l"/>
              </a:tabLst>
            </a:pPr>
            <a:r>
              <a:rPr lang="en-US" spc="-35" dirty="0">
                <a:cs typeface="Calibri"/>
              </a:rPr>
              <a:t>There</a:t>
            </a:r>
            <a:r>
              <a:rPr lang="en-US" spc="60" dirty="0">
                <a:cs typeface="Calibri"/>
              </a:rPr>
              <a:t> </a:t>
            </a:r>
            <a:r>
              <a:rPr lang="en-US" spc="-40" dirty="0">
                <a:cs typeface="Calibri"/>
              </a:rPr>
              <a:t>are</a:t>
            </a:r>
            <a:r>
              <a:rPr lang="en-US" spc="-10" dirty="0">
                <a:cs typeface="Calibri"/>
              </a:rPr>
              <a:t> </a:t>
            </a:r>
            <a:r>
              <a:rPr lang="en-US" spc="-30" dirty="0">
                <a:cs typeface="Calibri"/>
              </a:rPr>
              <a:t>two</a:t>
            </a:r>
            <a:r>
              <a:rPr lang="en-US" spc="15" dirty="0">
                <a:cs typeface="Calibri"/>
              </a:rPr>
              <a:t> </a:t>
            </a:r>
            <a:r>
              <a:rPr lang="en-US" spc="-75" dirty="0">
                <a:cs typeface="Calibri"/>
              </a:rPr>
              <a:t>ways</a:t>
            </a:r>
            <a:r>
              <a:rPr lang="en-US" spc="20" dirty="0">
                <a:cs typeface="Calibri"/>
              </a:rPr>
              <a:t> </a:t>
            </a:r>
            <a:r>
              <a:rPr lang="en-US" spc="-10" dirty="0">
                <a:cs typeface="Calibri"/>
              </a:rPr>
              <a:t>to</a:t>
            </a:r>
            <a:r>
              <a:rPr lang="en-US" spc="-30" dirty="0">
                <a:cs typeface="Calibri"/>
              </a:rPr>
              <a:t> </a:t>
            </a:r>
            <a:r>
              <a:rPr lang="en-US" spc="-35" dirty="0">
                <a:cs typeface="Calibri"/>
              </a:rPr>
              <a:t>achieve</a:t>
            </a:r>
            <a:r>
              <a:rPr lang="en-US" spc="95" dirty="0">
                <a:cs typeface="Calibri"/>
              </a:rPr>
              <a:t> </a:t>
            </a:r>
            <a:r>
              <a:rPr lang="en-US" spc="-40" dirty="0">
                <a:cs typeface="Calibri"/>
              </a:rPr>
              <a:t>abstraction</a:t>
            </a:r>
            <a:r>
              <a:rPr lang="en-US" spc="145" dirty="0">
                <a:cs typeface="Calibri"/>
              </a:rPr>
              <a:t> </a:t>
            </a:r>
            <a:r>
              <a:rPr lang="en-US" spc="-5" dirty="0">
                <a:cs typeface="Calibri"/>
              </a:rPr>
              <a:t>in </a:t>
            </a:r>
            <a:r>
              <a:rPr lang="en-US" spc="-710" dirty="0">
                <a:cs typeface="Calibri"/>
              </a:rPr>
              <a:t> </a:t>
            </a:r>
            <a:r>
              <a:rPr lang="en-US" spc="-45" dirty="0">
                <a:cs typeface="Calibri"/>
              </a:rPr>
              <a:t>java</a:t>
            </a:r>
            <a:endParaRPr lang="en-US" dirty="0">
              <a:cs typeface="Calibri"/>
            </a:endParaRPr>
          </a:p>
          <a:p>
            <a:pPr marL="356870" indent="-344805">
              <a:lnSpc>
                <a:spcPct val="150000"/>
              </a:lnSpc>
              <a:spcBef>
                <a:spcPts val="819"/>
              </a:spcBef>
              <a:buFont typeface="Arial MT"/>
              <a:buChar char="•"/>
              <a:tabLst>
                <a:tab pos="356870" algn="l"/>
                <a:tab pos="357505" algn="l"/>
              </a:tabLst>
            </a:pPr>
            <a:r>
              <a:rPr lang="en-US" b="1" spc="-45" dirty="0">
                <a:solidFill>
                  <a:srgbClr val="7030A0"/>
                </a:solidFill>
                <a:cs typeface="Calibri"/>
              </a:rPr>
              <a:t>Abstract</a:t>
            </a:r>
            <a:r>
              <a:rPr lang="en-US" b="1" spc="45" dirty="0">
                <a:solidFill>
                  <a:srgbClr val="7030A0"/>
                </a:solidFill>
                <a:cs typeface="Calibri"/>
              </a:rPr>
              <a:t> </a:t>
            </a:r>
            <a:r>
              <a:rPr lang="en-US" b="1" spc="-5" dirty="0">
                <a:solidFill>
                  <a:srgbClr val="7030A0"/>
                </a:solidFill>
                <a:cs typeface="Calibri"/>
              </a:rPr>
              <a:t>class(0</a:t>
            </a:r>
            <a:r>
              <a:rPr lang="en-US" b="1" spc="10" dirty="0">
                <a:solidFill>
                  <a:srgbClr val="7030A0"/>
                </a:solidFill>
                <a:cs typeface="Calibri"/>
              </a:rPr>
              <a:t> </a:t>
            </a:r>
            <a:r>
              <a:rPr lang="en-US" b="1" spc="-15" dirty="0">
                <a:solidFill>
                  <a:srgbClr val="7030A0"/>
                </a:solidFill>
                <a:cs typeface="Calibri"/>
              </a:rPr>
              <a:t>to</a:t>
            </a:r>
            <a:r>
              <a:rPr lang="en-US" b="1" spc="-35" dirty="0">
                <a:solidFill>
                  <a:srgbClr val="7030A0"/>
                </a:solidFill>
                <a:cs typeface="Calibri"/>
              </a:rPr>
              <a:t> 100%</a:t>
            </a:r>
            <a:r>
              <a:rPr lang="en-US" b="1" spc="65" dirty="0">
                <a:solidFill>
                  <a:srgbClr val="7030A0"/>
                </a:solidFill>
                <a:cs typeface="Calibri"/>
              </a:rPr>
              <a:t> </a:t>
            </a:r>
            <a:r>
              <a:rPr lang="en-US" b="1" spc="-35" dirty="0">
                <a:solidFill>
                  <a:srgbClr val="7030A0"/>
                </a:solidFill>
                <a:cs typeface="Calibri"/>
              </a:rPr>
              <a:t>abstraction)</a:t>
            </a:r>
            <a:endParaRPr lang="en-US" b="1" dirty="0">
              <a:solidFill>
                <a:srgbClr val="7030A0"/>
              </a:solidFill>
              <a:cs typeface="Calibri"/>
            </a:endParaRPr>
          </a:p>
          <a:p>
            <a:pPr marL="356870" indent="-344805">
              <a:lnSpc>
                <a:spcPct val="150000"/>
              </a:lnSpc>
              <a:spcBef>
                <a:spcPts val="795"/>
              </a:spcBef>
              <a:buFont typeface="Arial MT"/>
              <a:buChar char="•"/>
              <a:tabLst>
                <a:tab pos="356870" algn="l"/>
                <a:tab pos="357505" algn="l"/>
              </a:tabLst>
            </a:pPr>
            <a:r>
              <a:rPr lang="en-US" b="1" spc="-35" dirty="0">
                <a:solidFill>
                  <a:srgbClr val="7030A0"/>
                </a:solidFill>
                <a:cs typeface="Calibri"/>
              </a:rPr>
              <a:t>Interface(100%</a:t>
            </a:r>
            <a:r>
              <a:rPr lang="en-US" b="1" spc="140" dirty="0">
                <a:solidFill>
                  <a:srgbClr val="7030A0"/>
                </a:solidFill>
                <a:cs typeface="Calibri"/>
              </a:rPr>
              <a:t> </a:t>
            </a:r>
            <a:r>
              <a:rPr lang="en-US" b="1" spc="-40" dirty="0">
                <a:solidFill>
                  <a:srgbClr val="7030A0"/>
                </a:solidFill>
                <a:cs typeface="Calibri"/>
              </a:rPr>
              <a:t>abstraction)</a:t>
            </a:r>
            <a:br>
              <a:rPr lang="en-US" b="1" dirty="0">
                <a:solidFill>
                  <a:srgbClr val="7030A0"/>
                </a:solidFill>
              </a:rPr>
            </a:br>
            <a:endParaRPr lang="en-IN" b="1" dirty="0">
              <a:solidFill>
                <a:srgbClr val="7030A0"/>
              </a:solidFill>
            </a:endParaRPr>
          </a:p>
          <a:p>
            <a:endParaRPr lang="en-IN" dirty="0"/>
          </a:p>
        </p:txBody>
      </p:sp>
    </p:spTree>
    <p:extLst>
      <p:ext uri="{BB962C8B-B14F-4D97-AF65-F5344CB8AC3E}">
        <p14:creationId xmlns:p14="http://schemas.microsoft.com/office/powerpoint/2010/main" val="346272645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5571C-8570-BB0D-2E09-D3BFFFB6BE83}"/>
              </a:ext>
            </a:extLst>
          </p:cNvPr>
          <p:cNvSpPr>
            <a:spLocks noGrp="1"/>
          </p:cNvSpPr>
          <p:nvPr>
            <p:ph idx="1"/>
          </p:nvPr>
        </p:nvSpPr>
        <p:spPr>
          <a:xfrm>
            <a:off x="604935" y="615820"/>
            <a:ext cx="10515600" cy="5701004"/>
          </a:xfrm>
        </p:spPr>
        <p:txBody>
          <a:bodyPr>
            <a:normAutofit fontScale="92500" lnSpcReduction="10000"/>
          </a:bodyPr>
          <a:lstStyle/>
          <a:p>
            <a:pPr marL="0" indent="0" algn="just">
              <a:buNone/>
            </a:pPr>
            <a:r>
              <a:rPr lang="en-US" b="1" dirty="0">
                <a:solidFill>
                  <a:srgbClr val="7030A0"/>
                </a:solidFill>
                <a:effectLst/>
              </a:rPr>
              <a:t>Example of Abstract class that has an abstract method</a:t>
            </a:r>
          </a:p>
          <a:p>
            <a:pPr algn="just"/>
            <a:r>
              <a:rPr lang="en-US" b="0" i="0" dirty="0">
                <a:solidFill>
                  <a:srgbClr val="333333"/>
                </a:solidFill>
                <a:effectLst/>
              </a:rPr>
              <a:t>In this example, Bike is an abstract class that contains only one abstract method run. Its implementation is provided by the Honda class.</a:t>
            </a:r>
          </a:p>
          <a:p>
            <a:pPr marL="0" indent="0" algn="just">
              <a:buNone/>
            </a:pPr>
            <a:r>
              <a:rPr lang="en-US" b="1" i="0" dirty="0">
                <a:solidFill>
                  <a:srgbClr val="006699"/>
                </a:solidFill>
                <a:effectLst/>
              </a:rPr>
              <a:t>abstract</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Bike{  </a:t>
            </a:r>
          </a:p>
          <a:p>
            <a:pPr marL="0" indent="0" algn="just">
              <a:buNone/>
            </a:pPr>
            <a:r>
              <a:rPr lang="en-US" b="0" i="0" dirty="0">
                <a:solidFill>
                  <a:srgbClr val="000000"/>
                </a:solidFill>
                <a:effectLst/>
              </a:rPr>
              <a:t>  </a:t>
            </a:r>
            <a:r>
              <a:rPr lang="en-US" b="1" i="0" dirty="0">
                <a:solidFill>
                  <a:srgbClr val="006699"/>
                </a:solidFill>
                <a:effectLst/>
              </a:rPr>
              <a:t>abstract</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run();  </a:t>
            </a:r>
          </a:p>
          <a:p>
            <a:pPr marL="0" indent="0" algn="just">
              <a:buNone/>
            </a:pPr>
            <a:r>
              <a:rPr lang="en-US" b="0" i="0" dirty="0">
                <a:solidFill>
                  <a:srgbClr val="000000"/>
                </a:solidFill>
                <a:effectLst/>
              </a:rPr>
              <a:t>}  </a:t>
            </a:r>
          </a:p>
          <a:p>
            <a:pPr marL="0" indent="0" algn="just">
              <a:buNone/>
            </a:pPr>
            <a:r>
              <a:rPr lang="en-US" b="1" i="0" dirty="0">
                <a:solidFill>
                  <a:srgbClr val="006699"/>
                </a:solidFill>
                <a:effectLst/>
              </a:rPr>
              <a:t>class</a:t>
            </a:r>
            <a:r>
              <a:rPr lang="en-US" b="0" i="0" dirty="0">
                <a:solidFill>
                  <a:srgbClr val="000000"/>
                </a:solidFill>
                <a:effectLst/>
              </a:rPr>
              <a:t> Honda4 </a:t>
            </a:r>
            <a:r>
              <a:rPr lang="en-US" b="1" i="0" dirty="0">
                <a:solidFill>
                  <a:srgbClr val="006699"/>
                </a:solidFill>
                <a:effectLst/>
              </a:rPr>
              <a:t>extends</a:t>
            </a:r>
            <a:r>
              <a:rPr lang="en-US" b="0" i="0" dirty="0">
                <a:solidFill>
                  <a:srgbClr val="000000"/>
                </a:solidFill>
                <a:effectLst/>
              </a:rPr>
              <a:t> Bike{  </a:t>
            </a:r>
          </a:p>
          <a:p>
            <a:pPr marL="0" indent="0" algn="just">
              <a:buNone/>
            </a:pPr>
            <a:r>
              <a:rPr lang="en-US" b="1" i="0" dirty="0">
                <a:solidFill>
                  <a:srgbClr val="006699"/>
                </a:solidFill>
                <a:effectLst/>
              </a:rPr>
              <a:t>void</a:t>
            </a:r>
            <a:r>
              <a:rPr lang="en-US" b="0" i="0" dirty="0">
                <a:solidFill>
                  <a:srgbClr val="000000"/>
                </a:solidFill>
                <a:effectLst/>
              </a:rPr>
              <a:t> run(){</a:t>
            </a:r>
            <a:r>
              <a:rPr lang="en-US" b="0" i="0" dirty="0" err="1">
                <a:solidFill>
                  <a:srgbClr val="000000"/>
                </a:solidFill>
                <a:effectLst/>
              </a:rPr>
              <a:t>System.out.println</a:t>
            </a:r>
            <a:r>
              <a:rPr lang="en-US" b="0" i="0" dirty="0">
                <a:solidFill>
                  <a:srgbClr val="000000"/>
                </a:solidFill>
                <a:effectLst/>
              </a:rPr>
              <a:t>(</a:t>
            </a:r>
            <a:r>
              <a:rPr lang="en-US" b="0" i="0" dirty="0">
                <a:solidFill>
                  <a:srgbClr val="0000FF"/>
                </a:solidFill>
                <a:effectLst/>
              </a:rPr>
              <a:t>"running safely"</a:t>
            </a:r>
            <a:r>
              <a:rPr lang="en-US" b="0" i="0" dirty="0">
                <a:solidFill>
                  <a:srgbClr val="000000"/>
                </a:solidFill>
                <a:effectLst/>
              </a:rPr>
              <a:t>);}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marL="0" indent="0" algn="just">
              <a:buNone/>
            </a:pPr>
            <a:r>
              <a:rPr lang="en-US" b="0" i="0" dirty="0">
                <a:solidFill>
                  <a:srgbClr val="000000"/>
                </a:solidFill>
                <a:effectLst/>
              </a:rPr>
              <a:t> Bike obj = </a:t>
            </a:r>
            <a:r>
              <a:rPr lang="en-US" b="1" i="0" dirty="0">
                <a:solidFill>
                  <a:srgbClr val="006699"/>
                </a:solidFill>
                <a:effectLst/>
              </a:rPr>
              <a:t>new</a:t>
            </a:r>
            <a:r>
              <a:rPr lang="en-US" b="0" i="0" dirty="0">
                <a:solidFill>
                  <a:srgbClr val="000000"/>
                </a:solidFill>
                <a:effectLst/>
              </a:rPr>
              <a:t> Honda4();  </a:t>
            </a:r>
          </a:p>
          <a:p>
            <a:pPr marL="0" indent="0" algn="just">
              <a:buNone/>
            </a:pPr>
            <a:r>
              <a:rPr lang="en-US" b="0" i="0" dirty="0">
                <a:solidFill>
                  <a:srgbClr val="000000"/>
                </a:solidFill>
                <a:effectLst/>
              </a:rPr>
              <a:t> </a:t>
            </a:r>
            <a:r>
              <a:rPr lang="en-US" b="0" i="0" dirty="0" err="1">
                <a:solidFill>
                  <a:srgbClr val="000000"/>
                </a:solidFill>
                <a:effectLst/>
              </a:rPr>
              <a:t>obj.run</a:t>
            </a:r>
            <a:r>
              <a:rPr lang="en-US" b="0" i="0" dirty="0">
                <a:solidFill>
                  <a:srgbClr val="000000"/>
                </a:solidFill>
                <a:effectLst/>
              </a:rPr>
              <a:t>();  </a:t>
            </a:r>
          </a:p>
          <a:p>
            <a:pPr marL="0" indent="0" algn="just">
              <a:buNone/>
            </a:pPr>
            <a:r>
              <a:rPr lang="en-US" b="0" i="0" dirty="0">
                <a:solidFill>
                  <a:srgbClr val="000000"/>
                </a:solidFill>
                <a:effectLst/>
              </a:rPr>
              <a:t>}  </a:t>
            </a:r>
          </a:p>
          <a:p>
            <a:pPr marL="0" indent="0" algn="just">
              <a:buNone/>
            </a:pPr>
            <a:r>
              <a:rPr lang="en-US" b="0" i="0" dirty="0">
                <a:solidFill>
                  <a:srgbClr val="000000"/>
                </a:solidFill>
                <a:effectLst/>
              </a:rPr>
              <a:t>}  </a:t>
            </a:r>
          </a:p>
          <a:p>
            <a:endParaRPr lang="en-IN" dirty="0"/>
          </a:p>
        </p:txBody>
      </p:sp>
    </p:spTree>
    <p:extLst>
      <p:ext uri="{BB962C8B-B14F-4D97-AF65-F5344CB8AC3E}">
        <p14:creationId xmlns:p14="http://schemas.microsoft.com/office/powerpoint/2010/main" val="32923572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4BF453-C139-6878-CA6B-310E1941B00D}"/>
              </a:ext>
            </a:extLst>
          </p:cNvPr>
          <p:cNvSpPr>
            <a:spLocks noGrp="1"/>
          </p:cNvSpPr>
          <p:nvPr>
            <p:ph idx="1"/>
          </p:nvPr>
        </p:nvSpPr>
        <p:spPr>
          <a:xfrm>
            <a:off x="763555" y="541126"/>
            <a:ext cx="10515600" cy="5775747"/>
          </a:xfrm>
        </p:spPr>
        <p:txBody>
          <a:bodyPr/>
          <a:lstStyle/>
          <a:p>
            <a:pPr marL="0" indent="0">
              <a:lnSpc>
                <a:spcPct val="150000"/>
              </a:lnSpc>
              <a:buNone/>
            </a:pPr>
            <a:r>
              <a:rPr lang="en-IN" b="1" spc="-30" dirty="0">
                <a:solidFill>
                  <a:srgbClr val="7030A0"/>
                </a:solidFill>
              </a:rPr>
              <a:t>Interface</a:t>
            </a:r>
          </a:p>
          <a:p>
            <a:pPr marL="12700" marR="1452880">
              <a:lnSpc>
                <a:spcPct val="150000"/>
              </a:lnSpc>
              <a:spcBef>
                <a:spcPts val="95"/>
              </a:spcBef>
            </a:pPr>
            <a:r>
              <a:rPr lang="en-US" sz="2800" spc="-10" dirty="0">
                <a:cs typeface="Times New Roman" panose="02020603050405020304" pitchFamily="18" charset="0"/>
              </a:rPr>
              <a:t>The </a:t>
            </a:r>
            <a:r>
              <a:rPr lang="en-US" sz="2800" spc="-40" dirty="0">
                <a:cs typeface="Times New Roman" panose="02020603050405020304" pitchFamily="18" charset="0"/>
              </a:rPr>
              <a:t>interface</a:t>
            </a:r>
            <a:r>
              <a:rPr lang="en-US" sz="2800" spc="15" dirty="0">
                <a:cs typeface="Times New Roman" panose="02020603050405020304" pitchFamily="18" charset="0"/>
              </a:rPr>
              <a:t> </a:t>
            </a:r>
            <a:r>
              <a:rPr lang="en-US" sz="2800" dirty="0">
                <a:cs typeface="Times New Roman" panose="02020603050405020304" pitchFamily="18" charset="0"/>
              </a:rPr>
              <a:t>in</a:t>
            </a:r>
            <a:r>
              <a:rPr lang="en-US" sz="2800" spc="-10" dirty="0">
                <a:cs typeface="Times New Roman" panose="02020603050405020304" pitchFamily="18" charset="0"/>
              </a:rPr>
              <a:t> </a:t>
            </a:r>
            <a:r>
              <a:rPr lang="en-US" sz="2800" spc="-50" dirty="0">
                <a:cs typeface="Times New Roman" panose="02020603050405020304" pitchFamily="18" charset="0"/>
              </a:rPr>
              <a:t>Java</a:t>
            </a:r>
            <a:r>
              <a:rPr lang="en-US" sz="2800" spc="25" dirty="0">
                <a:cs typeface="Times New Roman" panose="02020603050405020304" pitchFamily="18" charset="0"/>
              </a:rPr>
              <a:t> </a:t>
            </a:r>
            <a:r>
              <a:rPr lang="en-US" sz="2800" dirty="0">
                <a:cs typeface="Times New Roman" panose="02020603050405020304" pitchFamily="18" charset="0"/>
              </a:rPr>
              <a:t>is</a:t>
            </a:r>
            <a:r>
              <a:rPr lang="en-US" sz="2800" spc="-10" dirty="0">
                <a:cs typeface="Times New Roman" panose="02020603050405020304" pitchFamily="18" charset="0"/>
              </a:rPr>
              <a:t> </a:t>
            </a:r>
            <a:r>
              <a:rPr lang="en-US" sz="2800" b="1" i="1" spc="-5" dirty="0">
                <a:solidFill>
                  <a:srgbClr val="7030A0"/>
                </a:solidFill>
                <a:cs typeface="Times New Roman" panose="02020603050405020304" pitchFamily="18" charset="0"/>
              </a:rPr>
              <a:t>a</a:t>
            </a:r>
            <a:r>
              <a:rPr lang="en-US" sz="2800" b="1" i="1" spc="5" dirty="0">
                <a:solidFill>
                  <a:srgbClr val="7030A0"/>
                </a:solidFill>
                <a:cs typeface="Times New Roman" panose="02020603050405020304" pitchFamily="18" charset="0"/>
              </a:rPr>
              <a:t> </a:t>
            </a:r>
            <a:r>
              <a:rPr lang="en-US" sz="2800" b="1" i="1" spc="-10" dirty="0">
                <a:solidFill>
                  <a:srgbClr val="7030A0"/>
                </a:solidFill>
                <a:cs typeface="Times New Roman" panose="02020603050405020304" pitchFamily="18" charset="0"/>
              </a:rPr>
              <a:t>mechanism</a:t>
            </a:r>
            <a:r>
              <a:rPr lang="en-US" sz="2800" b="1" i="1" spc="60" dirty="0">
                <a:solidFill>
                  <a:srgbClr val="7030A0"/>
                </a:solidFill>
                <a:cs typeface="Times New Roman" panose="02020603050405020304" pitchFamily="18" charset="0"/>
              </a:rPr>
              <a:t> </a:t>
            </a:r>
            <a:r>
              <a:rPr lang="en-US" sz="2800" b="1" i="1" spc="-35" dirty="0">
                <a:solidFill>
                  <a:srgbClr val="7030A0"/>
                </a:solidFill>
                <a:cs typeface="Times New Roman" panose="02020603050405020304" pitchFamily="18" charset="0"/>
              </a:rPr>
              <a:t>to </a:t>
            </a:r>
            <a:r>
              <a:rPr lang="en-US" sz="2800" b="1" i="1" spc="-710" dirty="0">
                <a:solidFill>
                  <a:srgbClr val="7030A0"/>
                </a:solidFill>
                <a:cs typeface="Times New Roman" panose="02020603050405020304" pitchFamily="18" charset="0"/>
              </a:rPr>
              <a:t>          </a:t>
            </a:r>
            <a:r>
              <a:rPr lang="en-US" sz="2800" b="1" i="1" spc="-35" dirty="0">
                <a:solidFill>
                  <a:srgbClr val="7030A0"/>
                </a:solidFill>
                <a:cs typeface="Times New Roman" panose="02020603050405020304" pitchFamily="18" charset="0"/>
              </a:rPr>
              <a:t>achieve</a:t>
            </a:r>
            <a:r>
              <a:rPr lang="en-US" sz="2800" b="1" i="1" spc="120" dirty="0">
                <a:solidFill>
                  <a:srgbClr val="7030A0"/>
                </a:solidFill>
                <a:cs typeface="Times New Roman" panose="02020603050405020304" pitchFamily="18" charset="0"/>
              </a:rPr>
              <a:t> </a:t>
            </a:r>
            <a:r>
              <a:rPr lang="en-US" sz="2800" b="1" i="1" spc="-25" dirty="0">
                <a:solidFill>
                  <a:srgbClr val="7030A0"/>
                </a:solidFill>
                <a:cs typeface="Times New Roman" panose="02020603050405020304" pitchFamily="18" charset="0"/>
              </a:rPr>
              <a:t>abstraction</a:t>
            </a:r>
            <a:r>
              <a:rPr lang="en-US" sz="2800" b="1" spc="-25" dirty="0">
                <a:solidFill>
                  <a:srgbClr val="7030A0"/>
                </a:solidFill>
                <a:cs typeface="Times New Roman" panose="02020603050405020304" pitchFamily="18" charset="0"/>
              </a:rPr>
              <a:t>.</a:t>
            </a:r>
            <a:endParaRPr lang="en-US" sz="2800" b="1" dirty="0">
              <a:solidFill>
                <a:srgbClr val="7030A0"/>
              </a:solidFill>
              <a:cs typeface="Times New Roman" panose="02020603050405020304" pitchFamily="18" charset="0"/>
            </a:endParaRPr>
          </a:p>
          <a:p>
            <a:pPr marL="12700" marR="143510">
              <a:lnSpc>
                <a:spcPct val="150000"/>
              </a:lnSpc>
              <a:spcBef>
                <a:spcPts val="795"/>
              </a:spcBef>
            </a:pPr>
            <a:r>
              <a:rPr lang="en-US" sz="2800" spc="-40" dirty="0">
                <a:cs typeface="Times New Roman" panose="02020603050405020304" pitchFamily="18" charset="0"/>
              </a:rPr>
              <a:t>There</a:t>
            </a:r>
            <a:r>
              <a:rPr lang="en-US" sz="2800" spc="65" dirty="0">
                <a:cs typeface="Times New Roman" panose="02020603050405020304" pitchFamily="18" charset="0"/>
              </a:rPr>
              <a:t> </a:t>
            </a:r>
            <a:r>
              <a:rPr lang="en-US" sz="2800" spc="-30" dirty="0">
                <a:cs typeface="Times New Roman" panose="02020603050405020304" pitchFamily="18" charset="0"/>
              </a:rPr>
              <a:t>can</a:t>
            </a:r>
            <a:r>
              <a:rPr lang="en-US" sz="2800" spc="25" dirty="0">
                <a:cs typeface="Times New Roman" panose="02020603050405020304" pitchFamily="18" charset="0"/>
              </a:rPr>
              <a:t> </a:t>
            </a:r>
            <a:r>
              <a:rPr lang="en-US" sz="2800" spc="-5" dirty="0">
                <a:cs typeface="Times New Roman" panose="02020603050405020304" pitchFamily="18" charset="0"/>
              </a:rPr>
              <a:t>be</a:t>
            </a:r>
            <a:r>
              <a:rPr lang="en-US" sz="2800" spc="-10" dirty="0">
                <a:cs typeface="Times New Roman" panose="02020603050405020304" pitchFamily="18" charset="0"/>
              </a:rPr>
              <a:t> </a:t>
            </a:r>
            <a:r>
              <a:rPr lang="en-US" sz="2800" spc="-5" dirty="0">
                <a:cs typeface="Times New Roman" panose="02020603050405020304" pitchFamily="18" charset="0"/>
              </a:rPr>
              <a:t>only</a:t>
            </a:r>
            <a:r>
              <a:rPr lang="en-US" sz="2800" spc="20" dirty="0">
                <a:cs typeface="Times New Roman" panose="02020603050405020304" pitchFamily="18" charset="0"/>
              </a:rPr>
              <a:t> </a:t>
            </a:r>
            <a:r>
              <a:rPr lang="en-US" sz="2800" spc="-45" dirty="0">
                <a:cs typeface="Times New Roman" panose="02020603050405020304" pitchFamily="18" charset="0"/>
              </a:rPr>
              <a:t>abstract</a:t>
            </a:r>
            <a:r>
              <a:rPr lang="en-US" sz="2800" spc="45" dirty="0">
                <a:cs typeface="Times New Roman" panose="02020603050405020304" pitchFamily="18" charset="0"/>
              </a:rPr>
              <a:t> </a:t>
            </a:r>
            <a:r>
              <a:rPr lang="en-US" sz="2800" spc="-35" dirty="0">
                <a:cs typeface="Times New Roman" panose="02020603050405020304" pitchFamily="18" charset="0"/>
              </a:rPr>
              <a:t>methods</a:t>
            </a:r>
            <a:r>
              <a:rPr lang="en-US" sz="2800" spc="140" dirty="0">
                <a:cs typeface="Times New Roman" panose="02020603050405020304" pitchFamily="18" charset="0"/>
              </a:rPr>
              <a:t> </a:t>
            </a:r>
            <a:r>
              <a:rPr lang="en-US" sz="2800" spc="-5" dirty="0">
                <a:cs typeface="Times New Roman" panose="02020603050405020304" pitchFamily="18" charset="0"/>
              </a:rPr>
              <a:t>in</a:t>
            </a:r>
            <a:r>
              <a:rPr lang="en-US" sz="2800" dirty="0">
                <a:cs typeface="Times New Roman" panose="02020603050405020304" pitchFamily="18" charset="0"/>
              </a:rPr>
              <a:t> </a:t>
            </a:r>
            <a:r>
              <a:rPr lang="en-US" sz="2800" spc="-5" dirty="0">
                <a:cs typeface="Times New Roman" panose="02020603050405020304" pitchFamily="18" charset="0"/>
              </a:rPr>
              <a:t>the</a:t>
            </a:r>
            <a:r>
              <a:rPr lang="en-US" sz="2800" spc="5" dirty="0">
                <a:cs typeface="Times New Roman" panose="02020603050405020304" pitchFamily="18" charset="0"/>
              </a:rPr>
              <a:t> </a:t>
            </a:r>
            <a:r>
              <a:rPr lang="en-US" sz="2800" spc="-50" dirty="0">
                <a:cs typeface="Times New Roman" panose="02020603050405020304" pitchFamily="18" charset="0"/>
              </a:rPr>
              <a:t>Java </a:t>
            </a:r>
            <a:r>
              <a:rPr lang="en-US" sz="2800" spc="-710" dirty="0">
                <a:cs typeface="Times New Roman" panose="02020603050405020304" pitchFamily="18" charset="0"/>
              </a:rPr>
              <a:t> </a:t>
            </a:r>
            <a:r>
              <a:rPr lang="en-US" sz="2800" spc="-40" dirty="0">
                <a:cs typeface="Times New Roman" panose="02020603050405020304" pitchFamily="18" charset="0"/>
              </a:rPr>
              <a:t>interface,</a:t>
            </a:r>
            <a:r>
              <a:rPr lang="en-US" sz="2800" spc="65" dirty="0">
                <a:cs typeface="Times New Roman" panose="02020603050405020304" pitchFamily="18" charset="0"/>
              </a:rPr>
              <a:t> </a:t>
            </a:r>
            <a:r>
              <a:rPr lang="en-US" sz="2800" spc="-10" dirty="0">
                <a:cs typeface="Times New Roman" panose="02020603050405020304" pitchFamily="18" charset="0"/>
              </a:rPr>
              <a:t>not</a:t>
            </a:r>
            <a:r>
              <a:rPr lang="en-US" sz="2800" spc="-20" dirty="0">
                <a:cs typeface="Times New Roman" panose="02020603050405020304" pitchFamily="18" charset="0"/>
              </a:rPr>
              <a:t> </a:t>
            </a:r>
            <a:r>
              <a:rPr lang="en-US" sz="2800" spc="-15" dirty="0">
                <a:cs typeface="Times New Roman" panose="02020603050405020304" pitchFamily="18" charset="0"/>
              </a:rPr>
              <a:t>method</a:t>
            </a:r>
            <a:r>
              <a:rPr lang="en-US" sz="2800" spc="50" dirty="0">
                <a:cs typeface="Times New Roman" panose="02020603050405020304" pitchFamily="18" charset="0"/>
              </a:rPr>
              <a:t> </a:t>
            </a:r>
            <a:r>
              <a:rPr lang="en-US" sz="2800" spc="-90" dirty="0">
                <a:cs typeface="Times New Roman" panose="02020603050405020304" pitchFamily="18" charset="0"/>
              </a:rPr>
              <a:t>body.</a:t>
            </a:r>
            <a:endParaRPr lang="en-US" sz="2800" dirty="0">
              <a:cs typeface="Times New Roman" panose="02020603050405020304" pitchFamily="18" charset="0"/>
            </a:endParaRPr>
          </a:p>
          <a:p>
            <a:pPr marL="0" indent="0">
              <a:lnSpc>
                <a:spcPct val="150000"/>
              </a:lnSpc>
              <a:spcBef>
                <a:spcPts val="795"/>
              </a:spcBef>
              <a:buNone/>
            </a:pPr>
            <a:r>
              <a:rPr lang="en-US" sz="2800" b="1" spc="-10" dirty="0">
                <a:solidFill>
                  <a:srgbClr val="7030A0"/>
                </a:solidFill>
                <a:cs typeface="Times New Roman" panose="02020603050405020304" pitchFamily="18" charset="0"/>
              </a:rPr>
              <a:t>Uses</a:t>
            </a:r>
            <a:r>
              <a:rPr lang="en-US" sz="2800" b="1" spc="-85" dirty="0">
                <a:solidFill>
                  <a:srgbClr val="7030A0"/>
                </a:solidFill>
                <a:cs typeface="Times New Roman" panose="02020603050405020304" pitchFamily="18" charset="0"/>
              </a:rPr>
              <a:t> </a:t>
            </a:r>
            <a:r>
              <a:rPr lang="en-US" sz="2800" b="1" spc="-5" dirty="0">
                <a:solidFill>
                  <a:srgbClr val="7030A0"/>
                </a:solidFill>
                <a:cs typeface="Times New Roman" panose="02020603050405020304" pitchFamily="18" charset="0"/>
              </a:rPr>
              <a:t>of</a:t>
            </a:r>
            <a:r>
              <a:rPr lang="en-US" sz="2800" b="1" spc="-45" dirty="0">
                <a:solidFill>
                  <a:srgbClr val="7030A0"/>
                </a:solidFill>
                <a:cs typeface="Times New Roman" panose="02020603050405020304" pitchFamily="18" charset="0"/>
              </a:rPr>
              <a:t> </a:t>
            </a:r>
            <a:r>
              <a:rPr lang="en-US" sz="2800" b="1" spc="-35" dirty="0">
                <a:solidFill>
                  <a:srgbClr val="7030A0"/>
                </a:solidFill>
                <a:cs typeface="Times New Roman" panose="02020603050405020304" pitchFamily="18" charset="0"/>
              </a:rPr>
              <a:t>interface:</a:t>
            </a:r>
            <a:endParaRPr lang="en-US" sz="2800" b="1" dirty="0">
              <a:solidFill>
                <a:srgbClr val="7030A0"/>
              </a:solidFill>
              <a:cs typeface="Times New Roman" panose="02020603050405020304" pitchFamily="18" charset="0"/>
            </a:endParaRPr>
          </a:p>
          <a:p>
            <a:pPr marL="356870" indent="-344805">
              <a:lnSpc>
                <a:spcPct val="150000"/>
              </a:lnSpc>
              <a:spcBef>
                <a:spcPts val="820"/>
              </a:spcBef>
              <a:buFont typeface="Arial MT"/>
              <a:buChar char="•"/>
              <a:tabLst>
                <a:tab pos="356870" algn="l"/>
                <a:tab pos="357505" algn="l"/>
              </a:tabLst>
            </a:pPr>
            <a:r>
              <a:rPr lang="en-US" sz="2800" dirty="0">
                <a:cs typeface="Times New Roman" panose="02020603050405020304" pitchFamily="18" charset="0"/>
              </a:rPr>
              <a:t>It </a:t>
            </a:r>
            <a:r>
              <a:rPr lang="en-US" sz="2800" spc="-5" dirty="0">
                <a:cs typeface="Times New Roman" panose="02020603050405020304" pitchFamily="18" charset="0"/>
              </a:rPr>
              <a:t>is</a:t>
            </a:r>
            <a:r>
              <a:rPr lang="en-US" sz="2800" spc="-25" dirty="0">
                <a:cs typeface="Times New Roman" panose="02020603050405020304" pitchFamily="18" charset="0"/>
              </a:rPr>
              <a:t> </a:t>
            </a:r>
            <a:r>
              <a:rPr lang="en-US" sz="2800" spc="-10" dirty="0">
                <a:solidFill>
                  <a:srgbClr val="7030A0"/>
                </a:solidFill>
                <a:cs typeface="Times New Roman" panose="02020603050405020304" pitchFamily="18" charset="0"/>
              </a:rPr>
              <a:t>used</a:t>
            </a:r>
            <a:r>
              <a:rPr lang="en-US" sz="2800" spc="-5" dirty="0">
                <a:solidFill>
                  <a:srgbClr val="7030A0"/>
                </a:solidFill>
                <a:cs typeface="Times New Roman" panose="02020603050405020304" pitchFamily="18" charset="0"/>
              </a:rPr>
              <a:t> </a:t>
            </a:r>
            <a:r>
              <a:rPr lang="en-US" sz="2800" spc="-10" dirty="0">
                <a:solidFill>
                  <a:srgbClr val="7030A0"/>
                </a:solidFill>
                <a:cs typeface="Times New Roman" panose="02020603050405020304" pitchFamily="18" charset="0"/>
              </a:rPr>
              <a:t>to</a:t>
            </a:r>
            <a:r>
              <a:rPr lang="en-US" sz="2800" spc="-60" dirty="0">
                <a:solidFill>
                  <a:srgbClr val="7030A0"/>
                </a:solidFill>
                <a:cs typeface="Times New Roman" panose="02020603050405020304" pitchFamily="18" charset="0"/>
              </a:rPr>
              <a:t> </a:t>
            </a:r>
            <a:r>
              <a:rPr lang="en-US" sz="2800" spc="-35" dirty="0">
                <a:solidFill>
                  <a:srgbClr val="7030A0"/>
                </a:solidFill>
                <a:cs typeface="Times New Roman" panose="02020603050405020304" pitchFamily="18" charset="0"/>
              </a:rPr>
              <a:t>achieve</a:t>
            </a:r>
            <a:r>
              <a:rPr lang="en-US" sz="2800" spc="65" dirty="0">
                <a:solidFill>
                  <a:srgbClr val="7030A0"/>
                </a:solidFill>
                <a:cs typeface="Times New Roman" panose="02020603050405020304" pitchFamily="18" charset="0"/>
              </a:rPr>
              <a:t> </a:t>
            </a:r>
            <a:r>
              <a:rPr lang="en-US" sz="2800" spc="-35" dirty="0">
                <a:solidFill>
                  <a:srgbClr val="7030A0"/>
                </a:solidFill>
                <a:cs typeface="Times New Roman" panose="02020603050405020304" pitchFamily="18" charset="0"/>
              </a:rPr>
              <a:t>abstraction.</a:t>
            </a:r>
            <a:endParaRPr lang="en-US" sz="2800" dirty="0">
              <a:solidFill>
                <a:srgbClr val="7030A0"/>
              </a:solidFill>
              <a:cs typeface="Times New Roman" panose="02020603050405020304" pitchFamily="18" charset="0"/>
            </a:endParaRPr>
          </a:p>
          <a:p>
            <a:pPr marL="356870" marR="5080" indent="-344805">
              <a:lnSpc>
                <a:spcPct val="150000"/>
              </a:lnSpc>
              <a:spcBef>
                <a:spcPts val="790"/>
              </a:spcBef>
              <a:buFont typeface="Arial MT"/>
              <a:buChar char="•"/>
              <a:tabLst>
                <a:tab pos="356870" algn="l"/>
                <a:tab pos="357505" algn="l"/>
              </a:tabLst>
            </a:pPr>
            <a:r>
              <a:rPr lang="en-US" sz="2800" spc="-35" dirty="0">
                <a:cs typeface="Times New Roman" panose="02020603050405020304" pitchFamily="18" charset="0"/>
              </a:rPr>
              <a:t>By</a:t>
            </a:r>
            <a:r>
              <a:rPr lang="en-US" sz="2800" spc="-15" dirty="0">
                <a:cs typeface="Times New Roman" panose="02020603050405020304" pitchFamily="18" charset="0"/>
              </a:rPr>
              <a:t> </a:t>
            </a:r>
            <a:r>
              <a:rPr lang="en-US" sz="2800" spc="-40" dirty="0">
                <a:cs typeface="Times New Roman" panose="02020603050405020304" pitchFamily="18" charset="0"/>
              </a:rPr>
              <a:t>interface,</a:t>
            </a:r>
            <a:r>
              <a:rPr lang="en-US" sz="2800" spc="40" dirty="0">
                <a:cs typeface="Times New Roman" panose="02020603050405020304" pitchFamily="18" charset="0"/>
              </a:rPr>
              <a:t> </a:t>
            </a:r>
            <a:r>
              <a:rPr lang="en-US" sz="2800" spc="-35" dirty="0">
                <a:cs typeface="Times New Roman" panose="02020603050405020304" pitchFamily="18" charset="0"/>
              </a:rPr>
              <a:t>we</a:t>
            </a:r>
            <a:r>
              <a:rPr lang="en-US" sz="2800" spc="15" dirty="0">
                <a:cs typeface="Times New Roman" panose="02020603050405020304" pitchFamily="18" charset="0"/>
              </a:rPr>
              <a:t> </a:t>
            </a:r>
            <a:r>
              <a:rPr lang="en-US" sz="2800" spc="-30" dirty="0">
                <a:cs typeface="Times New Roman" panose="02020603050405020304" pitchFamily="18" charset="0"/>
              </a:rPr>
              <a:t>can</a:t>
            </a:r>
            <a:r>
              <a:rPr lang="en-US" sz="2800" spc="40" dirty="0">
                <a:cs typeface="Times New Roman" panose="02020603050405020304" pitchFamily="18" charset="0"/>
              </a:rPr>
              <a:t> </a:t>
            </a:r>
            <a:r>
              <a:rPr lang="en-US" sz="2800" spc="-10" dirty="0">
                <a:cs typeface="Times New Roman" panose="02020603050405020304" pitchFamily="18" charset="0"/>
              </a:rPr>
              <a:t>support</a:t>
            </a:r>
            <a:r>
              <a:rPr lang="en-US" sz="2800" spc="-25" dirty="0">
                <a:cs typeface="Times New Roman" panose="02020603050405020304" pitchFamily="18" charset="0"/>
              </a:rPr>
              <a:t> </a:t>
            </a:r>
            <a:r>
              <a:rPr lang="en-US" sz="2800" spc="-5" dirty="0">
                <a:cs typeface="Times New Roman" panose="02020603050405020304" pitchFamily="18" charset="0"/>
              </a:rPr>
              <a:t>the</a:t>
            </a:r>
            <a:r>
              <a:rPr lang="en-US" sz="2800" spc="-10" dirty="0">
                <a:cs typeface="Times New Roman" panose="02020603050405020304" pitchFamily="18" charset="0"/>
              </a:rPr>
              <a:t> </a:t>
            </a:r>
            <a:r>
              <a:rPr lang="en-US" sz="2800" dirty="0">
                <a:cs typeface="Times New Roman" panose="02020603050405020304" pitchFamily="18" charset="0"/>
              </a:rPr>
              <a:t>functionality </a:t>
            </a:r>
            <a:r>
              <a:rPr lang="en-US" sz="2800" spc="-705" dirty="0">
                <a:cs typeface="Times New Roman" panose="02020603050405020304" pitchFamily="18" charset="0"/>
              </a:rPr>
              <a:t> </a:t>
            </a:r>
            <a:r>
              <a:rPr lang="en-US" sz="2800" spc="-10" dirty="0">
                <a:cs typeface="Times New Roman" panose="02020603050405020304" pitchFamily="18" charset="0"/>
              </a:rPr>
              <a:t>of</a:t>
            </a:r>
            <a:r>
              <a:rPr lang="en-US" sz="2800" spc="-25" dirty="0">
                <a:cs typeface="Times New Roman" panose="02020603050405020304" pitchFamily="18" charset="0"/>
              </a:rPr>
              <a:t> </a:t>
            </a:r>
            <a:r>
              <a:rPr lang="en-US" sz="2800" spc="-5" dirty="0">
                <a:cs typeface="Times New Roman" panose="02020603050405020304" pitchFamily="18" charset="0"/>
              </a:rPr>
              <a:t>multiple</a:t>
            </a:r>
            <a:r>
              <a:rPr lang="en-US" sz="2800" spc="-15" dirty="0">
                <a:cs typeface="Times New Roman" panose="02020603050405020304" pitchFamily="18" charset="0"/>
              </a:rPr>
              <a:t> </a:t>
            </a:r>
            <a:r>
              <a:rPr lang="en-US" sz="2800" spc="-10" dirty="0">
                <a:cs typeface="Times New Roman" panose="02020603050405020304" pitchFamily="18" charset="0"/>
              </a:rPr>
              <a:t>inheritance</a:t>
            </a:r>
            <a:r>
              <a:rPr lang="en-US" spc="-1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1596201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relationship between class and interface">
            <a:extLst>
              <a:ext uri="{FF2B5EF4-FFF2-40B4-BE49-F238E27FC236}">
                <a16:creationId xmlns:a16="http://schemas.microsoft.com/office/drawing/2014/main" id="{C1C8C5B0-24A6-A1FE-0DC7-24261FEF8D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7501" y="1166327"/>
            <a:ext cx="7629927" cy="368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13469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8D881-8F81-B2E7-2550-424212568DB0}"/>
              </a:ext>
            </a:extLst>
          </p:cNvPr>
          <p:cNvSpPr>
            <a:spLocks noGrp="1"/>
          </p:cNvSpPr>
          <p:nvPr>
            <p:ph idx="1"/>
          </p:nvPr>
        </p:nvSpPr>
        <p:spPr>
          <a:xfrm>
            <a:off x="838200" y="401216"/>
            <a:ext cx="10515600" cy="5775747"/>
          </a:xfrm>
        </p:spPr>
        <p:txBody>
          <a:bodyPr>
            <a:normAutofit/>
          </a:bodyPr>
          <a:lstStyle/>
          <a:p>
            <a:pPr marL="0" indent="0" algn="just">
              <a:buNone/>
            </a:pPr>
            <a:r>
              <a:rPr lang="en-IN" b="1" dirty="0">
                <a:solidFill>
                  <a:srgbClr val="7030A0"/>
                </a:solidFill>
                <a:effectLst/>
              </a:rPr>
              <a:t>Java Interface Example</a:t>
            </a:r>
          </a:p>
          <a:p>
            <a:pPr algn="just"/>
            <a:r>
              <a:rPr lang="en-IN" b="0" i="0" dirty="0">
                <a:solidFill>
                  <a:srgbClr val="333333"/>
                </a:solidFill>
                <a:effectLst/>
              </a:rPr>
              <a:t>In this example, the Printable interface has only one method, and its implementation is provided in the A6 class.</a:t>
            </a:r>
          </a:p>
          <a:p>
            <a:pPr marL="0" indent="0" algn="just">
              <a:buNone/>
            </a:pPr>
            <a:r>
              <a:rPr lang="en-IN" b="1" i="0" dirty="0">
                <a:solidFill>
                  <a:srgbClr val="006699"/>
                </a:solidFill>
                <a:effectLst/>
              </a:rPr>
              <a:t>interface</a:t>
            </a:r>
            <a:r>
              <a:rPr lang="en-IN" b="0" i="0" dirty="0">
                <a:solidFill>
                  <a:srgbClr val="000000"/>
                </a:solidFill>
                <a:effectLst/>
              </a:rPr>
              <a:t> printable{  </a:t>
            </a:r>
          </a:p>
          <a:p>
            <a:pPr marL="0" indent="0" algn="just">
              <a:buNone/>
            </a:pPr>
            <a:r>
              <a:rPr lang="en-IN" b="1" i="0" dirty="0">
                <a:solidFill>
                  <a:srgbClr val="006699"/>
                </a:solidFill>
                <a:effectLst/>
              </a:rPr>
              <a:t>void</a:t>
            </a:r>
            <a:r>
              <a:rPr lang="en-IN" b="0" i="0" dirty="0">
                <a:solidFill>
                  <a:srgbClr val="000000"/>
                </a:solidFill>
                <a:effectLst/>
              </a:rPr>
              <a:t> print(); }  </a:t>
            </a:r>
          </a:p>
          <a:p>
            <a:pPr marL="0" indent="0" algn="just">
              <a:buNone/>
            </a:pPr>
            <a:r>
              <a:rPr lang="en-IN" b="1" i="0" dirty="0">
                <a:solidFill>
                  <a:srgbClr val="006699"/>
                </a:solidFill>
                <a:effectLst/>
              </a:rPr>
              <a:t>class</a:t>
            </a:r>
            <a:r>
              <a:rPr lang="en-IN" b="0" i="0" dirty="0">
                <a:solidFill>
                  <a:srgbClr val="000000"/>
                </a:solidFill>
                <a:effectLst/>
              </a:rPr>
              <a:t> A6 </a:t>
            </a:r>
            <a:r>
              <a:rPr lang="en-IN" b="1" i="0" dirty="0">
                <a:solidFill>
                  <a:srgbClr val="006699"/>
                </a:solidFill>
                <a:effectLst/>
              </a:rPr>
              <a:t>implements</a:t>
            </a:r>
            <a:r>
              <a:rPr lang="en-IN" b="0" i="0" dirty="0">
                <a:solidFill>
                  <a:srgbClr val="000000"/>
                </a:solidFill>
                <a:effectLst/>
              </a:rPr>
              <a:t> printable{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print(){</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"Hello"</a:t>
            </a: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A6 </a:t>
            </a:r>
            <a:r>
              <a:rPr lang="en-IN" b="0" i="0" dirty="0" err="1">
                <a:solidFill>
                  <a:srgbClr val="000000"/>
                </a:solidFill>
                <a:effectLst/>
              </a:rPr>
              <a:t>obj</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A6();  </a:t>
            </a:r>
          </a:p>
          <a:p>
            <a:pPr marL="0" indent="0" algn="just">
              <a:buNone/>
            </a:pPr>
            <a:r>
              <a:rPr lang="en-IN" b="0" i="0" dirty="0" err="1">
                <a:solidFill>
                  <a:srgbClr val="000000"/>
                </a:solidFill>
                <a:effectLst/>
              </a:rPr>
              <a:t>obj.print</a:t>
            </a:r>
            <a:r>
              <a:rPr lang="en-IN" b="0" i="0" dirty="0">
                <a:solidFill>
                  <a:srgbClr val="000000"/>
                </a:solidFill>
                <a:effectLst/>
              </a:rPr>
              <a:t>();  } }  </a:t>
            </a:r>
          </a:p>
          <a:p>
            <a:endParaRPr lang="en-IN" dirty="0"/>
          </a:p>
        </p:txBody>
      </p:sp>
    </p:spTree>
    <p:extLst>
      <p:ext uri="{BB962C8B-B14F-4D97-AF65-F5344CB8AC3E}">
        <p14:creationId xmlns:p14="http://schemas.microsoft.com/office/powerpoint/2010/main" val="13231871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5FE51-EF1B-97E2-5B67-634830404838}"/>
              </a:ext>
            </a:extLst>
          </p:cNvPr>
          <p:cNvSpPr>
            <a:spLocks noGrp="1"/>
          </p:cNvSpPr>
          <p:nvPr>
            <p:ph idx="1"/>
          </p:nvPr>
        </p:nvSpPr>
        <p:spPr>
          <a:xfrm>
            <a:off x="494522" y="438539"/>
            <a:ext cx="10859278" cy="5738424"/>
          </a:xfrm>
        </p:spPr>
        <p:txBody>
          <a:bodyPr/>
          <a:lstStyle/>
          <a:p>
            <a:pPr marL="0" indent="0">
              <a:lnSpc>
                <a:spcPct val="100000"/>
              </a:lnSpc>
              <a:buNone/>
            </a:pPr>
            <a:r>
              <a:rPr lang="en-IN" b="1" spc="5" dirty="0">
                <a:solidFill>
                  <a:srgbClr val="7030A0"/>
                </a:solidFill>
              </a:rPr>
              <a:t>Encapsulation</a:t>
            </a:r>
          </a:p>
          <a:p>
            <a:pPr marL="355600" indent="-343535">
              <a:lnSpc>
                <a:spcPct val="100000"/>
              </a:lnSpc>
              <a:spcBef>
                <a:spcPts val="830"/>
              </a:spcBef>
              <a:buFont typeface="Arial"/>
              <a:buChar char="•"/>
              <a:tabLst>
                <a:tab pos="355600" algn="l"/>
                <a:tab pos="356235" algn="l"/>
              </a:tabLst>
            </a:pPr>
            <a:r>
              <a:rPr lang="en-US" b="1" i="0" dirty="0">
                <a:solidFill>
                  <a:srgbClr val="7030A0"/>
                </a:solidFill>
                <a:effectLst/>
              </a:rPr>
              <a:t>Encapsulation in Java is a </a:t>
            </a:r>
            <a:r>
              <a:rPr lang="en-US" b="1" i="1" dirty="0">
                <a:solidFill>
                  <a:srgbClr val="7030A0"/>
                </a:solidFill>
                <a:effectLst/>
              </a:rPr>
              <a:t>process of wrapping code and data together into a single unit</a:t>
            </a:r>
            <a:r>
              <a:rPr lang="en-US" b="0" i="0" dirty="0">
                <a:solidFill>
                  <a:srgbClr val="333333"/>
                </a:solidFill>
                <a:effectLst/>
              </a:rPr>
              <a:t>, for example, a capsule which is mixed of several medicines.</a:t>
            </a:r>
          </a:p>
          <a:p>
            <a:pPr algn="just">
              <a:lnSpc>
                <a:spcPct val="100000"/>
              </a:lnSpc>
            </a:pPr>
            <a:r>
              <a:rPr lang="en-US" b="0" i="0" dirty="0">
                <a:solidFill>
                  <a:srgbClr val="333333"/>
                </a:solidFill>
                <a:effectLst/>
              </a:rPr>
              <a:t>We can create a fully encapsulated class in Java by making all the data members of the class private.</a:t>
            </a:r>
          </a:p>
          <a:p>
            <a:pPr algn="just">
              <a:lnSpc>
                <a:spcPct val="100000"/>
              </a:lnSpc>
            </a:pPr>
            <a:r>
              <a:rPr lang="en-US" b="0" i="0" dirty="0">
                <a:solidFill>
                  <a:srgbClr val="333333"/>
                </a:solidFill>
                <a:effectLst/>
              </a:rPr>
              <a:t> Now we can </a:t>
            </a:r>
            <a:r>
              <a:rPr lang="en-US" b="1" i="0" dirty="0">
                <a:solidFill>
                  <a:srgbClr val="7030A0"/>
                </a:solidFill>
                <a:effectLst/>
              </a:rPr>
              <a:t>use setter and getter methods </a:t>
            </a:r>
            <a:r>
              <a:rPr lang="en-US" b="0" i="0" dirty="0">
                <a:solidFill>
                  <a:srgbClr val="333333"/>
                </a:solidFill>
                <a:effectLst/>
              </a:rPr>
              <a:t>to set and get the data in it.</a:t>
            </a:r>
          </a:p>
          <a:p>
            <a:pPr algn="just">
              <a:lnSpc>
                <a:spcPct val="100000"/>
              </a:lnSpc>
            </a:pPr>
            <a:r>
              <a:rPr lang="en-US" b="0" i="0" dirty="0">
                <a:solidFill>
                  <a:srgbClr val="333333"/>
                </a:solidFill>
                <a:effectLst/>
              </a:rPr>
              <a:t>The </a:t>
            </a:r>
            <a:r>
              <a:rPr lang="en-US" b="1" i="0" dirty="0">
                <a:solidFill>
                  <a:srgbClr val="7030A0"/>
                </a:solidFill>
                <a:effectLst/>
              </a:rPr>
              <a:t>Java Bean class is the example of a fully encapsulated class.</a:t>
            </a:r>
          </a:p>
        </p:txBody>
      </p:sp>
    </p:spTree>
    <p:extLst>
      <p:ext uri="{BB962C8B-B14F-4D97-AF65-F5344CB8AC3E}">
        <p14:creationId xmlns:p14="http://schemas.microsoft.com/office/powerpoint/2010/main" val="19945913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62FD56-16E9-6AB5-886E-21844F628CFA}"/>
              </a:ext>
            </a:extLst>
          </p:cNvPr>
          <p:cNvSpPr>
            <a:spLocks noGrp="1"/>
          </p:cNvSpPr>
          <p:nvPr>
            <p:ph idx="1"/>
          </p:nvPr>
        </p:nvSpPr>
        <p:spPr>
          <a:xfrm>
            <a:off x="838200" y="606490"/>
            <a:ext cx="10515600" cy="5570473"/>
          </a:xfrm>
        </p:spPr>
        <p:txBody>
          <a:bodyPr/>
          <a:lstStyle/>
          <a:p>
            <a:pPr marL="0" indent="0">
              <a:lnSpc>
                <a:spcPct val="150000"/>
              </a:lnSpc>
              <a:buNone/>
            </a:pPr>
            <a:r>
              <a:rPr lang="en-US" b="1" i="0" dirty="0">
                <a:solidFill>
                  <a:srgbClr val="7030A0"/>
                </a:solidFill>
                <a:effectLst/>
              </a:rPr>
              <a:t>Advantage of Encapsulation in Java</a:t>
            </a:r>
          </a:p>
          <a:p>
            <a:pPr>
              <a:lnSpc>
                <a:spcPct val="150000"/>
              </a:lnSpc>
            </a:pPr>
            <a:r>
              <a:rPr lang="en-US" b="0" i="0" dirty="0">
                <a:solidFill>
                  <a:srgbClr val="333333"/>
                </a:solidFill>
                <a:effectLst/>
              </a:rPr>
              <a:t>By providing only a setter or getter method, you can make the class </a:t>
            </a:r>
            <a:r>
              <a:rPr lang="en-US" b="1" i="0" dirty="0">
                <a:solidFill>
                  <a:srgbClr val="7030A0"/>
                </a:solidFill>
                <a:effectLst/>
              </a:rPr>
              <a:t>read-only or write-only</a:t>
            </a:r>
            <a:r>
              <a:rPr lang="en-US" b="0" i="0" dirty="0">
                <a:solidFill>
                  <a:srgbClr val="333333"/>
                </a:solidFill>
                <a:effectLst/>
              </a:rPr>
              <a:t>.</a:t>
            </a:r>
          </a:p>
          <a:p>
            <a:pPr algn="just">
              <a:lnSpc>
                <a:spcPct val="150000"/>
              </a:lnSpc>
            </a:pPr>
            <a:r>
              <a:rPr lang="en-US" b="0" i="0" dirty="0">
                <a:solidFill>
                  <a:srgbClr val="333333"/>
                </a:solidFill>
                <a:effectLst/>
              </a:rPr>
              <a:t>It is a way to achieve </a:t>
            </a:r>
            <a:r>
              <a:rPr lang="en-US" b="1" i="0" dirty="0">
                <a:solidFill>
                  <a:srgbClr val="7030A0"/>
                </a:solidFill>
                <a:effectLst/>
              </a:rPr>
              <a:t>data hiding in Java </a:t>
            </a:r>
            <a:r>
              <a:rPr lang="en-US" b="0" i="0" dirty="0">
                <a:solidFill>
                  <a:srgbClr val="333333"/>
                </a:solidFill>
                <a:effectLst/>
              </a:rPr>
              <a:t>because other class will not be able to access the data through the private data members.</a:t>
            </a:r>
          </a:p>
          <a:p>
            <a:pPr algn="just">
              <a:lnSpc>
                <a:spcPct val="150000"/>
              </a:lnSpc>
            </a:pPr>
            <a:r>
              <a:rPr lang="en-US" b="0" i="0" dirty="0">
                <a:solidFill>
                  <a:srgbClr val="333333"/>
                </a:solidFill>
                <a:effectLst/>
              </a:rPr>
              <a:t>The encapsulate class is </a:t>
            </a:r>
            <a:r>
              <a:rPr lang="en-US" b="1" i="0" dirty="0">
                <a:solidFill>
                  <a:srgbClr val="7030A0"/>
                </a:solidFill>
                <a:effectLst/>
              </a:rPr>
              <a:t>easy to test. So, it is better for unit testing.</a:t>
            </a:r>
          </a:p>
          <a:p>
            <a:endParaRPr lang="en-IN" dirty="0"/>
          </a:p>
        </p:txBody>
      </p:sp>
    </p:spTree>
    <p:extLst>
      <p:ext uri="{BB962C8B-B14F-4D97-AF65-F5344CB8AC3E}">
        <p14:creationId xmlns:p14="http://schemas.microsoft.com/office/powerpoint/2010/main" val="15556315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75E237-A843-30FB-386F-0F64506169E1}"/>
              </a:ext>
            </a:extLst>
          </p:cNvPr>
          <p:cNvSpPr>
            <a:spLocks noGrp="1"/>
          </p:cNvSpPr>
          <p:nvPr>
            <p:ph idx="1"/>
          </p:nvPr>
        </p:nvSpPr>
        <p:spPr>
          <a:xfrm>
            <a:off x="838200" y="401216"/>
            <a:ext cx="10515600" cy="5775747"/>
          </a:xfrm>
        </p:spPr>
        <p:txBody>
          <a:bodyPr>
            <a:normAutofit fontScale="85000" lnSpcReduction="20000"/>
          </a:bodyPr>
          <a:lstStyle/>
          <a:p>
            <a:pPr marL="0" indent="0" algn="just">
              <a:buNone/>
            </a:pPr>
            <a:r>
              <a:rPr lang="en-US" b="1" dirty="0">
                <a:solidFill>
                  <a:srgbClr val="7030A0"/>
                </a:solidFill>
                <a:effectLst/>
              </a:rPr>
              <a:t>Simple Example of Encapsulation in Java</a:t>
            </a:r>
          </a:p>
          <a:p>
            <a:pPr algn="just"/>
            <a:r>
              <a:rPr lang="en-US" b="0" i="0" dirty="0">
                <a:solidFill>
                  <a:srgbClr val="333333"/>
                </a:solidFill>
                <a:effectLst/>
              </a:rPr>
              <a:t>Let's see the simple example of encapsulation that has only one field with its setter and getter methods.</a:t>
            </a:r>
          </a:p>
          <a:p>
            <a:pPr marL="0" indent="0" algn="just">
              <a:buNone/>
            </a:pPr>
            <a:r>
              <a:rPr lang="en-US" b="1" i="0" dirty="0">
                <a:solidFill>
                  <a:srgbClr val="006699"/>
                </a:solidFill>
                <a:effectLst/>
              </a:rPr>
              <a:t>class</a:t>
            </a:r>
            <a:r>
              <a:rPr lang="en-US" b="0" i="0" dirty="0">
                <a:solidFill>
                  <a:srgbClr val="000000"/>
                </a:solidFill>
                <a:effectLst/>
              </a:rPr>
              <a:t> Account {   </a:t>
            </a:r>
          </a:p>
          <a:p>
            <a:pPr marL="0" indent="0" algn="just">
              <a:buNone/>
            </a:pPr>
            <a:r>
              <a:rPr lang="en-US" b="1" i="0" dirty="0">
                <a:solidFill>
                  <a:srgbClr val="006699"/>
                </a:solidFill>
                <a:effectLst/>
              </a:rPr>
              <a:t>private</a:t>
            </a:r>
            <a:r>
              <a:rPr lang="en-US" b="0" i="0" dirty="0">
                <a:solidFill>
                  <a:srgbClr val="000000"/>
                </a:solidFill>
                <a:effectLst/>
              </a:rPr>
              <a:t> </a:t>
            </a:r>
            <a:r>
              <a:rPr lang="en-US" b="1" i="0" dirty="0">
                <a:solidFill>
                  <a:srgbClr val="006699"/>
                </a:solidFill>
                <a:effectLst/>
              </a:rPr>
              <a:t>long</a:t>
            </a:r>
            <a:r>
              <a:rPr lang="en-US" b="0" i="0" dirty="0">
                <a:solidFill>
                  <a:srgbClr val="000000"/>
                </a:solidFill>
                <a:effectLst/>
              </a:rPr>
              <a:t> </a:t>
            </a:r>
            <a:r>
              <a:rPr lang="en-US" b="0" i="0" dirty="0" err="1">
                <a:solidFill>
                  <a:srgbClr val="000000"/>
                </a:solidFill>
                <a:effectLst/>
              </a:rPr>
              <a:t>acc_no</a:t>
            </a:r>
            <a:r>
              <a:rPr lang="en-US" b="0" i="0" dirty="0">
                <a:solidFill>
                  <a:srgbClr val="000000"/>
                </a:solidFill>
                <a:effectLst/>
              </a:rPr>
              <a:t>;  </a:t>
            </a:r>
          </a:p>
          <a:p>
            <a:pPr marL="0" indent="0" algn="just">
              <a:buNone/>
            </a:pPr>
            <a:r>
              <a:rPr lang="en-US" b="1" i="0" dirty="0">
                <a:solidFill>
                  <a:srgbClr val="006699"/>
                </a:solidFill>
                <a:effectLst/>
              </a:rPr>
              <a:t>private</a:t>
            </a:r>
            <a:r>
              <a:rPr lang="en-US" b="0" i="0" dirty="0">
                <a:solidFill>
                  <a:srgbClr val="000000"/>
                </a:solidFill>
                <a:effectLst/>
              </a:rPr>
              <a:t> String name;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long</a:t>
            </a:r>
            <a:r>
              <a:rPr lang="en-IN" b="0" i="0" dirty="0">
                <a:solidFill>
                  <a:srgbClr val="000000"/>
                </a:solidFill>
                <a:effectLst/>
              </a:rPr>
              <a:t> </a:t>
            </a:r>
            <a:r>
              <a:rPr lang="en-IN" b="0" i="0" dirty="0" err="1">
                <a:solidFill>
                  <a:srgbClr val="000000"/>
                </a:solidFill>
                <a:effectLst/>
              </a:rPr>
              <a:t>getAcc_no</a:t>
            </a:r>
            <a:r>
              <a:rPr lang="en-IN" b="0" i="0" dirty="0">
                <a:solidFill>
                  <a:srgbClr val="000000"/>
                </a:solidFill>
                <a:effectLst/>
              </a:rPr>
              <a:t>() {  </a:t>
            </a:r>
            <a:r>
              <a:rPr lang="en-IN" b="1" i="0" dirty="0">
                <a:solidFill>
                  <a:srgbClr val="006699"/>
                </a:solidFill>
                <a:effectLst/>
              </a:rPr>
              <a:t>return</a:t>
            </a:r>
            <a:r>
              <a:rPr lang="en-IN" b="0" i="0" dirty="0">
                <a:solidFill>
                  <a:srgbClr val="000000"/>
                </a:solidFill>
                <a:effectLst/>
              </a:rPr>
              <a:t> </a:t>
            </a:r>
            <a:r>
              <a:rPr lang="en-IN" b="0" i="0" dirty="0" err="1">
                <a:solidFill>
                  <a:srgbClr val="000000"/>
                </a:solidFill>
                <a:effectLst/>
              </a:rPr>
              <a:t>acc_no</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setAcc_no</a:t>
            </a:r>
            <a:r>
              <a:rPr lang="en-IN" b="0" i="0" dirty="0">
                <a:solidFill>
                  <a:srgbClr val="000000"/>
                </a:solidFill>
                <a:effectLst/>
              </a:rPr>
              <a:t>(</a:t>
            </a:r>
            <a:r>
              <a:rPr lang="en-IN" b="1" i="0" dirty="0">
                <a:solidFill>
                  <a:srgbClr val="006699"/>
                </a:solidFill>
                <a:effectLst/>
              </a:rPr>
              <a:t>long</a:t>
            </a:r>
            <a:r>
              <a:rPr lang="en-IN" b="0" i="0" dirty="0">
                <a:solidFill>
                  <a:srgbClr val="000000"/>
                </a:solidFill>
                <a:effectLst/>
              </a:rPr>
              <a:t> </a:t>
            </a:r>
            <a:r>
              <a:rPr lang="en-IN" b="0" i="0" dirty="0" err="1">
                <a:solidFill>
                  <a:srgbClr val="000000"/>
                </a:solidFill>
                <a:effectLst/>
              </a:rPr>
              <a:t>acc_no</a:t>
            </a:r>
            <a:r>
              <a:rPr lang="en-IN" b="0" i="0" dirty="0">
                <a:solidFill>
                  <a:srgbClr val="000000"/>
                </a:solidFill>
                <a:effectLst/>
              </a:rPr>
              <a:t>) {    </a:t>
            </a:r>
            <a:r>
              <a:rPr lang="en-IN" b="1" i="0" dirty="0" err="1">
                <a:solidFill>
                  <a:srgbClr val="006699"/>
                </a:solidFill>
                <a:effectLst/>
              </a:rPr>
              <a:t>this</a:t>
            </a:r>
            <a:r>
              <a:rPr lang="en-IN" b="0" i="0" dirty="0" err="1">
                <a:solidFill>
                  <a:srgbClr val="000000"/>
                </a:solidFill>
                <a:effectLst/>
              </a:rPr>
              <a:t>.acc_no</a:t>
            </a:r>
            <a:r>
              <a:rPr lang="en-IN" b="0" i="0" dirty="0">
                <a:solidFill>
                  <a:srgbClr val="000000"/>
                </a:solidFill>
                <a:effectLst/>
              </a:rPr>
              <a:t> = </a:t>
            </a:r>
            <a:r>
              <a:rPr lang="en-IN" b="0" i="0" dirty="0" err="1">
                <a:solidFill>
                  <a:srgbClr val="000000"/>
                </a:solidFill>
                <a:effectLst/>
              </a:rPr>
              <a:t>acc_no</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String </a:t>
            </a:r>
            <a:r>
              <a:rPr lang="en-IN" b="0" i="0" dirty="0" err="1">
                <a:solidFill>
                  <a:srgbClr val="000000"/>
                </a:solidFill>
                <a:effectLst/>
              </a:rPr>
              <a:t>getName</a:t>
            </a:r>
            <a:r>
              <a:rPr lang="en-IN" b="0" i="0" dirty="0">
                <a:solidFill>
                  <a:srgbClr val="000000"/>
                </a:solidFill>
                <a:effectLst/>
              </a:rPr>
              <a:t>() {   </a:t>
            </a:r>
            <a:r>
              <a:rPr lang="en-IN" b="1" i="0" dirty="0">
                <a:solidFill>
                  <a:srgbClr val="006699"/>
                </a:solidFill>
                <a:effectLst/>
              </a:rPr>
              <a:t>return</a:t>
            </a:r>
            <a:r>
              <a:rPr lang="en-IN" b="0" i="0" dirty="0">
                <a:solidFill>
                  <a:srgbClr val="000000"/>
                </a:solidFill>
                <a:effectLst/>
              </a:rPr>
              <a:t> name;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setName</a:t>
            </a:r>
            <a:r>
              <a:rPr lang="en-IN" b="0" i="0" dirty="0">
                <a:solidFill>
                  <a:srgbClr val="000000"/>
                </a:solidFill>
                <a:effectLst/>
              </a:rPr>
              <a:t>(String name) {  </a:t>
            </a:r>
            <a:r>
              <a:rPr lang="en-IN" b="1" i="0" dirty="0">
                <a:solidFill>
                  <a:srgbClr val="006699"/>
                </a:solidFill>
                <a:effectLst/>
              </a:rPr>
              <a:t>this</a:t>
            </a:r>
            <a:r>
              <a:rPr lang="en-IN" b="0" i="0" dirty="0">
                <a:solidFill>
                  <a:srgbClr val="000000"/>
                </a:solidFill>
                <a:effectLst/>
              </a:rPr>
              <a:t>.name = name;  }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a:t>
            </a:r>
            <a:r>
              <a:rPr lang="en-US" b="0" i="0" dirty="0" err="1">
                <a:solidFill>
                  <a:srgbClr val="000000"/>
                </a:solidFill>
                <a:effectLst/>
              </a:rPr>
              <a:t>TestEncapsulation</a:t>
            </a:r>
            <a:r>
              <a:rPr lang="en-US" b="0" i="0" dirty="0">
                <a:solidFill>
                  <a:srgbClr val="000000"/>
                </a:solidFill>
                <a:effectLst/>
              </a:rPr>
              <a:t> {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acc.setAcc_no</a:t>
            </a:r>
            <a:r>
              <a:rPr lang="en-IN" b="0" i="0" dirty="0">
                <a:solidFill>
                  <a:srgbClr val="000000"/>
                </a:solidFill>
                <a:effectLst/>
              </a:rPr>
              <a:t>(7560504000L);  </a:t>
            </a:r>
          </a:p>
          <a:p>
            <a:pPr marL="0" indent="0" algn="just">
              <a:buNone/>
            </a:pPr>
            <a:r>
              <a:rPr lang="en-IN" b="0" i="0" dirty="0">
                <a:solidFill>
                  <a:srgbClr val="000000"/>
                </a:solidFill>
                <a:effectLst/>
              </a:rPr>
              <a:t>    </a:t>
            </a:r>
            <a:r>
              <a:rPr lang="en-IN" b="0" i="0" dirty="0" err="1">
                <a:solidFill>
                  <a:srgbClr val="000000"/>
                </a:solidFill>
                <a:effectLst/>
              </a:rPr>
              <a:t>acc.setName</a:t>
            </a:r>
            <a:r>
              <a:rPr lang="en-IN" b="0" i="0" dirty="0">
                <a:solidFill>
                  <a:srgbClr val="000000"/>
                </a:solidFill>
                <a:effectLst/>
              </a:rPr>
              <a:t>(</a:t>
            </a:r>
            <a:r>
              <a:rPr lang="en-IN" b="0" i="0" dirty="0">
                <a:solidFill>
                  <a:srgbClr val="0000FF"/>
                </a:solidFill>
                <a:effectLst/>
              </a:rPr>
              <a:t>"</a:t>
            </a:r>
            <a:r>
              <a:rPr lang="en-IN" b="0" i="0" dirty="0" err="1">
                <a:solidFill>
                  <a:srgbClr val="0000FF"/>
                </a:solidFill>
                <a:effectLst/>
              </a:rPr>
              <a:t>Sonoo</a:t>
            </a:r>
            <a:r>
              <a:rPr lang="en-IN" b="0" i="0" dirty="0">
                <a:solidFill>
                  <a:srgbClr val="0000FF"/>
                </a:solidFill>
                <a:effectLst/>
              </a:rPr>
              <a:t> Jaiswal"</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acc.getAcc_no</a:t>
            </a:r>
            <a:r>
              <a:rPr lang="en-IN" b="0" i="0" dirty="0">
                <a:solidFill>
                  <a:srgbClr val="000000"/>
                </a:solidFill>
                <a:effectLst/>
              </a:rPr>
              <a:t>()+</a:t>
            </a:r>
            <a:r>
              <a:rPr lang="en-IN" b="0" i="0" dirty="0">
                <a:solidFill>
                  <a:srgbClr val="0000FF"/>
                </a:solidFill>
                <a:effectLst/>
              </a:rPr>
              <a:t>" "</a:t>
            </a:r>
            <a:r>
              <a:rPr lang="en-IN" b="0" i="0" dirty="0">
                <a:solidFill>
                  <a:srgbClr val="000000"/>
                </a:solidFill>
                <a:effectLst/>
              </a:rPr>
              <a:t>+</a:t>
            </a:r>
            <a:r>
              <a:rPr lang="en-IN" b="0" i="0" dirty="0" err="1">
                <a:solidFill>
                  <a:srgbClr val="000000"/>
                </a:solidFill>
                <a:effectLst/>
              </a:rPr>
              <a:t>acc.getName</a:t>
            </a:r>
            <a:r>
              <a:rPr lang="en-IN" b="0" i="0" dirty="0">
                <a:solidFill>
                  <a:srgbClr val="000000"/>
                </a:solidFill>
                <a:effectLst/>
              </a:rPr>
              <a:t>());</a:t>
            </a:r>
            <a:r>
              <a:rPr lang="en-IN" dirty="0">
                <a:solidFill>
                  <a:srgbClr val="000000"/>
                </a:solidFill>
              </a:rPr>
              <a:t>}</a:t>
            </a:r>
            <a:r>
              <a:rPr lang="en-IN" b="0" i="0" dirty="0">
                <a:solidFill>
                  <a:srgbClr val="000000"/>
                </a:solidFill>
                <a:effectLst/>
              </a:rPr>
              <a:t>}</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4101522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A4DE4-89C8-C3BC-728C-49B0977F64CF}"/>
              </a:ext>
            </a:extLst>
          </p:cNvPr>
          <p:cNvSpPr>
            <a:spLocks noGrp="1"/>
          </p:cNvSpPr>
          <p:nvPr>
            <p:ph idx="1"/>
          </p:nvPr>
        </p:nvSpPr>
        <p:spPr>
          <a:xfrm>
            <a:off x="838200" y="522514"/>
            <a:ext cx="10515600" cy="5654449"/>
          </a:xfrm>
        </p:spPr>
        <p:txBody>
          <a:bodyPr/>
          <a:lstStyle/>
          <a:p>
            <a:pPr marL="0" indent="0">
              <a:lnSpc>
                <a:spcPct val="150000"/>
              </a:lnSpc>
              <a:buNone/>
            </a:pPr>
            <a:r>
              <a:rPr lang="en-US" b="1" i="0" dirty="0">
                <a:solidFill>
                  <a:srgbClr val="7030A0"/>
                </a:solidFill>
                <a:effectLst/>
              </a:rPr>
              <a:t>Static Binding and Dynamic Binding</a:t>
            </a:r>
          </a:p>
          <a:p>
            <a:pPr algn="just">
              <a:lnSpc>
                <a:spcPct val="150000"/>
              </a:lnSpc>
            </a:pPr>
            <a:r>
              <a:rPr lang="en-US" b="0" i="0" dirty="0">
                <a:solidFill>
                  <a:srgbClr val="333333"/>
                </a:solidFill>
                <a:effectLst/>
              </a:rPr>
              <a:t>Connecting a method call to the method body is known as binding.</a:t>
            </a:r>
          </a:p>
          <a:p>
            <a:pPr algn="just">
              <a:lnSpc>
                <a:spcPct val="150000"/>
              </a:lnSpc>
            </a:pPr>
            <a:r>
              <a:rPr lang="en-US" b="0" i="0" dirty="0">
                <a:solidFill>
                  <a:srgbClr val="333333"/>
                </a:solidFill>
                <a:effectLst/>
              </a:rPr>
              <a:t>There are two types of binding</a:t>
            </a:r>
          </a:p>
          <a:p>
            <a:pPr algn="just">
              <a:lnSpc>
                <a:spcPct val="150000"/>
              </a:lnSpc>
              <a:buFont typeface="+mj-lt"/>
              <a:buAutoNum type="arabicPeriod"/>
            </a:pPr>
            <a:r>
              <a:rPr lang="en-US" b="0" i="0" dirty="0">
                <a:solidFill>
                  <a:srgbClr val="000000"/>
                </a:solidFill>
                <a:effectLst/>
              </a:rPr>
              <a:t>Static Binding (also known as Early Binding).</a:t>
            </a:r>
          </a:p>
          <a:p>
            <a:pPr algn="just">
              <a:lnSpc>
                <a:spcPct val="150000"/>
              </a:lnSpc>
              <a:buFont typeface="+mj-lt"/>
              <a:buAutoNum type="arabicPeriod"/>
            </a:pPr>
            <a:r>
              <a:rPr lang="en-US" b="0" i="0" dirty="0">
                <a:solidFill>
                  <a:srgbClr val="000000"/>
                </a:solidFill>
                <a:effectLst/>
              </a:rPr>
              <a:t>Dynamic Binding (also known as Late Binding).</a:t>
            </a:r>
          </a:p>
          <a:p>
            <a:endParaRPr lang="en-IN" dirty="0"/>
          </a:p>
        </p:txBody>
      </p:sp>
    </p:spTree>
    <p:extLst>
      <p:ext uri="{BB962C8B-B14F-4D97-AF65-F5344CB8AC3E}">
        <p14:creationId xmlns:p14="http://schemas.microsoft.com/office/powerpoint/2010/main" val="27760294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E0B1F-DA83-E322-A49D-DF60D66D64E8}"/>
              </a:ext>
            </a:extLst>
          </p:cNvPr>
          <p:cNvSpPr>
            <a:spLocks noGrp="1"/>
          </p:cNvSpPr>
          <p:nvPr>
            <p:ph idx="1"/>
          </p:nvPr>
        </p:nvSpPr>
        <p:spPr>
          <a:xfrm>
            <a:off x="838200" y="578498"/>
            <a:ext cx="10515600" cy="5598465"/>
          </a:xfrm>
        </p:spPr>
        <p:txBody>
          <a:bodyPr>
            <a:normAutofit/>
          </a:bodyPr>
          <a:lstStyle/>
          <a:p>
            <a:pPr marL="0" indent="0" algn="just">
              <a:lnSpc>
                <a:spcPct val="150000"/>
              </a:lnSpc>
              <a:buNone/>
            </a:pPr>
            <a:r>
              <a:rPr lang="en-IN" b="1" dirty="0">
                <a:solidFill>
                  <a:srgbClr val="7030A0"/>
                </a:solidFill>
              </a:rPr>
              <a:t>S</a:t>
            </a:r>
            <a:r>
              <a:rPr lang="en-US" b="1" i="0" dirty="0" err="1">
                <a:solidFill>
                  <a:srgbClr val="7030A0"/>
                </a:solidFill>
                <a:effectLst/>
              </a:rPr>
              <a:t>tatic</a:t>
            </a:r>
            <a:r>
              <a:rPr lang="en-US" b="1" i="0" dirty="0">
                <a:solidFill>
                  <a:srgbClr val="7030A0"/>
                </a:solidFill>
                <a:effectLst/>
              </a:rPr>
              <a:t> binding</a:t>
            </a:r>
          </a:p>
          <a:p>
            <a:pPr algn="just">
              <a:lnSpc>
                <a:spcPct val="150000"/>
              </a:lnSpc>
            </a:pPr>
            <a:r>
              <a:rPr lang="en-US" b="1" i="0" dirty="0">
                <a:solidFill>
                  <a:srgbClr val="7030A0"/>
                </a:solidFill>
                <a:effectLst/>
              </a:rPr>
              <a:t>When type of the object is determined at compiled time(by the compiler), it is known as static binding.</a:t>
            </a:r>
          </a:p>
          <a:p>
            <a:pPr algn="just">
              <a:lnSpc>
                <a:spcPct val="150000"/>
              </a:lnSpc>
            </a:pPr>
            <a:r>
              <a:rPr lang="en-US" b="0" i="0" dirty="0">
                <a:solidFill>
                  <a:srgbClr val="333333"/>
                </a:solidFill>
                <a:effectLst/>
              </a:rPr>
              <a:t>If there is any private, final or static method in a class, there is static binding.</a:t>
            </a:r>
          </a:p>
        </p:txBody>
      </p:sp>
    </p:spTree>
    <p:extLst>
      <p:ext uri="{BB962C8B-B14F-4D97-AF65-F5344CB8AC3E}">
        <p14:creationId xmlns:p14="http://schemas.microsoft.com/office/powerpoint/2010/main" val="37531534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4EC20-6A5D-8D98-C198-60CB1587876D}"/>
              </a:ext>
            </a:extLst>
          </p:cNvPr>
          <p:cNvSpPr>
            <a:spLocks noGrp="1"/>
          </p:cNvSpPr>
          <p:nvPr>
            <p:ph idx="1"/>
          </p:nvPr>
        </p:nvSpPr>
        <p:spPr>
          <a:xfrm>
            <a:off x="838200" y="671804"/>
            <a:ext cx="10515600" cy="5505159"/>
          </a:xfrm>
        </p:spPr>
        <p:txBody>
          <a:bodyPr>
            <a:normAutofit/>
          </a:bodyPr>
          <a:lstStyle/>
          <a:p>
            <a:pPr marL="0" indent="0" algn="just">
              <a:buNone/>
            </a:pPr>
            <a:r>
              <a:rPr lang="en-US" b="0" dirty="0">
                <a:solidFill>
                  <a:srgbClr val="610B4B"/>
                </a:solidFill>
                <a:effectLst/>
              </a:rPr>
              <a:t>Example of static binding</a:t>
            </a:r>
          </a:p>
          <a:p>
            <a:pPr marL="0" indent="0" algn="just">
              <a:buNone/>
            </a:pPr>
            <a:r>
              <a:rPr lang="en-US" b="1" i="0" dirty="0">
                <a:solidFill>
                  <a:srgbClr val="006699"/>
                </a:solidFill>
                <a:effectLst/>
              </a:rPr>
              <a:t>class</a:t>
            </a:r>
            <a:r>
              <a:rPr lang="en-US" b="0" i="0" dirty="0">
                <a:solidFill>
                  <a:srgbClr val="000000"/>
                </a:solidFill>
                <a:effectLst/>
              </a:rPr>
              <a:t> Dog{  </a:t>
            </a:r>
          </a:p>
          <a:p>
            <a:pPr marL="0" indent="0" algn="just">
              <a:buNone/>
            </a:pPr>
            <a:r>
              <a:rPr lang="en-US" b="0" i="0" dirty="0">
                <a:solidFill>
                  <a:srgbClr val="000000"/>
                </a:solidFill>
                <a:effectLst/>
              </a:rPr>
              <a:t> </a:t>
            </a:r>
            <a:r>
              <a:rPr lang="en-US" b="1" i="0" dirty="0">
                <a:solidFill>
                  <a:srgbClr val="006699"/>
                </a:solidFill>
                <a:effectLst/>
              </a:rPr>
              <a:t>private</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eat(){</a:t>
            </a:r>
            <a:r>
              <a:rPr lang="en-US" b="0" i="0" dirty="0" err="1">
                <a:solidFill>
                  <a:srgbClr val="000000"/>
                </a:solidFill>
                <a:effectLst/>
              </a:rPr>
              <a:t>System.out.println</a:t>
            </a:r>
            <a:r>
              <a:rPr lang="en-US" b="0" i="0" dirty="0">
                <a:solidFill>
                  <a:srgbClr val="000000"/>
                </a:solidFill>
                <a:effectLst/>
              </a:rPr>
              <a:t>(</a:t>
            </a:r>
            <a:r>
              <a:rPr lang="en-US" b="0" i="0" dirty="0">
                <a:solidFill>
                  <a:srgbClr val="0000FF"/>
                </a:solidFill>
                <a:effectLst/>
              </a:rPr>
              <a:t>"dog is eating..."</a:t>
            </a:r>
            <a:r>
              <a:rPr lang="en-US" b="0" i="0" dirty="0">
                <a:solidFill>
                  <a:srgbClr val="000000"/>
                </a:solidFill>
                <a:effectLst/>
              </a:rPr>
              <a:t>);}  </a:t>
            </a:r>
          </a:p>
          <a:p>
            <a:pPr marL="0" indent="0" algn="just">
              <a:buNone/>
            </a:pPr>
            <a:r>
              <a:rPr lang="en-US" b="0" i="0" dirty="0">
                <a:solidFill>
                  <a:srgbClr val="000000"/>
                </a:solidFill>
                <a:effectLst/>
              </a:rPr>
              <a:t>  </a:t>
            </a:r>
          </a:p>
          <a:p>
            <a:pPr marL="0" indent="0" algn="just">
              <a:buNone/>
            </a:pPr>
            <a:r>
              <a:rPr lang="en-US" b="0" i="0" dirty="0">
                <a:solidFill>
                  <a:srgbClr val="000000"/>
                </a:solidFill>
                <a:effectLst/>
              </a:rPr>
              <a:t> </a:t>
            </a: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marL="0" indent="0" algn="just">
              <a:buNone/>
            </a:pPr>
            <a:r>
              <a:rPr lang="en-US" b="0" i="0" dirty="0">
                <a:solidFill>
                  <a:srgbClr val="000000"/>
                </a:solidFill>
                <a:effectLst/>
              </a:rPr>
              <a:t>  Dog d1=</a:t>
            </a:r>
            <a:r>
              <a:rPr lang="en-US" b="1" i="0" dirty="0">
                <a:solidFill>
                  <a:srgbClr val="006699"/>
                </a:solidFill>
                <a:effectLst/>
              </a:rPr>
              <a:t>new</a:t>
            </a:r>
            <a:r>
              <a:rPr lang="en-US" b="0" i="0" dirty="0">
                <a:solidFill>
                  <a:srgbClr val="000000"/>
                </a:solidFill>
                <a:effectLst/>
              </a:rPr>
              <a:t> Dog();  </a:t>
            </a:r>
          </a:p>
          <a:p>
            <a:pPr marL="0" indent="0" algn="just">
              <a:buNone/>
            </a:pPr>
            <a:r>
              <a:rPr lang="en-US" b="0" i="0" dirty="0">
                <a:solidFill>
                  <a:srgbClr val="000000"/>
                </a:solidFill>
                <a:effectLst/>
              </a:rPr>
              <a:t>  d1.eat();  </a:t>
            </a:r>
          </a:p>
          <a:p>
            <a:pPr marL="0" indent="0" algn="just">
              <a:buNone/>
            </a:pPr>
            <a:r>
              <a:rPr lang="en-US" b="0" i="0" dirty="0">
                <a:solidFill>
                  <a:srgbClr val="000000"/>
                </a:solidFill>
                <a:effectLst/>
              </a:rPr>
              <a:t> }  </a:t>
            </a:r>
          </a:p>
          <a:p>
            <a:pPr marL="0" indent="0" algn="just">
              <a:buNone/>
            </a:pPr>
            <a:r>
              <a:rPr lang="en-US" b="0" i="0" dirty="0">
                <a:solidFill>
                  <a:srgbClr val="000000"/>
                </a:solidFill>
                <a:effectLst/>
              </a:rPr>
              <a:t>}  </a:t>
            </a:r>
          </a:p>
          <a:p>
            <a:endParaRPr lang="en-IN" dirty="0"/>
          </a:p>
        </p:txBody>
      </p:sp>
    </p:spTree>
    <p:extLst>
      <p:ext uri="{BB962C8B-B14F-4D97-AF65-F5344CB8AC3E}">
        <p14:creationId xmlns:p14="http://schemas.microsoft.com/office/powerpoint/2010/main" val="130165521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CEEE8-8803-D86B-26DC-9F61D203579E}"/>
              </a:ext>
            </a:extLst>
          </p:cNvPr>
          <p:cNvSpPr>
            <a:spLocks noGrp="1"/>
          </p:cNvSpPr>
          <p:nvPr>
            <p:ph idx="1"/>
          </p:nvPr>
        </p:nvSpPr>
        <p:spPr>
          <a:xfrm>
            <a:off x="912845" y="559837"/>
            <a:ext cx="10515600" cy="5525667"/>
          </a:xfrm>
        </p:spPr>
        <p:txBody>
          <a:bodyPr/>
          <a:lstStyle/>
          <a:p>
            <a:pPr marL="0" indent="0" algn="just">
              <a:lnSpc>
                <a:spcPct val="150000"/>
              </a:lnSpc>
              <a:buNone/>
            </a:pPr>
            <a:r>
              <a:rPr lang="en-US" b="1" i="0" dirty="0">
                <a:solidFill>
                  <a:srgbClr val="7030A0"/>
                </a:solidFill>
                <a:effectLst/>
              </a:rPr>
              <a:t>Dynamic binding</a:t>
            </a:r>
          </a:p>
          <a:p>
            <a:pPr algn="just">
              <a:lnSpc>
                <a:spcPct val="150000"/>
              </a:lnSpc>
            </a:pPr>
            <a:r>
              <a:rPr lang="en-US" b="0" i="0" dirty="0">
                <a:solidFill>
                  <a:srgbClr val="333333"/>
                </a:solidFill>
                <a:effectLst/>
              </a:rPr>
              <a:t>When type of the object is determined at run-time, it is known as dynamic binding.</a:t>
            </a:r>
          </a:p>
          <a:p>
            <a:pPr marL="0" indent="0">
              <a:buNone/>
            </a:pPr>
            <a:endParaRPr lang="en-IN" dirty="0"/>
          </a:p>
        </p:txBody>
      </p:sp>
    </p:spTree>
    <p:extLst>
      <p:ext uri="{BB962C8B-B14F-4D97-AF65-F5344CB8AC3E}">
        <p14:creationId xmlns:p14="http://schemas.microsoft.com/office/powerpoint/2010/main" val="27703366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C39C75-B920-7C83-E0D0-FAA953A919B5}"/>
              </a:ext>
            </a:extLst>
          </p:cNvPr>
          <p:cNvSpPr>
            <a:spLocks noGrp="1"/>
          </p:cNvSpPr>
          <p:nvPr>
            <p:ph idx="1"/>
          </p:nvPr>
        </p:nvSpPr>
        <p:spPr>
          <a:xfrm>
            <a:off x="838200" y="634433"/>
            <a:ext cx="10515600" cy="5589134"/>
          </a:xfrm>
        </p:spPr>
        <p:txBody>
          <a:bodyPr>
            <a:normAutofit/>
          </a:bodyPr>
          <a:lstStyle/>
          <a:p>
            <a:pPr marL="0" indent="0" algn="just">
              <a:buNone/>
            </a:pPr>
            <a:r>
              <a:rPr lang="en-IN" b="1" dirty="0">
                <a:solidFill>
                  <a:srgbClr val="7030A0"/>
                </a:solidFill>
                <a:effectLst/>
              </a:rPr>
              <a:t>Example of dynamic binding</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Animal{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eat(){</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"animal is eating..."</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Dog </a:t>
            </a:r>
            <a:r>
              <a:rPr lang="en-IN" b="1" i="0" dirty="0">
                <a:solidFill>
                  <a:srgbClr val="006699"/>
                </a:solidFill>
                <a:effectLst/>
                <a:latin typeface="inter-regular"/>
              </a:rPr>
              <a:t>extends</a:t>
            </a:r>
            <a:r>
              <a:rPr lang="en-IN" b="0" i="0" dirty="0">
                <a:solidFill>
                  <a:srgbClr val="000000"/>
                </a:solidFill>
                <a:effectLst/>
                <a:latin typeface="inter-regular"/>
              </a:rPr>
              <a:t> Animal{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eat(){</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"dog is eating..."</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Animal a=</a:t>
            </a:r>
            <a:r>
              <a:rPr lang="en-IN" b="1" i="0" dirty="0">
                <a:solidFill>
                  <a:srgbClr val="006699"/>
                </a:solidFill>
                <a:effectLst/>
                <a:latin typeface="inter-regular"/>
              </a:rPr>
              <a:t>new</a:t>
            </a:r>
            <a:r>
              <a:rPr lang="en-IN" b="0" i="0" dirty="0">
                <a:solidFill>
                  <a:srgbClr val="000000"/>
                </a:solidFill>
                <a:effectLst/>
                <a:latin typeface="inter-regular"/>
              </a:rPr>
              <a:t> Dog();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a.eat</a:t>
            </a:r>
            <a:r>
              <a:rPr lang="en-IN" b="0" i="0" dirty="0">
                <a:solidFill>
                  <a:srgbClr val="000000"/>
                </a:solidFill>
                <a:effectLst/>
                <a:latin typeface="inter-regular"/>
              </a:rPr>
              <a:t>();  } }  </a:t>
            </a:r>
          </a:p>
          <a:p>
            <a:endParaRPr lang="en-IN" dirty="0"/>
          </a:p>
        </p:txBody>
      </p:sp>
    </p:spTree>
    <p:extLst>
      <p:ext uri="{BB962C8B-B14F-4D97-AF65-F5344CB8AC3E}">
        <p14:creationId xmlns:p14="http://schemas.microsoft.com/office/powerpoint/2010/main" val="22667008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1191-CCD2-E411-953D-C29EF0BB4DCA}"/>
              </a:ext>
            </a:extLst>
          </p:cNvPr>
          <p:cNvSpPr>
            <a:spLocks noGrp="1"/>
          </p:cNvSpPr>
          <p:nvPr>
            <p:ph type="ctrTitle"/>
          </p:nvPr>
        </p:nvSpPr>
        <p:spPr>
          <a:xfrm>
            <a:off x="1132114" y="1383620"/>
            <a:ext cx="9144000" cy="2387600"/>
          </a:xfrm>
        </p:spPr>
        <p:txBody>
          <a:bodyPr/>
          <a:lstStyle/>
          <a:p>
            <a:r>
              <a:rPr lang="en-IN" dirty="0"/>
              <a:t>Heap Memory and  Stack Memory</a:t>
            </a:r>
          </a:p>
        </p:txBody>
      </p:sp>
    </p:spTree>
    <p:extLst>
      <p:ext uri="{BB962C8B-B14F-4D97-AF65-F5344CB8AC3E}">
        <p14:creationId xmlns:p14="http://schemas.microsoft.com/office/powerpoint/2010/main" val="40700379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D8F51-FEAA-183E-445C-E4E7BED15F4F}"/>
              </a:ext>
            </a:extLst>
          </p:cNvPr>
          <p:cNvSpPr>
            <a:spLocks noGrp="1"/>
          </p:cNvSpPr>
          <p:nvPr>
            <p:ph idx="1"/>
          </p:nvPr>
        </p:nvSpPr>
        <p:spPr>
          <a:xfrm>
            <a:off x="838200" y="587829"/>
            <a:ext cx="10515600" cy="5589134"/>
          </a:xfrm>
        </p:spPr>
        <p:txBody>
          <a:bodyPr/>
          <a:lstStyle/>
          <a:p>
            <a:pPr marL="0" indent="0">
              <a:buNone/>
            </a:pPr>
            <a:r>
              <a:rPr lang="en-IN" dirty="0"/>
              <a:t>Java Memory Management</a:t>
            </a:r>
          </a:p>
          <a:p>
            <a:pPr>
              <a:lnSpc>
                <a:spcPct val="150000"/>
              </a:lnSpc>
            </a:pPr>
            <a:r>
              <a:rPr lang="en-US" b="0" i="0" dirty="0">
                <a:solidFill>
                  <a:srgbClr val="333333"/>
                </a:solidFill>
                <a:effectLst/>
              </a:rPr>
              <a:t>In Java,</a:t>
            </a:r>
            <a:r>
              <a:rPr lang="en-IN" dirty="0"/>
              <a:t> Memory Management </a:t>
            </a:r>
            <a:r>
              <a:rPr lang="en-US" b="0" i="0" dirty="0">
                <a:solidFill>
                  <a:srgbClr val="333333"/>
                </a:solidFill>
                <a:effectLst/>
              </a:rPr>
              <a:t> is a </a:t>
            </a:r>
            <a:r>
              <a:rPr lang="en-US" b="1" i="0" dirty="0">
                <a:solidFill>
                  <a:srgbClr val="7030A0"/>
                </a:solidFill>
                <a:effectLst/>
              </a:rPr>
              <a:t>vital process.</a:t>
            </a:r>
            <a:r>
              <a:rPr lang="en-US" b="0" i="0" dirty="0">
                <a:solidFill>
                  <a:srgbClr val="333333"/>
                </a:solidFill>
                <a:effectLst/>
              </a:rPr>
              <a:t> It is managed by Java automatically. </a:t>
            </a:r>
          </a:p>
          <a:p>
            <a:pPr>
              <a:lnSpc>
                <a:spcPct val="150000"/>
              </a:lnSpc>
            </a:pPr>
            <a:r>
              <a:rPr lang="en-US" b="1" i="0" dirty="0">
                <a:solidFill>
                  <a:srgbClr val="7030A0"/>
                </a:solidFill>
                <a:effectLst/>
              </a:rPr>
              <a:t>The JVM divides the memory into two parts: Stack memory and Heap memory.</a:t>
            </a:r>
          </a:p>
          <a:p>
            <a:pPr>
              <a:lnSpc>
                <a:spcPct val="150000"/>
              </a:lnSpc>
            </a:pPr>
            <a:r>
              <a:rPr lang="en-US" b="0" i="0" dirty="0">
                <a:solidFill>
                  <a:srgbClr val="333333"/>
                </a:solidFill>
                <a:effectLst/>
              </a:rPr>
              <a:t> From the perspective of Java, both are important memory areas but </a:t>
            </a:r>
            <a:r>
              <a:rPr lang="en-US" b="1" i="0" dirty="0">
                <a:solidFill>
                  <a:srgbClr val="7030A0"/>
                </a:solidFill>
                <a:effectLst/>
              </a:rPr>
              <a:t>both are used for different purposes.</a:t>
            </a:r>
            <a:endParaRPr lang="en-IN" b="1" dirty="0">
              <a:solidFill>
                <a:srgbClr val="7030A0"/>
              </a:solidFill>
            </a:endParaRPr>
          </a:p>
        </p:txBody>
      </p:sp>
    </p:spTree>
    <p:extLst>
      <p:ext uri="{BB962C8B-B14F-4D97-AF65-F5344CB8AC3E}">
        <p14:creationId xmlns:p14="http://schemas.microsoft.com/office/powerpoint/2010/main" val="24170969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317D0-8CB9-3AA3-5750-2299B8AF726C}"/>
              </a:ext>
            </a:extLst>
          </p:cNvPr>
          <p:cNvSpPr>
            <a:spLocks noGrp="1"/>
          </p:cNvSpPr>
          <p:nvPr>
            <p:ph idx="1"/>
          </p:nvPr>
        </p:nvSpPr>
        <p:spPr>
          <a:xfrm>
            <a:off x="838200" y="513184"/>
            <a:ext cx="10515600" cy="5663779"/>
          </a:xfrm>
        </p:spPr>
        <p:txBody>
          <a:bodyPr/>
          <a:lstStyle/>
          <a:p>
            <a:pPr>
              <a:lnSpc>
                <a:spcPct val="150000"/>
              </a:lnSpc>
            </a:pPr>
            <a:r>
              <a:rPr lang="en-US" b="0" i="0" dirty="0">
                <a:solidFill>
                  <a:srgbClr val="333333"/>
                </a:solidFill>
                <a:effectLst/>
              </a:rPr>
              <a:t>The</a:t>
            </a:r>
            <a:r>
              <a:rPr lang="en-US" i="0" dirty="0">
                <a:solidFill>
                  <a:srgbClr val="333333"/>
                </a:solidFill>
                <a:effectLst/>
              </a:rPr>
              <a:t> major difference between Stack memory and heap memory </a:t>
            </a:r>
            <a:r>
              <a:rPr lang="en-US" b="0" i="0" dirty="0">
                <a:solidFill>
                  <a:srgbClr val="333333"/>
                </a:solidFill>
                <a:effectLst/>
              </a:rPr>
              <a:t>is that </a:t>
            </a:r>
            <a:r>
              <a:rPr lang="en-US" b="1" i="0" dirty="0">
                <a:solidFill>
                  <a:srgbClr val="7030A0"/>
                </a:solidFill>
                <a:effectLst/>
              </a:rPr>
              <a:t>the stack is used to store the order of method execution and local variables.</a:t>
            </a:r>
          </a:p>
          <a:p>
            <a:pPr>
              <a:lnSpc>
                <a:spcPct val="150000"/>
              </a:lnSpc>
            </a:pPr>
            <a:r>
              <a:rPr lang="en-US" b="0" i="0" dirty="0">
                <a:solidFill>
                  <a:srgbClr val="333333"/>
                </a:solidFill>
                <a:effectLst/>
              </a:rPr>
              <a:t> while the </a:t>
            </a:r>
            <a:r>
              <a:rPr lang="en-US" b="1" i="0" dirty="0">
                <a:solidFill>
                  <a:srgbClr val="7030A0"/>
                </a:solidFill>
                <a:effectLst/>
              </a:rPr>
              <a:t>heap memory stores the objects and it uses dynamic memory allocation and deallocation.</a:t>
            </a:r>
            <a:endParaRPr lang="en-IN" b="1" dirty="0">
              <a:solidFill>
                <a:srgbClr val="7030A0"/>
              </a:solidFill>
            </a:endParaRPr>
          </a:p>
        </p:txBody>
      </p:sp>
    </p:spTree>
    <p:extLst>
      <p:ext uri="{BB962C8B-B14F-4D97-AF65-F5344CB8AC3E}">
        <p14:creationId xmlns:p14="http://schemas.microsoft.com/office/powerpoint/2010/main" val="402594871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8C9DB5-6A17-5A74-CFBD-11965286E49C}"/>
              </a:ext>
            </a:extLst>
          </p:cNvPr>
          <p:cNvSpPr>
            <a:spLocks noGrp="1"/>
          </p:cNvSpPr>
          <p:nvPr>
            <p:ph idx="1"/>
          </p:nvPr>
        </p:nvSpPr>
        <p:spPr>
          <a:xfrm>
            <a:off x="838200" y="522514"/>
            <a:ext cx="10515600" cy="5654449"/>
          </a:xfrm>
        </p:spPr>
        <p:txBody>
          <a:bodyPr/>
          <a:lstStyle/>
          <a:p>
            <a:pPr marL="0" indent="0">
              <a:lnSpc>
                <a:spcPct val="100000"/>
              </a:lnSpc>
              <a:buNone/>
            </a:pPr>
            <a:r>
              <a:rPr lang="en-IN" b="1" i="0" dirty="0">
                <a:solidFill>
                  <a:srgbClr val="7030A0"/>
                </a:solidFill>
                <a:effectLst/>
              </a:rPr>
              <a:t>Stack Memory</a:t>
            </a:r>
          </a:p>
          <a:p>
            <a:pPr>
              <a:lnSpc>
                <a:spcPct val="100000"/>
              </a:lnSpc>
            </a:pPr>
            <a:r>
              <a:rPr lang="en-US" b="0" i="0" dirty="0">
                <a:solidFill>
                  <a:srgbClr val="333333"/>
                </a:solidFill>
                <a:effectLst/>
              </a:rPr>
              <a:t>The </a:t>
            </a:r>
            <a:r>
              <a:rPr lang="en-US" b="1" i="0" dirty="0">
                <a:solidFill>
                  <a:srgbClr val="7030A0"/>
                </a:solidFill>
                <a:effectLst/>
              </a:rPr>
              <a:t>stack memory is a physical space (in RAM)</a:t>
            </a:r>
            <a:r>
              <a:rPr lang="en-US" b="0" i="0" dirty="0">
                <a:solidFill>
                  <a:srgbClr val="333333"/>
                </a:solidFill>
                <a:effectLst/>
              </a:rPr>
              <a:t> allocated to each thread at run time. It is created when a thread creates.</a:t>
            </a:r>
          </a:p>
          <a:p>
            <a:pPr>
              <a:lnSpc>
                <a:spcPct val="100000"/>
              </a:lnSpc>
            </a:pPr>
            <a:r>
              <a:rPr lang="en-US" b="1" i="0" dirty="0">
                <a:solidFill>
                  <a:srgbClr val="7030A0"/>
                </a:solidFill>
                <a:effectLst/>
              </a:rPr>
              <a:t> Memory management in the stack follows LIFO (Last-In-First-Out) </a:t>
            </a:r>
            <a:r>
              <a:rPr lang="en-US" b="0" i="0" dirty="0">
                <a:solidFill>
                  <a:srgbClr val="333333"/>
                </a:solidFill>
                <a:effectLst/>
              </a:rPr>
              <a:t>order because it is accessible globally.</a:t>
            </a:r>
          </a:p>
          <a:p>
            <a:pPr>
              <a:lnSpc>
                <a:spcPct val="100000"/>
              </a:lnSpc>
            </a:pPr>
            <a:r>
              <a:rPr lang="en-US" b="0" i="0" dirty="0">
                <a:solidFill>
                  <a:srgbClr val="333333"/>
                </a:solidFill>
                <a:effectLst/>
              </a:rPr>
              <a:t> It stores </a:t>
            </a:r>
            <a:r>
              <a:rPr lang="en-US" b="1" i="0" dirty="0">
                <a:solidFill>
                  <a:srgbClr val="7030A0"/>
                </a:solidFill>
                <a:effectLst/>
              </a:rPr>
              <a:t>the variables, references to objects, and partial results.</a:t>
            </a:r>
          </a:p>
          <a:p>
            <a:pPr>
              <a:lnSpc>
                <a:spcPct val="100000"/>
              </a:lnSpc>
            </a:pPr>
            <a:r>
              <a:rPr lang="en-US" b="0" i="0" dirty="0">
                <a:solidFill>
                  <a:srgbClr val="333333"/>
                </a:solidFill>
                <a:effectLst/>
              </a:rPr>
              <a:t>Memory allocated to stack lives until the function returns. </a:t>
            </a:r>
          </a:p>
          <a:p>
            <a:pPr>
              <a:lnSpc>
                <a:spcPct val="100000"/>
              </a:lnSpc>
            </a:pPr>
            <a:r>
              <a:rPr lang="en-US" b="0" i="0" dirty="0">
                <a:solidFill>
                  <a:srgbClr val="333333"/>
                </a:solidFill>
                <a:effectLst/>
              </a:rPr>
              <a:t>If there is </a:t>
            </a:r>
            <a:r>
              <a:rPr lang="en-US" b="1" i="0" dirty="0">
                <a:solidFill>
                  <a:srgbClr val="7030A0"/>
                </a:solidFill>
                <a:effectLst/>
              </a:rPr>
              <a:t>no space for creating the new objects, it throws the </a:t>
            </a:r>
            <a:r>
              <a:rPr lang="en-US" b="1" i="0" dirty="0" err="1">
                <a:solidFill>
                  <a:srgbClr val="7030A0"/>
                </a:solidFill>
                <a:effectLst/>
              </a:rPr>
              <a:t>java.lang.StackOverFlowError</a:t>
            </a:r>
            <a:r>
              <a:rPr lang="en-US" b="1" i="0" dirty="0">
                <a:solidFill>
                  <a:srgbClr val="7030A0"/>
                </a:solidFill>
                <a:effectLst/>
              </a:rPr>
              <a:t>.</a:t>
            </a:r>
            <a:endParaRPr lang="en-IN" b="1" dirty="0">
              <a:solidFill>
                <a:srgbClr val="7030A0"/>
              </a:solidFill>
            </a:endParaRPr>
          </a:p>
        </p:txBody>
      </p:sp>
    </p:spTree>
    <p:extLst>
      <p:ext uri="{BB962C8B-B14F-4D97-AF65-F5344CB8AC3E}">
        <p14:creationId xmlns:p14="http://schemas.microsoft.com/office/powerpoint/2010/main" val="376845307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D01D22-574F-7E5D-87E0-24886337C09A}"/>
              </a:ext>
            </a:extLst>
          </p:cNvPr>
          <p:cNvSpPr>
            <a:spLocks noGrp="1"/>
          </p:cNvSpPr>
          <p:nvPr>
            <p:ph idx="1"/>
          </p:nvPr>
        </p:nvSpPr>
        <p:spPr>
          <a:xfrm>
            <a:off x="709127" y="494522"/>
            <a:ext cx="10644673" cy="5906375"/>
          </a:xfrm>
        </p:spPr>
        <p:txBody>
          <a:bodyPr/>
          <a:lstStyle/>
          <a:p>
            <a:pPr marL="0" indent="0">
              <a:lnSpc>
                <a:spcPct val="100000"/>
              </a:lnSpc>
              <a:buNone/>
            </a:pPr>
            <a:r>
              <a:rPr lang="en-IN" b="1" i="0" dirty="0">
                <a:solidFill>
                  <a:srgbClr val="7030A0"/>
                </a:solidFill>
                <a:effectLst/>
              </a:rPr>
              <a:t>Heap Memory</a:t>
            </a:r>
          </a:p>
          <a:p>
            <a:pPr>
              <a:lnSpc>
                <a:spcPct val="100000"/>
              </a:lnSpc>
            </a:pPr>
            <a:r>
              <a:rPr lang="en-IN" dirty="0"/>
              <a:t>I</a:t>
            </a:r>
            <a:r>
              <a:rPr lang="en-US" b="0" i="0" dirty="0">
                <a:solidFill>
                  <a:srgbClr val="333333"/>
                </a:solidFill>
                <a:effectLst/>
              </a:rPr>
              <a:t>t is created when </a:t>
            </a:r>
            <a:r>
              <a:rPr lang="en-US" b="1" i="0" dirty="0">
                <a:solidFill>
                  <a:srgbClr val="7030A0"/>
                </a:solidFill>
                <a:effectLst/>
              </a:rPr>
              <a:t>the JVM starts up and used by the application as long as the application runs.</a:t>
            </a:r>
          </a:p>
          <a:p>
            <a:pPr>
              <a:lnSpc>
                <a:spcPct val="100000"/>
              </a:lnSpc>
            </a:pPr>
            <a:r>
              <a:rPr lang="en-US" b="0" i="0" dirty="0">
                <a:solidFill>
                  <a:srgbClr val="333333"/>
                </a:solidFill>
                <a:effectLst/>
              </a:rPr>
              <a:t> It stores objects and JRE classes. Whenever </a:t>
            </a:r>
            <a:r>
              <a:rPr lang="en-US" b="1" i="0" dirty="0">
                <a:solidFill>
                  <a:srgbClr val="7030A0"/>
                </a:solidFill>
                <a:effectLst/>
              </a:rPr>
              <a:t>we create objects it occupies space in the heap memory while the reference of that object creates in the stack.</a:t>
            </a:r>
          </a:p>
          <a:p>
            <a:pPr>
              <a:lnSpc>
                <a:spcPct val="100000"/>
              </a:lnSpc>
            </a:pPr>
            <a:r>
              <a:rPr lang="en-US" b="0" i="0" dirty="0">
                <a:solidFill>
                  <a:srgbClr val="333333"/>
                </a:solidFill>
                <a:effectLst/>
              </a:rPr>
              <a:t> </a:t>
            </a:r>
            <a:r>
              <a:rPr lang="en-US" b="1" i="0" dirty="0">
                <a:solidFill>
                  <a:srgbClr val="7030A0"/>
                </a:solidFill>
                <a:effectLst/>
              </a:rPr>
              <a:t>It does not follow any order like the stack. It dynamically handles the memory blocks.</a:t>
            </a:r>
            <a:r>
              <a:rPr lang="en-US" b="0" i="0" dirty="0">
                <a:solidFill>
                  <a:srgbClr val="333333"/>
                </a:solidFill>
                <a:effectLst/>
              </a:rPr>
              <a:t> It means, we need not to handle the memory manually.</a:t>
            </a:r>
            <a:endParaRPr lang="en-IN" dirty="0"/>
          </a:p>
        </p:txBody>
      </p:sp>
    </p:spTree>
    <p:extLst>
      <p:ext uri="{BB962C8B-B14F-4D97-AF65-F5344CB8AC3E}">
        <p14:creationId xmlns:p14="http://schemas.microsoft.com/office/powerpoint/2010/main" val="398895044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FE4B3-1012-428C-92CB-A87FCCCE6143}"/>
              </a:ext>
            </a:extLst>
          </p:cNvPr>
          <p:cNvSpPr>
            <a:spLocks noGrp="1"/>
          </p:cNvSpPr>
          <p:nvPr>
            <p:ph idx="1"/>
          </p:nvPr>
        </p:nvSpPr>
        <p:spPr>
          <a:xfrm>
            <a:off x="755780" y="578498"/>
            <a:ext cx="10598020" cy="5598465"/>
          </a:xfrm>
        </p:spPr>
        <p:txBody>
          <a:bodyPr/>
          <a:lstStyle/>
          <a:p>
            <a:pPr>
              <a:lnSpc>
                <a:spcPct val="150000"/>
              </a:lnSpc>
            </a:pPr>
            <a:r>
              <a:rPr lang="en-US" b="0" i="0" dirty="0">
                <a:solidFill>
                  <a:srgbClr val="333333"/>
                </a:solidFill>
                <a:effectLst/>
              </a:rPr>
              <a:t>For managing the memory automatically, </a:t>
            </a:r>
            <a:r>
              <a:rPr lang="en-US" b="0" i="0" dirty="0">
                <a:solidFill>
                  <a:srgbClr val="008000"/>
                </a:solidFill>
                <a:effectLst/>
              </a:rPr>
              <a:t>Java</a:t>
            </a:r>
            <a:r>
              <a:rPr lang="en-US" b="0" i="0" dirty="0">
                <a:solidFill>
                  <a:srgbClr val="333333"/>
                </a:solidFill>
                <a:effectLst/>
              </a:rPr>
              <a:t> provides the </a:t>
            </a:r>
            <a:r>
              <a:rPr lang="en-US" b="1" i="0" dirty="0">
                <a:solidFill>
                  <a:srgbClr val="7030A0"/>
                </a:solidFill>
                <a:effectLst/>
              </a:rPr>
              <a:t>garbage Collector that deletes the objects which are no longer being used.</a:t>
            </a:r>
          </a:p>
          <a:p>
            <a:pPr>
              <a:lnSpc>
                <a:spcPct val="150000"/>
              </a:lnSpc>
            </a:pPr>
            <a:r>
              <a:rPr lang="en-US" b="0" i="0" dirty="0">
                <a:solidFill>
                  <a:srgbClr val="333333"/>
                </a:solidFill>
                <a:effectLst/>
              </a:rPr>
              <a:t> Memory allocated to heap lives until any one event, either program terminated or memory free does not occur.</a:t>
            </a:r>
          </a:p>
          <a:p>
            <a:pPr>
              <a:lnSpc>
                <a:spcPct val="150000"/>
              </a:lnSpc>
            </a:pPr>
            <a:r>
              <a:rPr lang="en-US" b="0" i="0" dirty="0">
                <a:solidFill>
                  <a:srgbClr val="333333"/>
                </a:solidFill>
                <a:effectLst/>
              </a:rPr>
              <a:t> </a:t>
            </a:r>
            <a:r>
              <a:rPr lang="en-US" b="1" i="0" dirty="0">
                <a:solidFill>
                  <a:srgbClr val="7030A0"/>
                </a:solidFill>
                <a:effectLst/>
              </a:rPr>
              <a:t>If the heap space is full, it throws the </a:t>
            </a:r>
            <a:r>
              <a:rPr lang="en-US" b="1" i="0" dirty="0" err="1">
                <a:solidFill>
                  <a:srgbClr val="7030A0"/>
                </a:solidFill>
                <a:effectLst/>
              </a:rPr>
              <a:t>java.lang.OutOfMemoryError</a:t>
            </a:r>
            <a:r>
              <a:rPr lang="en-US" b="1" dirty="0">
                <a:solidFill>
                  <a:srgbClr val="7030A0"/>
                </a:solidFill>
              </a:rPr>
              <a:t>.</a:t>
            </a:r>
            <a:endParaRPr lang="en-IN" b="1" dirty="0">
              <a:solidFill>
                <a:srgbClr val="7030A0"/>
              </a:solidFill>
            </a:endParaRPr>
          </a:p>
        </p:txBody>
      </p:sp>
    </p:spTree>
    <p:extLst>
      <p:ext uri="{BB962C8B-B14F-4D97-AF65-F5344CB8AC3E}">
        <p14:creationId xmlns:p14="http://schemas.microsoft.com/office/powerpoint/2010/main" val="283050465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FF51B-913E-CBCE-A0A3-15E593FBBB21}"/>
              </a:ext>
            </a:extLst>
          </p:cNvPr>
          <p:cNvSpPr>
            <a:spLocks noGrp="1"/>
          </p:cNvSpPr>
          <p:nvPr>
            <p:ph idx="1"/>
          </p:nvPr>
        </p:nvSpPr>
        <p:spPr>
          <a:xfrm>
            <a:off x="838200" y="531845"/>
            <a:ext cx="10515600" cy="5645118"/>
          </a:xfrm>
        </p:spPr>
        <p:txBody>
          <a:bodyPr/>
          <a:lstStyle/>
          <a:p>
            <a:pPr marL="0" indent="0">
              <a:lnSpc>
                <a:spcPct val="150000"/>
              </a:lnSpc>
              <a:buNone/>
            </a:pPr>
            <a:r>
              <a:rPr lang="en-IN" b="1" dirty="0">
                <a:solidFill>
                  <a:srgbClr val="7030A0"/>
                </a:solidFill>
              </a:rPr>
              <a:t>Access Modifiers</a:t>
            </a:r>
          </a:p>
          <a:p>
            <a:pPr>
              <a:lnSpc>
                <a:spcPct val="150000"/>
              </a:lnSpc>
            </a:pPr>
            <a:r>
              <a:rPr lang="en-US" sz="2800" dirty="0"/>
              <a:t>The access modifiers in Java specifies the accessibility or scope of a field, method, constructor, or class.</a:t>
            </a:r>
          </a:p>
          <a:p>
            <a:pPr marL="0" indent="0">
              <a:lnSpc>
                <a:spcPct val="150000"/>
              </a:lnSpc>
              <a:buNone/>
            </a:pPr>
            <a:r>
              <a:rPr lang="en-US" sz="2800" b="1" dirty="0">
                <a:solidFill>
                  <a:srgbClr val="7030A0"/>
                </a:solidFill>
              </a:rPr>
              <a:t>Private:</a:t>
            </a:r>
            <a:r>
              <a:rPr lang="en-US" sz="2800" dirty="0"/>
              <a:t> The access level of a private modifier is only within the class. It cannot be accessed from outside the class.</a:t>
            </a:r>
          </a:p>
          <a:p>
            <a:pPr marL="0" indent="0">
              <a:lnSpc>
                <a:spcPct val="150000"/>
              </a:lnSpc>
              <a:buNone/>
            </a:pPr>
            <a:r>
              <a:rPr lang="en-US" sz="2800" b="1" dirty="0">
                <a:solidFill>
                  <a:srgbClr val="7030A0"/>
                </a:solidFill>
              </a:rPr>
              <a:t>Default</a:t>
            </a:r>
            <a:r>
              <a:rPr lang="en-US" sz="2800" dirty="0">
                <a:solidFill>
                  <a:srgbClr val="7030A0"/>
                </a:solidFill>
              </a:rPr>
              <a:t>: </a:t>
            </a:r>
            <a:r>
              <a:rPr lang="en-US" sz="2800" dirty="0"/>
              <a:t>The access level of a default modifier is only within the package. It cannot be accessed from outside the package. </a:t>
            </a:r>
          </a:p>
          <a:p>
            <a:pPr marL="0" indent="0">
              <a:lnSpc>
                <a:spcPct val="150000"/>
              </a:lnSpc>
              <a:buNone/>
            </a:pPr>
            <a:endParaRPr lang="en-US" sz="2800" dirty="0"/>
          </a:p>
          <a:p>
            <a:pPr>
              <a:lnSpc>
                <a:spcPct val="150000"/>
              </a:lnSpc>
            </a:pPr>
            <a:endParaRPr lang="en-US" sz="2800" dirty="0"/>
          </a:p>
          <a:p>
            <a:endParaRPr lang="en-IN" dirty="0"/>
          </a:p>
          <a:p>
            <a:endParaRPr lang="en-IN" dirty="0"/>
          </a:p>
        </p:txBody>
      </p:sp>
    </p:spTree>
    <p:extLst>
      <p:ext uri="{BB962C8B-B14F-4D97-AF65-F5344CB8AC3E}">
        <p14:creationId xmlns:p14="http://schemas.microsoft.com/office/powerpoint/2010/main" val="22510121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FBDEA-3981-224B-6646-BDFA1DE67221}"/>
              </a:ext>
            </a:extLst>
          </p:cNvPr>
          <p:cNvSpPr>
            <a:spLocks noGrp="1"/>
          </p:cNvSpPr>
          <p:nvPr>
            <p:ph idx="1"/>
          </p:nvPr>
        </p:nvSpPr>
        <p:spPr>
          <a:xfrm>
            <a:off x="838200" y="457200"/>
            <a:ext cx="10515600" cy="5719763"/>
          </a:xfrm>
        </p:spPr>
        <p:txBody>
          <a:bodyPr/>
          <a:lstStyle/>
          <a:p>
            <a:pPr marL="0" indent="0">
              <a:lnSpc>
                <a:spcPct val="200000"/>
              </a:lnSpc>
              <a:buNone/>
            </a:pPr>
            <a:r>
              <a:rPr lang="en-US" sz="2800" b="1" dirty="0">
                <a:solidFill>
                  <a:srgbClr val="7030A0"/>
                </a:solidFill>
              </a:rPr>
              <a:t>Public</a:t>
            </a:r>
            <a:r>
              <a:rPr lang="en-US" sz="2800" dirty="0">
                <a:solidFill>
                  <a:srgbClr val="7030A0"/>
                </a:solidFill>
              </a:rPr>
              <a:t>: </a:t>
            </a:r>
            <a:r>
              <a:rPr lang="en-US" sz="2800" dirty="0"/>
              <a:t>The access level of a public modifier is everywhere. It can be accessed from within the class, outside the class, within the package and outside the package.</a:t>
            </a:r>
          </a:p>
          <a:p>
            <a:pPr marL="0" indent="0">
              <a:lnSpc>
                <a:spcPct val="200000"/>
              </a:lnSpc>
              <a:buNone/>
            </a:pPr>
            <a:r>
              <a:rPr lang="en-US" sz="2800" b="1" dirty="0">
                <a:solidFill>
                  <a:srgbClr val="7030A0"/>
                </a:solidFill>
              </a:rPr>
              <a:t>Protected</a:t>
            </a:r>
            <a:r>
              <a:rPr lang="en-US" sz="2800" dirty="0">
                <a:solidFill>
                  <a:srgbClr val="7030A0"/>
                </a:solidFill>
              </a:rPr>
              <a:t>:</a:t>
            </a:r>
            <a:r>
              <a:rPr lang="en-US" sz="2800" dirty="0"/>
              <a:t> The access level of a protected modifier is within the package and outside the package through child class. If you do not make the child class, it cannot be accessed from outside the package.</a:t>
            </a:r>
          </a:p>
          <a:p>
            <a:pPr marL="0" indent="0">
              <a:lnSpc>
                <a:spcPct val="200000"/>
              </a:lnSpc>
              <a:buNone/>
            </a:pPr>
            <a:endParaRPr lang="en-US" sz="2800" dirty="0"/>
          </a:p>
          <a:p>
            <a:endParaRPr lang="en-IN" dirty="0"/>
          </a:p>
        </p:txBody>
      </p:sp>
    </p:spTree>
    <p:extLst>
      <p:ext uri="{BB962C8B-B14F-4D97-AF65-F5344CB8AC3E}">
        <p14:creationId xmlns:p14="http://schemas.microsoft.com/office/powerpoint/2010/main" val="18440718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8498"/>
            <a:ext cx="10515600" cy="5598465"/>
          </a:xfrm>
        </p:spPr>
        <p:txBody>
          <a:bodyPr/>
          <a:lstStyle/>
          <a:p>
            <a:pPr marL="12065" indent="0">
              <a:lnSpc>
                <a:spcPct val="150000"/>
              </a:lnSpc>
              <a:spcBef>
                <a:spcPts val="830"/>
              </a:spcBef>
              <a:buNone/>
              <a:tabLst>
                <a:tab pos="355600" algn="l"/>
                <a:tab pos="356235" algn="l"/>
              </a:tabLst>
            </a:pPr>
            <a:r>
              <a:rPr lang="en-US" b="1" spc="-45" dirty="0">
                <a:solidFill>
                  <a:srgbClr val="7030A0"/>
                </a:solidFill>
                <a:cs typeface="Carlito"/>
              </a:rPr>
              <a:t>Non-Access modifiers</a:t>
            </a:r>
          </a:p>
          <a:p>
            <a:pPr marL="355600" indent="-343535">
              <a:lnSpc>
                <a:spcPct val="150000"/>
              </a:lnSpc>
              <a:spcBef>
                <a:spcPts val="830"/>
              </a:spcBef>
              <a:buFont typeface="Arial"/>
              <a:buChar char="•"/>
              <a:tabLst>
                <a:tab pos="355600" algn="l"/>
                <a:tab pos="356235" algn="l"/>
              </a:tabLst>
            </a:pPr>
            <a:r>
              <a:rPr lang="en-US" b="1" spc="-45" dirty="0">
                <a:solidFill>
                  <a:srgbClr val="7030A0"/>
                </a:solidFill>
                <a:cs typeface="Carlito"/>
              </a:rPr>
              <a:t>final</a:t>
            </a:r>
            <a:r>
              <a:rPr lang="en-US" b="1" spc="-405" dirty="0">
                <a:solidFill>
                  <a:srgbClr val="7030A0"/>
                </a:solidFill>
                <a:cs typeface="Carlito"/>
              </a:rPr>
              <a:t> </a:t>
            </a:r>
            <a:r>
              <a:rPr lang="en-US" spc="15" dirty="0">
                <a:solidFill>
                  <a:srgbClr val="7030A0"/>
                </a:solidFill>
                <a:cs typeface="Carlito"/>
              </a:rPr>
              <a:t>-</a:t>
            </a:r>
            <a:r>
              <a:rPr lang="en-US" spc="15" dirty="0">
                <a:cs typeface="Carlito"/>
              </a:rPr>
              <a:t>we</a:t>
            </a:r>
            <a:r>
              <a:rPr lang="en-US" spc="-165" dirty="0">
                <a:cs typeface="Carlito"/>
              </a:rPr>
              <a:t> </a:t>
            </a:r>
            <a:r>
              <a:rPr lang="en-US" spc="-35" dirty="0">
                <a:cs typeface="Carlito"/>
              </a:rPr>
              <a:t>can</a:t>
            </a:r>
            <a:r>
              <a:rPr lang="en-US" spc="-320" dirty="0">
                <a:cs typeface="Carlito"/>
              </a:rPr>
              <a:t> </a:t>
            </a:r>
            <a:r>
              <a:rPr lang="en-US" spc="-125" dirty="0">
                <a:cs typeface="Carlito"/>
              </a:rPr>
              <a:t>use</a:t>
            </a:r>
            <a:r>
              <a:rPr lang="en-US" spc="-455" dirty="0">
                <a:cs typeface="Carlito"/>
              </a:rPr>
              <a:t> </a:t>
            </a:r>
            <a:r>
              <a:rPr lang="en-US" spc="-110" dirty="0">
                <a:cs typeface="Carlito"/>
              </a:rPr>
              <a:t>class,</a:t>
            </a:r>
            <a:r>
              <a:rPr lang="en-US" spc="-405" dirty="0">
                <a:cs typeface="Carlito"/>
              </a:rPr>
              <a:t> </a:t>
            </a:r>
            <a:r>
              <a:rPr lang="en-US" spc="-60" dirty="0">
                <a:cs typeface="Carlito"/>
              </a:rPr>
              <a:t>variable,</a:t>
            </a:r>
            <a:r>
              <a:rPr lang="en-US" spc="-270" dirty="0">
                <a:cs typeface="Carlito"/>
              </a:rPr>
              <a:t> </a:t>
            </a:r>
            <a:r>
              <a:rPr lang="en-US" spc="-55" dirty="0">
                <a:cs typeface="Carlito"/>
              </a:rPr>
              <a:t>method</a:t>
            </a:r>
            <a:r>
              <a:rPr lang="en-US" spc="-335" dirty="0">
                <a:cs typeface="Carlito"/>
              </a:rPr>
              <a:t> </a:t>
            </a:r>
            <a:r>
              <a:rPr lang="en-US" spc="-70" dirty="0">
                <a:cs typeface="Carlito"/>
              </a:rPr>
              <a:t>,object.</a:t>
            </a:r>
            <a:endParaRPr lang="en-US" dirty="0">
              <a:cs typeface="Carlito"/>
            </a:endParaRPr>
          </a:p>
          <a:p>
            <a:pPr marL="374650" indent="-362585">
              <a:lnSpc>
                <a:spcPct val="150000"/>
              </a:lnSpc>
              <a:spcBef>
                <a:spcPts val="740"/>
              </a:spcBef>
              <a:buFont typeface="Arial"/>
              <a:buChar char="•"/>
              <a:tabLst>
                <a:tab pos="374650" algn="l"/>
                <a:tab pos="375285" algn="l"/>
              </a:tabLst>
            </a:pPr>
            <a:r>
              <a:rPr lang="en-US" b="1" spc="-90" dirty="0">
                <a:solidFill>
                  <a:srgbClr val="7030A0"/>
                </a:solidFill>
                <a:cs typeface="Carlito"/>
              </a:rPr>
              <a:t>static</a:t>
            </a:r>
            <a:r>
              <a:rPr lang="en-US" spc="-90" dirty="0">
                <a:cs typeface="Carlito"/>
              </a:rPr>
              <a:t>-we</a:t>
            </a:r>
            <a:r>
              <a:rPr lang="en-US" spc="-455" dirty="0">
                <a:cs typeface="Carlito"/>
              </a:rPr>
              <a:t> </a:t>
            </a:r>
            <a:r>
              <a:rPr lang="en-US" spc="-35" dirty="0">
                <a:cs typeface="Carlito"/>
              </a:rPr>
              <a:t>can</a:t>
            </a:r>
            <a:r>
              <a:rPr lang="en-US" spc="-325" dirty="0">
                <a:cs typeface="Carlito"/>
              </a:rPr>
              <a:t> </a:t>
            </a:r>
            <a:r>
              <a:rPr lang="en-US" spc="-125" dirty="0">
                <a:cs typeface="Carlito"/>
              </a:rPr>
              <a:t>use</a:t>
            </a:r>
            <a:r>
              <a:rPr lang="en-US" spc="-375" dirty="0">
                <a:cs typeface="Carlito"/>
              </a:rPr>
              <a:t> </a:t>
            </a:r>
            <a:r>
              <a:rPr lang="en-US" spc="-110" dirty="0">
                <a:cs typeface="Carlito"/>
              </a:rPr>
              <a:t>class,</a:t>
            </a:r>
            <a:r>
              <a:rPr lang="en-US" spc="-475" dirty="0">
                <a:cs typeface="Carlito"/>
              </a:rPr>
              <a:t> </a:t>
            </a:r>
            <a:r>
              <a:rPr lang="en-US" spc="-55" dirty="0">
                <a:cs typeface="Carlito"/>
              </a:rPr>
              <a:t>variable</a:t>
            </a:r>
            <a:r>
              <a:rPr lang="en-US" spc="-160" dirty="0">
                <a:cs typeface="Carlito"/>
              </a:rPr>
              <a:t> </a:t>
            </a:r>
            <a:r>
              <a:rPr lang="en-US" spc="-60" dirty="0">
                <a:cs typeface="Carlito"/>
              </a:rPr>
              <a:t>,method</a:t>
            </a:r>
            <a:r>
              <a:rPr lang="en-US" spc="-465" dirty="0">
                <a:cs typeface="Carlito"/>
              </a:rPr>
              <a:t> </a:t>
            </a:r>
            <a:r>
              <a:rPr lang="en-US" spc="-70" dirty="0">
                <a:cs typeface="Carlito"/>
              </a:rPr>
              <a:t>,object.</a:t>
            </a:r>
            <a:endParaRPr lang="en-US" dirty="0">
              <a:cs typeface="Carlito"/>
            </a:endParaRPr>
          </a:p>
          <a:p>
            <a:pPr marL="374650" indent="-362585">
              <a:lnSpc>
                <a:spcPct val="150000"/>
              </a:lnSpc>
              <a:spcBef>
                <a:spcPts val="819"/>
              </a:spcBef>
              <a:buFont typeface="Arial"/>
              <a:buChar char="•"/>
              <a:tabLst>
                <a:tab pos="374650" algn="l"/>
                <a:tab pos="375285" algn="l"/>
              </a:tabLst>
            </a:pPr>
            <a:r>
              <a:rPr lang="en-US" b="1" spc="-204" dirty="0">
                <a:solidFill>
                  <a:srgbClr val="7030A0"/>
                </a:solidFill>
                <a:cs typeface="Carlito"/>
              </a:rPr>
              <a:t>abstract</a:t>
            </a:r>
            <a:r>
              <a:rPr lang="en-US" b="1" spc="-420" dirty="0">
                <a:solidFill>
                  <a:srgbClr val="7030A0"/>
                </a:solidFill>
                <a:cs typeface="Carlito"/>
              </a:rPr>
              <a:t> </a:t>
            </a:r>
            <a:r>
              <a:rPr lang="en-US" spc="5" dirty="0">
                <a:cs typeface="Carlito"/>
              </a:rPr>
              <a:t>-</a:t>
            </a:r>
            <a:r>
              <a:rPr lang="en-US" spc="85" dirty="0">
                <a:cs typeface="Carlito"/>
              </a:rPr>
              <a:t> </a:t>
            </a:r>
            <a:r>
              <a:rPr lang="en-US" spc="-50" dirty="0">
                <a:cs typeface="Carlito"/>
              </a:rPr>
              <a:t>we</a:t>
            </a:r>
            <a:r>
              <a:rPr lang="en-US" spc="-229" dirty="0">
                <a:cs typeface="Carlito"/>
              </a:rPr>
              <a:t> </a:t>
            </a:r>
            <a:r>
              <a:rPr lang="en-US" spc="-35" dirty="0">
                <a:cs typeface="Carlito"/>
              </a:rPr>
              <a:t>can</a:t>
            </a:r>
            <a:r>
              <a:rPr lang="en-US" spc="-400" dirty="0">
                <a:cs typeface="Carlito"/>
              </a:rPr>
              <a:t> </a:t>
            </a:r>
            <a:r>
              <a:rPr lang="en-US" spc="-125" dirty="0">
                <a:cs typeface="Carlito"/>
              </a:rPr>
              <a:t>use</a:t>
            </a:r>
            <a:r>
              <a:rPr lang="en-US" spc="-235" dirty="0">
                <a:cs typeface="Carlito"/>
              </a:rPr>
              <a:t> </a:t>
            </a:r>
            <a:r>
              <a:rPr lang="en-US" spc="-110" dirty="0">
                <a:cs typeface="Carlito"/>
              </a:rPr>
              <a:t>class,</a:t>
            </a:r>
            <a:r>
              <a:rPr lang="en-US" spc="-415" dirty="0">
                <a:cs typeface="Carlito"/>
              </a:rPr>
              <a:t> </a:t>
            </a:r>
            <a:r>
              <a:rPr lang="en-US" spc="-65" dirty="0">
                <a:cs typeface="Carlito"/>
              </a:rPr>
              <a:t>variable,</a:t>
            </a:r>
            <a:r>
              <a:rPr lang="en-US" spc="-340" dirty="0">
                <a:cs typeface="Carlito"/>
              </a:rPr>
              <a:t> </a:t>
            </a:r>
            <a:r>
              <a:rPr lang="en-US" spc="-55" dirty="0">
                <a:cs typeface="Carlito"/>
              </a:rPr>
              <a:t>method.</a:t>
            </a:r>
            <a:endParaRPr lang="en-US" dirty="0">
              <a:cs typeface="Carlito"/>
            </a:endParaRPr>
          </a:p>
          <a:p>
            <a:pPr marL="355600" indent="-343535">
              <a:lnSpc>
                <a:spcPct val="150000"/>
              </a:lnSpc>
              <a:spcBef>
                <a:spcPts val="740"/>
              </a:spcBef>
              <a:buFont typeface="Arial"/>
              <a:buChar char="•"/>
              <a:tabLst>
                <a:tab pos="355600" algn="l"/>
                <a:tab pos="356235" algn="l"/>
              </a:tabLst>
            </a:pPr>
            <a:r>
              <a:rPr lang="en-US" b="1" spc="-90" dirty="0">
                <a:solidFill>
                  <a:srgbClr val="7030A0"/>
                </a:solidFill>
                <a:cs typeface="Carlito"/>
              </a:rPr>
              <a:t>Synchronized</a:t>
            </a:r>
            <a:r>
              <a:rPr lang="en-US" b="1" spc="-440" dirty="0">
                <a:cs typeface="Carlito"/>
              </a:rPr>
              <a:t> </a:t>
            </a:r>
            <a:r>
              <a:rPr lang="en-US" spc="-45" dirty="0">
                <a:cs typeface="Carlito"/>
              </a:rPr>
              <a:t>-it</a:t>
            </a:r>
            <a:r>
              <a:rPr lang="en-US" spc="-225" dirty="0">
                <a:cs typeface="Carlito"/>
              </a:rPr>
              <a:t> </a:t>
            </a:r>
            <a:r>
              <a:rPr lang="en-US" spc="-25" dirty="0">
                <a:cs typeface="Carlito"/>
              </a:rPr>
              <a:t>is</a:t>
            </a:r>
            <a:r>
              <a:rPr lang="en-US" spc="-260" dirty="0">
                <a:cs typeface="Carlito"/>
              </a:rPr>
              <a:t> </a:t>
            </a:r>
            <a:r>
              <a:rPr lang="en-US" spc="-45" dirty="0">
                <a:cs typeface="Carlito"/>
              </a:rPr>
              <a:t>used</a:t>
            </a:r>
            <a:r>
              <a:rPr lang="en-US" spc="-315" dirty="0">
                <a:cs typeface="Carlito"/>
              </a:rPr>
              <a:t> </a:t>
            </a:r>
            <a:r>
              <a:rPr lang="en-US" spc="-25" dirty="0">
                <a:cs typeface="Carlito"/>
              </a:rPr>
              <a:t>in</a:t>
            </a:r>
            <a:r>
              <a:rPr lang="en-US" spc="-245" dirty="0">
                <a:cs typeface="Carlito"/>
              </a:rPr>
              <a:t> </a:t>
            </a:r>
            <a:r>
              <a:rPr lang="en-US" spc="-60" dirty="0">
                <a:cs typeface="Carlito"/>
              </a:rPr>
              <a:t>threads</a:t>
            </a:r>
            <a:endParaRPr lang="en-US" dirty="0">
              <a:cs typeface="Carlito"/>
            </a:endParaRPr>
          </a:p>
          <a:p>
            <a:endParaRPr lang="en-IN" dirty="0"/>
          </a:p>
        </p:txBody>
      </p:sp>
    </p:spTree>
    <p:extLst>
      <p:ext uri="{BB962C8B-B14F-4D97-AF65-F5344CB8AC3E}">
        <p14:creationId xmlns:p14="http://schemas.microsoft.com/office/powerpoint/2010/main" val="207083763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90A06F-D8DF-0F99-D0EA-E384AB4D8A94}"/>
              </a:ext>
            </a:extLst>
          </p:cNvPr>
          <p:cNvSpPr>
            <a:spLocks noGrp="1"/>
          </p:cNvSpPr>
          <p:nvPr>
            <p:ph idx="1"/>
          </p:nvPr>
        </p:nvSpPr>
        <p:spPr>
          <a:xfrm>
            <a:off x="838200" y="550506"/>
            <a:ext cx="10515600" cy="5626457"/>
          </a:xfrm>
        </p:spPr>
        <p:txBody>
          <a:bodyPr/>
          <a:lstStyle/>
          <a:p>
            <a:pPr marL="0" indent="0">
              <a:lnSpc>
                <a:spcPct val="150000"/>
              </a:lnSpc>
              <a:buNone/>
            </a:pPr>
            <a:r>
              <a:rPr lang="en-IN" b="1" i="0" dirty="0">
                <a:solidFill>
                  <a:srgbClr val="7030A0"/>
                </a:solidFill>
                <a:effectLst/>
              </a:rPr>
              <a:t>Java Package</a:t>
            </a:r>
          </a:p>
          <a:p>
            <a:pPr algn="just">
              <a:lnSpc>
                <a:spcPct val="150000"/>
              </a:lnSpc>
            </a:pPr>
            <a:r>
              <a:rPr lang="en-IN" b="1" i="0" dirty="0">
                <a:solidFill>
                  <a:srgbClr val="7030A0"/>
                </a:solidFill>
                <a:effectLst/>
              </a:rPr>
              <a:t>A java package is a group of similar types of classes, interfaces and sub-packages</a:t>
            </a:r>
            <a:r>
              <a:rPr lang="en-IN" b="0" i="0" dirty="0">
                <a:solidFill>
                  <a:srgbClr val="333333"/>
                </a:solidFill>
                <a:effectLst/>
              </a:rPr>
              <a:t>.</a:t>
            </a:r>
          </a:p>
          <a:p>
            <a:pPr algn="just">
              <a:lnSpc>
                <a:spcPct val="150000"/>
              </a:lnSpc>
            </a:pPr>
            <a:r>
              <a:rPr lang="en-IN" b="0" i="0" dirty="0">
                <a:solidFill>
                  <a:srgbClr val="333333"/>
                </a:solidFill>
                <a:effectLst/>
              </a:rPr>
              <a:t>Package in java can be categorized in two form, </a:t>
            </a:r>
            <a:r>
              <a:rPr lang="en-IN" b="1" i="0" dirty="0">
                <a:solidFill>
                  <a:srgbClr val="7030A0"/>
                </a:solidFill>
                <a:effectLst/>
              </a:rPr>
              <a:t>built-in package </a:t>
            </a:r>
            <a:r>
              <a:rPr lang="en-IN" b="0" i="0" dirty="0">
                <a:solidFill>
                  <a:srgbClr val="333333"/>
                </a:solidFill>
                <a:effectLst/>
              </a:rPr>
              <a:t>and </a:t>
            </a:r>
            <a:r>
              <a:rPr lang="en-IN" b="1" i="0" dirty="0">
                <a:solidFill>
                  <a:srgbClr val="7030A0"/>
                </a:solidFill>
                <a:effectLst/>
              </a:rPr>
              <a:t>user-defined package</a:t>
            </a:r>
            <a:r>
              <a:rPr lang="en-IN" b="0" i="0" dirty="0">
                <a:solidFill>
                  <a:srgbClr val="333333"/>
                </a:solidFill>
                <a:effectLst/>
              </a:rPr>
              <a:t>.</a:t>
            </a:r>
          </a:p>
          <a:p>
            <a:pPr algn="just">
              <a:lnSpc>
                <a:spcPct val="150000"/>
              </a:lnSpc>
            </a:pPr>
            <a:r>
              <a:rPr lang="en-IN" b="0" i="0" dirty="0">
                <a:solidFill>
                  <a:srgbClr val="333333"/>
                </a:solidFill>
                <a:effectLst/>
              </a:rPr>
              <a:t>There are many </a:t>
            </a:r>
            <a:r>
              <a:rPr lang="en-IN" b="1" i="0" dirty="0">
                <a:solidFill>
                  <a:srgbClr val="7030A0"/>
                </a:solidFill>
                <a:effectLst/>
              </a:rPr>
              <a:t>built-in packages such as java, lang, </a:t>
            </a:r>
            <a:r>
              <a:rPr lang="en-IN" b="1" i="0" dirty="0" err="1">
                <a:solidFill>
                  <a:srgbClr val="7030A0"/>
                </a:solidFill>
                <a:effectLst/>
              </a:rPr>
              <a:t>awt</a:t>
            </a:r>
            <a:r>
              <a:rPr lang="en-IN" b="1" i="0" dirty="0">
                <a:solidFill>
                  <a:srgbClr val="7030A0"/>
                </a:solidFill>
                <a:effectLst/>
              </a:rPr>
              <a:t>, </a:t>
            </a:r>
            <a:r>
              <a:rPr lang="en-IN" b="1" i="0" dirty="0" err="1">
                <a:solidFill>
                  <a:srgbClr val="7030A0"/>
                </a:solidFill>
                <a:effectLst/>
              </a:rPr>
              <a:t>javax</a:t>
            </a:r>
            <a:r>
              <a:rPr lang="en-IN" b="1" i="0" dirty="0">
                <a:solidFill>
                  <a:srgbClr val="7030A0"/>
                </a:solidFill>
                <a:effectLst/>
              </a:rPr>
              <a:t>, swing, net, io, util, </a:t>
            </a:r>
            <a:r>
              <a:rPr lang="en-IN" b="1" i="0" dirty="0" err="1">
                <a:solidFill>
                  <a:srgbClr val="7030A0"/>
                </a:solidFill>
                <a:effectLst/>
              </a:rPr>
              <a:t>sql</a:t>
            </a:r>
            <a:r>
              <a:rPr lang="en-IN" b="1" i="0" dirty="0">
                <a:solidFill>
                  <a:srgbClr val="7030A0"/>
                </a:solidFill>
                <a:effectLst/>
              </a:rPr>
              <a:t> etc.</a:t>
            </a:r>
          </a:p>
        </p:txBody>
      </p:sp>
    </p:spTree>
    <p:extLst>
      <p:ext uri="{BB962C8B-B14F-4D97-AF65-F5344CB8AC3E}">
        <p14:creationId xmlns:p14="http://schemas.microsoft.com/office/powerpoint/2010/main" val="317381370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3B9B1C-E13E-94A6-7511-D6EA8E70EEFA}"/>
              </a:ext>
            </a:extLst>
          </p:cNvPr>
          <p:cNvSpPr>
            <a:spLocks noGrp="1"/>
          </p:cNvSpPr>
          <p:nvPr>
            <p:ph idx="1"/>
          </p:nvPr>
        </p:nvSpPr>
        <p:spPr>
          <a:xfrm>
            <a:off x="838200" y="606490"/>
            <a:ext cx="10515600" cy="5570473"/>
          </a:xfrm>
        </p:spPr>
        <p:txBody>
          <a:bodyPr/>
          <a:lstStyle/>
          <a:p>
            <a:pPr marL="0" indent="0" algn="just">
              <a:lnSpc>
                <a:spcPct val="150000"/>
              </a:lnSpc>
              <a:buNone/>
            </a:pPr>
            <a:r>
              <a:rPr lang="en-US" b="1" i="0" dirty="0">
                <a:solidFill>
                  <a:srgbClr val="7030A0"/>
                </a:solidFill>
                <a:effectLst/>
              </a:rPr>
              <a:t>Advantage of Java Package</a:t>
            </a:r>
          </a:p>
          <a:p>
            <a:pPr marL="0" indent="0" algn="just">
              <a:lnSpc>
                <a:spcPct val="150000"/>
              </a:lnSpc>
              <a:buNone/>
            </a:pPr>
            <a:r>
              <a:rPr lang="en-US" b="0" i="0" dirty="0">
                <a:solidFill>
                  <a:srgbClr val="333333"/>
                </a:solidFill>
                <a:effectLst/>
              </a:rPr>
              <a:t>1) Java package is used to categorize the classes and interfaces so that they can be easily maintained.</a:t>
            </a:r>
          </a:p>
          <a:p>
            <a:pPr marL="0" indent="0" algn="just">
              <a:lnSpc>
                <a:spcPct val="150000"/>
              </a:lnSpc>
              <a:buNone/>
            </a:pPr>
            <a:r>
              <a:rPr lang="en-US" b="0" i="0" dirty="0">
                <a:solidFill>
                  <a:srgbClr val="333333"/>
                </a:solidFill>
                <a:effectLst/>
              </a:rPr>
              <a:t>2) Java package provides access protection.</a:t>
            </a:r>
          </a:p>
          <a:p>
            <a:pPr marL="0" indent="0" algn="just">
              <a:lnSpc>
                <a:spcPct val="150000"/>
              </a:lnSpc>
              <a:buNone/>
            </a:pPr>
            <a:r>
              <a:rPr lang="en-US" b="0" i="0" dirty="0">
                <a:solidFill>
                  <a:srgbClr val="333333"/>
                </a:solidFill>
                <a:effectLst/>
              </a:rPr>
              <a:t>3) Java package removes naming collision.</a:t>
            </a:r>
          </a:p>
          <a:p>
            <a:endParaRPr lang="en-IN" dirty="0"/>
          </a:p>
        </p:txBody>
      </p:sp>
    </p:spTree>
    <p:extLst>
      <p:ext uri="{BB962C8B-B14F-4D97-AF65-F5344CB8AC3E}">
        <p14:creationId xmlns:p14="http://schemas.microsoft.com/office/powerpoint/2010/main" val="218624274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69F36-E405-26AE-696A-A2A05944FF2E}"/>
              </a:ext>
            </a:extLst>
          </p:cNvPr>
          <p:cNvSpPr>
            <a:spLocks noGrp="1"/>
          </p:cNvSpPr>
          <p:nvPr>
            <p:ph idx="1"/>
          </p:nvPr>
        </p:nvSpPr>
        <p:spPr>
          <a:xfrm>
            <a:off x="838200" y="718457"/>
            <a:ext cx="10515600" cy="5458506"/>
          </a:xfrm>
        </p:spPr>
        <p:txBody>
          <a:bodyPr/>
          <a:lstStyle/>
          <a:p>
            <a:pPr marL="0" indent="0" algn="just">
              <a:lnSpc>
                <a:spcPct val="150000"/>
              </a:lnSpc>
              <a:buNone/>
            </a:pPr>
            <a:r>
              <a:rPr lang="en-US" b="1" i="0" dirty="0">
                <a:solidFill>
                  <a:srgbClr val="7030A0"/>
                </a:solidFill>
                <a:effectLst/>
              </a:rPr>
              <a:t>How to access package from another package?</a:t>
            </a:r>
          </a:p>
          <a:p>
            <a:pPr algn="just">
              <a:lnSpc>
                <a:spcPct val="150000"/>
              </a:lnSpc>
            </a:pPr>
            <a:r>
              <a:rPr lang="en-US" b="0" i="0" dirty="0">
                <a:solidFill>
                  <a:srgbClr val="333333"/>
                </a:solidFill>
                <a:effectLst/>
              </a:rPr>
              <a:t>There are three ways to access the package from outside the package.</a:t>
            </a:r>
          </a:p>
          <a:p>
            <a:pPr algn="just">
              <a:lnSpc>
                <a:spcPct val="150000"/>
              </a:lnSpc>
              <a:buFont typeface="+mj-lt"/>
              <a:buAutoNum type="arabicPeriod"/>
            </a:pPr>
            <a:r>
              <a:rPr lang="en-US" b="0" i="0" dirty="0">
                <a:solidFill>
                  <a:srgbClr val="000000"/>
                </a:solidFill>
                <a:effectLst/>
              </a:rPr>
              <a:t>import package.*;</a:t>
            </a:r>
          </a:p>
          <a:p>
            <a:pPr algn="just">
              <a:lnSpc>
                <a:spcPct val="150000"/>
              </a:lnSpc>
              <a:buFont typeface="+mj-lt"/>
              <a:buAutoNum type="arabicPeriod"/>
            </a:pPr>
            <a:r>
              <a:rPr lang="en-US" b="0" i="0" dirty="0">
                <a:solidFill>
                  <a:srgbClr val="000000"/>
                </a:solidFill>
                <a:effectLst/>
              </a:rPr>
              <a:t>import </a:t>
            </a:r>
            <a:r>
              <a:rPr lang="en-US" b="0" i="0" dirty="0" err="1">
                <a:solidFill>
                  <a:srgbClr val="000000"/>
                </a:solidFill>
                <a:effectLst/>
              </a:rPr>
              <a:t>package.classname</a:t>
            </a:r>
            <a:r>
              <a:rPr lang="en-US" b="0" i="0" dirty="0">
                <a:solidFill>
                  <a:srgbClr val="000000"/>
                </a:solidFill>
                <a:effectLst/>
              </a:rPr>
              <a:t>;</a:t>
            </a:r>
          </a:p>
          <a:p>
            <a:pPr algn="just">
              <a:lnSpc>
                <a:spcPct val="150000"/>
              </a:lnSpc>
              <a:buFont typeface="+mj-lt"/>
              <a:buAutoNum type="arabicPeriod"/>
            </a:pPr>
            <a:r>
              <a:rPr lang="en-US" b="0" i="0" dirty="0">
                <a:solidFill>
                  <a:srgbClr val="000000"/>
                </a:solidFill>
                <a:effectLst/>
              </a:rPr>
              <a:t>fully qualified name.</a:t>
            </a:r>
          </a:p>
          <a:p>
            <a:endParaRPr lang="en-IN" dirty="0"/>
          </a:p>
        </p:txBody>
      </p:sp>
    </p:spTree>
    <p:extLst>
      <p:ext uri="{BB962C8B-B14F-4D97-AF65-F5344CB8AC3E}">
        <p14:creationId xmlns:p14="http://schemas.microsoft.com/office/powerpoint/2010/main" val="420713915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2EB8F-AA1A-B512-C544-D47A9E4C4A79}"/>
              </a:ext>
            </a:extLst>
          </p:cNvPr>
          <p:cNvSpPr>
            <a:spLocks noGrp="1"/>
          </p:cNvSpPr>
          <p:nvPr>
            <p:ph idx="1"/>
          </p:nvPr>
        </p:nvSpPr>
        <p:spPr>
          <a:xfrm>
            <a:off x="838200" y="466531"/>
            <a:ext cx="10515600" cy="5710432"/>
          </a:xfrm>
        </p:spPr>
        <p:txBody>
          <a:bodyPr/>
          <a:lstStyle/>
          <a:p>
            <a:pPr marL="0" indent="0" algn="just">
              <a:lnSpc>
                <a:spcPct val="150000"/>
              </a:lnSpc>
              <a:buNone/>
            </a:pPr>
            <a:r>
              <a:rPr lang="en-US" b="1" i="0" dirty="0">
                <a:solidFill>
                  <a:srgbClr val="7030A0"/>
                </a:solidFill>
                <a:effectLst/>
              </a:rPr>
              <a:t>1) Using packagename.*</a:t>
            </a:r>
          </a:p>
          <a:p>
            <a:pPr algn="just">
              <a:lnSpc>
                <a:spcPct val="150000"/>
              </a:lnSpc>
            </a:pPr>
            <a:r>
              <a:rPr lang="en-US" b="0" i="0" dirty="0">
                <a:solidFill>
                  <a:srgbClr val="333333"/>
                </a:solidFill>
                <a:effectLst/>
              </a:rPr>
              <a:t>If you use package.* then all the classes and interfaces of this package will be accessible but not subpackages.</a:t>
            </a:r>
          </a:p>
          <a:p>
            <a:pPr algn="just">
              <a:lnSpc>
                <a:spcPct val="150000"/>
              </a:lnSpc>
            </a:pPr>
            <a:r>
              <a:rPr lang="en-US" b="0" i="0" dirty="0">
                <a:solidFill>
                  <a:srgbClr val="333333"/>
                </a:solidFill>
                <a:effectLst/>
              </a:rPr>
              <a:t>The import keyword is used to make the classes and interface of another package accessible to the current package.</a:t>
            </a:r>
          </a:p>
        </p:txBody>
      </p:sp>
    </p:spTree>
    <p:extLst>
      <p:ext uri="{BB962C8B-B14F-4D97-AF65-F5344CB8AC3E}">
        <p14:creationId xmlns:p14="http://schemas.microsoft.com/office/powerpoint/2010/main" val="266870108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C850C9-BE71-863A-4F2C-79B48B73E29A}"/>
              </a:ext>
            </a:extLst>
          </p:cNvPr>
          <p:cNvSpPr>
            <a:spLocks noGrp="1"/>
          </p:cNvSpPr>
          <p:nvPr>
            <p:ph idx="1"/>
          </p:nvPr>
        </p:nvSpPr>
        <p:spPr>
          <a:xfrm>
            <a:off x="838200" y="541176"/>
            <a:ext cx="10515600" cy="5738326"/>
          </a:xfrm>
        </p:spPr>
        <p:txBody>
          <a:bodyPr>
            <a:normAutofit/>
          </a:bodyPr>
          <a:lstStyle/>
          <a:p>
            <a:pPr marL="0" indent="0" algn="just">
              <a:buNone/>
            </a:pPr>
            <a:r>
              <a:rPr lang="en-IN" b="0" dirty="0">
                <a:solidFill>
                  <a:srgbClr val="610B4B"/>
                </a:solidFill>
                <a:effectLst/>
              </a:rPr>
              <a:t>Example of package that import the packagename.*</a:t>
            </a:r>
          </a:p>
          <a:p>
            <a:pPr marL="0" indent="0" algn="just">
              <a:buNone/>
            </a:pPr>
            <a:r>
              <a:rPr lang="en-IN" b="1" i="0" dirty="0">
                <a:solidFill>
                  <a:srgbClr val="006699"/>
                </a:solidFill>
                <a:effectLst/>
              </a:rPr>
              <a:t>package</a:t>
            </a:r>
            <a:r>
              <a:rPr lang="en-IN" b="0" i="0" dirty="0">
                <a:solidFill>
                  <a:srgbClr val="000000"/>
                </a:solidFill>
                <a:effectLst/>
              </a:rPr>
              <a:t> pack;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msg</a:t>
            </a:r>
            <a:r>
              <a:rPr lang="en-IN" b="0" i="0" dirty="0">
                <a:solidFill>
                  <a:srgbClr val="000000"/>
                </a:solidFill>
                <a:effectLst/>
              </a:rPr>
              <a:t>(){</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"Hello"</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package</a:t>
            </a:r>
            <a:r>
              <a:rPr lang="en-IN" b="0" i="0" dirty="0">
                <a:solidFill>
                  <a:srgbClr val="000000"/>
                </a:solidFill>
                <a:effectLst/>
              </a:rPr>
              <a:t> </a:t>
            </a:r>
            <a:r>
              <a:rPr lang="en-IN" b="0" i="0" dirty="0" err="1">
                <a:solidFill>
                  <a:srgbClr val="000000"/>
                </a:solidFill>
                <a:effectLst/>
              </a:rPr>
              <a:t>mypack</a:t>
            </a:r>
            <a:r>
              <a:rPr lang="en-IN" b="0" i="0" dirty="0">
                <a:solidFill>
                  <a:srgbClr val="000000"/>
                </a:solidFill>
                <a:effectLst/>
              </a:rPr>
              <a:t>;  </a:t>
            </a:r>
          </a:p>
          <a:p>
            <a:pPr marL="0" indent="0" algn="just">
              <a:buNone/>
            </a:pPr>
            <a:r>
              <a:rPr lang="en-IN" b="1" i="0" dirty="0">
                <a:solidFill>
                  <a:srgbClr val="006699"/>
                </a:solidFill>
                <a:effectLst/>
              </a:rPr>
              <a:t>import</a:t>
            </a:r>
            <a:r>
              <a:rPr lang="en-IN" b="0" i="0" dirty="0">
                <a:solidFill>
                  <a:srgbClr val="000000"/>
                </a:solidFill>
                <a:effectLst/>
              </a:rPr>
              <a:t> pack.*;  </a:t>
            </a:r>
          </a:p>
          <a:p>
            <a:pPr marL="0" indent="0" algn="just">
              <a:buNone/>
            </a:pP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B{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   A </a:t>
            </a:r>
            <a:r>
              <a:rPr lang="en-IN" b="0" i="0" dirty="0" err="1">
                <a:solidFill>
                  <a:srgbClr val="000000"/>
                </a:solidFill>
                <a:effectLst/>
              </a:rPr>
              <a:t>obj</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A();  </a:t>
            </a:r>
          </a:p>
          <a:p>
            <a:pPr marL="0" indent="0" algn="just">
              <a:buNone/>
            </a:pPr>
            <a:r>
              <a:rPr lang="en-IN" b="0" i="0" dirty="0">
                <a:solidFill>
                  <a:srgbClr val="000000"/>
                </a:solidFill>
                <a:effectLst/>
              </a:rPr>
              <a:t>   obj.msg();   } }  </a:t>
            </a:r>
          </a:p>
          <a:p>
            <a:endParaRPr lang="en-IN" dirty="0"/>
          </a:p>
        </p:txBody>
      </p:sp>
    </p:spTree>
    <p:extLst>
      <p:ext uri="{BB962C8B-B14F-4D97-AF65-F5344CB8AC3E}">
        <p14:creationId xmlns:p14="http://schemas.microsoft.com/office/powerpoint/2010/main" val="358174318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EF724-C9C5-4D72-3068-453EE37CFE90}"/>
              </a:ext>
            </a:extLst>
          </p:cNvPr>
          <p:cNvSpPr>
            <a:spLocks noGrp="1"/>
          </p:cNvSpPr>
          <p:nvPr>
            <p:ph idx="1"/>
          </p:nvPr>
        </p:nvSpPr>
        <p:spPr>
          <a:xfrm>
            <a:off x="838200" y="606490"/>
            <a:ext cx="10515600" cy="5570473"/>
          </a:xfrm>
        </p:spPr>
        <p:txBody>
          <a:bodyPr>
            <a:normAutofit/>
          </a:bodyPr>
          <a:lstStyle/>
          <a:p>
            <a:pPr marL="0" indent="0" algn="just">
              <a:lnSpc>
                <a:spcPct val="100000"/>
              </a:lnSpc>
              <a:buNone/>
            </a:pPr>
            <a:r>
              <a:rPr lang="en-US" b="0" i="0" dirty="0">
                <a:solidFill>
                  <a:srgbClr val="610B38"/>
                </a:solidFill>
                <a:effectLst/>
                <a:latin typeface="erdana"/>
              </a:rPr>
              <a:t>2</a:t>
            </a:r>
            <a:r>
              <a:rPr lang="en-US" b="0" i="0" dirty="0">
                <a:solidFill>
                  <a:srgbClr val="610B38"/>
                </a:solidFill>
                <a:effectLst/>
              </a:rPr>
              <a:t>) Using </a:t>
            </a:r>
            <a:r>
              <a:rPr lang="en-US" b="0" i="0" dirty="0" err="1">
                <a:solidFill>
                  <a:srgbClr val="610B38"/>
                </a:solidFill>
                <a:effectLst/>
              </a:rPr>
              <a:t>packagename.classname</a:t>
            </a:r>
            <a:endParaRPr lang="en-US" b="0" i="0" dirty="0">
              <a:solidFill>
                <a:srgbClr val="610B38"/>
              </a:solidFill>
              <a:effectLst/>
            </a:endParaRPr>
          </a:p>
          <a:p>
            <a:pPr marL="0" indent="0" algn="just">
              <a:lnSpc>
                <a:spcPct val="100000"/>
              </a:lnSpc>
              <a:buNone/>
            </a:pPr>
            <a:r>
              <a:rPr lang="en-US" b="0" i="0" dirty="0">
                <a:solidFill>
                  <a:srgbClr val="333333"/>
                </a:solidFill>
                <a:effectLst/>
              </a:rPr>
              <a:t>If you import </a:t>
            </a:r>
            <a:r>
              <a:rPr lang="en-US" b="0" i="0" dirty="0" err="1">
                <a:solidFill>
                  <a:srgbClr val="333333"/>
                </a:solidFill>
                <a:effectLst/>
              </a:rPr>
              <a:t>package.classname</a:t>
            </a:r>
            <a:r>
              <a:rPr lang="en-US" b="0" i="0" dirty="0">
                <a:solidFill>
                  <a:srgbClr val="333333"/>
                </a:solidFill>
                <a:effectLst/>
              </a:rPr>
              <a:t> then only declared class of this package will be accessible.</a:t>
            </a:r>
          </a:p>
          <a:p>
            <a:pPr marL="0" indent="0">
              <a:lnSpc>
                <a:spcPct val="100000"/>
              </a:lnSpc>
              <a:buNone/>
            </a:pPr>
            <a:endParaRPr lang="en-IN" b="0" dirty="0">
              <a:solidFill>
                <a:srgbClr val="610B4B"/>
              </a:solidFill>
              <a:effectLst/>
            </a:endParaRPr>
          </a:p>
          <a:p>
            <a:pPr marL="0" indent="0">
              <a:lnSpc>
                <a:spcPct val="100000"/>
              </a:lnSpc>
              <a:buNone/>
            </a:pPr>
            <a:r>
              <a:rPr lang="en-IN" b="0" dirty="0">
                <a:solidFill>
                  <a:srgbClr val="610B4B"/>
                </a:solidFill>
                <a:effectLst/>
              </a:rPr>
              <a:t>Example of package by import </a:t>
            </a:r>
            <a:r>
              <a:rPr lang="en-IN" b="0" dirty="0" err="1">
                <a:solidFill>
                  <a:srgbClr val="610B4B"/>
                </a:solidFill>
                <a:effectLst/>
              </a:rPr>
              <a:t>package.classname</a:t>
            </a:r>
            <a:endParaRPr lang="en-IN" b="0" dirty="0">
              <a:solidFill>
                <a:srgbClr val="610B4B"/>
              </a:solidFill>
              <a:effectLst/>
            </a:endParaRPr>
          </a:p>
          <a:p>
            <a:pPr marL="0" indent="0">
              <a:lnSpc>
                <a:spcPct val="100000"/>
              </a:lnSpc>
              <a:buNone/>
            </a:pPr>
            <a:r>
              <a:rPr lang="en-IN" dirty="0">
                <a:solidFill>
                  <a:srgbClr val="000000"/>
                </a:solidFill>
                <a:effectLst/>
              </a:rPr>
              <a:t> </a:t>
            </a:r>
            <a:r>
              <a:rPr lang="en-IN" b="1" dirty="0">
                <a:solidFill>
                  <a:srgbClr val="006699"/>
                </a:solidFill>
                <a:effectLst/>
              </a:rPr>
              <a:t>package</a:t>
            </a:r>
            <a:r>
              <a:rPr lang="en-IN" dirty="0">
                <a:solidFill>
                  <a:srgbClr val="000000"/>
                </a:solidFill>
                <a:effectLst/>
              </a:rPr>
              <a:t> pack;  </a:t>
            </a:r>
          </a:p>
          <a:p>
            <a:pPr marL="0" indent="0">
              <a:lnSpc>
                <a:spcPct val="100000"/>
              </a:lnSpc>
              <a:buNone/>
            </a:pPr>
            <a:r>
              <a:rPr lang="en-IN" b="1" dirty="0">
                <a:solidFill>
                  <a:srgbClr val="006699"/>
                </a:solidFill>
                <a:effectLst/>
              </a:rPr>
              <a:t>public</a:t>
            </a:r>
            <a:r>
              <a:rPr lang="en-IN" dirty="0">
                <a:solidFill>
                  <a:srgbClr val="000000"/>
                </a:solidFill>
                <a:effectLst/>
              </a:rPr>
              <a:t> </a:t>
            </a:r>
            <a:r>
              <a:rPr lang="en-IN" b="1" dirty="0">
                <a:solidFill>
                  <a:srgbClr val="006699"/>
                </a:solidFill>
                <a:effectLst/>
              </a:rPr>
              <a:t>class</a:t>
            </a:r>
            <a:r>
              <a:rPr lang="en-IN" dirty="0">
                <a:solidFill>
                  <a:srgbClr val="000000"/>
                </a:solidFill>
                <a:effectLst/>
              </a:rPr>
              <a:t> A{  </a:t>
            </a:r>
          </a:p>
          <a:p>
            <a:pPr marL="0" indent="0">
              <a:lnSpc>
                <a:spcPct val="100000"/>
              </a:lnSpc>
              <a:buNone/>
            </a:pPr>
            <a:r>
              <a:rPr lang="en-IN" dirty="0">
                <a:solidFill>
                  <a:srgbClr val="000000"/>
                </a:solidFill>
                <a:effectLst/>
              </a:rPr>
              <a:t>  </a:t>
            </a:r>
            <a:r>
              <a:rPr lang="en-IN" b="1" dirty="0">
                <a:solidFill>
                  <a:srgbClr val="006699"/>
                </a:solidFill>
                <a:effectLst/>
              </a:rPr>
              <a:t>public</a:t>
            </a:r>
            <a:r>
              <a:rPr lang="en-IN" dirty="0">
                <a:solidFill>
                  <a:srgbClr val="000000"/>
                </a:solidFill>
                <a:effectLst/>
              </a:rPr>
              <a:t> </a:t>
            </a:r>
            <a:r>
              <a:rPr lang="en-IN" b="1" dirty="0">
                <a:solidFill>
                  <a:srgbClr val="006699"/>
                </a:solidFill>
                <a:effectLst/>
              </a:rPr>
              <a:t>void</a:t>
            </a:r>
            <a:r>
              <a:rPr lang="en-IN" dirty="0">
                <a:solidFill>
                  <a:srgbClr val="000000"/>
                </a:solidFill>
                <a:effectLst/>
              </a:rPr>
              <a:t> </a:t>
            </a:r>
            <a:r>
              <a:rPr lang="en-IN" dirty="0" err="1">
                <a:solidFill>
                  <a:srgbClr val="000000"/>
                </a:solidFill>
                <a:effectLst/>
              </a:rPr>
              <a:t>msg</a:t>
            </a:r>
            <a:r>
              <a:rPr lang="en-IN" dirty="0">
                <a:solidFill>
                  <a:srgbClr val="000000"/>
                </a:solidFill>
                <a:effectLst/>
              </a:rPr>
              <a:t>(){</a:t>
            </a:r>
            <a:r>
              <a:rPr lang="en-IN" dirty="0" err="1">
                <a:solidFill>
                  <a:srgbClr val="000000"/>
                </a:solidFill>
                <a:effectLst/>
              </a:rPr>
              <a:t>System.out.println</a:t>
            </a:r>
            <a:r>
              <a:rPr lang="en-IN" dirty="0">
                <a:solidFill>
                  <a:srgbClr val="000000"/>
                </a:solidFill>
                <a:effectLst/>
              </a:rPr>
              <a:t>(</a:t>
            </a:r>
            <a:r>
              <a:rPr lang="en-IN" dirty="0">
                <a:solidFill>
                  <a:srgbClr val="0000FF"/>
                </a:solidFill>
                <a:effectLst/>
              </a:rPr>
              <a:t>"Hello"</a:t>
            </a:r>
            <a:r>
              <a:rPr lang="en-IN" dirty="0">
                <a:solidFill>
                  <a:srgbClr val="000000"/>
                </a:solidFill>
                <a:effectLst/>
              </a:rPr>
              <a:t>);}  </a:t>
            </a:r>
          </a:p>
          <a:p>
            <a:pPr marL="0" indent="0">
              <a:lnSpc>
                <a:spcPct val="100000"/>
              </a:lnSpc>
              <a:buNone/>
            </a:pPr>
            <a:r>
              <a:rPr lang="en-IN" dirty="0">
                <a:solidFill>
                  <a:srgbClr val="000000"/>
                </a:solidFill>
                <a:effectLst/>
              </a:rPr>
              <a:t>}  </a:t>
            </a:r>
          </a:p>
        </p:txBody>
      </p:sp>
    </p:spTree>
    <p:extLst>
      <p:ext uri="{BB962C8B-B14F-4D97-AF65-F5344CB8AC3E}">
        <p14:creationId xmlns:p14="http://schemas.microsoft.com/office/powerpoint/2010/main" val="89469816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98F78-2078-5651-8BC8-A63CB1225D11}"/>
              </a:ext>
            </a:extLst>
          </p:cNvPr>
          <p:cNvSpPr>
            <a:spLocks noGrp="1"/>
          </p:cNvSpPr>
          <p:nvPr>
            <p:ph idx="1"/>
          </p:nvPr>
        </p:nvSpPr>
        <p:spPr>
          <a:xfrm>
            <a:off x="838200" y="597159"/>
            <a:ext cx="10515600" cy="5579804"/>
          </a:xfrm>
        </p:spPr>
        <p:txBody>
          <a:bodyPr/>
          <a:lstStyle/>
          <a:p>
            <a:pPr marL="0" indent="0" algn="just">
              <a:buNone/>
            </a:pPr>
            <a:r>
              <a:rPr lang="en-IN" b="1" i="0" dirty="0">
                <a:solidFill>
                  <a:srgbClr val="006699"/>
                </a:solidFill>
                <a:effectLst/>
                <a:latin typeface="inter-regular"/>
              </a:rPr>
              <a:t>package</a:t>
            </a:r>
            <a:r>
              <a:rPr lang="en-IN" b="0" i="0" dirty="0">
                <a:solidFill>
                  <a:srgbClr val="000000"/>
                </a:solidFill>
                <a:effectLst/>
                <a:latin typeface="inter-regular"/>
              </a:rPr>
              <a:t> </a:t>
            </a:r>
            <a:r>
              <a:rPr lang="en-IN" b="0" i="0" dirty="0" err="1">
                <a:solidFill>
                  <a:srgbClr val="000000"/>
                </a:solidFill>
                <a:effectLst/>
                <a:latin typeface="inter-regular"/>
              </a:rPr>
              <a:t>mypack</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pack.A</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B{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A();  </a:t>
            </a:r>
          </a:p>
          <a:p>
            <a:pPr marL="0" indent="0" algn="just">
              <a:buNone/>
            </a:pPr>
            <a:r>
              <a:rPr lang="en-IN" b="0" i="0" dirty="0">
                <a:solidFill>
                  <a:srgbClr val="000000"/>
                </a:solidFill>
                <a:effectLst/>
                <a:latin typeface="inter-regular"/>
              </a:rPr>
              <a:t>   obj.msg();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92712498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9813E-05A5-3A68-A5F1-4044B3E186C1}"/>
              </a:ext>
            </a:extLst>
          </p:cNvPr>
          <p:cNvSpPr>
            <a:spLocks noGrp="1"/>
          </p:cNvSpPr>
          <p:nvPr>
            <p:ph idx="1"/>
          </p:nvPr>
        </p:nvSpPr>
        <p:spPr>
          <a:xfrm>
            <a:off x="878633" y="550506"/>
            <a:ext cx="10515600" cy="5942369"/>
          </a:xfrm>
        </p:spPr>
        <p:txBody>
          <a:bodyPr/>
          <a:lstStyle/>
          <a:p>
            <a:pPr marL="0" indent="0" algn="just">
              <a:lnSpc>
                <a:spcPct val="150000"/>
              </a:lnSpc>
              <a:buNone/>
            </a:pPr>
            <a:r>
              <a:rPr lang="en-US" b="0" i="0" dirty="0">
                <a:solidFill>
                  <a:srgbClr val="610B38"/>
                </a:solidFill>
                <a:effectLst/>
              </a:rPr>
              <a:t>3) Using fully qualified name</a:t>
            </a:r>
          </a:p>
          <a:p>
            <a:pPr algn="just">
              <a:lnSpc>
                <a:spcPct val="150000"/>
              </a:lnSpc>
            </a:pPr>
            <a:r>
              <a:rPr lang="en-US" b="0" i="0" dirty="0">
                <a:solidFill>
                  <a:srgbClr val="333333"/>
                </a:solidFill>
                <a:effectLst/>
              </a:rPr>
              <a:t>If you use fully qualified name then only declared class of this package will be accessible.</a:t>
            </a:r>
          </a:p>
          <a:p>
            <a:pPr algn="just">
              <a:lnSpc>
                <a:spcPct val="150000"/>
              </a:lnSpc>
            </a:pPr>
            <a:r>
              <a:rPr lang="en-US" b="0" i="0" dirty="0">
                <a:solidFill>
                  <a:srgbClr val="333333"/>
                </a:solidFill>
                <a:effectLst/>
              </a:rPr>
              <a:t> Now there is no need to import.</a:t>
            </a:r>
          </a:p>
          <a:p>
            <a:pPr algn="just">
              <a:lnSpc>
                <a:spcPct val="150000"/>
              </a:lnSpc>
            </a:pPr>
            <a:r>
              <a:rPr lang="en-US" b="0" i="0" dirty="0">
                <a:solidFill>
                  <a:srgbClr val="333333"/>
                </a:solidFill>
                <a:effectLst/>
              </a:rPr>
              <a:t> But you need to use fully qualified name every time when you are accessing the class or interface.</a:t>
            </a:r>
          </a:p>
          <a:p>
            <a:endParaRPr lang="en-IN" dirty="0"/>
          </a:p>
        </p:txBody>
      </p:sp>
    </p:spTree>
    <p:extLst>
      <p:ext uri="{BB962C8B-B14F-4D97-AF65-F5344CB8AC3E}">
        <p14:creationId xmlns:p14="http://schemas.microsoft.com/office/powerpoint/2010/main" val="386749340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9206AB-C7FE-FB6D-A607-02E0AC46FAA5}"/>
              </a:ext>
            </a:extLst>
          </p:cNvPr>
          <p:cNvSpPr>
            <a:spLocks noGrp="1"/>
          </p:cNvSpPr>
          <p:nvPr>
            <p:ph idx="1"/>
          </p:nvPr>
        </p:nvSpPr>
        <p:spPr>
          <a:xfrm>
            <a:off x="838200" y="475861"/>
            <a:ext cx="10515600" cy="5701102"/>
          </a:xfrm>
        </p:spPr>
        <p:txBody>
          <a:bodyPr>
            <a:normAutofit fontScale="92500" lnSpcReduction="10000"/>
          </a:bodyPr>
          <a:lstStyle/>
          <a:p>
            <a:pPr marL="0" indent="0" algn="just">
              <a:buNone/>
            </a:pPr>
            <a:r>
              <a:rPr lang="en-IN" b="0" dirty="0">
                <a:solidFill>
                  <a:srgbClr val="610B4B"/>
                </a:solidFill>
                <a:effectLst/>
                <a:latin typeface="tahoma" panose="020B0604030504040204" pitchFamily="34" charset="0"/>
              </a:rPr>
              <a:t>Example of package by import fully qualified name</a:t>
            </a:r>
          </a:p>
          <a:p>
            <a:pPr marL="0" indent="0" algn="just">
              <a:buNone/>
            </a:pPr>
            <a:r>
              <a:rPr lang="en-IN" b="1" i="0" dirty="0">
                <a:solidFill>
                  <a:srgbClr val="006699"/>
                </a:solidFill>
                <a:effectLst/>
                <a:latin typeface="inter-regular"/>
              </a:rPr>
              <a:t>package</a:t>
            </a:r>
            <a:r>
              <a:rPr lang="en-IN" b="0" i="0" dirty="0">
                <a:solidFill>
                  <a:srgbClr val="000000"/>
                </a:solidFill>
                <a:effectLst/>
                <a:latin typeface="inter-regular"/>
              </a:rPr>
              <a:t> pack;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msg</a:t>
            </a:r>
            <a:r>
              <a:rPr lang="en-IN" b="0" i="0" dirty="0">
                <a:solidFill>
                  <a:srgbClr val="000000"/>
                </a:solidFill>
                <a:effectLst/>
                <a:latin typeface="inter-regular"/>
              </a:rPr>
              <a:t>(){</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"Hello"</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package</a:t>
            </a:r>
            <a:r>
              <a:rPr lang="en-IN" b="0" i="0" dirty="0">
                <a:solidFill>
                  <a:srgbClr val="000000"/>
                </a:solidFill>
                <a:effectLst/>
                <a:latin typeface="inter-regular"/>
              </a:rPr>
              <a:t> </a:t>
            </a:r>
            <a:r>
              <a:rPr lang="en-IN" b="0" i="0" dirty="0" err="1">
                <a:solidFill>
                  <a:srgbClr val="000000"/>
                </a:solidFill>
                <a:effectLst/>
                <a:latin typeface="inter-regular"/>
              </a:rPr>
              <a:t>mypack</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B{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pack.A</a:t>
            </a:r>
            <a:r>
              <a:rPr lang="en-IN" b="0" i="0" dirty="0">
                <a:solidFill>
                  <a:srgbClr val="000000"/>
                </a:solidFill>
                <a:effectLst/>
                <a:latin typeface="inter-regular"/>
              </a:rPr>
              <a:t>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pack.A</a:t>
            </a:r>
            <a:r>
              <a:rPr lang="en-IN" b="0" i="0" dirty="0">
                <a:solidFill>
                  <a:srgbClr val="000000"/>
                </a:solidFill>
                <a:effectLst/>
                <a:latin typeface="inter-regular"/>
              </a:rPr>
              <a:t>();</a:t>
            </a:r>
            <a:r>
              <a:rPr lang="en-IN" b="0" i="0" dirty="0">
                <a:solidFill>
                  <a:srgbClr val="008200"/>
                </a:solidFill>
                <a:effectLst/>
                <a:latin typeface="inter-regular"/>
              </a:rPr>
              <a:t>//using fully qualified name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obj.msg();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28489459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D2A39B-638F-74E7-8449-4F5328E6CE79}"/>
              </a:ext>
            </a:extLst>
          </p:cNvPr>
          <p:cNvSpPr>
            <a:spLocks noGrp="1"/>
          </p:cNvSpPr>
          <p:nvPr>
            <p:ph idx="1"/>
          </p:nvPr>
        </p:nvSpPr>
        <p:spPr>
          <a:xfrm>
            <a:off x="838200" y="569167"/>
            <a:ext cx="10515600" cy="5607796"/>
          </a:xfrm>
        </p:spPr>
        <p:txBody>
          <a:bodyPr>
            <a:normAutofit lnSpcReduction="10000"/>
          </a:bodyPr>
          <a:lstStyle/>
          <a:p>
            <a:pPr marL="0" indent="0">
              <a:buNone/>
            </a:pPr>
            <a:r>
              <a:rPr lang="en-US" sz="3200" b="1" dirty="0">
                <a:solidFill>
                  <a:srgbClr val="7030A0"/>
                </a:solidFill>
              </a:rPr>
              <a:t>Exception Handling</a:t>
            </a:r>
          </a:p>
          <a:p>
            <a:pPr>
              <a:lnSpc>
                <a:spcPct val="150000"/>
              </a:lnSpc>
            </a:pPr>
            <a:r>
              <a:rPr lang="en-US" dirty="0"/>
              <a:t>The Exception Handling in Java is one of the powerful mechanism</a:t>
            </a:r>
          </a:p>
          <a:p>
            <a:pPr marL="0" indent="0">
              <a:lnSpc>
                <a:spcPct val="150000"/>
              </a:lnSpc>
              <a:buNone/>
            </a:pPr>
            <a:r>
              <a:rPr lang="en-US" dirty="0"/>
              <a:t>to handle the runtime errors so that the normal flow of the</a:t>
            </a:r>
          </a:p>
          <a:p>
            <a:pPr marL="0" indent="0">
              <a:lnSpc>
                <a:spcPct val="150000"/>
              </a:lnSpc>
              <a:buNone/>
            </a:pPr>
            <a:r>
              <a:rPr lang="en-US" dirty="0"/>
              <a:t>application can be maintained.</a:t>
            </a:r>
          </a:p>
          <a:p>
            <a:pPr>
              <a:lnSpc>
                <a:spcPct val="150000"/>
              </a:lnSpc>
            </a:pPr>
            <a:r>
              <a:rPr lang="en-US" dirty="0"/>
              <a:t>Exception is an abnormal condition.</a:t>
            </a:r>
          </a:p>
          <a:p>
            <a:pPr>
              <a:lnSpc>
                <a:spcPct val="150000"/>
              </a:lnSpc>
            </a:pPr>
            <a:r>
              <a:rPr lang="en-US" dirty="0"/>
              <a:t>Exception Handling is a mechanism to handle runtime errors such as</a:t>
            </a:r>
          </a:p>
          <a:p>
            <a:pPr>
              <a:lnSpc>
                <a:spcPct val="150000"/>
              </a:lnSpc>
            </a:pPr>
            <a:r>
              <a:rPr lang="en-US" dirty="0" err="1"/>
              <a:t>ClassNotFoundException</a:t>
            </a:r>
            <a:r>
              <a:rPr lang="en-US" dirty="0"/>
              <a:t>, </a:t>
            </a:r>
            <a:r>
              <a:rPr lang="en-US" dirty="0" err="1"/>
              <a:t>IOException</a:t>
            </a:r>
            <a:r>
              <a:rPr lang="en-US" dirty="0"/>
              <a:t>, </a:t>
            </a:r>
            <a:r>
              <a:rPr lang="en-US" dirty="0" err="1"/>
              <a:t>SQLException</a:t>
            </a:r>
            <a:r>
              <a:rPr lang="en-US" dirty="0"/>
              <a:t>, </a:t>
            </a:r>
            <a:r>
              <a:rPr lang="en-US" dirty="0" err="1"/>
              <a:t>RemoteException,etc</a:t>
            </a:r>
            <a:r>
              <a:rPr lang="en-US" dirty="0"/>
              <a:t>.</a:t>
            </a:r>
            <a:endParaRPr lang="en-IN" dirty="0"/>
          </a:p>
        </p:txBody>
      </p:sp>
    </p:spTree>
    <p:extLst>
      <p:ext uri="{BB962C8B-B14F-4D97-AF65-F5344CB8AC3E}">
        <p14:creationId xmlns:p14="http://schemas.microsoft.com/office/powerpoint/2010/main" val="412858250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451B4F-0F08-CD05-3866-24D8D33194BB}"/>
              </a:ext>
            </a:extLst>
          </p:cNvPr>
          <p:cNvSpPr>
            <a:spLocks noGrp="1"/>
          </p:cNvSpPr>
          <p:nvPr>
            <p:ph idx="1"/>
          </p:nvPr>
        </p:nvSpPr>
        <p:spPr>
          <a:xfrm>
            <a:off x="838200" y="643812"/>
            <a:ext cx="10515600" cy="5533151"/>
          </a:xfrm>
        </p:spPr>
        <p:txBody>
          <a:bodyPr>
            <a:normAutofit/>
          </a:bodyPr>
          <a:lstStyle/>
          <a:p>
            <a:pPr marL="0" indent="0">
              <a:buNone/>
            </a:pPr>
            <a:r>
              <a:rPr lang="en-US" b="1" dirty="0">
                <a:solidFill>
                  <a:srgbClr val="7030A0"/>
                </a:solidFill>
              </a:rPr>
              <a:t>Exception:</a:t>
            </a:r>
          </a:p>
          <a:p>
            <a:r>
              <a:rPr lang="en-US" dirty="0"/>
              <a:t>Predictable</a:t>
            </a:r>
          </a:p>
          <a:p>
            <a:r>
              <a:rPr lang="en-US" dirty="0"/>
              <a:t>It can be of checked or unchecked</a:t>
            </a:r>
          </a:p>
          <a:p>
            <a:r>
              <a:rPr lang="en-US" dirty="0"/>
              <a:t>Can happen at </a:t>
            </a:r>
            <a:r>
              <a:rPr lang="en-US" dirty="0" err="1"/>
              <a:t>compiletime</a:t>
            </a:r>
            <a:r>
              <a:rPr lang="en-US" dirty="0"/>
              <a:t>&amp; runtime</a:t>
            </a:r>
          </a:p>
          <a:p>
            <a:r>
              <a:rPr lang="en-US" dirty="0"/>
              <a:t>Caused by application</a:t>
            </a:r>
          </a:p>
          <a:p>
            <a:pPr marL="0" indent="0">
              <a:buNone/>
            </a:pPr>
            <a:r>
              <a:rPr lang="en-US" b="1" dirty="0">
                <a:solidFill>
                  <a:srgbClr val="7030A0"/>
                </a:solidFill>
              </a:rPr>
              <a:t>Exception handling</a:t>
            </a:r>
          </a:p>
          <a:p>
            <a:r>
              <a:rPr lang="en-US" dirty="0"/>
              <a:t>Exception handling is a mechanism to handle errors in the</a:t>
            </a:r>
          </a:p>
          <a:p>
            <a:r>
              <a:rPr lang="en-US" dirty="0"/>
              <a:t>runtime.</a:t>
            </a:r>
          </a:p>
          <a:p>
            <a:r>
              <a:rPr lang="en-US" dirty="0"/>
              <a:t>So that the normal flow of the application is maintained.</a:t>
            </a:r>
            <a:endParaRPr lang="en-IN" dirty="0"/>
          </a:p>
        </p:txBody>
      </p:sp>
    </p:spTree>
    <p:extLst>
      <p:ext uri="{BB962C8B-B14F-4D97-AF65-F5344CB8AC3E}">
        <p14:creationId xmlns:p14="http://schemas.microsoft.com/office/powerpoint/2010/main" val="166047865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45000-4BCD-AC67-2DE2-BE9DD78388D6}"/>
              </a:ext>
            </a:extLst>
          </p:cNvPr>
          <p:cNvSpPr>
            <a:spLocks noGrp="1"/>
          </p:cNvSpPr>
          <p:nvPr>
            <p:ph idx="1"/>
          </p:nvPr>
        </p:nvSpPr>
        <p:spPr>
          <a:xfrm>
            <a:off x="838200" y="513184"/>
            <a:ext cx="10515600" cy="5663779"/>
          </a:xfrm>
        </p:spPr>
        <p:txBody>
          <a:bodyPr>
            <a:normAutofit/>
          </a:bodyPr>
          <a:lstStyle/>
          <a:p>
            <a:pPr marL="0" indent="0">
              <a:buNone/>
            </a:pPr>
            <a:r>
              <a:rPr lang="en-US" b="1" dirty="0">
                <a:solidFill>
                  <a:srgbClr val="7030A0"/>
                </a:solidFill>
              </a:rPr>
              <a:t>Types of exceptions</a:t>
            </a:r>
          </a:p>
          <a:p>
            <a:pPr marL="0" indent="0">
              <a:buNone/>
            </a:pPr>
            <a:r>
              <a:rPr lang="en-US" b="1" dirty="0">
                <a:solidFill>
                  <a:srgbClr val="7030A0"/>
                </a:solidFill>
              </a:rPr>
              <a:t>Built in exceptions:</a:t>
            </a:r>
          </a:p>
          <a:p>
            <a:r>
              <a:rPr lang="en-US" dirty="0" err="1"/>
              <a:t>ArithmeticException</a:t>
            </a:r>
            <a:endParaRPr lang="en-US" dirty="0"/>
          </a:p>
          <a:p>
            <a:r>
              <a:rPr lang="en-US" dirty="0" err="1"/>
              <a:t>ArrayIndexOutofBoundsException</a:t>
            </a:r>
            <a:endParaRPr lang="en-US" dirty="0"/>
          </a:p>
          <a:p>
            <a:r>
              <a:rPr lang="en-US" dirty="0" err="1"/>
              <a:t>ClassNotfoundException</a:t>
            </a:r>
            <a:endParaRPr lang="en-US" dirty="0"/>
          </a:p>
          <a:p>
            <a:r>
              <a:rPr lang="en-US" dirty="0" err="1"/>
              <a:t>IoException</a:t>
            </a:r>
            <a:endParaRPr lang="en-US" dirty="0"/>
          </a:p>
          <a:p>
            <a:r>
              <a:rPr lang="en-US" dirty="0" err="1"/>
              <a:t>StringIndexOutofBoundsException</a:t>
            </a:r>
            <a:endParaRPr lang="en-IN" dirty="0"/>
          </a:p>
        </p:txBody>
      </p:sp>
    </p:spTree>
    <p:extLst>
      <p:ext uri="{BB962C8B-B14F-4D97-AF65-F5344CB8AC3E}">
        <p14:creationId xmlns:p14="http://schemas.microsoft.com/office/powerpoint/2010/main" val="304763764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167A8-6D90-F1E8-9F69-1043BA2CA2BD}"/>
              </a:ext>
            </a:extLst>
          </p:cNvPr>
          <p:cNvSpPr>
            <a:spLocks noGrp="1"/>
          </p:cNvSpPr>
          <p:nvPr>
            <p:ph idx="1"/>
          </p:nvPr>
        </p:nvSpPr>
        <p:spPr>
          <a:xfrm>
            <a:off x="838200" y="447869"/>
            <a:ext cx="10515600" cy="5729094"/>
          </a:xfrm>
        </p:spPr>
        <p:txBody>
          <a:bodyPr>
            <a:normAutofit/>
          </a:bodyPr>
          <a:lstStyle/>
          <a:p>
            <a:pPr marL="0" indent="0">
              <a:buNone/>
            </a:pPr>
            <a:r>
              <a:rPr lang="en-US" b="1" dirty="0">
                <a:solidFill>
                  <a:srgbClr val="7030A0"/>
                </a:solidFill>
              </a:rPr>
              <a:t>Advantage of Exception Handling</a:t>
            </a:r>
          </a:p>
          <a:p>
            <a:r>
              <a:rPr lang="en-US" dirty="0"/>
              <a:t>The core advantage of exception handling is to maintain the normal</a:t>
            </a:r>
          </a:p>
          <a:p>
            <a:pPr marL="0" indent="0">
              <a:buNone/>
            </a:pPr>
            <a:r>
              <a:rPr lang="en-US" dirty="0"/>
              <a:t>    flow of the application.</a:t>
            </a:r>
          </a:p>
          <a:p>
            <a:pPr marL="0" indent="0">
              <a:buNone/>
            </a:pPr>
            <a:r>
              <a:rPr lang="en-US" b="1" dirty="0">
                <a:solidFill>
                  <a:srgbClr val="7030A0"/>
                </a:solidFill>
              </a:rPr>
              <a:t>Java Exception Keywords</a:t>
            </a:r>
          </a:p>
          <a:p>
            <a:r>
              <a:rPr lang="en-US" dirty="0"/>
              <a:t>try</a:t>
            </a:r>
          </a:p>
          <a:p>
            <a:r>
              <a:rPr lang="en-US" dirty="0"/>
              <a:t>catch</a:t>
            </a:r>
          </a:p>
          <a:p>
            <a:r>
              <a:rPr lang="en-US" dirty="0"/>
              <a:t>finally</a:t>
            </a:r>
          </a:p>
          <a:p>
            <a:r>
              <a:rPr lang="en-US" dirty="0"/>
              <a:t>throw</a:t>
            </a:r>
          </a:p>
          <a:p>
            <a:r>
              <a:rPr lang="en-US" dirty="0"/>
              <a:t>throws</a:t>
            </a:r>
            <a:endParaRPr lang="en-IN" dirty="0"/>
          </a:p>
        </p:txBody>
      </p:sp>
    </p:spTree>
    <p:extLst>
      <p:ext uri="{BB962C8B-B14F-4D97-AF65-F5344CB8AC3E}">
        <p14:creationId xmlns:p14="http://schemas.microsoft.com/office/powerpoint/2010/main" val="381190564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44316A-4E17-98BD-1AE7-E809ED1D07FE}"/>
              </a:ext>
            </a:extLst>
          </p:cNvPr>
          <p:cNvSpPr>
            <a:spLocks noGrp="1"/>
          </p:cNvSpPr>
          <p:nvPr>
            <p:ph idx="1"/>
          </p:nvPr>
        </p:nvSpPr>
        <p:spPr>
          <a:xfrm>
            <a:off x="838200" y="737118"/>
            <a:ext cx="10515600" cy="5439845"/>
          </a:xfrm>
        </p:spPr>
        <p:txBody>
          <a:bodyPr>
            <a:noAutofit/>
          </a:bodyPr>
          <a:lstStyle/>
          <a:p>
            <a:pPr marL="0" indent="0">
              <a:buNone/>
            </a:pPr>
            <a:r>
              <a:rPr lang="en-IN" b="1" dirty="0">
                <a:solidFill>
                  <a:srgbClr val="7030A0"/>
                </a:solidFill>
              </a:rPr>
              <a:t>Java Exception Handling Example</a:t>
            </a:r>
          </a:p>
          <a:p>
            <a:pPr marL="0" indent="0">
              <a:buNone/>
            </a:pPr>
            <a:r>
              <a:rPr lang="en-IN" dirty="0"/>
              <a:t>public class </a:t>
            </a:r>
            <a:r>
              <a:rPr lang="en-IN" dirty="0" err="1"/>
              <a:t>JavaExceptionExample</a:t>
            </a:r>
            <a:r>
              <a:rPr lang="en-IN" dirty="0"/>
              <a:t>{</a:t>
            </a:r>
          </a:p>
          <a:p>
            <a:pPr marL="0" indent="0">
              <a:buNone/>
            </a:pPr>
            <a:r>
              <a:rPr lang="en-IN" dirty="0"/>
              <a:t>public static void main(String </a:t>
            </a:r>
            <a:r>
              <a:rPr lang="en-IN" dirty="0" err="1"/>
              <a:t>args</a:t>
            </a:r>
            <a:r>
              <a:rPr lang="en-IN" dirty="0"/>
              <a:t>[]){</a:t>
            </a:r>
          </a:p>
          <a:p>
            <a:pPr marL="0" indent="0">
              <a:buNone/>
            </a:pPr>
            <a:r>
              <a:rPr lang="en-IN" dirty="0"/>
              <a:t>try{</a:t>
            </a:r>
          </a:p>
          <a:p>
            <a:pPr marL="0" indent="0">
              <a:buNone/>
            </a:pPr>
            <a:r>
              <a:rPr lang="en-IN" dirty="0"/>
              <a:t>int data=100/0;</a:t>
            </a:r>
          </a:p>
          <a:p>
            <a:pPr marL="0" indent="0">
              <a:buNone/>
            </a:pPr>
            <a:r>
              <a:rPr lang="en-IN" dirty="0"/>
              <a:t>}catch(Exception e)</a:t>
            </a:r>
          </a:p>
          <a:p>
            <a:pPr marL="0" indent="0">
              <a:buNone/>
            </a:pPr>
            <a:r>
              <a:rPr lang="en-IN" dirty="0"/>
              <a:t>{</a:t>
            </a:r>
            <a:r>
              <a:rPr lang="en-IN" dirty="0" err="1"/>
              <a:t>System.out.println</a:t>
            </a:r>
            <a:r>
              <a:rPr lang="en-IN" dirty="0"/>
              <a:t>(e);}</a:t>
            </a:r>
          </a:p>
          <a:p>
            <a:pPr marL="0" indent="0">
              <a:buNone/>
            </a:pPr>
            <a:r>
              <a:rPr lang="en-IN" dirty="0"/>
              <a:t>//rest code of the program</a:t>
            </a:r>
          </a:p>
          <a:p>
            <a:pPr marL="0" indent="0">
              <a:buNone/>
            </a:pPr>
            <a:r>
              <a:rPr lang="en-IN" dirty="0" err="1"/>
              <a:t>System.out.println</a:t>
            </a:r>
            <a:r>
              <a:rPr lang="en-IN" dirty="0"/>
              <a:t>("rest of the code...");</a:t>
            </a:r>
          </a:p>
          <a:p>
            <a:pPr marL="0" indent="0">
              <a:buNone/>
            </a:pPr>
            <a:r>
              <a:rPr lang="en-IN" dirty="0"/>
              <a:t>}}</a:t>
            </a:r>
          </a:p>
        </p:txBody>
      </p:sp>
    </p:spTree>
    <p:extLst>
      <p:ext uri="{BB962C8B-B14F-4D97-AF65-F5344CB8AC3E}">
        <p14:creationId xmlns:p14="http://schemas.microsoft.com/office/powerpoint/2010/main" val="395348585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78AD-D875-5116-7238-46FD9567CCFA}"/>
              </a:ext>
            </a:extLst>
          </p:cNvPr>
          <p:cNvSpPr>
            <a:spLocks noGrp="1"/>
          </p:cNvSpPr>
          <p:nvPr>
            <p:ph type="ctrTitle"/>
          </p:nvPr>
        </p:nvSpPr>
        <p:spPr/>
        <p:txBody>
          <a:bodyPr/>
          <a:lstStyle/>
          <a:p>
            <a:r>
              <a:rPr lang="en-IN" dirty="0"/>
              <a:t>File handling in java</a:t>
            </a:r>
          </a:p>
        </p:txBody>
      </p:sp>
      <p:sp>
        <p:nvSpPr>
          <p:cNvPr id="3" name="Subtitle 2">
            <a:extLst>
              <a:ext uri="{FF2B5EF4-FFF2-40B4-BE49-F238E27FC236}">
                <a16:creationId xmlns:a16="http://schemas.microsoft.com/office/drawing/2014/main" id="{6983D6ED-BCB1-D5F9-1EBC-F8CE730CB4E5}"/>
              </a:ext>
            </a:extLst>
          </p:cNvPr>
          <p:cNvSpPr>
            <a:spLocks noGrp="1"/>
          </p:cNvSpPr>
          <p:nvPr>
            <p:ph type="subTitle" idx="1"/>
          </p:nvPr>
        </p:nvSpPr>
        <p:spPr/>
        <p:txBody>
          <a:bodyPr>
            <a:normAutofit/>
          </a:bodyPr>
          <a:lstStyle/>
          <a:p>
            <a:r>
              <a:rPr lang="en-IN" sz="4000" dirty="0"/>
              <a:t>IO streams</a:t>
            </a:r>
          </a:p>
        </p:txBody>
      </p:sp>
    </p:spTree>
    <p:extLst>
      <p:ext uri="{BB962C8B-B14F-4D97-AF65-F5344CB8AC3E}">
        <p14:creationId xmlns:p14="http://schemas.microsoft.com/office/powerpoint/2010/main" val="283377976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81BB2-B2B7-7141-0E8C-C188DEAD83B2}"/>
              </a:ext>
            </a:extLst>
          </p:cNvPr>
          <p:cNvSpPr>
            <a:spLocks noGrp="1"/>
          </p:cNvSpPr>
          <p:nvPr>
            <p:ph idx="1"/>
          </p:nvPr>
        </p:nvSpPr>
        <p:spPr>
          <a:xfrm>
            <a:off x="838200" y="447869"/>
            <a:ext cx="10515600" cy="5729094"/>
          </a:xfrm>
        </p:spPr>
        <p:txBody>
          <a:bodyPr/>
          <a:lstStyle/>
          <a:p>
            <a:pPr marL="0" indent="0">
              <a:buNone/>
            </a:pPr>
            <a:r>
              <a:rPr lang="en-IN" dirty="0">
                <a:solidFill>
                  <a:srgbClr val="7030A0"/>
                </a:solidFill>
              </a:rPr>
              <a:t>What is file?</a:t>
            </a:r>
          </a:p>
          <a:p>
            <a:r>
              <a:rPr lang="en-IN" dirty="0"/>
              <a:t>Collection of information or data.</a:t>
            </a:r>
          </a:p>
          <a:p>
            <a:pPr marL="0" indent="0">
              <a:buNone/>
            </a:pPr>
            <a:r>
              <a:rPr lang="en-IN" dirty="0">
                <a:solidFill>
                  <a:srgbClr val="7030A0"/>
                </a:solidFill>
              </a:rPr>
              <a:t>Types of files</a:t>
            </a:r>
          </a:p>
          <a:p>
            <a:r>
              <a:rPr lang="en-IN" dirty="0"/>
              <a:t>.zip</a:t>
            </a:r>
          </a:p>
          <a:p>
            <a:r>
              <a:rPr lang="en-IN" dirty="0"/>
              <a:t>.txt</a:t>
            </a:r>
          </a:p>
          <a:p>
            <a:r>
              <a:rPr lang="en-IN" dirty="0"/>
              <a:t>.pdf</a:t>
            </a:r>
          </a:p>
          <a:p>
            <a:r>
              <a:rPr lang="en-IN" dirty="0"/>
              <a:t>.java</a:t>
            </a:r>
          </a:p>
          <a:p>
            <a:r>
              <a:rPr lang="en-IN" dirty="0"/>
              <a:t>.exe</a:t>
            </a:r>
          </a:p>
          <a:p>
            <a:r>
              <a:rPr lang="en-IN" dirty="0"/>
              <a:t>.c</a:t>
            </a:r>
          </a:p>
          <a:p>
            <a:r>
              <a:rPr lang="en-IN" dirty="0"/>
              <a:t>.pptx</a:t>
            </a:r>
          </a:p>
        </p:txBody>
      </p:sp>
    </p:spTree>
    <p:extLst>
      <p:ext uri="{BB962C8B-B14F-4D97-AF65-F5344CB8AC3E}">
        <p14:creationId xmlns:p14="http://schemas.microsoft.com/office/powerpoint/2010/main" val="360719831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1015DD-318D-C685-48C2-8251BAA8878C}"/>
              </a:ext>
            </a:extLst>
          </p:cNvPr>
          <p:cNvSpPr>
            <a:spLocks noGrp="1"/>
          </p:cNvSpPr>
          <p:nvPr>
            <p:ph idx="1"/>
          </p:nvPr>
        </p:nvSpPr>
        <p:spPr>
          <a:xfrm>
            <a:off x="838200" y="587829"/>
            <a:ext cx="10515600" cy="5589134"/>
          </a:xfrm>
        </p:spPr>
        <p:txBody>
          <a:bodyPr/>
          <a:lstStyle/>
          <a:p>
            <a:pPr marL="0" indent="0">
              <a:buNone/>
            </a:pPr>
            <a:r>
              <a:rPr lang="en-IN" dirty="0">
                <a:solidFill>
                  <a:srgbClr val="7030A0"/>
                </a:solidFill>
              </a:rPr>
              <a:t>Predefined function</a:t>
            </a:r>
          </a:p>
          <a:p>
            <a:r>
              <a:rPr lang="en-IN" dirty="0"/>
              <a:t>open()</a:t>
            </a:r>
          </a:p>
          <a:p>
            <a:endParaRPr lang="en-IN" dirty="0"/>
          </a:p>
          <a:p>
            <a:pPr marL="0" indent="0">
              <a:buNone/>
            </a:pPr>
            <a:r>
              <a:rPr lang="en-IN" dirty="0">
                <a:solidFill>
                  <a:srgbClr val="7030A0"/>
                </a:solidFill>
              </a:rPr>
              <a:t>Build in Function</a:t>
            </a:r>
          </a:p>
          <a:p>
            <a:r>
              <a:rPr lang="en-IN" dirty="0"/>
              <a:t>read()</a:t>
            </a:r>
          </a:p>
          <a:p>
            <a:r>
              <a:rPr lang="en-IN" dirty="0"/>
              <a:t>write()</a:t>
            </a:r>
          </a:p>
          <a:p>
            <a:r>
              <a:rPr lang="en-IN" dirty="0"/>
              <a:t>append()</a:t>
            </a:r>
          </a:p>
        </p:txBody>
      </p:sp>
    </p:spTree>
    <p:extLst>
      <p:ext uri="{BB962C8B-B14F-4D97-AF65-F5344CB8AC3E}">
        <p14:creationId xmlns:p14="http://schemas.microsoft.com/office/powerpoint/2010/main" val="24151628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94122"/>
          </a:xfrm>
        </p:spPr>
        <p:txBody>
          <a:bodyPr>
            <a:normAutofit/>
          </a:bodyPr>
          <a:lstStyle/>
          <a:p>
            <a:r>
              <a:rPr lang="en-IN" dirty="0"/>
              <a:t>File Operations in Java</a:t>
            </a:r>
          </a:p>
        </p:txBody>
      </p:sp>
      <p:sp>
        <p:nvSpPr>
          <p:cNvPr id="3" name="Content Placeholder 2"/>
          <p:cNvSpPr>
            <a:spLocks noGrp="1"/>
          </p:cNvSpPr>
          <p:nvPr>
            <p:ph idx="1"/>
          </p:nvPr>
        </p:nvSpPr>
        <p:spPr>
          <a:xfrm>
            <a:off x="1981200" y="1268761"/>
            <a:ext cx="9906000" cy="4857403"/>
          </a:xfrm>
        </p:spPr>
        <p:txBody>
          <a:bodyPr/>
          <a:lstStyle/>
          <a:p>
            <a:pPr marL="0" indent="0">
              <a:buNone/>
            </a:pPr>
            <a:r>
              <a:rPr lang="en-US" b="1" dirty="0">
                <a:solidFill>
                  <a:srgbClr val="7030A0"/>
                </a:solidFill>
              </a:rPr>
              <a:t>File Operations</a:t>
            </a:r>
          </a:p>
          <a:p>
            <a:pPr marL="0" indent="0">
              <a:buNone/>
            </a:pPr>
            <a:r>
              <a:rPr lang="en-US" dirty="0"/>
              <a:t>We can perform the following operation on a file:</a:t>
            </a:r>
          </a:p>
          <a:p>
            <a:r>
              <a:rPr lang="en-US" dirty="0"/>
              <a:t>Create a File   -File(),</a:t>
            </a:r>
            <a:r>
              <a:rPr lang="en-US" dirty="0" err="1"/>
              <a:t>createNewFile</a:t>
            </a:r>
            <a:r>
              <a:rPr lang="en-US" dirty="0"/>
              <a:t>()</a:t>
            </a:r>
          </a:p>
          <a:p>
            <a:r>
              <a:rPr lang="en-US" dirty="0"/>
              <a:t>Get File Information</a:t>
            </a:r>
          </a:p>
          <a:p>
            <a:r>
              <a:rPr lang="en-US" dirty="0"/>
              <a:t>Write to a File   -</a:t>
            </a:r>
            <a:r>
              <a:rPr lang="en-US" dirty="0" err="1"/>
              <a:t>FileWriter</a:t>
            </a:r>
            <a:r>
              <a:rPr lang="en-US" dirty="0"/>
              <a:t>(),write(),flush(),close()</a:t>
            </a:r>
          </a:p>
          <a:p>
            <a:r>
              <a:rPr lang="en-US" dirty="0"/>
              <a:t>Read from a File  -Scanner(),while </a:t>
            </a:r>
            <a:r>
              <a:rPr lang="en-US" dirty="0" err="1"/>
              <a:t>loop,hasnext</a:t>
            </a:r>
            <a:r>
              <a:rPr lang="en-US" dirty="0"/>
              <a:t>()</a:t>
            </a:r>
          </a:p>
          <a:p>
            <a:r>
              <a:rPr lang="en-US" dirty="0"/>
              <a:t>Append a file  -append()</a:t>
            </a:r>
          </a:p>
          <a:p>
            <a:r>
              <a:rPr lang="en-US" dirty="0"/>
              <a:t>Delete a File  -delete()</a:t>
            </a:r>
          </a:p>
          <a:p>
            <a:endParaRPr lang="en-IN" dirty="0"/>
          </a:p>
        </p:txBody>
      </p:sp>
    </p:spTree>
    <p:extLst>
      <p:ext uri="{BB962C8B-B14F-4D97-AF65-F5344CB8AC3E}">
        <p14:creationId xmlns:p14="http://schemas.microsoft.com/office/powerpoint/2010/main" val="174902541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00404"/>
            <a:ext cx="8229600" cy="3454152"/>
          </a:xfrm>
        </p:spPr>
        <p:txBody>
          <a:bodyPr/>
          <a:lstStyle/>
          <a:p>
            <a:pPr marL="0" indent="0">
              <a:buNone/>
            </a:pPr>
            <a:r>
              <a:rPr lang="en-IN" b="1" dirty="0">
                <a:solidFill>
                  <a:srgbClr val="7030A0"/>
                </a:solidFill>
              </a:rPr>
              <a:t>Create a File</a:t>
            </a:r>
            <a:endParaRPr lang="en-US" dirty="0"/>
          </a:p>
          <a:p>
            <a:r>
              <a:rPr lang="en-US" dirty="0"/>
              <a:t> We use the</a:t>
            </a:r>
            <a:r>
              <a:rPr lang="en-US" dirty="0">
                <a:solidFill>
                  <a:srgbClr val="7030A0"/>
                </a:solidFill>
              </a:rPr>
              <a:t> </a:t>
            </a:r>
            <a:r>
              <a:rPr lang="en-US" b="1" dirty="0">
                <a:solidFill>
                  <a:srgbClr val="7030A0"/>
                </a:solidFill>
              </a:rPr>
              <a:t>createNewFile()</a:t>
            </a:r>
            <a:r>
              <a:rPr lang="en-US" dirty="0"/>
              <a:t> method of file. </a:t>
            </a:r>
          </a:p>
          <a:p>
            <a:r>
              <a:rPr lang="en-US" dirty="0"/>
              <a:t>The </a:t>
            </a:r>
            <a:r>
              <a:rPr lang="en-US" b="1" dirty="0">
                <a:solidFill>
                  <a:srgbClr val="7030A0"/>
                </a:solidFill>
              </a:rPr>
              <a:t>createNewFile()</a:t>
            </a:r>
            <a:r>
              <a:rPr lang="en-US" dirty="0"/>
              <a:t> method returns true when it successfully creates a new file and returns false when the file already exists.</a:t>
            </a:r>
            <a:endParaRPr lang="en-IN" dirty="0"/>
          </a:p>
        </p:txBody>
      </p:sp>
    </p:spTree>
    <p:extLst>
      <p:ext uri="{BB962C8B-B14F-4D97-AF65-F5344CB8AC3E}">
        <p14:creationId xmlns:p14="http://schemas.microsoft.com/office/powerpoint/2010/main" val="4883945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76673"/>
            <a:ext cx="9296400" cy="5649491"/>
          </a:xfrm>
        </p:spPr>
        <p:txBody>
          <a:bodyPr>
            <a:noAutofit/>
          </a:bodyPr>
          <a:lstStyle/>
          <a:p>
            <a:pPr marL="0" indent="0">
              <a:buNone/>
            </a:pPr>
            <a:r>
              <a:rPr lang="en-IN" b="1" dirty="0">
                <a:solidFill>
                  <a:srgbClr val="7030A0"/>
                </a:solidFill>
              </a:rPr>
              <a:t>Get File Information</a:t>
            </a:r>
          </a:p>
          <a:p>
            <a:r>
              <a:rPr lang="en-US" dirty="0"/>
              <a:t>We get the name of the file using the </a:t>
            </a:r>
            <a:r>
              <a:rPr lang="en-US" b="1" dirty="0">
                <a:solidFill>
                  <a:srgbClr val="7030A0"/>
                </a:solidFill>
              </a:rPr>
              <a:t>getName()</a:t>
            </a:r>
            <a:endParaRPr lang="en-US" dirty="0">
              <a:solidFill>
                <a:srgbClr val="7030A0"/>
              </a:solidFill>
            </a:endParaRPr>
          </a:p>
          <a:p>
            <a:r>
              <a:rPr lang="en-US" dirty="0"/>
              <a:t>We get the absolute path of the file using the </a:t>
            </a:r>
            <a:r>
              <a:rPr lang="en-US" b="1" dirty="0">
                <a:solidFill>
                  <a:srgbClr val="7030A0"/>
                </a:solidFill>
              </a:rPr>
              <a:t>getAbsolutePath()</a:t>
            </a:r>
            <a:r>
              <a:rPr lang="en-US" dirty="0">
                <a:solidFill>
                  <a:srgbClr val="7030A0"/>
                </a:solidFill>
              </a:rPr>
              <a:t> </a:t>
            </a:r>
            <a:r>
              <a:rPr lang="en-US" dirty="0"/>
              <a:t>method of the file.</a:t>
            </a:r>
          </a:p>
          <a:p>
            <a:r>
              <a:rPr lang="en-US" dirty="0"/>
              <a:t>We check whether we can write data into a file or not using the </a:t>
            </a:r>
            <a:r>
              <a:rPr lang="en-US" b="1" dirty="0">
                <a:solidFill>
                  <a:srgbClr val="7030A0"/>
                </a:solidFill>
              </a:rPr>
              <a:t>canWrite()</a:t>
            </a:r>
            <a:endParaRPr lang="en-US" dirty="0">
              <a:solidFill>
                <a:srgbClr val="7030A0"/>
              </a:solidFill>
            </a:endParaRPr>
          </a:p>
          <a:p>
            <a:r>
              <a:rPr lang="en-US" dirty="0"/>
              <a:t>We check whether we can read the data of the file or not using the </a:t>
            </a:r>
            <a:r>
              <a:rPr lang="en-US" b="1" dirty="0">
                <a:solidFill>
                  <a:srgbClr val="7030A0"/>
                </a:solidFill>
              </a:rPr>
              <a:t>canRead()</a:t>
            </a:r>
            <a:endParaRPr lang="en-US" dirty="0">
              <a:solidFill>
                <a:srgbClr val="7030A0"/>
              </a:solidFill>
            </a:endParaRPr>
          </a:p>
          <a:p>
            <a:r>
              <a:rPr lang="en-US" dirty="0"/>
              <a:t>We get the length of the file by using the </a:t>
            </a:r>
            <a:r>
              <a:rPr lang="en-US" b="1" dirty="0">
                <a:solidFill>
                  <a:srgbClr val="7030A0"/>
                </a:solidFill>
              </a:rPr>
              <a:t>length()</a:t>
            </a:r>
            <a:endParaRPr lang="en-US" dirty="0">
              <a:solidFill>
                <a:srgbClr val="7030A0"/>
              </a:solidFill>
            </a:endParaRPr>
          </a:p>
        </p:txBody>
      </p:sp>
    </p:spTree>
    <p:extLst>
      <p:ext uri="{BB962C8B-B14F-4D97-AF65-F5344CB8AC3E}">
        <p14:creationId xmlns:p14="http://schemas.microsoft.com/office/powerpoint/2010/main" val="235311677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9943" y="1488435"/>
            <a:ext cx="8229600" cy="3466119"/>
          </a:xfrm>
        </p:spPr>
        <p:txBody>
          <a:bodyPr/>
          <a:lstStyle/>
          <a:p>
            <a:pPr marL="0" indent="0">
              <a:buNone/>
            </a:pPr>
            <a:r>
              <a:rPr lang="en-IN" b="1" dirty="0">
                <a:solidFill>
                  <a:srgbClr val="7030A0"/>
                </a:solidFill>
              </a:rPr>
              <a:t>Write to a File</a:t>
            </a:r>
          </a:p>
          <a:p>
            <a:r>
              <a:rPr lang="en-US" dirty="0"/>
              <a:t>In order to write data into a file, we will use the </a:t>
            </a:r>
            <a:r>
              <a:rPr lang="en-US" b="1" dirty="0">
                <a:solidFill>
                  <a:srgbClr val="7030A0"/>
                </a:solidFill>
              </a:rPr>
              <a:t>FileWriter</a:t>
            </a:r>
            <a:r>
              <a:rPr lang="en-US" dirty="0"/>
              <a:t> class and its </a:t>
            </a:r>
            <a:r>
              <a:rPr lang="en-US" b="1" dirty="0">
                <a:solidFill>
                  <a:srgbClr val="7030A0"/>
                </a:solidFill>
              </a:rPr>
              <a:t>write()</a:t>
            </a:r>
            <a:r>
              <a:rPr lang="en-US" dirty="0"/>
              <a:t> method together.</a:t>
            </a:r>
          </a:p>
          <a:p>
            <a:r>
              <a:rPr lang="en-US" dirty="0"/>
              <a:t>Using </a:t>
            </a:r>
            <a:r>
              <a:rPr lang="en-US" b="1" dirty="0">
                <a:solidFill>
                  <a:srgbClr val="7030A0"/>
                </a:solidFill>
              </a:rPr>
              <a:t>flush()</a:t>
            </a:r>
            <a:r>
              <a:rPr lang="en-US" dirty="0"/>
              <a:t> to write contents into the file. </a:t>
            </a:r>
          </a:p>
          <a:p>
            <a:r>
              <a:rPr lang="en-US" dirty="0"/>
              <a:t>We need to close the stream using the</a:t>
            </a:r>
            <a:r>
              <a:rPr lang="en-US" dirty="0">
                <a:solidFill>
                  <a:srgbClr val="7030A0"/>
                </a:solidFill>
              </a:rPr>
              <a:t> </a:t>
            </a:r>
            <a:r>
              <a:rPr lang="en-US" b="1" dirty="0">
                <a:solidFill>
                  <a:srgbClr val="7030A0"/>
                </a:solidFill>
              </a:rPr>
              <a:t>close()</a:t>
            </a:r>
            <a:r>
              <a:rPr lang="en-US" dirty="0"/>
              <a:t> method to retrieve the allocated resources.</a:t>
            </a:r>
            <a:endParaRPr lang="en-IN" b="1" dirty="0">
              <a:solidFill>
                <a:srgbClr val="7030A0"/>
              </a:solidFill>
            </a:endParaRPr>
          </a:p>
          <a:p>
            <a:endParaRPr lang="en-IN" dirty="0"/>
          </a:p>
        </p:txBody>
      </p:sp>
    </p:spTree>
    <p:extLst>
      <p:ext uri="{BB962C8B-B14F-4D97-AF65-F5344CB8AC3E}">
        <p14:creationId xmlns:p14="http://schemas.microsoft.com/office/powerpoint/2010/main" val="193047892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82"/>
            <a:ext cx="8229600" cy="4247253"/>
          </a:xfrm>
        </p:spPr>
        <p:txBody>
          <a:bodyPr/>
          <a:lstStyle/>
          <a:p>
            <a:pPr marL="0" indent="0">
              <a:buNone/>
            </a:pPr>
            <a:r>
              <a:rPr lang="en-IN" b="1" dirty="0">
                <a:solidFill>
                  <a:srgbClr val="7030A0"/>
                </a:solidFill>
              </a:rPr>
              <a:t>Read from a File</a:t>
            </a:r>
          </a:p>
          <a:p>
            <a:pPr marL="0" indent="0">
              <a:buNone/>
            </a:pPr>
            <a:r>
              <a:rPr lang="en-IN" dirty="0"/>
              <a:t>Using the file </a:t>
            </a:r>
            <a:r>
              <a:rPr lang="en-IN" b="1" dirty="0" err="1">
                <a:solidFill>
                  <a:srgbClr val="7030A0"/>
                </a:solidFill>
              </a:rPr>
              <a:t>FileReader</a:t>
            </a:r>
            <a:r>
              <a:rPr lang="en-IN" b="1" dirty="0">
                <a:solidFill>
                  <a:srgbClr val="7030A0"/>
                </a:solidFill>
              </a:rPr>
              <a:t>() </a:t>
            </a:r>
            <a:r>
              <a:rPr lang="en-IN" dirty="0"/>
              <a:t>to read the file.</a:t>
            </a:r>
          </a:p>
          <a:p>
            <a:r>
              <a:rPr lang="en-US" dirty="0"/>
              <a:t>In order to write data into a file, we will use the</a:t>
            </a:r>
            <a:r>
              <a:rPr lang="en-US" dirty="0">
                <a:solidFill>
                  <a:srgbClr val="7030A0"/>
                </a:solidFill>
              </a:rPr>
              <a:t> </a:t>
            </a:r>
            <a:r>
              <a:rPr lang="en-US" b="1" dirty="0">
                <a:solidFill>
                  <a:srgbClr val="7030A0"/>
                </a:solidFill>
              </a:rPr>
              <a:t>Scanner</a:t>
            </a:r>
            <a:r>
              <a:rPr lang="en-US" dirty="0"/>
              <a:t> class. Here, we need to close the stream using the </a:t>
            </a:r>
            <a:r>
              <a:rPr lang="en-US" b="1" dirty="0">
                <a:solidFill>
                  <a:srgbClr val="7030A0"/>
                </a:solidFill>
              </a:rPr>
              <a:t>close()</a:t>
            </a:r>
            <a:r>
              <a:rPr lang="en-US" dirty="0"/>
              <a:t> method. </a:t>
            </a:r>
          </a:p>
          <a:p>
            <a:r>
              <a:rPr lang="en-US" dirty="0"/>
              <a:t>We will create an instance of the Scanner class and use the  </a:t>
            </a:r>
            <a:r>
              <a:rPr lang="en-US" b="1" dirty="0">
                <a:solidFill>
                  <a:srgbClr val="7030A0"/>
                </a:solidFill>
              </a:rPr>
              <a:t>hashNextLine()</a:t>
            </a:r>
            <a:r>
              <a:rPr lang="en-US" dirty="0"/>
              <a:t>method </a:t>
            </a:r>
            <a:r>
              <a:rPr lang="en-US" b="1" dirty="0">
                <a:solidFill>
                  <a:srgbClr val="7030A0"/>
                </a:solidFill>
              </a:rPr>
              <a:t>nextLine() </a:t>
            </a:r>
            <a:r>
              <a:rPr lang="en-US" dirty="0"/>
              <a:t>method  to get data from the file.</a:t>
            </a:r>
            <a:endParaRPr lang="en-IN" b="1" dirty="0">
              <a:solidFill>
                <a:srgbClr val="7030A0"/>
              </a:solidFill>
            </a:endParaRPr>
          </a:p>
          <a:p>
            <a:endParaRPr lang="en-IN" dirty="0"/>
          </a:p>
        </p:txBody>
      </p:sp>
    </p:spTree>
    <p:extLst>
      <p:ext uri="{BB962C8B-B14F-4D97-AF65-F5344CB8AC3E}">
        <p14:creationId xmlns:p14="http://schemas.microsoft.com/office/powerpoint/2010/main" val="158034557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CE424-6CF1-90E2-37AE-89A1D7D3D9D1}"/>
              </a:ext>
            </a:extLst>
          </p:cNvPr>
          <p:cNvSpPr>
            <a:spLocks noGrp="1"/>
          </p:cNvSpPr>
          <p:nvPr>
            <p:ph idx="1"/>
          </p:nvPr>
        </p:nvSpPr>
        <p:spPr>
          <a:xfrm>
            <a:off x="912845" y="1726164"/>
            <a:ext cx="10515600" cy="2719873"/>
          </a:xfrm>
        </p:spPr>
        <p:txBody>
          <a:bodyPr/>
          <a:lstStyle/>
          <a:p>
            <a:pPr marL="0" indent="0">
              <a:buNone/>
            </a:pPr>
            <a:r>
              <a:rPr lang="en-US" b="1" dirty="0">
                <a:solidFill>
                  <a:srgbClr val="7030A0"/>
                </a:solidFill>
              </a:rPr>
              <a:t>Append a file  </a:t>
            </a:r>
          </a:p>
          <a:p>
            <a:pPr marL="0" indent="0">
              <a:buNone/>
            </a:pPr>
            <a:r>
              <a:rPr lang="en-US" dirty="0"/>
              <a:t>append()</a:t>
            </a:r>
          </a:p>
          <a:p>
            <a:pPr marL="0" indent="0">
              <a:buNone/>
            </a:pPr>
            <a:r>
              <a:rPr lang="en-US" dirty="0"/>
              <a:t>The file is already created and we add to some contents to the file ,we are using the </a:t>
            </a:r>
            <a:r>
              <a:rPr lang="en-US" b="1" dirty="0">
                <a:solidFill>
                  <a:srgbClr val="7030A0"/>
                </a:solidFill>
              </a:rPr>
              <a:t>append() </a:t>
            </a:r>
            <a:r>
              <a:rPr lang="en-US" dirty="0"/>
              <a:t>function.</a:t>
            </a:r>
          </a:p>
          <a:p>
            <a:endParaRPr lang="en-IN" dirty="0"/>
          </a:p>
        </p:txBody>
      </p:sp>
    </p:spTree>
    <p:extLst>
      <p:ext uri="{BB962C8B-B14F-4D97-AF65-F5344CB8AC3E}">
        <p14:creationId xmlns:p14="http://schemas.microsoft.com/office/powerpoint/2010/main" val="361567203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492493"/>
            <a:ext cx="8229600" cy="3023524"/>
          </a:xfrm>
        </p:spPr>
        <p:txBody>
          <a:bodyPr/>
          <a:lstStyle/>
          <a:p>
            <a:pPr marL="0" indent="0">
              <a:buNone/>
            </a:pPr>
            <a:r>
              <a:rPr lang="en-IN" b="1" dirty="0">
                <a:solidFill>
                  <a:srgbClr val="7030A0"/>
                </a:solidFill>
              </a:rPr>
              <a:t>Delete a File</a:t>
            </a:r>
          </a:p>
          <a:p>
            <a:r>
              <a:rPr lang="en-US" dirty="0"/>
              <a:t>In order to delete a file, we will use the </a:t>
            </a:r>
            <a:r>
              <a:rPr lang="en-US" b="1" dirty="0">
                <a:solidFill>
                  <a:srgbClr val="7030A0"/>
                </a:solidFill>
              </a:rPr>
              <a:t>delete()</a:t>
            </a:r>
            <a:r>
              <a:rPr lang="en-US" dirty="0"/>
              <a:t> method of the file. </a:t>
            </a:r>
          </a:p>
          <a:p>
            <a:r>
              <a:rPr lang="en-US" dirty="0"/>
              <a:t>We don't need to close the stream using the </a:t>
            </a:r>
            <a:r>
              <a:rPr lang="en-US" b="1" dirty="0">
                <a:solidFill>
                  <a:srgbClr val="7030A0"/>
                </a:solidFill>
              </a:rPr>
              <a:t>close()</a:t>
            </a:r>
            <a:r>
              <a:rPr lang="en-US" dirty="0"/>
              <a:t> method because for deleting a file, we neither use the FileWriter class nor the Scanner class.</a:t>
            </a:r>
            <a:endParaRPr lang="en-IN" b="1" dirty="0">
              <a:solidFill>
                <a:srgbClr val="7030A0"/>
              </a:solidFill>
            </a:endParaRPr>
          </a:p>
        </p:txBody>
      </p:sp>
    </p:spTree>
    <p:extLst>
      <p:ext uri="{BB962C8B-B14F-4D97-AF65-F5344CB8AC3E}">
        <p14:creationId xmlns:p14="http://schemas.microsoft.com/office/powerpoint/2010/main" val="423934578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C2D1-9CB1-F486-BFF0-8F0262CD53E1}"/>
              </a:ext>
            </a:extLst>
          </p:cNvPr>
          <p:cNvSpPr>
            <a:spLocks noGrp="1"/>
          </p:cNvSpPr>
          <p:nvPr>
            <p:ph type="title"/>
          </p:nvPr>
        </p:nvSpPr>
        <p:spPr>
          <a:xfrm>
            <a:off x="838200" y="365125"/>
            <a:ext cx="10515600" cy="3628377"/>
          </a:xfrm>
        </p:spPr>
        <p:txBody>
          <a:bodyPr>
            <a:normAutofit/>
          </a:bodyPr>
          <a:lstStyle/>
          <a:p>
            <a:pPr algn="ctr"/>
            <a:r>
              <a:rPr lang="en-IN" sz="5400" dirty="0">
                <a:solidFill>
                  <a:srgbClr val="7030A0"/>
                </a:solidFill>
              </a:rPr>
              <a:t>Util Packages</a:t>
            </a:r>
          </a:p>
        </p:txBody>
      </p:sp>
      <p:sp>
        <p:nvSpPr>
          <p:cNvPr id="3" name="Content Placeholder 2">
            <a:extLst>
              <a:ext uri="{FF2B5EF4-FFF2-40B4-BE49-F238E27FC236}">
                <a16:creationId xmlns:a16="http://schemas.microsoft.com/office/drawing/2014/main" id="{189AEF08-6749-A561-C020-88C541FC5A27}"/>
              </a:ext>
            </a:extLst>
          </p:cNvPr>
          <p:cNvSpPr>
            <a:spLocks noGrp="1"/>
          </p:cNvSpPr>
          <p:nvPr>
            <p:ph idx="1"/>
          </p:nvPr>
        </p:nvSpPr>
        <p:spPr>
          <a:xfrm>
            <a:off x="1379376" y="3051110"/>
            <a:ext cx="10515600" cy="2379404"/>
          </a:xfrm>
        </p:spPr>
        <p:txBody>
          <a:bodyPr>
            <a:normAutofit/>
          </a:bodyPr>
          <a:lstStyle/>
          <a:p>
            <a:pPr marL="0" indent="0" algn="ctr">
              <a:buNone/>
            </a:pPr>
            <a:r>
              <a:rPr lang="en-IN" sz="5400" b="0" i="0" dirty="0">
                <a:solidFill>
                  <a:srgbClr val="610B38"/>
                </a:solidFill>
                <a:effectLst/>
                <a:latin typeface="erdana"/>
              </a:rPr>
              <a:t>Collections in Java</a:t>
            </a:r>
            <a:endParaRPr lang="en-IN" sz="5400" dirty="0"/>
          </a:p>
        </p:txBody>
      </p:sp>
    </p:spTree>
    <p:extLst>
      <p:ext uri="{BB962C8B-B14F-4D97-AF65-F5344CB8AC3E}">
        <p14:creationId xmlns:p14="http://schemas.microsoft.com/office/powerpoint/2010/main" val="131424827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D7134-613D-DECB-2D20-28F640F393EB}"/>
              </a:ext>
            </a:extLst>
          </p:cNvPr>
          <p:cNvSpPr>
            <a:spLocks noGrp="1"/>
          </p:cNvSpPr>
          <p:nvPr>
            <p:ph idx="1"/>
          </p:nvPr>
        </p:nvSpPr>
        <p:spPr>
          <a:xfrm>
            <a:off x="595604" y="724613"/>
            <a:ext cx="10515600" cy="4351338"/>
          </a:xfrm>
        </p:spPr>
        <p:txBody>
          <a:bodyPr>
            <a:normAutofit fontScale="92500" lnSpcReduction="10000"/>
          </a:bodyPr>
          <a:lstStyle/>
          <a:p>
            <a:pPr marL="0" indent="0">
              <a:buNone/>
            </a:pPr>
            <a:r>
              <a:rPr lang="en-US" b="0" i="0" dirty="0">
                <a:solidFill>
                  <a:srgbClr val="333333"/>
                </a:solidFill>
                <a:effectLst/>
                <a:latin typeface="inter-regular"/>
              </a:rPr>
              <a:t> </a:t>
            </a:r>
            <a:br>
              <a:rPr lang="en-US" dirty="0"/>
            </a:br>
            <a:r>
              <a:rPr lang="en-IN" dirty="0"/>
              <a:t>Collections in java</a:t>
            </a:r>
          </a:p>
          <a:p>
            <a:pPr algn="just"/>
            <a:r>
              <a:rPr lang="en-US" dirty="0">
                <a:solidFill>
                  <a:srgbClr val="333333"/>
                </a:solidFill>
              </a:rPr>
              <a:t>architecture to store and manipulate the group of objects.</a:t>
            </a:r>
          </a:p>
          <a:p>
            <a:pPr algn="just"/>
            <a:r>
              <a:rPr lang="en-US" dirty="0">
                <a:solidFill>
                  <a:srgbClr val="333333"/>
                </a:solidFill>
              </a:rPr>
              <a:t> the operations that you perform on  searching, sorting, insertion, manipulation, and deletion.</a:t>
            </a:r>
          </a:p>
          <a:p>
            <a:r>
              <a:rPr lang="en-US" dirty="0">
                <a:solidFill>
                  <a:srgbClr val="333333"/>
                </a:solidFill>
              </a:rPr>
              <a:t>Java Collection means a single unit of objects</a:t>
            </a:r>
          </a:p>
          <a:p>
            <a:pPr algn="just"/>
            <a:r>
              <a:rPr lang="en-US" b="0" i="0" dirty="0">
                <a:solidFill>
                  <a:srgbClr val="333333"/>
                </a:solidFill>
                <a:effectLst/>
              </a:rPr>
              <a:t>The </a:t>
            </a:r>
            <a:r>
              <a:rPr lang="en-US" b="1" i="0" dirty="0" err="1">
                <a:solidFill>
                  <a:srgbClr val="333333"/>
                </a:solidFill>
                <a:effectLst/>
              </a:rPr>
              <a:t>java.util</a:t>
            </a:r>
            <a:r>
              <a:rPr lang="en-US" b="0" i="0" dirty="0">
                <a:solidFill>
                  <a:srgbClr val="333333"/>
                </a:solidFill>
                <a:effectLst/>
              </a:rPr>
              <a:t> package contains all the </a:t>
            </a:r>
            <a:r>
              <a:rPr lang="en-US" b="0" i="0" u="none" strike="noStrike" dirty="0">
                <a:solidFill>
                  <a:srgbClr val="008000"/>
                </a:solidFill>
                <a:effectLst/>
                <a:hlinkClick r:id="rId2"/>
              </a:rPr>
              <a:t>classes</a:t>
            </a:r>
            <a:r>
              <a:rPr lang="en-US" b="0" i="0" dirty="0">
                <a:solidFill>
                  <a:srgbClr val="333333"/>
                </a:solidFill>
                <a:effectLst/>
              </a:rPr>
              <a:t> and </a:t>
            </a:r>
            <a:r>
              <a:rPr lang="en-US" b="0" i="0" u="none" strike="noStrike" dirty="0">
                <a:solidFill>
                  <a:srgbClr val="008000"/>
                </a:solidFill>
                <a:effectLst/>
                <a:hlinkClick r:id="rId3"/>
              </a:rPr>
              <a:t>interfaces</a:t>
            </a:r>
            <a:r>
              <a:rPr lang="en-US" b="0" i="0" dirty="0">
                <a:solidFill>
                  <a:srgbClr val="333333"/>
                </a:solidFill>
                <a:effectLst/>
              </a:rPr>
              <a:t> for the Collection framework.</a:t>
            </a:r>
          </a:p>
          <a:p>
            <a:pPr marL="0" indent="0">
              <a:buNone/>
            </a:pPr>
            <a:br>
              <a:rPr lang="en-US" dirty="0"/>
            </a:br>
            <a:br>
              <a:rPr lang="en-US" dirty="0"/>
            </a:br>
            <a:endParaRPr lang="en-IN" dirty="0"/>
          </a:p>
        </p:txBody>
      </p:sp>
    </p:spTree>
    <p:extLst>
      <p:ext uri="{BB962C8B-B14F-4D97-AF65-F5344CB8AC3E}">
        <p14:creationId xmlns:p14="http://schemas.microsoft.com/office/powerpoint/2010/main" val="396306245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DEE4-2927-8452-176B-268A0B5FC4B1}"/>
              </a:ext>
            </a:extLst>
          </p:cNvPr>
          <p:cNvSpPr>
            <a:spLocks noGrp="1"/>
          </p:cNvSpPr>
          <p:nvPr>
            <p:ph type="title"/>
          </p:nvPr>
        </p:nvSpPr>
        <p:spPr>
          <a:xfrm>
            <a:off x="838200" y="365126"/>
            <a:ext cx="6281057" cy="931830"/>
          </a:xfrm>
        </p:spPr>
        <p:txBody>
          <a:bodyPr>
            <a:normAutofit/>
          </a:bodyPr>
          <a:lstStyle/>
          <a:p>
            <a:r>
              <a:rPr lang="en-IN" sz="3200" dirty="0"/>
              <a:t>Advantages of collections</a:t>
            </a:r>
          </a:p>
        </p:txBody>
      </p:sp>
      <p:sp>
        <p:nvSpPr>
          <p:cNvPr id="3" name="Content Placeholder 2">
            <a:extLst>
              <a:ext uri="{FF2B5EF4-FFF2-40B4-BE49-F238E27FC236}">
                <a16:creationId xmlns:a16="http://schemas.microsoft.com/office/drawing/2014/main" id="{D0BB7EA0-8999-0695-B82C-570E1F3E79D8}"/>
              </a:ext>
            </a:extLst>
          </p:cNvPr>
          <p:cNvSpPr>
            <a:spLocks noGrp="1"/>
          </p:cNvSpPr>
          <p:nvPr>
            <p:ph idx="1"/>
          </p:nvPr>
        </p:nvSpPr>
        <p:spPr>
          <a:xfrm>
            <a:off x="838200" y="1287625"/>
            <a:ext cx="10515600" cy="4880007"/>
          </a:xfrm>
        </p:spPr>
        <p:txBody>
          <a:bodyPr/>
          <a:lstStyle/>
          <a:p>
            <a:r>
              <a:rPr lang="en-IN" sz="3000" i="0" dirty="0">
                <a:solidFill>
                  <a:srgbClr val="202124"/>
                </a:solidFill>
                <a:effectLst/>
              </a:rPr>
              <a:t>Reduces programming effort</a:t>
            </a:r>
          </a:p>
          <a:p>
            <a:r>
              <a:rPr lang="en-IN" b="0" i="0" dirty="0">
                <a:solidFill>
                  <a:srgbClr val="202124"/>
                </a:solidFill>
                <a:effectLst/>
                <a:latin typeface="arial" panose="020B0604020202020204" pitchFamily="34" charset="0"/>
              </a:rPr>
              <a:t>Reusability and Interoperability</a:t>
            </a:r>
          </a:p>
          <a:p>
            <a:r>
              <a:rPr lang="en-IN" b="0" i="0" dirty="0">
                <a:solidFill>
                  <a:srgbClr val="202124"/>
                </a:solidFill>
                <a:effectLst/>
                <a:latin typeface="arial" panose="020B0604020202020204" pitchFamily="34" charset="0"/>
              </a:rPr>
              <a:t>Increases performance</a:t>
            </a:r>
            <a:endParaRPr lang="en-IN" dirty="0">
              <a:solidFill>
                <a:srgbClr val="202124"/>
              </a:solidFill>
              <a:latin typeface="arial" panose="020B0604020202020204" pitchFamily="34" charset="0"/>
            </a:endParaRPr>
          </a:p>
          <a:p>
            <a:r>
              <a:rPr lang="en-US" b="0" i="0" dirty="0">
                <a:solidFill>
                  <a:srgbClr val="202124"/>
                </a:solidFill>
                <a:effectLst/>
                <a:latin typeface="arial" panose="020B0604020202020204" pitchFamily="34" charset="0"/>
              </a:rPr>
              <a:t>Increases program speed and quality</a:t>
            </a:r>
            <a:endParaRPr lang="en-IN" dirty="0"/>
          </a:p>
        </p:txBody>
      </p:sp>
    </p:spTree>
    <p:extLst>
      <p:ext uri="{BB962C8B-B14F-4D97-AF65-F5344CB8AC3E}">
        <p14:creationId xmlns:p14="http://schemas.microsoft.com/office/powerpoint/2010/main" val="105714929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5D85-ED0F-207E-633A-3C50B5EFA00C}"/>
              </a:ext>
            </a:extLst>
          </p:cNvPr>
          <p:cNvSpPr>
            <a:spLocks noGrp="1"/>
          </p:cNvSpPr>
          <p:nvPr>
            <p:ph type="title"/>
          </p:nvPr>
        </p:nvSpPr>
        <p:spPr>
          <a:xfrm>
            <a:off x="838200" y="365125"/>
            <a:ext cx="10515600" cy="735887"/>
          </a:xfrm>
        </p:spPr>
        <p:txBody>
          <a:bodyPr>
            <a:normAutofit/>
          </a:bodyPr>
          <a:lstStyle/>
          <a:p>
            <a:r>
              <a:rPr lang="en-IN" b="0" i="0" dirty="0">
                <a:solidFill>
                  <a:srgbClr val="610B38"/>
                </a:solidFill>
                <a:effectLst/>
                <a:latin typeface="erdana"/>
              </a:rPr>
              <a:t>Hierarchy of Collection Framework</a:t>
            </a:r>
            <a:endParaRPr lang="en-IN" dirty="0"/>
          </a:p>
        </p:txBody>
      </p:sp>
      <p:sp>
        <p:nvSpPr>
          <p:cNvPr id="6" name="Rectangle 5">
            <a:extLst>
              <a:ext uri="{FF2B5EF4-FFF2-40B4-BE49-F238E27FC236}">
                <a16:creationId xmlns:a16="http://schemas.microsoft.com/office/drawing/2014/main" id="{52F1C757-E642-CE21-1151-14A54174809E}"/>
              </a:ext>
            </a:extLst>
          </p:cNvPr>
          <p:cNvSpPr/>
          <p:nvPr/>
        </p:nvSpPr>
        <p:spPr>
          <a:xfrm>
            <a:off x="3247053" y="1894114"/>
            <a:ext cx="4422710" cy="979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Algerian" panose="04020705040A02060702" pitchFamily="82" charset="0"/>
              </a:rPr>
              <a:t>COLLECTIONS</a:t>
            </a:r>
          </a:p>
        </p:txBody>
      </p:sp>
      <p:cxnSp>
        <p:nvCxnSpPr>
          <p:cNvPr id="8" name="Straight Connector 7">
            <a:extLst>
              <a:ext uri="{FF2B5EF4-FFF2-40B4-BE49-F238E27FC236}">
                <a16:creationId xmlns:a16="http://schemas.microsoft.com/office/drawing/2014/main" id="{798124A7-72D9-5F14-5E73-58B88951EF60}"/>
              </a:ext>
            </a:extLst>
          </p:cNvPr>
          <p:cNvCxnSpPr>
            <a:cxnSpLocks/>
            <a:endCxn id="9" idx="0"/>
          </p:cNvCxnSpPr>
          <p:nvPr/>
        </p:nvCxnSpPr>
        <p:spPr>
          <a:xfrm flipH="1">
            <a:off x="1634997" y="2873828"/>
            <a:ext cx="1975950" cy="118498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DA59B492-1B51-2E1B-FB85-2E7703B17A9F}"/>
              </a:ext>
            </a:extLst>
          </p:cNvPr>
          <p:cNvSpPr/>
          <p:nvPr/>
        </p:nvSpPr>
        <p:spPr>
          <a:xfrm>
            <a:off x="699409" y="4058816"/>
            <a:ext cx="1871175" cy="7712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LIST</a:t>
            </a:r>
          </a:p>
        </p:txBody>
      </p:sp>
      <p:cxnSp>
        <p:nvCxnSpPr>
          <p:cNvPr id="11" name="Straight Connector 10">
            <a:extLst>
              <a:ext uri="{FF2B5EF4-FFF2-40B4-BE49-F238E27FC236}">
                <a16:creationId xmlns:a16="http://schemas.microsoft.com/office/drawing/2014/main" id="{984E0CAC-938F-6E67-A9D7-5AD86EB8AD1B}"/>
              </a:ext>
            </a:extLst>
          </p:cNvPr>
          <p:cNvCxnSpPr>
            <a:cxnSpLocks/>
          </p:cNvCxnSpPr>
          <p:nvPr/>
        </p:nvCxnSpPr>
        <p:spPr>
          <a:xfrm flipH="1">
            <a:off x="3387012" y="2873828"/>
            <a:ext cx="1194319" cy="236680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19710E2-A681-7953-A74C-52BE76562EBF}"/>
              </a:ext>
            </a:extLst>
          </p:cNvPr>
          <p:cNvSpPr/>
          <p:nvPr/>
        </p:nvSpPr>
        <p:spPr>
          <a:xfrm>
            <a:off x="2300386" y="5240629"/>
            <a:ext cx="1642188"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SET</a:t>
            </a:r>
          </a:p>
        </p:txBody>
      </p:sp>
      <p:cxnSp>
        <p:nvCxnSpPr>
          <p:cNvPr id="14" name="Straight Connector 13">
            <a:extLst>
              <a:ext uri="{FF2B5EF4-FFF2-40B4-BE49-F238E27FC236}">
                <a16:creationId xmlns:a16="http://schemas.microsoft.com/office/drawing/2014/main" id="{C24BE21A-00AA-9F70-7CF6-3DC9EB60F097}"/>
              </a:ext>
            </a:extLst>
          </p:cNvPr>
          <p:cNvCxnSpPr>
            <a:cxnSpLocks/>
            <a:stCxn id="6" idx="2"/>
            <a:endCxn id="15" idx="0"/>
          </p:cNvCxnSpPr>
          <p:nvPr/>
        </p:nvCxnSpPr>
        <p:spPr>
          <a:xfrm>
            <a:off x="5458408" y="2873828"/>
            <a:ext cx="79307" cy="2612572"/>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D3EBB86-4263-9D6E-4DD8-C1CBFE2D2ABD}"/>
              </a:ext>
            </a:extLst>
          </p:cNvPr>
          <p:cNvSpPr/>
          <p:nvPr/>
        </p:nvSpPr>
        <p:spPr>
          <a:xfrm>
            <a:off x="4721286" y="5486400"/>
            <a:ext cx="1632857"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MAP</a:t>
            </a:r>
          </a:p>
        </p:txBody>
      </p:sp>
      <p:cxnSp>
        <p:nvCxnSpPr>
          <p:cNvPr id="17" name="Straight Connector 16">
            <a:extLst>
              <a:ext uri="{FF2B5EF4-FFF2-40B4-BE49-F238E27FC236}">
                <a16:creationId xmlns:a16="http://schemas.microsoft.com/office/drawing/2014/main" id="{77DB7F28-5690-CF17-95D6-E4EA6CFF603E}"/>
              </a:ext>
            </a:extLst>
          </p:cNvPr>
          <p:cNvCxnSpPr>
            <a:cxnSpLocks/>
          </p:cNvCxnSpPr>
          <p:nvPr/>
        </p:nvCxnSpPr>
        <p:spPr>
          <a:xfrm>
            <a:off x="6652727" y="2873828"/>
            <a:ext cx="1520889" cy="2612572"/>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D5B2102-89FB-FA51-46DE-25DD5C5E99F4}"/>
              </a:ext>
            </a:extLst>
          </p:cNvPr>
          <p:cNvSpPr/>
          <p:nvPr/>
        </p:nvSpPr>
        <p:spPr>
          <a:xfrm>
            <a:off x="7263876" y="5458407"/>
            <a:ext cx="2155374"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STACK</a:t>
            </a:r>
          </a:p>
        </p:txBody>
      </p:sp>
      <p:cxnSp>
        <p:nvCxnSpPr>
          <p:cNvPr id="20" name="Straight Connector 19">
            <a:extLst>
              <a:ext uri="{FF2B5EF4-FFF2-40B4-BE49-F238E27FC236}">
                <a16:creationId xmlns:a16="http://schemas.microsoft.com/office/drawing/2014/main" id="{1B4ED5F1-F8C5-1132-8103-7208B32D69AF}"/>
              </a:ext>
            </a:extLst>
          </p:cNvPr>
          <p:cNvCxnSpPr>
            <a:cxnSpLocks/>
            <a:endCxn id="21" idx="0"/>
          </p:cNvCxnSpPr>
          <p:nvPr/>
        </p:nvCxnSpPr>
        <p:spPr>
          <a:xfrm>
            <a:off x="7299844" y="2873828"/>
            <a:ext cx="2224764" cy="1349764"/>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F74DC774-2927-F97F-ADE4-309A4A656D6B}"/>
              </a:ext>
            </a:extLst>
          </p:cNvPr>
          <p:cNvSpPr/>
          <p:nvPr/>
        </p:nvSpPr>
        <p:spPr>
          <a:xfrm>
            <a:off x="8492213" y="4223592"/>
            <a:ext cx="2064790"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QUEUE</a:t>
            </a:r>
          </a:p>
        </p:txBody>
      </p:sp>
    </p:spTree>
    <p:extLst>
      <p:ext uri="{BB962C8B-B14F-4D97-AF65-F5344CB8AC3E}">
        <p14:creationId xmlns:p14="http://schemas.microsoft.com/office/powerpoint/2010/main" val="401353013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3D889-6E44-A79A-7ACE-96F09DF8B1A3}"/>
              </a:ext>
            </a:extLst>
          </p:cNvPr>
          <p:cNvSpPr>
            <a:spLocks noGrp="1"/>
          </p:cNvSpPr>
          <p:nvPr>
            <p:ph idx="1"/>
          </p:nvPr>
        </p:nvSpPr>
        <p:spPr>
          <a:xfrm>
            <a:off x="838200" y="578498"/>
            <a:ext cx="10515600" cy="5598465"/>
          </a:xfrm>
        </p:spPr>
        <p:txBody>
          <a:bodyPr/>
          <a:lstStyle/>
          <a:p>
            <a:pPr marL="0" indent="0">
              <a:buNone/>
            </a:pPr>
            <a:r>
              <a:rPr lang="en-US" b="1" dirty="0">
                <a:solidFill>
                  <a:srgbClr val="7030A0"/>
                </a:solidFill>
              </a:rPr>
              <a:t>List in Java</a:t>
            </a:r>
            <a:endParaRPr lang="en-US" b="1" i="0" dirty="0">
              <a:solidFill>
                <a:srgbClr val="7030A0"/>
              </a:solidFill>
              <a:effectLst/>
            </a:endParaRPr>
          </a:p>
          <a:p>
            <a:pPr>
              <a:lnSpc>
                <a:spcPct val="100000"/>
              </a:lnSpc>
            </a:pPr>
            <a:r>
              <a:rPr lang="en-US" b="0" i="0" dirty="0">
                <a:solidFill>
                  <a:srgbClr val="202124"/>
                </a:solidFill>
                <a:effectLst/>
              </a:rPr>
              <a:t>A  list interface is </a:t>
            </a:r>
            <a:r>
              <a:rPr lang="en-US" b="1" i="0" dirty="0">
                <a:solidFill>
                  <a:srgbClr val="7030A0"/>
                </a:solidFill>
                <a:effectLst/>
              </a:rPr>
              <a:t>an ordered collection of objects in which duplicate values can be stored.</a:t>
            </a:r>
          </a:p>
          <a:p>
            <a:pPr>
              <a:lnSpc>
                <a:spcPct val="100000"/>
              </a:lnSpc>
            </a:pPr>
            <a:r>
              <a:rPr lang="en-US" b="0" i="0" dirty="0">
                <a:solidFill>
                  <a:srgbClr val="202124"/>
                </a:solidFill>
                <a:effectLst/>
              </a:rPr>
              <a:t> Since a </a:t>
            </a:r>
            <a:r>
              <a:rPr lang="en-US" b="1" i="0" dirty="0">
                <a:solidFill>
                  <a:srgbClr val="7030A0"/>
                </a:solidFill>
                <a:effectLst/>
              </a:rPr>
              <a:t>List preserves the insertion order, it allows positional access and insertion of elements.</a:t>
            </a:r>
          </a:p>
          <a:p>
            <a:pPr marL="0" indent="0">
              <a:lnSpc>
                <a:spcPct val="100000"/>
              </a:lnSpc>
              <a:buNone/>
            </a:pPr>
            <a:r>
              <a:rPr lang="en-US" b="1" dirty="0">
                <a:solidFill>
                  <a:srgbClr val="7030A0"/>
                </a:solidFill>
              </a:rPr>
              <a:t>Types of Lists</a:t>
            </a:r>
          </a:p>
          <a:p>
            <a:pPr marL="514350" indent="-514350">
              <a:lnSpc>
                <a:spcPct val="100000"/>
              </a:lnSpc>
              <a:buFont typeface="+mj-lt"/>
              <a:buAutoNum type="arabicPeriod"/>
            </a:pPr>
            <a:r>
              <a:rPr lang="en-IN" i="0" dirty="0" err="1">
                <a:solidFill>
                  <a:srgbClr val="202124"/>
                </a:solidFill>
                <a:effectLst/>
              </a:rPr>
              <a:t>ArrayList</a:t>
            </a:r>
            <a:r>
              <a:rPr lang="en-IN" dirty="0">
                <a:solidFill>
                  <a:srgbClr val="202124"/>
                </a:solidFill>
              </a:rPr>
              <a:t>.</a:t>
            </a:r>
          </a:p>
          <a:p>
            <a:pPr marL="514350" indent="-514350">
              <a:lnSpc>
                <a:spcPct val="100000"/>
              </a:lnSpc>
              <a:buFont typeface="+mj-lt"/>
              <a:buAutoNum type="arabicPeriod"/>
            </a:pPr>
            <a:r>
              <a:rPr lang="en-IN" i="0" dirty="0">
                <a:solidFill>
                  <a:srgbClr val="202124"/>
                </a:solidFill>
                <a:effectLst/>
              </a:rPr>
              <a:t>LinkedList.</a:t>
            </a:r>
          </a:p>
          <a:p>
            <a:pPr marL="514350" indent="-514350">
              <a:lnSpc>
                <a:spcPct val="100000"/>
              </a:lnSpc>
              <a:buFont typeface="+mj-lt"/>
              <a:buAutoNum type="arabicPeriod"/>
            </a:pPr>
            <a:r>
              <a:rPr lang="en-IN" i="0" dirty="0" err="1">
                <a:solidFill>
                  <a:srgbClr val="202124"/>
                </a:solidFill>
                <a:effectLst/>
              </a:rPr>
              <a:t>Vector</a:t>
            </a:r>
            <a:r>
              <a:rPr lang="en-IN" dirty="0" err="1">
                <a:solidFill>
                  <a:srgbClr val="202124"/>
                </a:solidFill>
              </a:rPr>
              <a:t>List</a:t>
            </a:r>
            <a:endParaRPr lang="en-IN" i="0" dirty="0">
              <a:solidFill>
                <a:srgbClr val="202124"/>
              </a:solidFill>
              <a:effectLst/>
            </a:endParaRPr>
          </a:p>
          <a:p>
            <a:pPr marL="0" indent="0">
              <a:lnSpc>
                <a:spcPct val="100000"/>
              </a:lnSpc>
              <a:buNone/>
            </a:pPr>
            <a:endParaRPr lang="en-IN" b="1" dirty="0">
              <a:solidFill>
                <a:srgbClr val="7030A0"/>
              </a:solidFill>
            </a:endParaRPr>
          </a:p>
        </p:txBody>
      </p:sp>
    </p:spTree>
    <p:extLst>
      <p:ext uri="{BB962C8B-B14F-4D97-AF65-F5344CB8AC3E}">
        <p14:creationId xmlns:p14="http://schemas.microsoft.com/office/powerpoint/2010/main" val="126061661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noAutofit/>
          </a:bodyPr>
          <a:lstStyle/>
          <a:p>
            <a:pPr marL="0" indent="0">
              <a:buNone/>
            </a:pPr>
            <a:r>
              <a:rPr lang="en-IN" sz="3000" b="1" dirty="0">
                <a:solidFill>
                  <a:srgbClr val="7030A0"/>
                </a:solidFill>
              </a:rPr>
              <a:t>ArrayList</a:t>
            </a:r>
          </a:p>
          <a:p>
            <a:r>
              <a:rPr lang="en-US" sz="3000" dirty="0"/>
              <a:t>The ArrayList class implements the </a:t>
            </a:r>
            <a:r>
              <a:rPr lang="en-US" sz="3000" dirty="0">
                <a:solidFill>
                  <a:srgbClr val="7030A0"/>
                </a:solidFill>
              </a:rPr>
              <a:t>List interface</a:t>
            </a:r>
            <a:r>
              <a:rPr lang="en-US" sz="3000" dirty="0"/>
              <a:t>. </a:t>
            </a:r>
          </a:p>
          <a:p>
            <a:r>
              <a:rPr lang="en-US" sz="3000" dirty="0"/>
              <a:t>It uses a dynamic array to store the </a:t>
            </a:r>
            <a:r>
              <a:rPr lang="en-US" sz="3000" dirty="0">
                <a:solidFill>
                  <a:srgbClr val="7030A0"/>
                </a:solidFill>
              </a:rPr>
              <a:t>duplicate element .</a:t>
            </a:r>
          </a:p>
          <a:p>
            <a:r>
              <a:rPr lang="en-US" sz="3000" dirty="0"/>
              <a:t> The ArrayList class </a:t>
            </a:r>
            <a:r>
              <a:rPr lang="en-US" sz="3000" dirty="0">
                <a:solidFill>
                  <a:srgbClr val="7030A0"/>
                </a:solidFill>
              </a:rPr>
              <a:t>maintains the insertion order </a:t>
            </a:r>
            <a:r>
              <a:rPr lang="en-US" sz="3000" dirty="0"/>
              <a:t>and is non-synchronized.</a:t>
            </a:r>
          </a:p>
          <a:p>
            <a:r>
              <a:rPr lang="en-US" sz="3000" dirty="0"/>
              <a:t> The elements stored in the ArrayList class can be </a:t>
            </a:r>
            <a:r>
              <a:rPr lang="en-US" sz="3000" dirty="0">
                <a:solidFill>
                  <a:srgbClr val="7030A0"/>
                </a:solidFill>
              </a:rPr>
              <a:t>randomly accessed </a:t>
            </a:r>
            <a:r>
              <a:rPr lang="en-US" sz="3000" b="0" i="0" dirty="0">
                <a:solidFill>
                  <a:srgbClr val="7030A0"/>
                </a:solidFill>
                <a:effectLst/>
                <a:latin typeface="Calibri" panose="020F0502020204030204" pitchFamily="34" charset="0"/>
                <a:cs typeface="Calibri" panose="020F0502020204030204" pitchFamily="34" charset="0"/>
              </a:rPr>
              <a:t>because the array works on an index basis.</a:t>
            </a:r>
          </a:p>
          <a:p>
            <a:pPr algn="just">
              <a:buFont typeface="Arial" panose="020B0604020202020204" pitchFamily="34" charset="0"/>
              <a:buChar char="•"/>
            </a:pPr>
            <a:r>
              <a:rPr lang="en-US" sz="3000" b="0" i="0" dirty="0">
                <a:solidFill>
                  <a:srgbClr val="000000"/>
                </a:solidFill>
                <a:effectLst/>
                <a:latin typeface="inter-regular"/>
              </a:rPr>
              <a:t>It little bit </a:t>
            </a:r>
            <a:r>
              <a:rPr lang="en-US" sz="3000" b="0" i="0" dirty="0">
                <a:solidFill>
                  <a:srgbClr val="7030A0"/>
                </a:solidFill>
                <a:effectLst/>
                <a:latin typeface="inter-regular"/>
              </a:rPr>
              <a:t>slower than the LinkedList </a:t>
            </a:r>
            <a:r>
              <a:rPr lang="en-US" sz="3000" b="0" i="0" dirty="0">
                <a:solidFill>
                  <a:srgbClr val="000000"/>
                </a:solidFill>
                <a:effectLst/>
                <a:latin typeface="inter-regular"/>
              </a:rPr>
              <a:t>in Java because a lot of shifting needs to occur if any element is removed from the array list.</a:t>
            </a:r>
          </a:p>
          <a:p>
            <a:pPr marL="0" indent="0">
              <a:buNone/>
            </a:pPr>
            <a:br>
              <a:rPr lang="en-US" sz="3000" dirty="0"/>
            </a:br>
            <a:endParaRPr lang="en-IN" sz="3000" b="1" dirty="0">
              <a:solidFill>
                <a:srgbClr val="7030A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308504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17BEA-2623-9494-68A7-A9CE4085EBF5}"/>
              </a:ext>
            </a:extLst>
          </p:cNvPr>
          <p:cNvSpPr>
            <a:spLocks noGrp="1"/>
          </p:cNvSpPr>
          <p:nvPr>
            <p:ph idx="1"/>
          </p:nvPr>
        </p:nvSpPr>
        <p:spPr>
          <a:xfrm>
            <a:off x="838200" y="541176"/>
            <a:ext cx="10515600" cy="5654448"/>
          </a:xfrm>
        </p:spPr>
        <p:txBody>
          <a:bodyPr/>
          <a:lstStyle/>
          <a:p>
            <a:pPr marL="0" indent="0">
              <a:lnSpc>
                <a:spcPct val="200000"/>
              </a:lnSpc>
              <a:buNone/>
            </a:pPr>
            <a:r>
              <a:rPr lang="en-IN" b="1" dirty="0">
                <a:solidFill>
                  <a:srgbClr val="7030A0"/>
                </a:solidFill>
              </a:rPr>
              <a:t>Syntax for </a:t>
            </a:r>
            <a:r>
              <a:rPr lang="en-IN" b="1" dirty="0" err="1">
                <a:solidFill>
                  <a:srgbClr val="7030A0"/>
                </a:solidFill>
              </a:rPr>
              <a:t>ArrayList</a:t>
            </a:r>
            <a:endParaRPr lang="en-IN" b="1" dirty="0">
              <a:solidFill>
                <a:srgbClr val="7030A0"/>
              </a:solidFill>
            </a:endParaRPr>
          </a:p>
          <a:p>
            <a:pPr>
              <a:lnSpc>
                <a:spcPct val="200000"/>
              </a:lnSpc>
            </a:pPr>
            <a:r>
              <a:rPr lang="en-US" b="0" i="0" dirty="0" err="1">
                <a:solidFill>
                  <a:srgbClr val="000000"/>
                </a:solidFill>
                <a:effectLst/>
              </a:rPr>
              <a:t>ArrayList</a:t>
            </a:r>
            <a:r>
              <a:rPr lang="en-US" b="0" i="0" dirty="0">
                <a:solidFill>
                  <a:srgbClr val="000000"/>
                </a:solidFill>
                <a:effectLst/>
              </a:rPr>
              <a:t> &lt;</a:t>
            </a:r>
            <a:r>
              <a:rPr lang="en-US" b="0" i="0" dirty="0">
                <a:solidFill>
                  <a:srgbClr val="000000"/>
                </a:solidFill>
                <a:effectLst/>
                <a:latin typeface="inter-regular"/>
              </a:rPr>
              <a:t> Object </a:t>
            </a:r>
            <a:r>
              <a:rPr lang="en-US" b="0" i="0" dirty="0">
                <a:solidFill>
                  <a:srgbClr val="000000"/>
                </a:solidFill>
                <a:effectLst/>
              </a:rPr>
              <a:t>&gt;  Variable =</a:t>
            </a:r>
            <a:r>
              <a:rPr lang="en-US" dirty="0">
                <a:solidFill>
                  <a:srgbClr val="000000"/>
                </a:solidFill>
              </a:rPr>
              <a:t> </a:t>
            </a:r>
            <a:r>
              <a:rPr lang="en-US" b="1" i="0" dirty="0">
                <a:solidFill>
                  <a:srgbClr val="006699"/>
                </a:solidFill>
                <a:effectLst/>
              </a:rPr>
              <a:t>new</a:t>
            </a:r>
            <a:r>
              <a:rPr lang="en-US" b="0" i="0" dirty="0">
                <a:solidFill>
                  <a:srgbClr val="000000"/>
                </a:solidFill>
                <a:effectLst/>
              </a:rPr>
              <a:t>  </a:t>
            </a:r>
            <a:r>
              <a:rPr lang="en-US" b="0" i="0" dirty="0" err="1">
                <a:solidFill>
                  <a:srgbClr val="000000"/>
                </a:solidFill>
                <a:effectLst/>
              </a:rPr>
              <a:t>ArrayList</a:t>
            </a:r>
            <a:r>
              <a:rPr lang="en-US" b="0" i="0" dirty="0">
                <a:solidFill>
                  <a:srgbClr val="000000"/>
                </a:solidFill>
                <a:effectLst/>
              </a:rPr>
              <a:t> &lt;Object&gt;  (); </a:t>
            </a:r>
            <a:endParaRPr lang="en-IN" dirty="0"/>
          </a:p>
          <a:p>
            <a:endParaRPr lang="en-IN" dirty="0"/>
          </a:p>
        </p:txBody>
      </p:sp>
    </p:spTree>
    <p:extLst>
      <p:ext uri="{BB962C8B-B14F-4D97-AF65-F5344CB8AC3E}">
        <p14:creationId xmlns:p14="http://schemas.microsoft.com/office/powerpoint/2010/main" val="232006444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317FD7-F4AD-E8E3-3E1B-46731B9B0FA0}"/>
              </a:ext>
            </a:extLst>
          </p:cNvPr>
          <p:cNvSpPr>
            <a:spLocks noGrp="1"/>
          </p:cNvSpPr>
          <p:nvPr>
            <p:ph idx="1"/>
          </p:nvPr>
        </p:nvSpPr>
        <p:spPr>
          <a:xfrm>
            <a:off x="838200" y="513184"/>
            <a:ext cx="10515600" cy="5663779"/>
          </a:xfrm>
        </p:spPr>
        <p:txBody>
          <a:bodyPr/>
          <a:lstStyle/>
          <a:p>
            <a:r>
              <a:rPr lang="en-IN" dirty="0"/>
              <a:t>Difference </a:t>
            </a:r>
            <a:r>
              <a:rPr lang="en-US" dirty="0"/>
              <a:t>between array and </a:t>
            </a:r>
            <a:r>
              <a:rPr lang="en-US" dirty="0" err="1"/>
              <a:t>arraylist</a:t>
            </a:r>
            <a:endParaRPr lang="en-US" dirty="0"/>
          </a:p>
          <a:p>
            <a:pPr marL="0" indent="0">
              <a:buNone/>
            </a:pPr>
            <a:endParaRPr lang="en-IN" dirty="0"/>
          </a:p>
        </p:txBody>
      </p:sp>
      <p:pic>
        <p:nvPicPr>
          <p:cNvPr id="9" name="Picture 8">
            <a:extLst>
              <a:ext uri="{FF2B5EF4-FFF2-40B4-BE49-F238E27FC236}">
                <a16:creationId xmlns:a16="http://schemas.microsoft.com/office/drawing/2014/main" id="{8725C82E-A233-51AB-EC57-422075EAC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458" y="1267450"/>
            <a:ext cx="9507894" cy="4635089"/>
          </a:xfrm>
          <a:prstGeom prst="rect">
            <a:avLst/>
          </a:prstGeom>
        </p:spPr>
      </p:pic>
      <p:sp>
        <p:nvSpPr>
          <p:cNvPr id="11" name="Rectangle 10">
            <a:extLst>
              <a:ext uri="{FF2B5EF4-FFF2-40B4-BE49-F238E27FC236}">
                <a16:creationId xmlns:a16="http://schemas.microsoft.com/office/drawing/2014/main" id="{4394890F-53E7-43A3-C529-5813D3019700}"/>
              </a:ext>
            </a:extLst>
          </p:cNvPr>
          <p:cNvSpPr/>
          <p:nvPr/>
        </p:nvSpPr>
        <p:spPr>
          <a:xfrm>
            <a:off x="718458" y="1267450"/>
            <a:ext cx="998375" cy="524028"/>
          </a:xfrm>
          <a:prstGeom prst="rect">
            <a:avLst/>
          </a:prstGeom>
          <a:solidFill>
            <a:schemeClr val="accent1">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560549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60649"/>
            <a:ext cx="8229600" cy="5865515"/>
          </a:xfrm>
        </p:spPr>
        <p:txBody>
          <a:bodyPr>
            <a:normAutofit/>
          </a:bodyPr>
          <a:lstStyle/>
          <a:p>
            <a:pPr marL="0" indent="0">
              <a:buNone/>
            </a:pPr>
            <a:r>
              <a:rPr lang="en-IN" b="1" dirty="0">
                <a:solidFill>
                  <a:srgbClr val="7030A0"/>
                </a:solidFill>
              </a:rPr>
              <a:t>LinkedList</a:t>
            </a:r>
          </a:p>
          <a:p>
            <a:r>
              <a:rPr lang="en-US" sz="3000" dirty="0"/>
              <a:t>LinkedList implements the </a:t>
            </a:r>
            <a:r>
              <a:rPr lang="en-US" sz="3000" dirty="0">
                <a:solidFill>
                  <a:srgbClr val="7030A0"/>
                </a:solidFill>
              </a:rPr>
              <a:t>Collection interface. </a:t>
            </a:r>
            <a:r>
              <a:rPr lang="en-US" sz="3000" dirty="0"/>
              <a:t>It uses a doubly linked list internally to store the elements.</a:t>
            </a:r>
          </a:p>
          <a:p>
            <a:r>
              <a:rPr lang="en-US" sz="3000" dirty="0"/>
              <a:t> It can </a:t>
            </a:r>
            <a:r>
              <a:rPr lang="en-US" sz="3000" dirty="0">
                <a:solidFill>
                  <a:srgbClr val="7030A0"/>
                </a:solidFill>
              </a:rPr>
              <a:t>store</a:t>
            </a:r>
            <a:r>
              <a:rPr lang="en-US" sz="3000" dirty="0"/>
              <a:t> </a:t>
            </a:r>
            <a:r>
              <a:rPr lang="en-US" sz="3000" dirty="0">
                <a:solidFill>
                  <a:srgbClr val="7030A0"/>
                </a:solidFill>
              </a:rPr>
              <a:t>the duplicate elements</a:t>
            </a:r>
            <a:r>
              <a:rPr lang="en-US" sz="3000" dirty="0"/>
              <a:t>. </a:t>
            </a:r>
          </a:p>
          <a:p>
            <a:r>
              <a:rPr lang="en-US" sz="3000" dirty="0"/>
              <a:t>It maintains the insertion order and is not synchronized. </a:t>
            </a:r>
          </a:p>
          <a:p>
            <a:r>
              <a:rPr lang="en-US" sz="3000" dirty="0"/>
              <a:t>In LinkedList, </a:t>
            </a:r>
            <a:r>
              <a:rPr lang="en-US" sz="3000" dirty="0">
                <a:solidFill>
                  <a:srgbClr val="7030A0"/>
                </a:solidFill>
              </a:rPr>
              <a:t>the manipulation is fast because no shifting is required</a:t>
            </a:r>
            <a:r>
              <a:rPr lang="en-US" dirty="0"/>
              <a:t>.</a:t>
            </a:r>
          </a:p>
          <a:p>
            <a:pPr algn="just">
              <a:buFont typeface="Arial" panose="020B0604020202020204" pitchFamily="34" charset="0"/>
              <a:buChar char="•"/>
            </a:pPr>
            <a:r>
              <a:rPr lang="en-US" b="0" i="0" dirty="0">
                <a:solidFill>
                  <a:srgbClr val="000000"/>
                </a:solidFill>
                <a:effectLst/>
                <a:latin typeface="inter-regular"/>
              </a:rPr>
              <a:t>Java LinkedList class can be </a:t>
            </a:r>
            <a:r>
              <a:rPr lang="en-US" b="0" i="0" dirty="0">
                <a:solidFill>
                  <a:srgbClr val="7030A0"/>
                </a:solidFill>
                <a:effectLst/>
                <a:latin typeface="inter-regular"/>
              </a:rPr>
              <a:t>used as a list</a:t>
            </a:r>
            <a:r>
              <a:rPr lang="en-US" b="0" i="0" dirty="0">
                <a:solidFill>
                  <a:srgbClr val="000000"/>
                </a:solidFill>
                <a:effectLst/>
                <a:latin typeface="inter-regular"/>
              </a:rPr>
              <a:t>, </a:t>
            </a:r>
            <a:r>
              <a:rPr lang="en-US" b="0" i="0" dirty="0">
                <a:solidFill>
                  <a:srgbClr val="7030A0"/>
                </a:solidFill>
                <a:effectLst/>
                <a:latin typeface="inter-regular"/>
              </a:rPr>
              <a:t>stack or queue.</a:t>
            </a:r>
            <a:endParaRPr lang="en-IN" b="1" dirty="0">
              <a:solidFill>
                <a:srgbClr val="7030A0"/>
              </a:solidFill>
            </a:endParaRPr>
          </a:p>
          <a:p>
            <a:endParaRPr lang="en-IN" b="1" dirty="0">
              <a:solidFill>
                <a:srgbClr val="7030A0"/>
              </a:solidFill>
            </a:endParaRPr>
          </a:p>
        </p:txBody>
      </p:sp>
    </p:spTree>
    <p:extLst>
      <p:ext uri="{BB962C8B-B14F-4D97-AF65-F5344CB8AC3E}">
        <p14:creationId xmlns:p14="http://schemas.microsoft.com/office/powerpoint/2010/main" val="41129900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AC2BD-9E41-7427-8AC4-43834E5CDFB4}"/>
              </a:ext>
            </a:extLst>
          </p:cNvPr>
          <p:cNvSpPr>
            <a:spLocks noGrp="1"/>
          </p:cNvSpPr>
          <p:nvPr>
            <p:ph idx="1"/>
          </p:nvPr>
        </p:nvSpPr>
        <p:spPr>
          <a:xfrm>
            <a:off x="838200" y="531845"/>
            <a:ext cx="10515600" cy="5645118"/>
          </a:xfrm>
        </p:spPr>
        <p:txBody>
          <a:bodyPr/>
          <a:lstStyle/>
          <a:p>
            <a:pPr marL="0" indent="0">
              <a:lnSpc>
                <a:spcPct val="200000"/>
              </a:lnSpc>
              <a:buNone/>
            </a:pPr>
            <a:r>
              <a:rPr lang="en-IN" b="1" dirty="0">
                <a:solidFill>
                  <a:srgbClr val="7030A0"/>
                </a:solidFill>
              </a:rPr>
              <a:t>Syntax for LinkedList</a:t>
            </a:r>
          </a:p>
          <a:p>
            <a:pPr>
              <a:lnSpc>
                <a:spcPct val="200000"/>
              </a:lnSpc>
            </a:pPr>
            <a:r>
              <a:rPr lang="en-US" dirty="0">
                <a:solidFill>
                  <a:srgbClr val="000000"/>
                </a:solidFill>
                <a:latin typeface="inter-regular"/>
              </a:rPr>
              <a:t>Linked</a:t>
            </a:r>
            <a:r>
              <a:rPr lang="en-US" b="0" i="0" dirty="0">
                <a:solidFill>
                  <a:srgbClr val="000000"/>
                </a:solidFill>
                <a:effectLst/>
                <a:latin typeface="inter-regular"/>
              </a:rPr>
              <a:t>List &lt;Object&gt;  Variable =</a:t>
            </a:r>
            <a:r>
              <a:rPr lang="en-US" dirty="0">
                <a:solidFill>
                  <a:srgbClr val="000000"/>
                </a:solidFill>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LinkedList &lt;Object&gt;  (); </a:t>
            </a:r>
            <a:endParaRPr lang="en-IN" dirty="0"/>
          </a:p>
          <a:p>
            <a:endParaRPr lang="en-IN" dirty="0"/>
          </a:p>
        </p:txBody>
      </p:sp>
    </p:spTree>
    <p:extLst>
      <p:ext uri="{BB962C8B-B14F-4D97-AF65-F5344CB8AC3E}">
        <p14:creationId xmlns:p14="http://schemas.microsoft.com/office/powerpoint/2010/main" val="132074402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DA03BC-B61F-F7B8-648D-894D4D9E22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98805"/>
            <a:ext cx="10515600" cy="5520690"/>
          </a:xfrm>
        </p:spPr>
      </p:pic>
    </p:spTree>
    <p:extLst>
      <p:ext uri="{BB962C8B-B14F-4D97-AF65-F5344CB8AC3E}">
        <p14:creationId xmlns:p14="http://schemas.microsoft.com/office/powerpoint/2010/main" val="201632914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16741-97D5-BB3A-E119-47FC778E871D}"/>
              </a:ext>
            </a:extLst>
          </p:cNvPr>
          <p:cNvSpPr>
            <a:spLocks noGrp="1"/>
          </p:cNvSpPr>
          <p:nvPr>
            <p:ph idx="1"/>
          </p:nvPr>
        </p:nvSpPr>
        <p:spPr>
          <a:xfrm>
            <a:off x="838200" y="550506"/>
            <a:ext cx="10515600" cy="5626457"/>
          </a:xfrm>
        </p:spPr>
        <p:txBody>
          <a:bodyPr/>
          <a:lstStyle/>
          <a:p>
            <a:pPr marL="0" indent="0">
              <a:lnSpc>
                <a:spcPct val="100000"/>
              </a:lnSpc>
              <a:buNone/>
            </a:pPr>
            <a:r>
              <a:rPr lang="en-IN" b="1" dirty="0">
                <a:solidFill>
                  <a:srgbClr val="7030A0"/>
                </a:solidFill>
              </a:rPr>
              <a:t>Set in Java</a:t>
            </a:r>
          </a:p>
          <a:p>
            <a:pPr>
              <a:lnSpc>
                <a:spcPct val="100000"/>
              </a:lnSpc>
            </a:pPr>
            <a:r>
              <a:rPr lang="en-US" b="0" i="0" dirty="0">
                <a:solidFill>
                  <a:srgbClr val="202124"/>
                </a:solidFill>
                <a:effectLst/>
              </a:rPr>
              <a:t>A Set is </a:t>
            </a:r>
            <a:r>
              <a:rPr lang="en-US" b="1" i="0" dirty="0">
                <a:solidFill>
                  <a:srgbClr val="7030A0"/>
                </a:solidFill>
                <a:effectLst/>
              </a:rPr>
              <a:t>a Collection that cannot contain duplicate elements</a:t>
            </a:r>
            <a:r>
              <a:rPr lang="en-US" b="0" i="0" dirty="0">
                <a:solidFill>
                  <a:srgbClr val="7030A0"/>
                </a:solidFill>
                <a:effectLst/>
              </a:rPr>
              <a:t>. </a:t>
            </a:r>
            <a:r>
              <a:rPr lang="en-US" b="0" i="0" dirty="0">
                <a:solidFill>
                  <a:srgbClr val="202124"/>
                </a:solidFill>
                <a:effectLst/>
              </a:rPr>
              <a:t>It models the mathematical set abstraction.</a:t>
            </a:r>
          </a:p>
          <a:p>
            <a:pPr>
              <a:lnSpc>
                <a:spcPct val="100000"/>
              </a:lnSpc>
            </a:pPr>
            <a:r>
              <a:rPr lang="en-US" b="0" i="0" dirty="0">
                <a:solidFill>
                  <a:srgbClr val="202124"/>
                </a:solidFill>
                <a:effectLst/>
              </a:rPr>
              <a:t> The Set interface contains only methods inherited from Collection and adds the restriction that duplicate elements are prohibited.</a:t>
            </a:r>
          </a:p>
          <a:p>
            <a:pPr marL="0" indent="0">
              <a:lnSpc>
                <a:spcPct val="100000"/>
              </a:lnSpc>
              <a:buNone/>
            </a:pPr>
            <a:r>
              <a:rPr lang="en-US" b="1" dirty="0">
                <a:solidFill>
                  <a:srgbClr val="7030A0"/>
                </a:solidFill>
              </a:rPr>
              <a:t>Types of set</a:t>
            </a:r>
          </a:p>
          <a:p>
            <a:pPr marL="514350" indent="-514350">
              <a:lnSpc>
                <a:spcPct val="100000"/>
              </a:lnSpc>
              <a:buFont typeface="+mj-lt"/>
              <a:buAutoNum type="arabicPeriod"/>
            </a:pPr>
            <a:r>
              <a:rPr lang="en-US" dirty="0">
                <a:solidFill>
                  <a:srgbClr val="7030A0"/>
                </a:solidFill>
              </a:rPr>
              <a:t>HashSet</a:t>
            </a:r>
          </a:p>
          <a:p>
            <a:pPr marL="514350" indent="-514350">
              <a:lnSpc>
                <a:spcPct val="100000"/>
              </a:lnSpc>
              <a:buFont typeface="+mj-lt"/>
              <a:buAutoNum type="arabicPeriod"/>
            </a:pPr>
            <a:r>
              <a:rPr lang="en-US" dirty="0">
                <a:solidFill>
                  <a:srgbClr val="7030A0"/>
                </a:solidFill>
              </a:rPr>
              <a:t>TreeSet</a:t>
            </a:r>
            <a:endParaRPr lang="en-IN" dirty="0">
              <a:solidFill>
                <a:srgbClr val="7030A0"/>
              </a:solidFill>
            </a:endParaRPr>
          </a:p>
        </p:txBody>
      </p:sp>
    </p:spTree>
    <p:extLst>
      <p:ext uri="{BB962C8B-B14F-4D97-AF65-F5344CB8AC3E}">
        <p14:creationId xmlns:p14="http://schemas.microsoft.com/office/powerpoint/2010/main" val="288196385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23DF8-CC3B-F463-9AF2-2571F8ADAD50}"/>
              </a:ext>
            </a:extLst>
          </p:cNvPr>
          <p:cNvSpPr>
            <a:spLocks noGrp="1"/>
          </p:cNvSpPr>
          <p:nvPr>
            <p:ph idx="1"/>
          </p:nvPr>
        </p:nvSpPr>
        <p:spPr>
          <a:xfrm>
            <a:off x="550506" y="709127"/>
            <a:ext cx="11159412" cy="5467836"/>
          </a:xfrm>
        </p:spPr>
        <p:txBody>
          <a:bodyPr/>
          <a:lstStyle/>
          <a:p>
            <a:pPr marL="0" indent="0">
              <a:lnSpc>
                <a:spcPct val="100000"/>
              </a:lnSpc>
              <a:buNone/>
            </a:pPr>
            <a:r>
              <a:rPr lang="en-IN" b="1" dirty="0">
                <a:solidFill>
                  <a:srgbClr val="7030A0"/>
                </a:solidFill>
              </a:rPr>
              <a:t>Hash Set</a:t>
            </a:r>
          </a:p>
          <a:p>
            <a:pPr algn="just">
              <a:lnSpc>
                <a:spcPct val="100000"/>
              </a:lnSpc>
              <a:buFont typeface="Arial" panose="020B0604020202020204" pitchFamily="34" charset="0"/>
              <a:buChar char="•"/>
            </a:pPr>
            <a:r>
              <a:rPr lang="en-US" b="0" i="0" dirty="0">
                <a:solidFill>
                  <a:srgbClr val="000000"/>
                </a:solidFill>
                <a:effectLst/>
              </a:rPr>
              <a:t>HashSet stores the elements by using a mechanism called </a:t>
            </a:r>
            <a:r>
              <a:rPr lang="en-US" b="1" i="0" dirty="0">
                <a:solidFill>
                  <a:srgbClr val="7030A0"/>
                </a:solidFill>
                <a:effectLst/>
              </a:rPr>
              <a:t>hashing.</a:t>
            </a:r>
            <a:endParaRPr lang="en-US" b="0" i="0" dirty="0">
              <a:solidFill>
                <a:srgbClr val="7030A0"/>
              </a:solidFill>
              <a:effectLst/>
            </a:endParaRPr>
          </a:p>
          <a:p>
            <a:pPr algn="just">
              <a:lnSpc>
                <a:spcPct val="100000"/>
              </a:lnSpc>
              <a:buFont typeface="Arial" panose="020B0604020202020204" pitchFamily="34" charset="0"/>
              <a:buChar char="•"/>
            </a:pPr>
            <a:r>
              <a:rPr lang="en-US" b="0" i="0" dirty="0">
                <a:solidFill>
                  <a:srgbClr val="000000"/>
                </a:solidFill>
                <a:effectLst/>
              </a:rPr>
              <a:t>HashSet </a:t>
            </a:r>
            <a:r>
              <a:rPr lang="en-US" b="1" i="0" dirty="0">
                <a:solidFill>
                  <a:srgbClr val="7030A0"/>
                </a:solidFill>
                <a:effectLst/>
              </a:rPr>
              <a:t>contains unique elements only.</a:t>
            </a:r>
          </a:p>
          <a:p>
            <a:pPr algn="just">
              <a:lnSpc>
                <a:spcPct val="100000"/>
              </a:lnSpc>
              <a:buFont typeface="Arial" panose="020B0604020202020204" pitchFamily="34" charset="0"/>
              <a:buChar char="•"/>
            </a:pPr>
            <a:r>
              <a:rPr lang="en-US" b="0" i="0" dirty="0">
                <a:solidFill>
                  <a:srgbClr val="000000"/>
                </a:solidFill>
                <a:effectLst/>
              </a:rPr>
              <a:t>HashSet </a:t>
            </a:r>
            <a:r>
              <a:rPr lang="en-US" b="0" i="0" dirty="0">
                <a:solidFill>
                  <a:srgbClr val="7030A0"/>
                </a:solidFill>
                <a:effectLst/>
              </a:rPr>
              <a:t>allows null value</a:t>
            </a:r>
            <a:r>
              <a:rPr lang="en-US" b="0" i="0" dirty="0">
                <a:solidFill>
                  <a:srgbClr val="000000"/>
                </a:solidFill>
                <a:effectLst/>
              </a:rPr>
              <a:t>.</a:t>
            </a:r>
          </a:p>
          <a:p>
            <a:pPr algn="just">
              <a:lnSpc>
                <a:spcPct val="100000"/>
              </a:lnSpc>
              <a:buFont typeface="Arial" panose="020B0604020202020204" pitchFamily="34" charset="0"/>
              <a:buChar char="•"/>
            </a:pPr>
            <a:r>
              <a:rPr lang="en-US" b="0" i="0" dirty="0">
                <a:solidFill>
                  <a:srgbClr val="000000"/>
                </a:solidFill>
                <a:effectLst/>
              </a:rPr>
              <a:t>HashSet class is non synchronized.</a:t>
            </a:r>
          </a:p>
          <a:p>
            <a:pPr algn="just">
              <a:lnSpc>
                <a:spcPct val="100000"/>
              </a:lnSpc>
              <a:buFont typeface="Arial" panose="020B0604020202020204" pitchFamily="34" charset="0"/>
              <a:buChar char="•"/>
            </a:pPr>
            <a:r>
              <a:rPr lang="en-US" b="0" i="0" dirty="0">
                <a:solidFill>
                  <a:srgbClr val="000000"/>
                </a:solidFill>
                <a:effectLst/>
              </a:rPr>
              <a:t>HashSet </a:t>
            </a:r>
            <a:r>
              <a:rPr lang="en-US" b="1" i="0" dirty="0">
                <a:solidFill>
                  <a:srgbClr val="7030A0"/>
                </a:solidFill>
                <a:effectLst/>
              </a:rPr>
              <a:t>doesn't maintain the insertion order. </a:t>
            </a:r>
            <a:r>
              <a:rPr lang="en-US" b="0" i="0" dirty="0">
                <a:solidFill>
                  <a:srgbClr val="000000"/>
                </a:solidFill>
                <a:effectLst/>
              </a:rPr>
              <a:t>Here, elements are inserted on the basis of their </a:t>
            </a:r>
            <a:r>
              <a:rPr lang="en-US" b="0" i="0" dirty="0" err="1">
                <a:solidFill>
                  <a:srgbClr val="000000"/>
                </a:solidFill>
                <a:effectLst/>
              </a:rPr>
              <a:t>hashcode</a:t>
            </a:r>
            <a:r>
              <a:rPr lang="en-US" b="0" i="0" dirty="0">
                <a:solidFill>
                  <a:srgbClr val="000000"/>
                </a:solidFill>
                <a:effectLst/>
              </a:rPr>
              <a:t>.</a:t>
            </a:r>
          </a:p>
          <a:p>
            <a:pPr algn="just">
              <a:lnSpc>
                <a:spcPct val="100000"/>
              </a:lnSpc>
              <a:buFont typeface="Arial" panose="020B0604020202020204" pitchFamily="34" charset="0"/>
              <a:buChar char="•"/>
            </a:pPr>
            <a:r>
              <a:rPr lang="en-US" b="0" i="0" dirty="0">
                <a:solidFill>
                  <a:srgbClr val="000000"/>
                </a:solidFill>
                <a:effectLst/>
              </a:rPr>
              <a:t>HashSet is </a:t>
            </a:r>
            <a:r>
              <a:rPr lang="en-US" b="1" i="0" dirty="0">
                <a:solidFill>
                  <a:srgbClr val="7030A0"/>
                </a:solidFill>
                <a:effectLst/>
              </a:rPr>
              <a:t>the best approach for search operations.</a:t>
            </a:r>
          </a:p>
          <a:p>
            <a:pPr algn="just">
              <a:lnSpc>
                <a:spcPct val="100000"/>
              </a:lnSpc>
              <a:buFont typeface="Arial" panose="020B0604020202020204" pitchFamily="34" charset="0"/>
              <a:buChar char="•"/>
            </a:pPr>
            <a:r>
              <a:rPr lang="en-US" b="0" i="0" dirty="0">
                <a:solidFill>
                  <a:srgbClr val="000000"/>
                </a:solidFill>
                <a:effectLst/>
              </a:rPr>
              <a:t>The initial default capacity of HashSet is 16, and the load factor is 0.75.</a:t>
            </a:r>
          </a:p>
        </p:txBody>
      </p:sp>
    </p:spTree>
    <p:extLst>
      <p:ext uri="{BB962C8B-B14F-4D97-AF65-F5344CB8AC3E}">
        <p14:creationId xmlns:p14="http://schemas.microsoft.com/office/powerpoint/2010/main" val="204520781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0040FA-8E43-19D2-F1E1-973DC348A0DB}"/>
              </a:ext>
            </a:extLst>
          </p:cNvPr>
          <p:cNvSpPr>
            <a:spLocks noGrp="1"/>
          </p:cNvSpPr>
          <p:nvPr>
            <p:ph idx="1"/>
          </p:nvPr>
        </p:nvSpPr>
        <p:spPr>
          <a:xfrm>
            <a:off x="735563" y="513184"/>
            <a:ext cx="10515600" cy="5738424"/>
          </a:xfrm>
        </p:spPr>
        <p:txBody>
          <a:bodyPr/>
          <a:lstStyle/>
          <a:p>
            <a:pPr marL="0" indent="0">
              <a:lnSpc>
                <a:spcPct val="200000"/>
              </a:lnSpc>
              <a:buNone/>
            </a:pPr>
            <a:r>
              <a:rPr lang="en-IN" b="1" dirty="0">
                <a:solidFill>
                  <a:srgbClr val="7030A0"/>
                </a:solidFill>
              </a:rPr>
              <a:t>Syntax for HashSet</a:t>
            </a:r>
          </a:p>
          <a:p>
            <a:pPr>
              <a:lnSpc>
                <a:spcPct val="200000"/>
              </a:lnSpc>
            </a:pPr>
            <a:r>
              <a:rPr lang="en-US" b="0" i="0" dirty="0">
                <a:solidFill>
                  <a:srgbClr val="000000"/>
                </a:solidFill>
                <a:effectLst/>
                <a:latin typeface="inter-regular"/>
              </a:rPr>
              <a:t>HashSet&lt;Object&gt; Variable =</a:t>
            </a:r>
            <a:r>
              <a:rPr lang="en-US" b="1" i="0" dirty="0">
                <a:solidFill>
                  <a:srgbClr val="006699"/>
                </a:solidFill>
                <a:effectLst/>
                <a:latin typeface="inter-regular"/>
              </a:rPr>
              <a:t>new</a:t>
            </a:r>
            <a:r>
              <a:rPr lang="en-US" b="0" i="0" dirty="0">
                <a:solidFill>
                  <a:srgbClr val="000000"/>
                </a:solidFill>
                <a:effectLst/>
                <a:latin typeface="inter-regular"/>
              </a:rPr>
              <a:t> HashSet&lt;Object&gt;  (); </a:t>
            </a:r>
            <a:endParaRPr lang="en-IN" dirty="0"/>
          </a:p>
        </p:txBody>
      </p:sp>
    </p:spTree>
    <p:extLst>
      <p:ext uri="{BB962C8B-B14F-4D97-AF65-F5344CB8AC3E}">
        <p14:creationId xmlns:p14="http://schemas.microsoft.com/office/powerpoint/2010/main" val="162992281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62ED38-49F2-8E26-D582-6DF29A411B5E}"/>
              </a:ext>
            </a:extLst>
          </p:cNvPr>
          <p:cNvSpPr>
            <a:spLocks noGrp="1"/>
          </p:cNvSpPr>
          <p:nvPr>
            <p:ph idx="1"/>
          </p:nvPr>
        </p:nvSpPr>
        <p:spPr>
          <a:xfrm>
            <a:off x="838200" y="550506"/>
            <a:ext cx="10515600" cy="5626457"/>
          </a:xfrm>
        </p:spPr>
        <p:txBody>
          <a:bodyPr/>
          <a:lstStyle/>
          <a:p>
            <a:pPr marL="0" indent="0">
              <a:buNone/>
            </a:pPr>
            <a:r>
              <a:rPr lang="en-IN" sz="2400" b="1" dirty="0" err="1">
                <a:solidFill>
                  <a:srgbClr val="7030A0"/>
                </a:solidFill>
                <a:effectLst/>
              </a:rPr>
              <a:t>Spliterator</a:t>
            </a:r>
            <a:endParaRPr lang="en-IN" sz="2400" b="1" dirty="0">
              <a:solidFill>
                <a:srgbClr val="7030A0"/>
              </a:solidFill>
              <a:effectLst/>
            </a:endParaRPr>
          </a:p>
          <a:p>
            <a:pPr marL="0" indent="0">
              <a:buNone/>
            </a:pPr>
            <a:r>
              <a:rPr lang="en-IN" sz="2400" dirty="0" err="1">
                <a:solidFill>
                  <a:srgbClr val="000000"/>
                </a:solidFill>
                <a:effectLst/>
              </a:rPr>
              <a:t>Spliterator</a:t>
            </a:r>
            <a:r>
              <a:rPr lang="en-IN" sz="2400" dirty="0">
                <a:solidFill>
                  <a:srgbClr val="000000"/>
                </a:solidFill>
                <a:effectLst/>
              </a:rPr>
              <a:t>&lt;String&gt; </a:t>
            </a:r>
            <a:r>
              <a:rPr lang="en-IN" sz="2400" dirty="0">
                <a:solidFill>
                  <a:srgbClr val="6A3E3E"/>
                </a:solidFill>
                <a:effectLst/>
              </a:rPr>
              <a:t>numbers</a:t>
            </a:r>
            <a:r>
              <a:rPr lang="en-IN" sz="2400" dirty="0">
                <a:solidFill>
                  <a:srgbClr val="000000"/>
                </a:solidFill>
                <a:effectLst/>
              </a:rPr>
              <a:t> = </a:t>
            </a:r>
            <a:r>
              <a:rPr lang="en-IN" sz="2400" dirty="0" err="1">
                <a:solidFill>
                  <a:srgbClr val="6A3E3E"/>
                </a:solidFill>
                <a:effectLst/>
              </a:rPr>
              <a:t>l</a:t>
            </a:r>
            <a:r>
              <a:rPr lang="en-IN" sz="2400" dirty="0" err="1">
                <a:solidFill>
                  <a:srgbClr val="000000"/>
                </a:solidFill>
                <a:effectLst/>
              </a:rPr>
              <a:t>.spliterator</a:t>
            </a:r>
            <a:r>
              <a:rPr lang="en-IN" sz="2400" dirty="0">
                <a:solidFill>
                  <a:srgbClr val="000000"/>
                </a:solidFill>
                <a:effectLst/>
              </a:rPr>
              <a:t>();</a:t>
            </a:r>
          </a:p>
          <a:p>
            <a:pPr marL="0" indent="0">
              <a:buNone/>
            </a:pP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2A00FF"/>
                </a:solidFill>
                <a:effectLst/>
              </a:rPr>
              <a:t>"list of </a:t>
            </a:r>
            <a:r>
              <a:rPr lang="en-IN" sz="2400" dirty="0" err="1">
                <a:solidFill>
                  <a:srgbClr val="2A00FF"/>
                </a:solidFill>
                <a:effectLst/>
              </a:rPr>
              <a:t>ele</a:t>
            </a:r>
            <a:r>
              <a:rPr lang="en-IN" sz="2400" dirty="0">
                <a:solidFill>
                  <a:srgbClr val="2A00FF"/>
                </a:solidFill>
                <a:effectLst/>
              </a:rPr>
              <a:t>:"</a:t>
            </a:r>
            <a:r>
              <a:rPr lang="en-IN" sz="2400" dirty="0">
                <a:solidFill>
                  <a:srgbClr val="000000"/>
                </a:solidFill>
                <a:effectLst/>
              </a:rPr>
              <a:t>);</a:t>
            </a:r>
          </a:p>
          <a:p>
            <a:pPr marL="0" indent="0">
              <a:buNone/>
            </a:pPr>
            <a:r>
              <a:rPr lang="en-IN" sz="2400" dirty="0" err="1">
                <a:solidFill>
                  <a:srgbClr val="6A3E3E"/>
                </a:solidFill>
                <a:effectLst/>
              </a:rPr>
              <a:t>numbers</a:t>
            </a:r>
            <a:r>
              <a:rPr lang="en-IN" sz="2400" dirty="0" err="1">
                <a:solidFill>
                  <a:srgbClr val="000000"/>
                </a:solidFill>
                <a:effectLst/>
              </a:rPr>
              <a:t>.forEachRemaining</a:t>
            </a:r>
            <a:r>
              <a:rPr lang="en-IN" sz="2400" dirty="0">
                <a:solidFill>
                  <a:srgbClr val="000000"/>
                </a:solidFill>
                <a:effectLst/>
              </a:rPr>
              <a:t>((</a:t>
            </a:r>
            <a:r>
              <a:rPr lang="en-IN" sz="2400" dirty="0">
                <a:solidFill>
                  <a:srgbClr val="6A3E3E"/>
                </a:solidFill>
                <a:effectLst/>
              </a:rPr>
              <a:t>n</a:t>
            </a:r>
            <a:r>
              <a:rPr lang="en-IN" sz="2400" dirty="0">
                <a:solidFill>
                  <a:srgbClr val="000000"/>
                </a:solidFill>
                <a:effectLst/>
              </a:rPr>
              <a:t>) -&gt; </a:t>
            </a: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n</a:t>
            </a:r>
            <a:r>
              <a:rPr lang="en-IN" sz="2400" dirty="0">
                <a:solidFill>
                  <a:srgbClr val="000000"/>
                </a:solidFill>
                <a:effectLst/>
              </a:rPr>
              <a:t>));</a:t>
            </a:r>
          </a:p>
          <a:p>
            <a:pPr marL="0" indent="0">
              <a:buNone/>
            </a:pP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p>
          <a:p>
            <a:pPr marL="0" indent="0">
              <a:buNone/>
            </a:pPr>
            <a:r>
              <a:rPr lang="en-IN" sz="2400" b="1" dirty="0">
                <a:solidFill>
                  <a:srgbClr val="7030A0"/>
                </a:solidFill>
              </a:rPr>
              <a:t>Iterator</a:t>
            </a:r>
          </a:p>
          <a:p>
            <a:pPr marL="0" indent="0">
              <a:buNone/>
            </a:pPr>
            <a:r>
              <a:rPr lang="en-IN" sz="2400" dirty="0">
                <a:solidFill>
                  <a:srgbClr val="000000"/>
                </a:solidFill>
                <a:effectLst/>
              </a:rPr>
              <a:t>Iterator </a:t>
            </a:r>
            <a:r>
              <a:rPr lang="en-IN" sz="2400" dirty="0" err="1">
                <a:solidFill>
                  <a:srgbClr val="6A3E3E"/>
                </a:solidFill>
                <a:effectLst/>
              </a:rPr>
              <a:t>i</a:t>
            </a:r>
            <a:r>
              <a:rPr lang="en-IN" sz="2400" dirty="0">
                <a:solidFill>
                  <a:srgbClr val="000000"/>
                </a:solidFill>
                <a:effectLst/>
              </a:rPr>
              <a:t>=</a:t>
            </a:r>
            <a:r>
              <a:rPr lang="en-IN" sz="2400" dirty="0" err="1">
                <a:solidFill>
                  <a:srgbClr val="6A3E3E"/>
                </a:solidFill>
                <a:effectLst/>
              </a:rPr>
              <a:t>l</a:t>
            </a:r>
            <a:r>
              <a:rPr lang="en-IN" sz="2400" dirty="0" err="1">
                <a:solidFill>
                  <a:srgbClr val="000000"/>
                </a:solidFill>
                <a:effectLst/>
              </a:rPr>
              <a:t>.iterator</a:t>
            </a:r>
            <a:r>
              <a:rPr lang="en-IN" sz="2400" dirty="0">
                <a:solidFill>
                  <a:srgbClr val="000000"/>
                </a:solidFill>
                <a:effectLst/>
              </a:rPr>
              <a:t>();</a:t>
            </a:r>
          </a:p>
          <a:p>
            <a:pPr marL="0" indent="0">
              <a:buNone/>
            </a:pPr>
            <a:r>
              <a:rPr lang="en-IN" sz="2400" b="1" dirty="0">
                <a:solidFill>
                  <a:srgbClr val="7F0055"/>
                </a:solidFill>
                <a:effectLst/>
              </a:rPr>
              <a:t>while</a:t>
            </a:r>
            <a:r>
              <a:rPr lang="en-IN" sz="2400" dirty="0">
                <a:solidFill>
                  <a:srgbClr val="000000"/>
                </a:solidFill>
                <a:effectLst/>
              </a:rPr>
              <a:t>(</a:t>
            </a:r>
            <a:r>
              <a:rPr lang="en-IN" sz="2400" dirty="0" err="1">
                <a:solidFill>
                  <a:srgbClr val="6A3E3E"/>
                </a:solidFill>
                <a:effectLst/>
              </a:rPr>
              <a:t>i</a:t>
            </a:r>
            <a:r>
              <a:rPr lang="en-IN" sz="2400" dirty="0" err="1">
                <a:solidFill>
                  <a:srgbClr val="000000"/>
                </a:solidFill>
                <a:effectLst/>
              </a:rPr>
              <a:t>.hasNext</a:t>
            </a:r>
            <a:r>
              <a:rPr lang="en-IN" sz="2400" dirty="0">
                <a:solidFill>
                  <a:srgbClr val="000000"/>
                </a:solidFill>
                <a:effectLst/>
              </a:rPr>
              <a:t>())</a:t>
            </a:r>
          </a:p>
          <a:p>
            <a:pPr marL="0" indent="0">
              <a:buNone/>
            </a:pPr>
            <a:r>
              <a:rPr lang="en-IN" sz="2400" dirty="0">
                <a:solidFill>
                  <a:srgbClr val="000000"/>
                </a:solidFill>
                <a:effectLst/>
              </a:rPr>
              <a:t>{</a:t>
            </a:r>
          </a:p>
          <a:p>
            <a:pPr marL="0" indent="0">
              <a:buNone/>
            </a:pP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i</a:t>
            </a:r>
            <a:r>
              <a:rPr lang="en-IN" sz="2400" dirty="0" err="1">
                <a:solidFill>
                  <a:srgbClr val="000000"/>
                </a:solidFill>
                <a:effectLst/>
              </a:rPr>
              <a:t>.next</a:t>
            </a:r>
            <a:r>
              <a:rPr lang="en-IN" sz="2400" dirty="0">
                <a:solidFill>
                  <a:srgbClr val="000000"/>
                </a:solidFill>
                <a:effectLst/>
              </a:rPr>
              <a:t>());</a:t>
            </a:r>
          </a:p>
          <a:p>
            <a:pPr marL="0" indent="0">
              <a:buNone/>
            </a:pPr>
            <a:r>
              <a:rPr lang="en-IN" sz="2400" dirty="0">
                <a:solidFill>
                  <a:srgbClr val="000000"/>
                </a:solidFill>
                <a:effectLst/>
              </a:rPr>
              <a:t>}</a:t>
            </a:r>
          </a:p>
          <a:p>
            <a:pPr marL="0" indent="0">
              <a:buNone/>
            </a:pPr>
            <a:endParaRPr lang="en-IN" sz="2400" b="1" dirty="0">
              <a:solidFill>
                <a:srgbClr val="7030A0"/>
              </a:solidFill>
              <a:effectLst/>
            </a:endParaRPr>
          </a:p>
          <a:p>
            <a:endParaRPr lang="en-IN" dirty="0"/>
          </a:p>
        </p:txBody>
      </p:sp>
    </p:spTree>
    <p:extLst>
      <p:ext uri="{BB962C8B-B14F-4D97-AF65-F5344CB8AC3E}">
        <p14:creationId xmlns:p14="http://schemas.microsoft.com/office/powerpoint/2010/main" val="205957822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EE9F0B-B484-F306-9165-F43047F96356}"/>
              </a:ext>
            </a:extLst>
          </p:cNvPr>
          <p:cNvSpPr>
            <a:spLocks noGrp="1"/>
          </p:cNvSpPr>
          <p:nvPr>
            <p:ph idx="1"/>
          </p:nvPr>
        </p:nvSpPr>
        <p:spPr>
          <a:xfrm>
            <a:off x="838200" y="522514"/>
            <a:ext cx="10515600" cy="5654449"/>
          </a:xfrm>
        </p:spPr>
        <p:txBody>
          <a:bodyPr/>
          <a:lstStyle/>
          <a:p>
            <a:pPr marL="0" indent="0">
              <a:lnSpc>
                <a:spcPct val="150000"/>
              </a:lnSpc>
              <a:buNone/>
            </a:pPr>
            <a:r>
              <a:rPr lang="en-IN" b="1" dirty="0">
                <a:solidFill>
                  <a:srgbClr val="7030A0"/>
                </a:solidFill>
              </a:rPr>
              <a:t>Tree Set</a:t>
            </a:r>
          </a:p>
          <a:p>
            <a:pPr algn="just">
              <a:lnSpc>
                <a:spcPct val="150000"/>
              </a:lnSpc>
              <a:buFont typeface="Arial" panose="020B0604020202020204" pitchFamily="34" charset="0"/>
              <a:buChar char="•"/>
            </a:pPr>
            <a:r>
              <a:rPr lang="en-IN" b="0" i="0" dirty="0" err="1">
                <a:solidFill>
                  <a:srgbClr val="000000"/>
                </a:solidFill>
                <a:effectLst/>
              </a:rPr>
              <a:t>TreeSet</a:t>
            </a:r>
            <a:r>
              <a:rPr lang="en-IN" b="0" i="0" dirty="0">
                <a:solidFill>
                  <a:srgbClr val="000000"/>
                </a:solidFill>
                <a:effectLst/>
              </a:rPr>
              <a:t> class </a:t>
            </a:r>
            <a:r>
              <a:rPr lang="en-IN" b="1" i="0" dirty="0">
                <a:solidFill>
                  <a:srgbClr val="7030A0"/>
                </a:solidFill>
                <a:effectLst/>
              </a:rPr>
              <a:t>contains unique elements only like HashSet</a:t>
            </a:r>
            <a:r>
              <a:rPr lang="en-IN" b="0" i="0" dirty="0">
                <a:solidFill>
                  <a:srgbClr val="000000"/>
                </a:solidFill>
                <a:effectLst/>
              </a:rPr>
              <a:t>.</a:t>
            </a:r>
          </a:p>
          <a:p>
            <a:pPr algn="just">
              <a:lnSpc>
                <a:spcPct val="150000"/>
              </a:lnSpc>
              <a:buFont typeface="Arial" panose="020B0604020202020204" pitchFamily="34" charset="0"/>
              <a:buChar char="•"/>
            </a:pPr>
            <a:r>
              <a:rPr lang="en-IN" b="0" i="0" dirty="0" err="1">
                <a:solidFill>
                  <a:srgbClr val="000000"/>
                </a:solidFill>
                <a:effectLst/>
              </a:rPr>
              <a:t>TreeSet</a:t>
            </a:r>
            <a:r>
              <a:rPr lang="en-IN" b="0" i="0" dirty="0">
                <a:solidFill>
                  <a:srgbClr val="000000"/>
                </a:solidFill>
                <a:effectLst/>
              </a:rPr>
              <a:t> </a:t>
            </a:r>
            <a:r>
              <a:rPr lang="en-IN" b="1" i="0" dirty="0">
                <a:solidFill>
                  <a:srgbClr val="7030A0"/>
                </a:solidFill>
                <a:effectLst/>
              </a:rPr>
              <a:t>class access and retrieval times are quiet fast</a:t>
            </a:r>
            <a:r>
              <a:rPr lang="en-IN" b="0" i="0" dirty="0">
                <a:solidFill>
                  <a:srgbClr val="000000"/>
                </a:solidFill>
                <a:effectLst/>
              </a:rPr>
              <a:t>.</a:t>
            </a:r>
          </a:p>
          <a:p>
            <a:pPr algn="just">
              <a:lnSpc>
                <a:spcPct val="150000"/>
              </a:lnSpc>
              <a:buFont typeface="Arial" panose="020B0604020202020204" pitchFamily="34" charset="0"/>
              <a:buChar char="•"/>
            </a:pPr>
            <a:r>
              <a:rPr lang="en-IN" b="0" i="0" dirty="0">
                <a:solidFill>
                  <a:srgbClr val="000000"/>
                </a:solidFill>
                <a:effectLst/>
              </a:rPr>
              <a:t> </a:t>
            </a:r>
            <a:r>
              <a:rPr lang="en-IN" b="0" i="0" dirty="0" err="1">
                <a:solidFill>
                  <a:srgbClr val="000000"/>
                </a:solidFill>
                <a:effectLst/>
              </a:rPr>
              <a:t>TreeSet</a:t>
            </a:r>
            <a:r>
              <a:rPr lang="en-IN" b="0" i="0" dirty="0">
                <a:solidFill>
                  <a:srgbClr val="000000"/>
                </a:solidFill>
                <a:effectLst/>
              </a:rPr>
              <a:t> </a:t>
            </a:r>
            <a:r>
              <a:rPr lang="en-IN" b="1" i="0" dirty="0">
                <a:solidFill>
                  <a:srgbClr val="7030A0"/>
                </a:solidFill>
                <a:effectLst/>
              </a:rPr>
              <a:t>class doesn't allow null element</a:t>
            </a:r>
            <a:r>
              <a:rPr lang="en-IN" b="0" i="0" dirty="0">
                <a:solidFill>
                  <a:srgbClr val="000000"/>
                </a:solidFill>
                <a:effectLst/>
              </a:rPr>
              <a:t>.</a:t>
            </a:r>
          </a:p>
          <a:p>
            <a:pPr algn="just">
              <a:lnSpc>
                <a:spcPct val="150000"/>
              </a:lnSpc>
              <a:buFont typeface="Arial" panose="020B0604020202020204" pitchFamily="34" charset="0"/>
              <a:buChar char="•"/>
            </a:pPr>
            <a:r>
              <a:rPr lang="en-IN" b="0" i="0" dirty="0">
                <a:solidFill>
                  <a:srgbClr val="000000"/>
                </a:solidFill>
                <a:effectLst/>
              </a:rPr>
              <a:t> </a:t>
            </a:r>
            <a:r>
              <a:rPr lang="en-IN" b="0" i="0" dirty="0" err="1">
                <a:solidFill>
                  <a:srgbClr val="000000"/>
                </a:solidFill>
                <a:effectLst/>
              </a:rPr>
              <a:t>TreeSet</a:t>
            </a:r>
            <a:r>
              <a:rPr lang="en-IN" b="0" i="0" dirty="0">
                <a:solidFill>
                  <a:srgbClr val="000000"/>
                </a:solidFill>
                <a:effectLst/>
              </a:rPr>
              <a:t> class </a:t>
            </a:r>
            <a:r>
              <a:rPr lang="en-IN" b="1" i="0" dirty="0">
                <a:solidFill>
                  <a:srgbClr val="7030A0"/>
                </a:solidFill>
                <a:effectLst/>
              </a:rPr>
              <a:t>is non synchronized.</a:t>
            </a:r>
          </a:p>
          <a:p>
            <a:pPr algn="just">
              <a:lnSpc>
                <a:spcPct val="150000"/>
              </a:lnSpc>
              <a:buFont typeface="Arial" panose="020B0604020202020204" pitchFamily="34" charset="0"/>
              <a:buChar char="•"/>
            </a:pPr>
            <a:r>
              <a:rPr lang="en-IN" b="0" i="0" dirty="0" err="1">
                <a:solidFill>
                  <a:srgbClr val="000000"/>
                </a:solidFill>
                <a:effectLst/>
              </a:rPr>
              <a:t>TreeSet</a:t>
            </a:r>
            <a:r>
              <a:rPr lang="en-IN" b="0" i="0" dirty="0">
                <a:solidFill>
                  <a:srgbClr val="000000"/>
                </a:solidFill>
                <a:effectLst/>
              </a:rPr>
              <a:t> class </a:t>
            </a:r>
            <a:r>
              <a:rPr lang="en-IN" b="1" i="0" dirty="0">
                <a:solidFill>
                  <a:srgbClr val="7030A0"/>
                </a:solidFill>
                <a:effectLst/>
              </a:rPr>
              <a:t>maintains ascending order.</a:t>
            </a:r>
          </a:p>
          <a:p>
            <a:endParaRPr lang="en-IN" dirty="0"/>
          </a:p>
        </p:txBody>
      </p:sp>
    </p:spTree>
    <p:extLst>
      <p:ext uri="{BB962C8B-B14F-4D97-AF65-F5344CB8AC3E}">
        <p14:creationId xmlns:p14="http://schemas.microsoft.com/office/powerpoint/2010/main" val="227449734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8ED337-A31D-3E1B-01B7-AB0E0F6E822D}"/>
              </a:ext>
            </a:extLst>
          </p:cNvPr>
          <p:cNvSpPr>
            <a:spLocks noGrp="1"/>
          </p:cNvSpPr>
          <p:nvPr>
            <p:ph idx="1"/>
          </p:nvPr>
        </p:nvSpPr>
        <p:spPr>
          <a:xfrm>
            <a:off x="838200" y="905069"/>
            <a:ext cx="10515600" cy="5253232"/>
          </a:xfrm>
        </p:spPr>
        <p:txBody>
          <a:bodyPr/>
          <a:lstStyle/>
          <a:p>
            <a:pPr marL="0" indent="0">
              <a:lnSpc>
                <a:spcPct val="200000"/>
              </a:lnSpc>
              <a:buNone/>
            </a:pPr>
            <a:r>
              <a:rPr lang="en-IN" b="1" dirty="0">
                <a:solidFill>
                  <a:srgbClr val="7030A0"/>
                </a:solidFill>
              </a:rPr>
              <a:t>Syntax for </a:t>
            </a:r>
            <a:r>
              <a:rPr lang="en-IN" b="1" dirty="0" err="1">
                <a:solidFill>
                  <a:srgbClr val="7030A0"/>
                </a:solidFill>
              </a:rPr>
              <a:t>TreeSet</a:t>
            </a:r>
            <a:endParaRPr lang="en-IN" b="1" dirty="0">
              <a:solidFill>
                <a:srgbClr val="7030A0"/>
              </a:solidFill>
            </a:endParaRPr>
          </a:p>
          <a:p>
            <a:pPr>
              <a:lnSpc>
                <a:spcPct val="200000"/>
              </a:lnSpc>
            </a:pPr>
            <a:r>
              <a:rPr lang="en-US" b="0" i="0" dirty="0" err="1">
                <a:solidFill>
                  <a:srgbClr val="000000"/>
                </a:solidFill>
                <a:effectLst/>
                <a:latin typeface="inter-regular"/>
              </a:rPr>
              <a:t>Treeset</a:t>
            </a:r>
            <a:r>
              <a:rPr lang="en-US" b="0" i="0" dirty="0">
                <a:solidFill>
                  <a:srgbClr val="000000"/>
                </a:solidFill>
                <a:effectLst/>
                <a:latin typeface="inter-regular"/>
              </a:rPr>
              <a:t> &lt;Object&gt; Variable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Treeset</a:t>
            </a:r>
            <a:r>
              <a:rPr lang="en-US" b="0" i="0" dirty="0">
                <a:solidFill>
                  <a:srgbClr val="000000"/>
                </a:solidFill>
                <a:effectLst/>
                <a:latin typeface="inter-regular"/>
              </a:rPr>
              <a:t> &lt;Object&gt;  (); </a:t>
            </a:r>
            <a:endParaRPr lang="en-IN" dirty="0"/>
          </a:p>
          <a:p>
            <a:pPr marL="0" indent="0">
              <a:buNone/>
            </a:pPr>
            <a:endParaRPr lang="en-IN" dirty="0"/>
          </a:p>
        </p:txBody>
      </p:sp>
    </p:spTree>
    <p:extLst>
      <p:ext uri="{BB962C8B-B14F-4D97-AF65-F5344CB8AC3E}">
        <p14:creationId xmlns:p14="http://schemas.microsoft.com/office/powerpoint/2010/main" val="15214605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727E5-DB99-8830-0D59-2A3759F98899}"/>
              </a:ext>
            </a:extLst>
          </p:cNvPr>
          <p:cNvSpPr>
            <a:spLocks noGrp="1"/>
          </p:cNvSpPr>
          <p:nvPr>
            <p:ph idx="1"/>
          </p:nvPr>
        </p:nvSpPr>
        <p:spPr>
          <a:xfrm>
            <a:off x="838200" y="559837"/>
            <a:ext cx="10515600" cy="5617126"/>
          </a:xfrm>
        </p:spPr>
        <p:txBody>
          <a:bodyPr/>
          <a:lstStyle/>
          <a:p>
            <a:r>
              <a:rPr lang="en-US" dirty="0"/>
              <a:t>Difference  between </a:t>
            </a:r>
            <a:r>
              <a:rPr lang="en-US" dirty="0" err="1"/>
              <a:t>hashset</a:t>
            </a:r>
            <a:r>
              <a:rPr lang="en-US" dirty="0"/>
              <a:t> and </a:t>
            </a:r>
            <a:r>
              <a:rPr lang="en-US" dirty="0" err="1"/>
              <a:t>treeset</a:t>
            </a:r>
            <a:endParaRPr lang="en-US" dirty="0"/>
          </a:p>
          <a:p>
            <a:endParaRPr lang="en-US" dirty="0"/>
          </a:p>
          <a:p>
            <a:endParaRPr lang="en-IN" dirty="0"/>
          </a:p>
        </p:txBody>
      </p:sp>
      <p:pic>
        <p:nvPicPr>
          <p:cNvPr id="5" name="Picture 4">
            <a:extLst>
              <a:ext uri="{FF2B5EF4-FFF2-40B4-BE49-F238E27FC236}">
                <a16:creationId xmlns:a16="http://schemas.microsoft.com/office/drawing/2014/main" id="{C60CE009-92B2-3D8E-0DC5-818CC641C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923" y="1682884"/>
            <a:ext cx="3312368" cy="4494079"/>
          </a:xfrm>
          <a:prstGeom prst="rect">
            <a:avLst/>
          </a:prstGeom>
        </p:spPr>
      </p:pic>
      <p:pic>
        <p:nvPicPr>
          <p:cNvPr id="7" name="Picture 6">
            <a:extLst>
              <a:ext uri="{FF2B5EF4-FFF2-40B4-BE49-F238E27FC236}">
                <a16:creationId xmlns:a16="http://schemas.microsoft.com/office/drawing/2014/main" id="{EBB7C15A-883A-93B5-3C26-668EA40751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7037" y="1660022"/>
            <a:ext cx="3243943" cy="4494079"/>
          </a:xfrm>
          <a:prstGeom prst="rect">
            <a:avLst/>
          </a:prstGeom>
        </p:spPr>
      </p:pic>
    </p:spTree>
    <p:extLst>
      <p:ext uri="{BB962C8B-B14F-4D97-AF65-F5344CB8AC3E}">
        <p14:creationId xmlns:p14="http://schemas.microsoft.com/office/powerpoint/2010/main" val="429343051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B03134-101B-0289-1911-7D651D008B6E}"/>
              </a:ext>
            </a:extLst>
          </p:cNvPr>
          <p:cNvSpPr>
            <a:spLocks noGrp="1"/>
          </p:cNvSpPr>
          <p:nvPr>
            <p:ph idx="1"/>
          </p:nvPr>
        </p:nvSpPr>
        <p:spPr>
          <a:xfrm>
            <a:off x="838200" y="447869"/>
            <a:ext cx="10515600" cy="5729094"/>
          </a:xfrm>
        </p:spPr>
        <p:txBody>
          <a:bodyPr/>
          <a:lstStyle/>
          <a:p>
            <a:pPr marL="0" indent="0" algn="just">
              <a:buNone/>
            </a:pPr>
            <a:r>
              <a:rPr lang="en-IN" b="1" i="0" dirty="0">
                <a:solidFill>
                  <a:srgbClr val="7030A0"/>
                </a:solidFill>
                <a:effectLst/>
              </a:rPr>
              <a:t>HashMap</a:t>
            </a:r>
          </a:p>
          <a:p>
            <a:pPr algn="just">
              <a:buFont typeface="Arial" panose="020B0604020202020204" pitchFamily="34" charset="0"/>
              <a:buChar char="•"/>
            </a:pPr>
            <a:r>
              <a:rPr lang="en-IN" b="0" i="0" dirty="0">
                <a:solidFill>
                  <a:srgbClr val="000000"/>
                </a:solidFill>
                <a:effectLst/>
              </a:rPr>
              <a:t>Java HashMap contains </a:t>
            </a:r>
            <a:r>
              <a:rPr lang="en-IN" b="1" i="0" dirty="0">
                <a:solidFill>
                  <a:srgbClr val="7030A0"/>
                </a:solidFill>
                <a:effectLst/>
              </a:rPr>
              <a:t>values based on the key</a:t>
            </a:r>
            <a:r>
              <a:rPr lang="en-IN" b="0" i="0" dirty="0">
                <a:solidFill>
                  <a:srgbClr val="000000"/>
                </a:solidFill>
                <a:effectLst/>
              </a:rPr>
              <a:t>.</a:t>
            </a:r>
          </a:p>
          <a:p>
            <a:pPr algn="just">
              <a:buFont typeface="Arial" panose="020B0604020202020204" pitchFamily="34" charset="0"/>
              <a:buChar char="•"/>
            </a:pPr>
            <a:r>
              <a:rPr lang="en-IN" b="0" i="0" dirty="0">
                <a:solidFill>
                  <a:srgbClr val="000000"/>
                </a:solidFill>
                <a:effectLst/>
              </a:rPr>
              <a:t>Java HashMap contains </a:t>
            </a:r>
            <a:r>
              <a:rPr lang="en-IN" b="1" i="0" dirty="0">
                <a:solidFill>
                  <a:srgbClr val="7030A0"/>
                </a:solidFill>
                <a:effectLst/>
              </a:rPr>
              <a:t>only unique keys.</a:t>
            </a:r>
          </a:p>
          <a:p>
            <a:pPr algn="just">
              <a:buFont typeface="Arial" panose="020B0604020202020204" pitchFamily="34" charset="0"/>
              <a:buChar char="•"/>
            </a:pPr>
            <a:r>
              <a:rPr lang="en-IN" b="0" i="0" dirty="0">
                <a:solidFill>
                  <a:srgbClr val="000000"/>
                </a:solidFill>
                <a:effectLst/>
              </a:rPr>
              <a:t>Java </a:t>
            </a:r>
            <a:r>
              <a:rPr lang="en-IN" b="1" i="0" dirty="0">
                <a:solidFill>
                  <a:srgbClr val="7030A0"/>
                </a:solidFill>
                <a:effectLst/>
              </a:rPr>
              <a:t>HashMap may have one null key and multiple null values.</a:t>
            </a:r>
          </a:p>
          <a:p>
            <a:pPr algn="just">
              <a:buFont typeface="Arial" panose="020B0604020202020204" pitchFamily="34" charset="0"/>
              <a:buChar char="•"/>
            </a:pPr>
            <a:r>
              <a:rPr lang="en-IN" b="0" i="0" dirty="0">
                <a:solidFill>
                  <a:srgbClr val="000000"/>
                </a:solidFill>
                <a:effectLst/>
              </a:rPr>
              <a:t>Java HashMap is non synchronized.</a:t>
            </a:r>
          </a:p>
          <a:p>
            <a:pPr algn="just">
              <a:buFont typeface="Arial" panose="020B0604020202020204" pitchFamily="34" charset="0"/>
              <a:buChar char="•"/>
            </a:pPr>
            <a:r>
              <a:rPr lang="en-IN" b="0" i="0" dirty="0">
                <a:solidFill>
                  <a:srgbClr val="000000"/>
                </a:solidFill>
                <a:effectLst/>
              </a:rPr>
              <a:t>Java HashMap </a:t>
            </a:r>
            <a:r>
              <a:rPr lang="en-IN" b="1" i="0" dirty="0">
                <a:solidFill>
                  <a:srgbClr val="7030A0"/>
                </a:solidFill>
                <a:effectLst/>
              </a:rPr>
              <a:t>maintains no order.</a:t>
            </a:r>
          </a:p>
          <a:p>
            <a:pPr algn="just">
              <a:buFont typeface="Arial" panose="020B0604020202020204" pitchFamily="34" charset="0"/>
              <a:buChar char="•"/>
            </a:pPr>
            <a:r>
              <a:rPr lang="en-IN" b="0" i="0" dirty="0">
                <a:solidFill>
                  <a:srgbClr val="000000"/>
                </a:solidFill>
                <a:effectLst/>
              </a:rPr>
              <a:t>The initial default capacity of Java HashMap class is 16 with a load factor of 0.75.</a:t>
            </a:r>
          </a:p>
        </p:txBody>
      </p:sp>
    </p:spTree>
    <p:extLst>
      <p:ext uri="{BB962C8B-B14F-4D97-AF65-F5344CB8AC3E}">
        <p14:creationId xmlns:p14="http://schemas.microsoft.com/office/powerpoint/2010/main" val="163297817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2335D-48BD-CC52-3AC8-33A1C4BD0FA5}"/>
              </a:ext>
            </a:extLst>
          </p:cNvPr>
          <p:cNvSpPr>
            <a:spLocks noGrp="1"/>
          </p:cNvSpPr>
          <p:nvPr>
            <p:ph idx="1"/>
          </p:nvPr>
        </p:nvSpPr>
        <p:spPr>
          <a:xfrm>
            <a:off x="931506" y="578498"/>
            <a:ext cx="10515600" cy="5738424"/>
          </a:xfrm>
        </p:spPr>
        <p:txBody>
          <a:bodyPr/>
          <a:lstStyle/>
          <a:p>
            <a:pPr marL="0" indent="0">
              <a:lnSpc>
                <a:spcPct val="200000"/>
              </a:lnSpc>
              <a:buNone/>
            </a:pPr>
            <a:r>
              <a:rPr lang="en-IN" b="1" dirty="0">
                <a:solidFill>
                  <a:srgbClr val="7030A0"/>
                </a:solidFill>
              </a:rPr>
              <a:t>Syntax for HashMap</a:t>
            </a:r>
          </a:p>
          <a:p>
            <a:pPr>
              <a:lnSpc>
                <a:spcPct val="200000"/>
              </a:lnSpc>
            </a:pPr>
            <a:r>
              <a:rPr lang="en-US" dirty="0">
                <a:solidFill>
                  <a:srgbClr val="000000"/>
                </a:solidFill>
              </a:rPr>
              <a:t>HashMap</a:t>
            </a:r>
            <a:r>
              <a:rPr lang="en-US" b="0" i="0" dirty="0">
                <a:solidFill>
                  <a:srgbClr val="000000"/>
                </a:solidFill>
                <a:effectLst/>
              </a:rPr>
              <a:t> &lt;</a:t>
            </a:r>
            <a:r>
              <a:rPr lang="en-US" b="0" i="0" dirty="0" err="1">
                <a:solidFill>
                  <a:srgbClr val="000000"/>
                </a:solidFill>
                <a:effectLst/>
              </a:rPr>
              <a:t>Object</a:t>
            </a:r>
            <a:r>
              <a:rPr lang="en-US" dirty="0" err="1">
                <a:solidFill>
                  <a:srgbClr val="000000"/>
                </a:solidFill>
              </a:rPr>
              <a:t>,</a:t>
            </a:r>
            <a:r>
              <a:rPr lang="en-US" b="0" i="0" dirty="0" err="1">
                <a:solidFill>
                  <a:srgbClr val="000000"/>
                </a:solidFill>
                <a:effectLst/>
              </a:rPr>
              <a:t>Object</a:t>
            </a:r>
            <a:r>
              <a:rPr lang="en-US" b="0" i="0" dirty="0">
                <a:solidFill>
                  <a:srgbClr val="000000"/>
                </a:solidFill>
                <a:effectLst/>
              </a:rPr>
              <a:t>&gt;  Variable =</a:t>
            </a:r>
          </a:p>
          <a:p>
            <a:pPr marL="0" indent="0">
              <a:lnSpc>
                <a:spcPct val="200000"/>
              </a:lnSpc>
              <a:buNone/>
            </a:pPr>
            <a:r>
              <a:rPr lang="en-US" dirty="0">
                <a:solidFill>
                  <a:srgbClr val="000000"/>
                </a:solidFill>
              </a:rPr>
              <a:t>                                      </a:t>
            </a:r>
            <a:r>
              <a:rPr lang="en-US" b="1" i="0" dirty="0">
                <a:solidFill>
                  <a:srgbClr val="006699"/>
                </a:solidFill>
                <a:effectLst/>
              </a:rPr>
              <a:t>new</a:t>
            </a:r>
            <a:r>
              <a:rPr lang="en-US" b="0" i="0" dirty="0">
                <a:solidFill>
                  <a:srgbClr val="000000"/>
                </a:solidFill>
                <a:effectLst/>
              </a:rPr>
              <a:t>  </a:t>
            </a:r>
            <a:r>
              <a:rPr lang="en-US" dirty="0">
                <a:solidFill>
                  <a:srgbClr val="000000"/>
                </a:solidFill>
              </a:rPr>
              <a:t>HashMap</a:t>
            </a:r>
            <a:r>
              <a:rPr lang="en-US" b="0" i="0" dirty="0">
                <a:solidFill>
                  <a:srgbClr val="000000"/>
                </a:solidFill>
                <a:effectLst/>
              </a:rPr>
              <a:t> &lt;</a:t>
            </a:r>
            <a:r>
              <a:rPr lang="en-US" b="0" i="0" dirty="0" err="1">
                <a:solidFill>
                  <a:srgbClr val="000000"/>
                </a:solidFill>
                <a:effectLst/>
              </a:rPr>
              <a:t>Object</a:t>
            </a:r>
            <a:r>
              <a:rPr lang="en-US" dirty="0" err="1">
                <a:solidFill>
                  <a:srgbClr val="000000"/>
                </a:solidFill>
              </a:rPr>
              <a:t>,</a:t>
            </a:r>
            <a:r>
              <a:rPr lang="en-US" b="0" i="0" dirty="0" err="1">
                <a:solidFill>
                  <a:srgbClr val="000000"/>
                </a:solidFill>
                <a:effectLst/>
              </a:rPr>
              <a:t>Object</a:t>
            </a:r>
            <a:r>
              <a:rPr lang="en-US" b="0" i="0" dirty="0">
                <a:solidFill>
                  <a:srgbClr val="000000"/>
                </a:solidFill>
                <a:effectLst/>
              </a:rPr>
              <a:t>&gt;  (); </a:t>
            </a:r>
            <a:endParaRPr lang="en-IN" dirty="0"/>
          </a:p>
          <a:p>
            <a:pPr marL="0" indent="0">
              <a:buNone/>
            </a:pPr>
            <a:endParaRPr lang="en-IN" dirty="0"/>
          </a:p>
        </p:txBody>
      </p:sp>
    </p:spTree>
    <p:extLst>
      <p:ext uri="{BB962C8B-B14F-4D97-AF65-F5344CB8AC3E}">
        <p14:creationId xmlns:p14="http://schemas.microsoft.com/office/powerpoint/2010/main" val="40042738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67D09-E4C8-0BFA-175B-30091C993235}"/>
              </a:ext>
            </a:extLst>
          </p:cNvPr>
          <p:cNvSpPr>
            <a:spLocks noGrp="1"/>
          </p:cNvSpPr>
          <p:nvPr>
            <p:ph idx="1"/>
          </p:nvPr>
        </p:nvSpPr>
        <p:spPr>
          <a:xfrm>
            <a:off x="838200" y="690465"/>
            <a:ext cx="10515600" cy="5486498"/>
          </a:xfrm>
        </p:spPr>
        <p:txBody>
          <a:bodyPr/>
          <a:lstStyle/>
          <a:p>
            <a:pPr marL="0" indent="0">
              <a:buNone/>
            </a:pPr>
            <a:r>
              <a:rPr lang="en-IN" b="1" dirty="0">
                <a:solidFill>
                  <a:srgbClr val="7F0055"/>
                </a:solidFill>
                <a:effectLst/>
              </a:rPr>
              <a:t>for</a:t>
            </a:r>
            <a:r>
              <a:rPr lang="en-IN" dirty="0">
                <a:solidFill>
                  <a:srgbClr val="000000"/>
                </a:solidFill>
                <a:effectLst/>
              </a:rPr>
              <a:t>(</a:t>
            </a:r>
            <a:r>
              <a:rPr lang="en-IN" dirty="0" err="1">
                <a:solidFill>
                  <a:srgbClr val="000000"/>
                </a:solidFill>
                <a:effectLst/>
              </a:rPr>
              <a:t>Map.Entry</a:t>
            </a:r>
            <a:r>
              <a:rPr lang="en-IN" dirty="0">
                <a:solidFill>
                  <a:srgbClr val="000000"/>
                </a:solidFill>
                <a:effectLst/>
              </a:rPr>
              <a:t>&lt;Integer, String&gt; </a:t>
            </a:r>
            <a:r>
              <a:rPr lang="en-IN" dirty="0">
                <a:solidFill>
                  <a:srgbClr val="6A3E3E"/>
                </a:solidFill>
                <a:effectLst/>
              </a:rPr>
              <a:t>v</a:t>
            </a:r>
            <a:r>
              <a:rPr lang="en-IN" dirty="0">
                <a:solidFill>
                  <a:srgbClr val="000000"/>
                </a:solidFill>
                <a:effectLst/>
              </a:rPr>
              <a:t>: </a:t>
            </a:r>
            <a:r>
              <a:rPr lang="en-IN" dirty="0" err="1">
                <a:solidFill>
                  <a:srgbClr val="6A3E3E"/>
                </a:solidFill>
                <a:effectLst/>
              </a:rPr>
              <a:t>h</a:t>
            </a:r>
            <a:r>
              <a:rPr lang="en-IN" dirty="0" err="1">
                <a:solidFill>
                  <a:srgbClr val="000000"/>
                </a:solidFill>
                <a:effectLst/>
              </a:rPr>
              <a:t>.entrySet</a:t>
            </a:r>
            <a:r>
              <a:rPr lang="en-IN" dirty="0">
                <a:solidFill>
                  <a:srgbClr val="000000"/>
                </a:solidFill>
                <a:effectLst/>
              </a:rPr>
              <a:t>())</a:t>
            </a:r>
          </a:p>
          <a:p>
            <a:pPr marL="0" indent="0">
              <a:buNone/>
            </a:pPr>
            <a:r>
              <a:rPr lang="en-IN" dirty="0">
                <a:solidFill>
                  <a:srgbClr val="000000"/>
                </a:solidFill>
                <a:effectLst/>
              </a:rPr>
              <a:t>{</a:t>
            </a:r>
          </a:p>
          <a:p>
            <a:pPr marL="0" indent="0">
              <a:buNone/>
            </a:pPr>
            <a:r>
              <a:rPr lang="en-IN" dirty="0" err="1">
                <a:solidFill>
                  <a:srgbClr val="000000"/>
                </a:solidFill>
                <a:effectLst/>
              </a:rPr>
              <a:t>System.</a:t>
            </a:r>
            <a:r>
              <a:rPr lang="en-IN" b="1" i="1" dirty="0" err="1">
                <a:solidFill>
                  <a:srgbClr val="0000C0"/>
                </a:solidFill>
                <a:effectLst/>
              </a:rPr>
              <a:t>out</a:t>
            </a:r>
            <a:r>
              <a:rPr lang="en-IN" dirty="0" err="1">
                <a:solidFill>
                  <a:srgbClr val="000000"/>
                </a:solidFill>
                <a:effectLst/>
              </a:rPr>
              <a:t>.println</a:t>
            </a:r>
            <a:r>
              <a:rPr lang="en-IN" dirty="0">
                <a:solidFill>
                  <a:srgbClr val="000000"/>
                </a:solidFill>
                <a:effectLst/>
              </a:rPr>
              <a:t>(</a:t>
            </a:r>
            <a:r>
              <a:rPr lang="en-IN" dirty="0">
                <a:solidFill>
                  <a:srgbClr val="6A3E3E"/>
                </a:solidFill>
                <a:effectLst/>
              </a:rPr>
              <a:t>v</a:t>
            </a:r>
            <a:r>
              <a:rPr lang="en-IN" dirty="0">
                <a:solidFill>
                  <a:srgbClr val="000000"/>
                </a:solidFill>
                <a:effectLst/>
              </a:rPr>
              <a:t>);</a:t>
            </a:r>
          </a:p>
          <a:p>
            <a:pPr marL="0" indent="0">
              <a:buNone/>
            </a:pPr>
            <a:r>
              <a:rPr lang="en-IN" dirty="0">
                <a:solidFill>
                  <a:srgbClr val="000000"/>
                </a:solidFill>
                <a:effectLst/>
              </a:rPr>
              <a:t>}</a:t>
            </a:r>
          </a:p>
          <a:p>
            <a:pPr marL="0" indent="0">
              <a:buNone/>
            </a:pPr>
            <a:r>
              <a:rPr lang="en-IN" dirty="0" err="1">
                <a:solidFill>
                  <a:srgbClr val="6A3E3E"/>
                </a:solidFill>
                <a:effectLst/>
              </a:rPr>
              <a:t>h</a:t>
            </a:r>
            <a:r>
              <a:rPr lang="en-IN" dirty="0" err="1">
                <a:solidFill>
                  <a:srgbClr val="000000"/>
                </a:solidFill>
                <a:effectLst/>
              </a:rPr>
              <a:t>.compute</a:t>
            </a:r>
            <a:r>
              <a:rPr lang="en-IN" dirty="0">
                <a:solidFill>
                  <a:srgbClr val="000000"/>
                </a:solidFill>
                <a:effectLst/>
              </a:rPr>
              <a:t>(4,(</a:t>
            </a:r>
            <a:r>
              <a:rPr lang="en-IN" dirty="0" err="1">
                <a:solidFill>
                  <a:srgbClr val="6A3E3E"/>
                </a:solidFill>
                <a:effectLst/>
              </a:rPr>
              <a:t>key</a:t>
            </a:r>
            <a:r>
              <a:rPr lang="en-IN" dirty="0" err="1">
                <a:solidFill>
                  <a:srgbClr val="000000"/>
                </a:solidFill>
                <a:effectLst/>
              </a:rPr>
              <a:t>,</a:t>
            </a:r>
            <a:r>
              <a:rPr lang="en-IN" dirty="0" err="1">
                <a:solidFill>
                  <a:srgbClr val="6A3E3E"/>
                </a:solidFill>
                <a:effectLst/>
              </a:rPr>
              <a:t>val</a:t>
            </a:r>
            <a:r>
              <a:rPr lang="en-IN" dirty="0">
                <a:solidFill>
                  <a:srgbClr val="000000"/>
                </a:solidFill>
                <a:effectLst/>
              </a:rPr>
              <a:t>)-&gt;</a:t>
            </a:r>
            <a:r>
              <a:rPr lang="en-IN" dirty="0" err="1">
                <a:solidFill>
                  <a:srgbClr val="6A3E3E"/>
                </a:solidFill>
                <a:effectLst/>
              </a:rPr>
              <a:t>val</a:t>
            </a:r>
            <a:r>
              <a:rPr lang="en-IN" dirty="0" err="1">
                <a:solidFill>
                  <a:srgbClr val="000000"/>
                </a:solidFill>
                <a:effectLst/>
              </a:rPr>
              <a:t>.concat</a:t>
            </a:r>
            <a:r>
              <a:rPr lang="en-IN" dirty="0">
                <a:solidFill>
                  <a:srgbClr val="000000"/>
                </a:solidFill>
                <a:effectLst/>
              </a:rPr>
              <a:t>(</a:t>
            </a:r>
            <a:r>
              <a:rPr lang="en-IN" dirty="0">
                <a:solidFill>
                  <a:srgbClr val="2A00FF"/>
                </a:solidFill>
                <a:effectLst/>
              </a:rPr>
              <a:t>"</a:t>
            </a:r>
            <a:r>
              <a:rPr lang="en-IN" dirty="0" err="1">
                <a:solidFill>
                  <a:srgbClr val="2A00FF"/>
                </a:solidFill>
                <a:effectLst/>
              </a:rPr>
              <a:t>jana</a:t>
            </a:r>
            <a:r>
              <a:rPr lang="en-IN" dirty="0">
                <a:solidFill>
                  <a:srgbClr val="2A00FF"/>
                </a:solidFill>
                <a:effectLst/>
              </a:rPr>
              <a:t>"</a:t>
            </a:r>
            <a:r>
              <a:rPr lang="en-IN" dirty="0">
                <a:solidFill>
                  <a:srgbClr val="000000"/>
                </a:solidFill>
                <a:effectLst/>
              </a:rPr>
              <a:t>));</a:t>
            </a:r>
          </a:p>
          <a:p>
            <a:pPr marL="0" indent="0">
              <a:buNone/>
            </a:pPr>
            <a:r>
              <a:rPr lang="en-IN" dirty="0" err="1">
                <a:solidFill>
                  <a:srgbClr val="000000"/>
                </a:solidFill>
                <a:effectLst/>
              </a:rPr>
              <a:t>System.</a:t>
            </a:r>
            <a:r>
              <a:rPr lang="en-IN" b="1" i="1" dirty="0" err="1">
                <a:solidFill>
                  <a:srgbClr val="0000C0"/>
                </a:solidFill>
                <a:effectLst/>
              </a:rPr>
              <a:t>out</a:t>
            </a:r>
            <a:r>
              <a:rPr lang="en-IN" dirty="0" err="1">
                <a:solidFill>
                  <a:srgbClr val="000000"/>
                </a:solidFill>
                <a:effectLst/>
              </a:rPr>
              <a:t>.println</a:t>
            </a:r>
            <a:r>
              <a:rPr lang="en-IN" dirty="0">
                <a:solidFill>
                  <a:srgbClr val="000000"/>
                </a:solidFill>
                <a:effectLst/>
              </a:rPr>
              <a:t>(</a:t>
            </a:r>
            <a:r>
              <a:rPr lang="en-IN" dirty="0">
                <a:solidFill>
                  <a:srgbClr val="6A3E3E"/>
                </a:solidFill>
                <a:effectLst/>
              </a:rPr>
              <a:t>h</a:t>
            </a:r>
            <a:r>
              <a:rPr lang="en-IN" dirty="0">
                <a:solidFill>
                  <a:srgbClr val="000000"/>
                </a:solidFill>
                <a:effectLst/>
              </a:rPr>
              <a:t>);</a:t>
            </a:r>
          </a:p>
          <a:p>
            <a:pPr marL="0" indent="0">
              <a:buNone/>
            </a:pPr>
            <a:r>
              <a:rPr lang="en-IN" dirty="0" err="1">
                <a:solidFill>
                  <a:srgbClr val="6A3E3E"/>
                </a:solidFill>
                <a:effectLst/>
              </a:rPr>
              <a:t>h</a:t>
            </a:r>
            <a:r>
              <a:rPr lang="en-IN" dirty="0" err="1">
                <a:solidFill>
                  <a:srgbClr val="000000"/>
                </a:solidFill>
                <a:effectLst/>
              </a:rPr>
              <a:t>.computeIfPresent</a:t>
            </a:r>
            <a:r>
              <a:rPr lang="en-IN" dirty="0">
                <a:solidFill>
                  <a:srgbClr val="000000"/>
                </a:solidFill>
                <a:effectLst/>
              </a:rPr>
              <a:t>(5,(</a:t>
            </a:r>
            <a:r>
              <a:rPr lang="en-IN" dirty="0" err="1">
                <a:solidFill>
                  <a:srgbClr val="6A3E3E"/>
                </a:solidFill>
                <a:effectLst/>
              </a:rPr>
              <a:t>key</a:t>
            </a:r>
            <a:r>
              <a:rPr lang="en-IN" dirty="0" err="1">
                <a:solidFill>
                  <a:srgbClr val="000000"/>
                </a:solidFill>
                <a:effectLst/>
              </a:rPr>
              <a:t>,</a:t>
            </a:r>
            <a:r>
              <a:rPr lang="en-IN" dirty="0" err="1">
                <a:solidFill>
                  <a:srgbClr val="6A3E3E"/>
                </a:solidFill>
                <a:effectLst/>
              </a:rPr>
              <a:t>val</a:t>
            </a:r>
            <a:r>
              <a:rPr lang="en-IN" dirty="0">
                <a:solidFill>
                  <a:srgbClr val="000000"/>
                </a:solidFill>
                <a:effectLst/>
              </a:rPr>
              <a:t>)-&gt;</a:t>
            </a:r>
            <a:r>
              <a:rPr lang="en-IN" dirty="0" err="1">
                <a:solidFill>
                  <a:srgbClr val="6A3E3E"/>
                </a:solidFill>
                <a:effectLst/>
              </a:rPr>
              <a:t>val</a:t>
            </a:r>
            <a:r>
              <a:rPr lang="en-IN" dirty="0">
                <a:solidFill>
                  <a:srgbClr val="000000"/>
                </a:solidFill>
                <a:effectLst/>
              </a:rPr>
              <a:t>+(</a:t>
            </a:r>
            <a:r>
              <a:rPr lang="en-IN" dirty="0">
                <a:solidFill>
                  <a:srgbClr val="2A00FF"/>
                </a:solidFill>
                <a:effectLst/>
              </a:rPr>
              <a:t>"</a:t>
            </a:r>
            <a:r>
              <a:rPr lang="en-IN" dirty="0" err="1">
                <a:solidFill>
                  <a:srgbClr val="2A00FF"/>
                </a:solidFill>
                <a:effectLst/>
              </a:rPr>
              <a:t>janarthanan</a:t>
            </a:r>
            <a:r>
              <a:rPr lang="en-IN" dirty="0">
                <a:solidFill>
                  <a:srgbClr val="2A00FF"/>
                </a:solidFill>
                <a:effectLst/>
              </a:rPr>
              <a:t>"</a:t>
            </a:r>
            <a:r>
              <a:rPr lang="en-IN" dirty="0">
                <a:solidFill>
                  <a:srgbClr val="000000"/>
                </a:solidFill>
                <a:effectLst/>
              </a:rPr>
              <a:t>));</a:t>
            </a:r>
          </a:p>
          <a:p>
            <a:pPr marL="0" indent="0">
              <a:buNone/>
            </a:pPr>
            <a:r>
              <a:rPr lang="en-IN" dirty="0" err="1">
                <a:solidFill>
                  <a:srgbClr val="000000"/>
                </a:solidFill>
                <a:effectLst/>
              </a:rPr>
              <a:t>System.</a:t>
            </a:r>
            <a:r>
              <a:rPr lang="en-IN" b="1" i="1" dirty="0" err="1">
                <a:solidFill>
                  <a:srgbClr val="0000C0"/>
                </a:solidFill>
                <a:effectLst/>
              </a:rPr>
              <a:t>out</a:t>
            </a:r>
            <a:r>
              <a:rPr lang="en-IN" dirty="0" err="1">
                <a:solidFill>
                  <a:srgbClr val="000000"/>
                </a:solidFill>
                <a:effectLst/>
              </a:rPr>
              <a:t>.println</a:t>
            </a:r>
            <a:r>
              <a:rPr lang="en-IN" dirty="0">
                <a:solidFill>
                  <a:srgbClr val="000000"/>
                </a:solidFill>
                <a:effectLst/>
              </a:rPr>
              <a:t>(</a:t>
            </a:r>
            <a:r>
              <a:rPr lang="en-IN" dirty="0">
                <a:solidFill>
                  <a:srgbClr val="6A3E3E"/>
                </a:solidFill>
                <a:effectLst/>
              </a:rPr>
              <a:t>h</a:t>
            </a:r>
            <a:r>
              <a:rPr lang="en-IN" dirty="0">
                <a:solidFill>
                  <a:srgbClr val="000000"/>
                </a:solidFill>
                <a:effectLst/>
              </a:rPr>
              <a:t>);</a:t>
            </a:r>
          </a:p>
          <a:p>
            <a:pPr marL="0" indent="0">
              <a:buNone/>
            </a:pPr>
            <a:r>
              <a:rPr lang="en-IN" dirty="0" err="1">
                <a:solidFill>
                  <a:srgbClr val="6A3E3E"/>
                </a:solidFill>
                <a:effectLst/>
              </a:rPr>
              <a:t>h</a:t>
            </a:r>
            <a:r>
              <a:rPr lang="en-IN" dirty="0" err="1">
                <a:solidFill>
                  <a:srgbClr val="000000"/>
                </a:solidFill>
                <a:effectLst/>
              </a:rPr>
              <a:t>.computeIfAbsent</a:t>
            </a:r>
            <a:r>
              <a:rPr lang="en-IN" dirty="0">
                <a:solidFill>
                  <a:srgbClr val="000000"/>
                </a:solidFill>
                <a:effectLst/>
              </a:rPr>
              <a:t>(7,</a:t>
            </a:r>
            <a:r>
              <a:rPr lang="en-IN" dirty="0">
                <a:solidFill>
                  <a:srgbClr val="6A3E3E"/>
                </a:solidFill>
                <a:effectLst/>
              </a:rPr>
              <a:t>k</a:t>
            </a:r>
            <a:r>
              <a:rPr lang="en-IN" dirty="0">
                <a:solidFill>
                  <a:srgbClr val="000000"/>
                </a:solidFill>
                <a:effectLst/>
              </a:rPr>
              <a:t>-&gt; </a:t>
            </a:r>
            <a:r>
              <a:rPr lang="en-IN" dirty="0">
                <a:solidFill>
                  <a:srgbClr val="2A00FF"/>
                </a:solidFill>
                <a:effectLst/>
              </a:rPr>
              <a:t>"</a:t>
            </a:r>
            <a:r>
              <a:rPr lang="en-IN" dirty="0" err="1">
                <a:solidFill>
                  <a:srgbClr val="2A00FF"/>
                </a:solidFill>
                <a:effectLst/>
              </a:rPr>
              <a:t>keerthi</a:t>
            </a:r>
            <a:r>
              <a:rPr lang="en-IN" dirty="0">
                <a:solidFill>
                  <a:srgbClr val="2A00FF"/>
                </a:solidFill>
                <a:effectLst/>
              </a:rPr>
              <a:t>"</a:t>
            </a:r>
            <a:r>
              <a:rPr lang="en-IN" dirty="0">
                <a:solidFill>
                  <a:srgbClr val="000000"/>
                </a:solidFill>
                <a:effectLst/>
              </a:rPr>
              <a:t>+</a:t>
            </a:r>
            <a:r>
              <a:rPr lang="en-IN" dirty="0">
                <a:solidFill>
                  <a:srgbClr val="2A00FF"/>
                </a:solidFill>
                <a:effectLst/>
              </a:rPr>
              <a:t>"Pooja"</a:t>
            </a:r>
            <a:r>
              <a:rPr lang="en-IN" dirty="0">
                <a:solidFill>
                  <a:srgbClr val="000000"/>
                </a:solidFill>
                <a:effectLst/>
              </a:rPr>
              <a:t>);</a:t>
            </a:r>
          </a:p>
        </p:txBody>
      </p:sp>
    </p:spTree>
    <p:extLst>
      <p:ext uri="{BB962C8B-B14F-4D97-AF65-F5344CB8AC3E}">
        <p14:creationId xmlns:p14="http://schemas.microsoft.com/office/powerpoint/2010/main" val="29791639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73820-CD7C-E225-EF6F-EA1C0B0D8E8F}"/>
              </a:ext>
            </a:extLst>
          </p:cNvPr>
          <p:cNvSpPr>
            <a:spLocks noGrp="1"/>
          </p:cNvSpPr>
          <p:nvPr>
            <p:ph type="title"/>
          </p:nvPr>
        </p:nvSpPr>
        <p:spPr>
          <a:xfrm>
            <a:off x="838200" y="365126"/>
            <a:ext cx="10515600" cy="1323716"/>
          </a:xfrm>
        </p:spPr>
        <p:txBody>
          <a:bodyPr>
            <a:normAutofit/>
          </a:bodyPr>
          <a:lstStyle/>
          <a:p>
            <a:r>
              <a:rPr lang="en-IN" sz="2800" dirty="0"/>
              <a:t>Difference Between </a:t>
            </a:r>
            <a:r>
              <a:rPr lang="en-IN" sz="2800" dirty="0" err="1"/>
              <a:t>Hashmap</a:t>
            </a:r>
            <a:r>
              <a:rPr lang="en-IN" sz="2800" dirty="0"/>
              <a:t> and </a:t>
            </a:r>
            <a:r>
              <a:rPr lang="en-IN" sz="2800" dirty="0" err="1"/>
              <a:t>Hashset</a:t>
            </a:r>
            <a:endParaRPr lang="en-IN" sz="2800" dirty="0"/>
          </a:p>
        </p:txBody>
      </p:sp>
      <p:pic>
        <p:nvPicPr>
          <p:cNvPr id="5" name="Content Placeholder 4">
            <a:extLst>
              <a:ext uri="{FF2B5EF4-FFF2-40B4-BE49-F238E27FC236}">
                <a16:creationId xmlns:a16="http://schemas.microsoft.com/office/drawing/2014/main" id="{448AFC7B-A202-E9C3-11BF-84A15B0BE7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0890" y="1688842"/>
            <a:ext cx="8070979" cy="4142791"/>
          </a:xfrm>
        </p:spPr>
      </p:pic>
    </p:spTree>
    <p:extLst>
      <p:ext uri="{BB962C8B-B14F-4D97-AF65-F5344CB8AC3E}">
        <p14:creationId xmlns:p14="http://schemas.microsoft.com/office/powerpoint/2010/main" val="189547882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1A6A35-BE2E-DF91-BC14-548CF7DC9D01}"/>
              </a:ext>
            </a:extLst>
          </p:cNvPr>
          <p:cNvSpPr>
            <a:spLocks noGrp="1"/>
          </p:cNvSpPr>
          <p:nvPr>
            <p:ph idx="1"/>
          </p:nvPr>
        </p:nvSpPr>
        <p:spPr>
          <a:xfrm>
            <a:off x="838200" y="485192"/>
            <a:ext cx="10515600" cy="5691771"/>
          </a:xfrm>
        </p:spPr>
        <p:txBody>
          <a:bodyPr/>
          <a:lstStyle/>
          <a:p>
            <a:pPr marL="0" indent="0">
              <a:buNone/>
            </a:pPr>
            <a:r>
              <a:rPr lang="en-IN" b="1" dirty="0" err="1">
                <a:solidFill>
                  <a:srgbClr val="7030A0"/>
                </a:solidFill>
              </a:rPr>
              <a:t>Treemap</a:t>
            </a:r>
            <a:endParaRPr lang="en-IN" b="1" dirty="0">
              <a:solidFill>
                <a:srgbClr val="7030A0"/>
              </a:solidFill>
            </a:endParaRP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contains only </a:t>
            </a:r>
            <a:r>
              <a:rPr lang="en-IN" b="1" i="0" dirty="0">
                <a:solidFill>
                  <a:srgbClr val="7030A0"/>
                </a:solidFill>
                <a:effectLst/>
              </a:rPr>
              <a:t>unique elements.</a:t>
            </a: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a:t>
            </a:r>
            <a:r>
              <a:rPr lang="en-IN" b="1" i="0" dirty="0">
                <a:solidFill>
                  <a:srgbClr val="7030A0"/>
                </a:solidFill>
                <a:effectLst/>
              </a:rPr>
              <a:t>cannot have a null key but can have multiple null values.</a:t>
            </a: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is </a:t>
            </a:r>
            <a:r>
              <a:rPr lang="en-IN" b="1" i="0" dirty="0">
                <a:solidFill>
                  <a:srgbClr val="7030A0"/>
                </a:solidFill>
                <a:effectLst/>
              </a:rPr>
              <a:t>non synchronized</a:t>
            </a:r>
            <a:r>
              <a:rPr lang="en-IN" b="0" i="0" dirty="0">
                <a:solidFill>
                  <a:srgbClr val="000000"/>
                </a:solidFill>
                <a:effectLst/>
              </a:rPr>
              <a:t>.</a:t>
            </a: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a:t>
            </a:r>
            <a:r>
              <a:rPr lang="en-IN" b="1" i="0" dirty="0">
                <a:solidFill>
                  <a:srgbClr val="7030A0"/>
                </a:solidFill>
                <a:effectLst/>
              </a:rPr>
              <a:t>maintains ascending order.</a:t>
            </a:r>
          </a:p>
          <a:p>
            <a:pPr marL="0" indent="0">
              <a:buNone/>
            </a:pPr>
            <a:endParaRPr lang="en-IN" dirty="0"/>
          </a:p>
        </p:txBody>
      </p:sp>
    </p:spTree>
    <p:extLst>
      <p:ext uri="{BB962C8B-B14F-4D97-AF65-F5344CB8AC3E}">
        <p14:creationId xmlns:p14="http://schemas.microsoft.com/office/powerpoint/2010/main" val="81093607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03CC0E-A01E-79DC-F14B-D458EF111A45}"/>
              </a:ext>
            </a:extLst>
          </p:cNvPr>
          <p:cNvSpPr>
            <a:spLocks noGrp="1"/>
          </p:cNvSpPr>
          <p:nvPr>
            <p:ph idx="1"/>
          </p:nvPr>
        </p:nvSpPr>
        <p:spPr>
          <a:xfrm>
            <a:off x="838200" y="541176"/>
            <a:ext cx="10515600" cy="5635787"/>
          </a:xfrm>
        </p:spPr>
        <p:txBody>
          <a:bodyPr/>
          <a:lstStyle/>
          <a:p>
            <a:pPr marL="0" indent="0">
              <a:lnSpc>
                <a:spcPct val="200000"/>
              </a:lnSpc>
              <a:buNone/>
            </a:pPr>
            <a:r>
              <a:rPr lang="en-IN" b="1" dirty="0">
                <a:solidFill>
                  <a:srgbClr val="7030A0"/>
                </a:solidFill>
              </a:rPr>
              <a:t>Syntax for </a:t>
            </a:r>
            <a:r>
              <a:rPr lang="en-IN" b="1" dirty="0" err="1">
                <a:solidFill>
                  <a:srgbClr val="7030A0"/>
                </a:solidFill>
              </a:rPr>
              <a:t>TreeMap</a:t>
            </a:r>
            <a:endParaRPr lang="en-IN" b="1" dirty="0">
              <a:solidFill>
                <a:srgbClr val="7030A0"/>
              </a:solidFill>
            </a:endParaRPr>
          </a:p>
          <a:p>
            <a:pPr>
              <a:lnSpc>
                <a:spcPct val="200000"/>
              </a:lnSpc>
            </a:pPr>
            <a:r>
              <a:rPr lang="en-US" dirty="0" err="1">
                <a:solidFill>
                  <a:srgbClr val="000000"/>
                </a:solidFill>
                <a:latin typeface="inter-regular"/>
              </a:rPr>
              <a:t>TreeMap</a:t>
            </a:r>
            <a:r>
              <a:rPr lang="en-US" b="0" i="0" dirty="0">
                <a:solidFill>
                  <a:srgbClr val="000000"/>
                </a:solidFill>
                <a:effectLst/>
                <a:latin typeface="inter-regular"/>
              </a:rPr>
              <a:t> &lt;</a:t>
            </a:r>
            <a:r>
              <a:rPr lang="en-US" b="0" i="0" dirty="0" err="1">
                <a:solidFill>
                  <a:srgbClr val="000000"/>
                </a:solidFill>
                <a:effectLst/>
                <a:latin typeface="inter-regular"/>
              </a:rPr>
              <a:t>Object</a:t>
            </a:r>
            <a:r>
              <a:rPr lang="en-US" dirty="0" err="1">
                <a:solidFill>
                  <a:srgbClr val="000000"/>
                </a:solidFill>
                <a:latin typeface="inter-regular"/>
              </a:rPr>
              <a:t>,</a:t>
            </a:r>
            <a:r>
              <a:rPr lang="en-US" b="0" i="0" dirty="0" err="1">
                <a:solidFill>
                  <a:srgbClr val="000000"/>
                </a:solidFill>
                <a:effectLst/>
                <a:latin typeface="inter-regular"/>
              </a:rPr>
              <a:t>Object</a:t>
            </a:r>
            <a:r>
              <a:rPr lang="en-US" b="0" i="0" dirty="0">
                <a:solidFill>
                  <a:srgbClr val="000000"/>
                </a:solidFill>
                <a:effectLst/>
                <a:latin typeface="inter-regular"/>
              </a:rPr>
              <a:t>&gt;  Variable =</a:t>
            </a:r>
          </a:p>
          <a:p>
            <a:pPr marL="0" indent="0">
              <a:lnSpc>
                <a:spcPct val="200000"/>
              </a:lnSpc>
              <a:buNone/>
            </a:pPr>
            <a:r>
              <a:rPr lang="en-US" dirty="0">
                <a:solidFill>
                  <a:srgbClr val="000000"/>
                </a:solidFill>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Tree</a:t>
            </a:r>
            <a:r>
              <a:rPr lang="en-US" dirty="0" err="1">
                <a:solidFill>
                  <a:srgbClr val="000000"/>
                </a:solidFill>
                <a:latin typeface="inter-regular"/>
              </a:rPr>
              <a:t>Map</a:t>
            </a:r>
            <a:r>
              <a:rPr lang="en-US" b="0" i="0" dirty="0">
                <a:solidFill>
                  <a:srgbClr val="000000"/>
                </a:solidFill>
                <a:effectLst/>
                <a:latin typeface="inter-regular"/>
              </a:rPr>
              <a:t> &lt;</a:t>
            </a:r>
            <a:r>
              <a:rPr lang="en-US" b="0" i="0" dirty="0" err="1">
                <a:solidFill>
                  <a:srgbClr val="000000"/>
                </a:solidFill>
                <a:effectLst/>
                <a:latin typeface="inter-regular"/>
              </a:rPr>
              <a:t>Object</a:t>
            </a:r>
            <a:r>
              <a:rPr lang="en-US" dirty="0" err="1">
                <a:solidFill>
                  <a:srgbClr val="000000"/>
                </a:solidFill>
                <a:latin typeface="inter-regular"/>
              </a:rPr>
              <a:t>,</a:t>
            </a:r>
            <a:r>
              <a:rPr lang="en-US" b="0" i="0" dirty="0" err="1">
                <a:solidFill>
                  <a:srgbClr val="000000"/>
                </a:solidFill>
                <a:effectLst/>
                <a:latin typeface="inter-regular"/>
              </a:rPr>
              <a:t>Object</a:t>
            </a:r>
            <a:r>
              <a:rPr lang="en-US" b="0" i="0" dirty="0">
                <a:solidFill>
                  <a:srgbClr val="000000"/>
                </a:solidFill>
                <a:effectLst/>
                <a:latin typeface="inter-regular"/>
              </a:rPr>
              <a:t>&gt;  (); </a:t>
            </a:r>
            <a:endParaRPr lang="en-IN" dirty="0"/>
          </a:p>
          <a:p>
            <a:pPr marL="0" indent="0">
              <a:buNone/>
            </a:pPr>
            <a:endParaRPr lang="en-IN" dirty="0"/>
          </a:p>
        </p:txBody>
      </p:sp>
    </p:spTree>
    <p:extLst>
      <p:ext uri="{BB962C8B-B14F-4D97-AF65-F5344CB8AC3E}">
        <p14:creationId xmlns:p14="http://schemas.microsoft.com/office/powerpoint/2010/main" val="2744116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83754-7287-3A24-3ABA-0B9AA391120D}"/>
              </a:ext>
            </a:extLst>
          </p:cNvPr>
          <p:cNvSpPr>
            <a:spLocks noGrp="1"/>
          </p:cNvSpPr>
          <p:nvPr>
            <p:ph idx="1"/>
          </p:nvPr>
        </p:nvSpPr>
        <p:spPr>
          <a:xfrm>
            <a:off x="838200" y="457200"/>
            <a:ext cx="10515600" cy="5719763"/>
          </a:xfrm>
        </p:spPr>
        <p:txBody>
          <a:bodyPr/>
          <a:lstStyle/>
          <a:p>
            <a:r>
              <a:rPr lang="en-IN" dirty="0"/>
              <a:t>Difference between HashMap and </a:t>
            </a:r>
            <a:r>
              <a:rPr lang="en-IN" dirty="0" err="1"/>
              <a:t>TreeMap</a:t>
            </a:r>
            <a:endParaRPr lang="en-IN" dirty="0"/>
          </a:p>
          <a:p>
            <a:endParaRPr lang="en-IN" dirty="0"/>
          </a:p>
        </p:txBody>
      </p:sp>
      <p:pic>
        <p:nvPicPr>
          <p:cNvPr id="5" name="Picture 4">
            <a:extLst>
              <a:ext uri="{FF2B5EF4-FFF2-40B4-BE49-F238E27FC236}">
                <a16:creationId xmlns:a16="http://schemas.microsoft.com/office/drawing/2014/main" id="{02A95FB0-57C6-F673-6931-95F533854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889" y="1343609"/>
            <a:ext cx="8864081" cy="4612959"/>
          </a:xfrm>
          <a:prstGeom prst="rect">
            <a:avLst/>
          </a:prstGeom>
        </p:spPr>
      </p:pic>
    </p:spTree>
    <p:extLst>
      <p:ext uri="{BB962C8B-B14F-4D97-AF65-F5344CB8AC3E}">
        <p14:creationId xmlns:p14="http://schemas.microsoft.com/office/powerpoint/2010/main" val="143697218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F35EE-F19C-7179-B3D3-4E067A86C93A}"/>
              </a:ext>
            </a:extLst>
          </p:cNvPr>
          <p:cNvSpPr>
            <a:spLocks noGrp="1"/>
          </p:cNvSpPr>
          <p:nvPr>
            <p:ph idx="1"/>
          </p:nvPr>
        </p:nvSpPr>
        <p:spPr>
          <a:xfrm>
            <a:off x="838200" y="503853"/>
            <a:ext cx="10515600" cy="5673110"/>
          </a:xfrm>
        </p:spPr>
        <p:txBody>
          <a:bodyPr/>
          <a:lstStyle/>
          <a:p>
            <a:pPr marL="0" indent="0">
              <a:buNone/>
            </a:pPr>
            <a:r>
              <a:rPr lang="en-IN" b="1" dirty="0">
                <a:solidFill>
                  <a:srgbClr val="7030A0"/>
                </a:solidFill>
              </a:rPr>
              <a:t>Stack in java</a:t>
            </a:r>
          </a:p>
          <a:p>
            <a:pPr>
              <a:lnSpc>
                <a:spcPct val="100000"/>
              </a:lnSpc>
            </a:pPr>
            <a:r>
              <a:rPr lang="en-US" b="0" i="0" dirty="0">
                <a:solidFill>
                  <a:srgbClr val="333333"/>
                </a:solidFill>
                <a:effectLst/>
              </a:rPr>
              <a:t>The </a:t>
            </a:r>
            <a:r>
              <a:rPr lang="en-US" b="1" i="0" dirty="0">
                <a:solidFill>
                  <a:srgbClr val="333333"/>
                </a:solidFill>
                <a:effectLst/>
              </a:rPr>
              <a:t>stack</a:t>
            </a:r>
            <a:r>
              <a:rPr lang="en-US" b="0" i="0" dirty="0">
                <a:solidFill>
                  <a:srgbClr val="333333"/>
                </a:solidFill>
                <a:effectLst/>
              </a:rPr>
              <a:t> is a linear data structure that is used to store the collection of objects. It is based on</a:t>
            </a:r>
            <a:r>
              <a:rPr lang="en-US" b="0" i="0" dirty="0">
                <a:solidFill>
                  <a:srgbClr val="7030A0"/>
                </a:solidFill>
                <a:effectLst/>
              </a:rPr>
              <a:t> </a:t>
            </a:r>
            <a:r>
              <a:rPr lang="en-US" b="1" i="0" dirty="0">
                <a:solidFill>
                  <a:srgbClr val="7030A0"/>
                </a:solidFill>
                <a:effectLst/>
              </a:rPr>
              <a:t>Last-In-First-Out</a:t>
            </a:r>
            <a:r>
              <a:rPr lang="en-US" b="0" i="0" dirty="0">
                <a:solidFill>
                  <a:srgbClr val="7030A0"/>
                </a:solidFill>
                <a:effectLst/>
              </a:rPr>
              <a:t> (LIFO). </a:t>
            </a:r>
          </a:p>
          <a:p>
            <a:pPr>
              <a:lnSpc>
                <a:spcPct val="100000"/>
              </a:lnSpc>
            </a:pPr>
            <a:r>
              <a:rPr lang="en-US" b="0" i="0" dirty="0">
                <a:solidFill>
                  <a:srgbClr val="333333"/>
                </a:solidFill>
                <a:effectLst/>
              </a:rPr>
              <a:t> One of them is the </a:t>
            </a:r>
            <a:r>
              <a:rPr lang="en-US" b="1" i="0" dirty="0">
                <a:solidFill>
                  <a:srgbClr val="7030A0"/>
                </a:solidFill>
                <a:effectLst/>
              </a:rPr>
              <a:t>Stack class that provides different operations    such  as push, pop, search, etc.</a:t>
            </a:r>
          </a:p>
          <a:p>
            <a:pPr>
              <a:lnSpc>
                <a:spcPct val="100000"/>
              </a:lnSpc>
            </a:pPr>
            <a:r>
              <a:rPr lang="en-US" b="0" i="0" dirty="0">
                <a:solidFill>
                  <a:srgbClr val="333333"/>
                </a:solidFill>
                <a:effectLst/>
                <a:latin typeface="inter-regular"/>
              </a:rPr>
              <a:t>The stack data structure has </a:t>
            </a:r>
            <a:r>
              <a:rPr lang="en-US" b="1" i="0" dirty="0">
                <a:solidFill>
                  <a:srgbClr val="7030A0"/>
                </a:solidFill>
                <a:effectLst/>
                <a:latin typeface="inter-regular"/>
              </a:rPr>
              <a:t>the two most important operations that are </a:t>
            </a:r>
            <a:r>
              <a:rPr lang="en-US" b="1" i="0" dirty="0">
                <a:solidFill>
                  <a:srgbClr val="7030A0"/>
                </a:solidFill>
                <a:effectLst/>
                <a:latin typeface="inter-bold"/>
              </a:rPr>
              <a:t>push</a:t>
            </a:r>
            <a:r>
              <a:rPr lang="en-US" b="1" i="0" dirty="0">
                <a:solidFill>
                  <a:srgbClr val="7030A0"/>
                </a:solidFill>
                <a:effectLst/>
                <a:latin typeface="inter-regular"/>
              </a:rPr>
              <a:t> and </a:t>
            </a:r>
            <a:r>
              <a:rPr lang="en-US" b="1" i="0" dirty="0">
                <a:solidFill>
                  <a:srgbClr val="7030A0"/>
                </a:solidFill>
                <a:effectLst/>
                <a:latin typeface="inter-bold"/>
              </a:rPr>
              <a:t>pop</a:t>
            </a:r>
            <a:r>
              <a:rPr lang="en-US" b="1" i="0" dirty="0">
                <a:solidFill>
                  <a:srgbClr val="7030A0"/>
                </a:solidFill>
                <a:effectLst/>
                <a:latin typeface="inter-regular"/>
              </a:rPr>
              <a:t>. </a:t>
            </a:r>
          </a:p>
          <a:p>
            <a:pPr>
              <a:lnSpc>
                <a:spcPct val="100000"/>
              </a:lnSpc>
            </a:pPr>
            <a:r>
              <a:rPr lang="en-US" b="0" i="0" dirty="0">
                <a:solidFill>
                  <a:srgbClr val="333333"/>
                </a:solidFill>
                <a:effectLst/>
                <a:latin typeface="inter-regular"/>
              </a:rPr>
              <a:t>The </a:t>
            </a:r>
            <a:r>
              <a:rPr lang="en-US" b="1" i="0" dirty="0">
                <a:solidFill>
                  <a:srgbClr val="7030A0"/>
                </a:solidFill>
                <a:effectLst/>
                <a:latin typeface="inter-regular"/>
              </a:rPr>
              <a:t>push</a:t>
            </a:r>
            <a:r>
              <a:rPr lang="en-US" b="0" i="0" dirty="0">
                <a:solidFill>
                  <a:srgbClr val="333333"/>
                </a:solidFill>
                <a:effectLst/>
                <a:latin typeface="inter-regular"/>
              </a:rPr>
              <a:t> operation </a:t>
            </a:r>
            <a:r>
              <a:rPr lang="en-US" b="1" i="0" dirty="0">
                <a:solidFill>
                  <a:srgbClr val="7030A0"/>
                </a:solidFill>
                <a:effectLst/>
                <a:latin typeface="inter-regular"/>
              </a:rPr>
              <a:t>inserts an element into the stack </a:t>
            </a:r>
            <a:r>
              <a:rPr lang="en-US" b="0" i="0" dirty="0">
                <a:solidFill>
                  <a:srgbClr val="333333"/>
                </a:solidFill>
                <a:effectLst/>
                <a:latin typeface="inter-regular"/>
              </a:rPr>
              <a:t>and </a:t>
            </a:r>
            <a:r>
              <a:rPr lang="en-US" b="1" i="0" dirty="0">
                <a:solidFill>
                  <a:srgbClr val="7030A0"/>
                </a:solidFill>
                <a:effectLst/>
                <a:latin typeface="inter-regular"/>
              </a:rPr>
              <a:t>pop operation removes an element from the top of the stack.</a:t>
            </a:r>
            <a:r>
              <a:rPr lang="en-US" b="0" i="0" dirty="0">
                <a:solidFill>
                  <a:srgbClr val="333333"/>
                </a:solidFill>
                <a:effectLst/>
                <a:latin typeface="inter-regular"/>
              </a:rPr>
              <a:t> </a:t>
            </a:r>
            <a:endParaRPr lang="en-IN" b="1" dirty="0">
              <a:solidFill>
                <a:srgbClr val="7030A0"/>
              </a:solidFill>
            </a:endParaRPr>
          </a:p>
        </p:txBody>
      </p:sp>
    </p:spTree>
    <p:extLst>
      <p:ext uri="{BB962C8B-B14F-4D97-AF65-F5344CB8AC3E}">
        <p14:creationId xmlns:p14="http://schemas.microsoft.com/office/powerpoint/2010/main" val="332545604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F98C7C-B307-C011-2FAE-3CBB6C023667}"/>
              </a:ext>
            </a:extLst>
          </p:cNvPr>
          <p:cNvSpPr>
            <a:spLocks noGrp="1"/>
          </p:cNvSpPr>
          <p:nvPr>
            <p:ph idx="1"/>
          </p:nvPr>
        </p:nvSpPr>
        <p:spPr>
          <a:xfrm>
            <a:off x="615820" y="503853"/>
            <a:ext cx="10737980" cy="5673110"/>
          </a:xfrm>
        </p:spPr>
        <p:txBody>
          <a:bodyPr/>
          <a:lstStyle/>
          <a:p>
            <a:pPr marL="0" indent="0">
              <a:buNone/>
            </a:pPr>
            <a:r>
              <a:rPr lang="en-IN" b="1" dirty="0">
                <a:solidFill>
                  <a:srgbClr val="7030A0"/>
                </a:solidFill>
              </a:rPr>
              <a:t>Queue in java</a:t>
            </a:r>
          </a:p>
          <a:p>
            <a:r>
              <a:rPr lang="en-US" b="0" i="0" dirty="0">
                <a:solidFill>
                  <a:srgbClr val="333333"/>
                </a:solidFill>
                <a:effectLst/>
              </a:rPr>
              <a:t>It is used to keep the elements that are processed in the </a:t>
            </a:r>
            <a:r>
              <a:rPr lang="en-US" b="1" i="0" dirty="0">
                <a:solidFill>
                  <a:srgbClr val="7030A0"/>
                </a:solidFill>
                <a:effectLst/>
              </a:rPr>
              <a:t>First In First Out (FIFO) manner.</a:t>
            </a:r>
          </a:p>
          <a:p>
            <a:r>
              <a:rPr lang="en-US" b="0" i="0" dirty="0">
                <a:solidFill>
                  <a:srgbClr val="333333"/>
                </a:solidFill>
                <a:effectLst/>
              </a:rPr>
              <a:t> It is an ordered list of objects, where insertion of elements occurs at the end of the list, and removal of elements occur at the beginning of the list.</a:t>
            </a:r>
          </a:p>
          <a:p>
            <a:pPr marL="0" indent="0">
              <a:buNone/>
            </a:pPr>
            <a:r>
              <a:rPr lang="en-US" b="1" dirty="0">
                <a:solidFill>
                  <a:srgbClr val="7030A0"/>
                </a:solidFill>
              </a:rPr>
              <a:t>Types of Queue</a:t>
            </a:r>
          </a:p>
          <a:p>
            <a:r>
              <a:rPr lang="en-IN" b="0" i="0" dirty="0">
                <a:effectLst/>
                <a:latin typeface="erdana"/>
              </a:rPr>
              <a:t>PriorityQueue</a:t>
            </a:r>
          </a:p>
          <a:p>
            <a:r>
              <a:rPr lang="en-US" b="0" i="0" dirty="0">
                <a:effectLst/>
              </a:rPr>
              <a:t>Dequeue</a:t>
            </a:r>
          </a:p>
          <a:p>
            <a:pPr marL="0" indent="0">
              <a:buNone/>
            </a:pPr>
            <a:endParaRPr lang="en-IN" dirty="0"/>
          </a:p>
        </p:txBody>
      </p:sp>
    </p:spTree>
    <p:extLst>
      <p:ext uri="{BB962C8B-B14F-4D97-AF65-F5344CB8AC3E}">
        <p14:creationId xmlns:p14="http://schemas.microsoft.com/office/powerpoint/2010/main" val="21089189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DF03BF-06F9-D2C6-8995-75CA965F8648}"/>
              </a:ext>
            </a:extLst>
          </p:cNvPr>
          <p:cNvSpPr>
            <a:spLocks noGrp="1"/>
          </p:cNvSpPr>
          <p:nvPr>
            <p:ph idx="1"/>
          </p:nvPr>
        </p:nvSpPr>
        <p:spPr>
          <a:xfrm>
            <a:off x="502298" y="541175"/>
            <a:ext cx="10918372" cy="5561143"/>
          </a:xfrm>
        </p:spPr>
        <p:txBody>
          <a:bodyPr/>
          <a:lstStyle/>
          <a:p>
            <a:pPr marL="0" indent="0">
              <a:buNone/>
            </a:pPr>
            <a:r>
              <a:rPr lang="en-IN" b="1" i="0" dirty="0">
                <a:solidFill>
                  <a:srgbClr val="7030A0"/>
                </a:solidFill>
                <a:effectLst/>
              </a:rPr>
              <a:t>PriorityQueue</a:t>
            </a:r>
          </a:p>
          <a:p>
            <a:pPr>
              <a:lnSpc>
                <a:spcPct val="100000"/>
              </a:lnSpc>
            </a:pPr>
            <a:r>
              <a:rPr lang="en-US" b="0" i="0" dirty="0" err="1">
                <a:solidFill>
                  <a:srgbClr val="333333"/>
                </a:solidFill>
                <a:effectLst/>
              </a:rPr>
              <a:t>PriorityQueue</a:t>
            </a:r>
            <a:r>
              <a:rPr lang="en-US" b="0" i="0" dirty="0">
                <a:solidFill>
                  <a:srgbClr val="333333"/>
                </a:solidFill>
                <a:effectLst/>
              </a:rPr>
              <a:t> is also class that is defined in the collection framework that gives us </a:t>
            </a:r>
            <a:r>
              <a:rPr lang="en-US" b="1" i="0" dirty="0">
                <a:solidFill>
                  <a:srgbClr val="7030A0"/>
                </a:solidFill>
                <a:effectLst/>
              </a:rPr>
              <a:t>a way for processing the objects on the basis of priority</a:t>
            </a:r>
            <a:r>
              <a:rPr lang="en-US" b="0" i="0" dirty="0">
                <a:solidFill>
                  <a:srgbClr val="333333"/>
                </a:solidFill>
                <a:effectLst/>
              </a:rPr>
              <a:t>. </a:t>
            </a:r>
          </a:p>
          <a:p>
            <a:pPr>
              <a:lnSpc>
                <a:spcPct val="100000"/>
              </a:lnSpc>
            </a:pPr>
            <a:r>
              <a:rPr lang="en-US" b="0" i="0" dirty="0">
                <a:solidFill>
                  <a:srgbClr val="333333"/>
                </a:solidFill>
                <a:effectLst/>
              </a:rPr>
              <a:t>It is already described that the insertion and deletion of objects follows </a:t>
            </a:r>
            <a:r>
              <a:rPr lang="en-US" b="1" i="0" dirty="0">
                <a:solidFill>
                  <a:srgbClr val="7030A0"/>
                </a:solidFill>
                <a:effectLst/>
              </a:rPr>
              <a:t>FIFO pattern in the Java queue.</a:t>
            </a:r>
            <a:endParaRPr lang="en-US" b="1" dirty="0">
              <a:solidFill>
                <a:srgbClr val="7030A0"/>
              </a:solidFill>
            </a:endParaRPr>
          </a:p>
          <a:p>
            <a:pPr>
              <a:lnSpc>
                <a:spcPct val="100000"/>
              </a:lnSpc>
            </a:pPr>
            <a:r>
              <a:rPr lang="en-US" b="0" i="0" dirty="0">
                <a:solidFill>
                  <a:srgbClr val="333333"/>
                </a:solidFill>
                <a:effectLst/>
              </a:rPr>
              <a:t>However, sometimes the elements </a:t>
            </a:r>
            <a:r>
              <a:rPr lang="en-US" b="1" i="0" dirty="0">
                <a:solidFill>
                  <a:srgbClr val="7030A0"/>
                </a:solidFill>
                <a:effectLst/>
              </a:rPr>
              <a:t>of the queue are needed to be processed according to the priority, that's where a </a:t>
            </a:r>
            <a:r>
              <a:rPr lang="en-US" b="1" i="0" dirty="0" err="1">
                <a:solidFill>
                  <a:srgbClr val="7030A0"/>
                </a:solidFill>
                <a:effectLst/>
              </a:rPr>
              <a:t>PriorityQueue</a:t>
            </a:r>
            <a:r>
              <a:rPr lang="en-US" b="1" i="0" dirty="0">
                <a:solidFill>
                  <a:srgbClr val="7030A0"/>
                </a:solidFill>
                <a:effectLst/>
              </a:rPr>
              <a:t> comes into action.</a:t>
            </a:r>
            <a:endParaRPr lang="en-IN" b="1" dirty="0">
              <a:solidFill>
                <a:srgbClr val="7030A0"/>
              </a:solidFill>
            </a:endParaRPr>
          </a:p>
        </p:txBody>
      </p:sp>
    </p:spTree>
    <p:extLst>
      <p:ext uri="{BB962C8B-B14F-4D97-AF65-F5344CB8AC3E}">
        <p14:creationId xmlns:p14="http://schemas.microsoft.com/office/powerpoint/2010/main" val="291650444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D1236-575E-DB95-FD51-54B5CEAA5ECB}"/>
              </a:ext>
            </a:extLst>
          </p:cNvPr>
          <p:cNvSpPr>
            <a:spLocks noGrp="1"/>
          </p:cNvSpPr>
          <p:nvPr>
            <p:ph idx="1"/>
          </p:nvPr>
        </p:nvSpPr>
        <p:spPr>
          <a:xfrm>
            <a:off x="922176" y="671804"/>
            <a:ext cx="10515600" cy="5673109"/>
          </a:xfrm>
        </p:spPr>
        <p:txBody>
          <a:bodyPr/>
          <a:lstStyle/>
          <a:p>
            <a:pPr marL="0" indent="0">
              <a:lnSpc>
                <a:spcPct val="150000"/>
              </a:lnSpc>
              <a:buNone/>
            </a:pPr>
            <a:r>
              <a:rPr lang="en-IN" b="1" dirty="0">
                <a:solidFill>
                  <a:srgbClr val="7030A0"/>
                </a:solidFill>
              </a:rPr>
              <a:t>Syntax for </a:t>
            </a:r>
            <a:r>
              <a:rPr lang="en-IN" b="1" i="0" dirty="0">
                <a:solidFill>
                  <a:srgbClr val="7030A0"/>
                </a:solidFill>
                <a:effectLst/>
              </a:rPr>
              <a:t>PriorityQueue</a:t>
            </a:r>
            <a:endParaRPr lang="en-IN" b="1" dirty="0">
              <a:solidFill>
                <a:srgbClr val="7030A0"/>
              </a:solidFill>
            </a:endParaRPr>
          </a:p>
          <a:p>
            <a:pPr>
              <a:lnSpc>
                <a:spcPct val="150000"/>
              </a:lnSpc>
            </a:pPr>
            <a:r>
              <a:rPr lang="en-IN" b="0" i="0" dirty="0">
                <a:solidFill>
                  <a:srgbClr val="000000"/>
                </a:solidFill>
                <a:effectLst/>
              </a:rPr>
              <a:t>PriorityQueue&lt;Object&gt; Variable=</a:t>
            </a:r>
            <a:r>
              <a:rPr lang="en-IN" b="1" i="0" dirty="0">
                <a:solidFill>
                  <a:srgbClr val="006699"/>
                </a:solidFill>
                <a:effectLst/>
              </a:rPr>
              <a:t>new</a:t>
            </a:r>
            <a:r>
              <a:rPr lang="en-IN" b="0" i="0" dirty="0">
                <a:solidFill>
                  <a:srgbClr val="000000"/>
                </a:solidFill>
                <a:effectLst/>
              </a:rPr>
              <a:t> </a:t>
            </a:r>
            <a:r>
              <a:rPr lang="en-IN" b="0" i="0" dirty="0">
                <a:solidFill>
                  <a:srgbClr val="000000"/>
                </a:solidFill>
                <a:effectLst/>
                <a:latin typeface="inter-regular"/>
              </a:rPr>
              <a:t>PriorityQueue&lt;Object&gt;();</a:t>
            </a:r>
            <a:endParaRPr lang="en-IN" dirty="0"/>
          </a:p>
        </p:txBody>
      </p:sp>
    </p:spTree>
    <p:extLst>
      <p:ext uri="{BB962C8B-B14F-4D97-AF65-F5344CB8AC3E}">
        <p14:creationId xmlns:p14="http://schemas.microsoft.com/office/powerpoint/2010/main" val="239789784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D96739-368B-DEC5-EA3E-D0430A2AD8A4}"/>
              </a:ext>
            </a:extLst>
          </p:cNvPr>
          <p:cNvSpPr>
            <a:spLocks noGrp="1"/>
          </p:cNvSpPr>
          <p:nvPr>
            <p:ph idx="1"/>
          </p:nvPr>
        </p:nvSpPr>
        <p:spPr>
          <a:xfrm>
            <a:off x="838200" y="494522"/>
            <a:ext cx="10515600" cy="5682441"/>
          </a:xfrm>
        </p:spPr>
        <p:txBody>
          <a:bodyPr/>
          <a:lstStyle/>
          <a:p>
            <a:pPr marL="0" indent="0">
              <a:buNone/>
            </a:pPr>
            <a:r>
              <a:rPr lang="en-IN" b="1" dirty="0">
                <a:solidFill>
                  <a:srgbClr val="7030A0"/>
                </a:solidFill>
              </a:rPr>
              <a:t>Dequeue</a:t>
            </a:r>
          </a:p>
          <a:p>
            <a:r>
              <a:rPr lang="en-US" b="0" i="0" dirty="0">
                <a:solidFill>
                  <a:srgbClr val="333333"/>
                </a:solidFill>
                <a:effectLst/>
                <a:latin typeface="inter-regular"/>
              </a:rPr>
              <a:t>The interface called Deque is present in </a:t>
            </a:r>
            <a:r>
              <a:rPr lang="en-US" b="0" i="0" dirty="0" err="1">
                <a:solidFill>
                  <a:srgbClr val="333333"/>
                </a:solidFill>
                <a:effectLst/>
                <a:latin typeface="inter-regular"/>
              </a:rPr>
              <a:t>java.util</a:t>
            </a:r>
            <a:r>
              <a:rPr lang="en-US" b="0" i="0" dirty="0">
                <a:solidFill>
                  <a:srgbClr val="333333"/>
                </a:solidFill>
                <a:effectLst/>
                <a:latin typeface="inter-regular"/>
              </a:rPr>
              <a:t> package. </a:t>
            </a:r>
            <a:r>
              <a:rPr lang="en-US" b="1" i="0" dirty="0">
                <a:solidFill>
                  <a:srgbClr val="7030A0"/>
                </a:solidFill>
                <a:effectLst/>
                <a:latin typeface="inter-regular"/>
              </a:rPr>
              <a:t>It is the subtype of the interface queue.</a:t>
            </a:r>
          </a:p>
          <a:p>
            <a:r>
              <a:rPr lang="en-US" b="0" i="0" dirty="0">
                <a:solidFill>
                  <a:srgbClr val="333333"/>
                </a:solidFill>
                <a:effectLst/>
                <a:latin typeface="inter-regular"/>
              </a:rPr>
              <a:t> The </a:t>
            </a:r>
            <a:r>
              <a:rPr lang="en-US" b="1" i="0" dirty="0">
                <a:solidFill>
                  <a:srgbClr val="7030A0"/>
                </a:solidFill>
                <a:effectLst/>
                <a:latin typeface="inter-regular"/>
              </a:rPr>
              <a:t>Deque supports the addition as well as the removal of elements from both ends of the data structure.</a:t>
            </a:r>
            <a:endParaRPr lang="en-IN" b="1" i="0" dirty="0">
              <a:solidFill>
                <a:srgbClr val="7030A0"/>
              </a:solidFill>
              <a:effectLst/>
              <a:latin typeface="inter-regular"/>
            </a:endParaRPr>
          </a:p>
          <a:p>
            <a:r>
              <a:rPr lang="en-US" b="0" i="0" dirty="0">
                <a:solidFill>
                  <a:srgbClr val="333333"/>
                </a:solidFill>
                <a:effectLst/>
                <a:latin typeface="inter-regular"/>
              </a:rPr>
              <a:t>As a deque supports both, either of the mentioned operations can be performed on it</a:t>
            </a:r>
            <a:r>
              <a:rPr lang="en-US" b="1" dirty="0">
                <a:solidFill>
                  <a:srgbClr val="7030A0"/>
                </a:solidFill>
                <a:latin typeface="inter-regular"/>
              </a:rPr>
              <a:t>.</a:t>
            </a:r>
            <a:r>
              <a:rPr lang="en-US" b="1" i="0" dirty="0">
                <a:solidFill>
                  <a:srgbClr val="7030A0"/>
                </a:solidFill>
                <a:effectLst/>
                <a:latin typeface="inter-regular"/>
              </a:rPr>
              <a:t> Deque is an acronym for </a:t>
            </a:r>
            <a:r>
              <a:rPr lang="en-US" b="1" i="0" dirty="0">
                <a:solidFill>
                  <a:srgbClr val="7030A0"/>
                </a:solidFill>
                <a:effectLst/>
                <a:latin typeface="inter-bold"/>
              </a:rPr>
              <a:t>"double ended queue".</a:t>
            </a:r>
            <a:endParaRPr lang="en-IN" b="1" dirty="0">
              <a:solidFill>
                <a:srgbClr val="7030A0"/>
              </a:solidFill>
            </a:endParaRPr>
          </a:p>
        </p:txBody>
      </p:sp>
    </p:spTree>
    <p:extLst>
      <p:ext uri="{BB962C8B-B14F-4D97-AF65-F5344CB8AC3E}">
        <p14:creationId xmlns:p14="http://schemas.microsoft.com/office/powerpoint/2010/main" val="172689365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893189-65B5-924F-D16A-E06709EE8B57}"/>
              </a:ext>
            </a:extLst>
          </p:cNvPr>
          <p:cNvSpPr>
            <a:spLocks noGrp="1"/>
          </p:cNvSpPr>
          <p:nvPr>
            <p:ph idx="1"/>
          </p:nvPr>
        </p:nvSpPr>
        <p:spPr>
          <a:xfrm>
            <a:off x="838200" y="550506"/>
            <a:ext cx="10515600" cy="5626457"/>
          </a:xfrm>
        </p:spPr>
        <p:txBody>
          <a:bodyPr/>
          <a:lstStyle/>
          <a:p>
            <a:pPr marL="0" indent="0">
              <a:lnSpc>
                <a:spcPct val="150000"/>
              </a:lnSpc>
              <a:buNone/>
            </a:pPr>
            <a:r>
              <a:rPr lang="en-IN" b="1" dirty="0">
                <a:solidFill>
                  <a:srgbClr val="7030A0"/>
                </a:solidFill>
              </a:rPr>
              <a:t>Syntax for Dequeue</a:t>
            </a:r>
          </a:p>
          <a:p>
            <a:pPr>
              <a:lnSpc>
                <a:spcPct val="150000"/>
              </a:lnSpc>
            </a:pPr>
            <a:r>
              <a:rPr lang="en-IN" dirty="0"/>
              <a:t>Dequeue&lt;Object&gt; Variable= new Dequeue&lt;Object&gt; ();</a:t>
            </a:r>
          </a:p>
        </p:txBody>
      </p:sp>
    </p:spTree>
    <p:extLst>
      <p:ext uri="{BB962C8B-B14F-4D97-AF65-F5344CB8AC3E}">
        <p14:creationId xmlns:p14="http://schemas.microsoft.com/office/powerpoint/2010/main" val="221066027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CE177-BA41-822A-6702-C08B22AD4719}"/>
              </a:ext>
            </a:extLst>
          </p:cNvPr>
          <p:cNvSpPr>
            <a:spLocks noGrp="1"/>
          </p:cNvSpPr>
          <p:nvPr>
            <p:ph idx="1"/>
          </p:nvPr>
        </p:nvSpPr>
        <p:spPr>
          <a:xfrm>
            <a:off x="838200" y="569167"/>
            <a:ext cx="10515600" cy="5607796"/>
          </a:xfrm>
        </p:spPr>
        <p:txBody>
          <a:bodyPr/>
          <a:lstStyle/>
          <a:p>
            <a:r>
              <a:rPr lang="en-IN" dirty="0"/>
              <a:t>Stack vs Queue</a:t>
            </a:r>
          </a:p>
          <a:p>
            <a:endParaRPr lang="en-IN" dirty="0"/>
          </a:p>
        </p:txBody>
      </p:sp>
      <p:pic>
        <p:nvPicPr>
          <p:cNvPr id="5" name="Picture 4">
            <a:extLst>
              <a:ext uri="{FF2B5EF4-FFF2-40B4-BE49-F238E27FC236}">
                <a16:creationId xmlns:a16="http://schemas.microsoft.com/office/drawing/2014/main" id="{F000CE7C-3002-0112-3122-733DD65DE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68946"/>
            <a:ext cx="9274629" cy="4084402"/>
          </a:xfrm>
          <a:prstGeom prst="rect">
            <a:avLst/>
          </a:prstGeom>
        </p:spPr>
      </p:pic>
    </p:spTree>
    <p:extLst>
      <p:ext uri="{BB962C8B-B14F-4D97-AF65-F5344CB8AC3E}">
        <p14:creationId xmlns:p14="http://schemas.microsoft.com/office/powerpoint/2010/main" val="63447489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AE42-994A-2170-B41E-ACB1FE0E9048}"/>
              </a:ext>
            </a:extLst>
          </p:cNvPr>
          <p:cNvSpPr>
            <a:spLocks noGrp="1"/>
          </p:cNvSpPr>
          <p:nvPr>
            <p:ph type="ctrTitle"/>
          </p:nvPr>
        </p:nvSpPr>
        <p:spPr/>
        <p:txBody>
          <a:bodyPr/>
          <a:lstStyle/>
          <a:p>
            <a:r>
              <a:rPr lang="en-US" dirty="0"/>
              <a:t>THREAD AND MULTITHREAD</a:t>
            </a:r>
            <a:endParaRPr lang="en-IN" dirty="0"/>
          </a:p>
        </p:txBody>
      </p:sp>
    </p:spTree>
    <p:extLst>
      <p:ext uri="{BB962C8B-B14F-4D97-AF65-F5344CB8AC3E}">
        <p14:creationId xmlns:p14="http://schemas.microsoft.com/office/powerpoint/2010/main" val="77724000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CD6B9A-3EE8-DD0F-A5E4-15F36984D28C}"/>
              </a:ext>
            </a:extLst>
          </p:cNvPr>
          <p:cNvSpPr>
            <a:spLocks noGrp="1"/>
          </p:cNvSpPr>
          <p:nvPr>
            <p:ph idx="1"/>
          </p:nvPr>
        </p:nvSpPr>
        <p:spPr>
          <a:xfrm>
            <a:off x="838200" y="513184"/>
            <a:ext cx="10515600" cy="5663779"/>
          </a:xfrm>
        </p:spPr>
        <p:txBody>
          <a:bodyPr/>
          <a:lstStyle/>
          <a:p>
            <a:pPr marL="0" indent="0">
              <a:lnSpc>
                <a:spcPct val="150000"/>
              </a:lnSpc>
              <a:buNone/>
            </a:pPr>
            <a:r>
              <a:rPr lang="en-IN" b="1" dirty="0">
                <a:solidFill>
                  <a:srgbClr val="7030A0"/>
                </a:solidFill>
              </a:rPr>
              <a:t>Thread</a:t>
            </a:r>
          </a:p>
          <a:p>
            <a:pPr>
              <a:lnSpc>
                <a:spcPct val="150000"/>
              </a:lnSpc>
            </a:pPr>
            <a:r>
              <a:rPr lang="en-US" sz="2800" dirty="0"/>
              <a:t>A thread is </a:t>
            </a:r>
            <a:r>
              <a:rPr lang="en-US" sz="2800" b="1" dirty="0">
                <a:solidFill>
                  <a:srgbClr val="7030A0"/>
                </a:solidFill>
              </a:rPr>
              <a:t>a thread of execution in a program</a:t>
            </a:r>
            <a:r>
              <a:rPr lang="en-US" sz="2800" dirty="0">
                <a:solidFill>
                  <a:srgbClr val="7030A0"/>
                </a:solidFill>
              </a:rPr>
              <a:t>.</a:t>
            </a:r>
          </a:p>
          <a:p>
            <a:pPr>
              <a:lnSpc>
                <a:spcPct val="150000"/>
              </a:lnSpc>
            </a:pPr>
            <a:r>
              <a:rPr lang="en-US" sz="2800" dirty="0">
                <a:solidFill>
                  <a:srgbClr val="7030A0"/>
                </a:solidFill>
              </a:rPr>
              <a:t> </a:t>
            </a:r>
            <a:r>
              <a:rPr lang="en-US" sz="2800" dirty="0"/>
              <a:t>The Java Virtual Machine allows an application to have multiple threads of execution running concurrently. </a:t>
            </a:r>
          </a:p>
          <a:p>
            <a:pPr>
              <a:lnSpc>
                <a:spcPct val="150000"/>
              </a:lnSpc>
            </a:pPr>
            <a:r>
              <a:rPr lang="en-US" sz="2800" dirty="0"/>
              <a:t>Every </a:t>
            </a:r>
            <a:r>
              <a:rPr lang="en-US" sz="2800" b="1" dirty="0">
                <a:solidFill>
                  <a:srgbClr val="7030A0"/>
                </a:solidFill>
              </a:rPr>
              <a:t>thread has a priority </a:t>
            </a:r>
            <a:r>
              <a:rPr lang="en-US" sz="2800" dirty="0"/>
              <a:t>. Threads with higher priority are executed in preference to threads with lower priority.</a:t>
            </a:r>
          </a:p>
          <a:p>
            <a:pPr>
              <a:lnSpc>
                <a:spcPct val="150000"/>
              </a:lnSpc>
            </a:pPr>
            <a:r>
              <a:rPr lang="en-US" sz="2800" spc="15" dirty="0">
                <a:cs typeface="Carlito"/>
              </a:rPr>
              <a:t>A</a:t>
            </a:r>
            <a:r>
              <a:rPr lang="en-US" sz="2800" spc="-260" dirty="0">
                <a:cs typeface="Carlito"/>
              </a:rPr>
              <a:t> </a:t>
            </a:r>
            <a:r>
              <a:rPr lang="en-US" sz="2800" spc="-120" dirty="0">
                <a:cs typeface="Carlito"/>
              </a:rPr>
              <a:t>thread</a:t>
            </a:r>
            <a:r>
              <a:rPr lang="en-US" sz="2800" spc="-285" dirty="0">
                <a:cs typeface="Carlito"/>
              </a:rPr>
              <a:t> </a:t>
            </a:r>
            <a:r>
              <a:rPr lang="en-US" sz="2800" spc="-55" dirty="0">
                <a:cs typeface="Carlito"/>
              </a:rPr>
              <a:t>is</a:t>
            </a:r>
            <a:r>
              <a:rPr lang="en-US" sz="2800" spc="-320" dirty="0">
                <a:cs typeface="Carlito"/>
              </a:rPr>
              <a:t> </a:t>
            </a:r>
            <a:r>
              <a:rPr lang="en-US" sz="2800" spc="-90" dirty="0">
                <a:cs typeface="Carlito"/>
              </a:rPr>
              <a:t>also known</a:t>
            </a:r>
            <a:r>
              <a:rPr lang="en-US" sz="2800" spc="-200" dirty="0">
                <a:cs typeface="Carlito"/>
              </a:rPr>
              <a:t> </a:t>
            </a:r>
            <a:r>
              <a:rPr lang="en-US" sz="2800" spc="-100" dirty="0">
                <a:cs typeface="Carlito"/>
              </a:rPr>
              <a:t>as</a:t>
            </a:r>
            <a:r>
              <a:rPr lang="en-US" sz="2800" spc="-325" dirty="0">
                <a:cs typeface="Carlito"/>
              </a:rPr>
              <a:t> </a:t>
            </a:r>
            <a:r>
              <a:rPr lang="en-US" sz="2800" spc="10" dirty="0">
                <a:solidFill>
                  <a:srgbClr val="7030A0"/>
                </a:solidFill>
                <a:cs typeface="Carlito"/>
              </a:rPr>
              <a:t>a</a:t>
            </a:r>
            <a:r>
              <a:rPr lang="en-US" sz="2800" spc="-245" dirty="0">
                <a:solidFill>
                  <a:srgbClr val="7030A0"/>
                </a:solidFill>
                <a:cs typeface="Carlito"/>
              </a:rPr>
              <a:t> </a:t>
            </a:r>
            <a:r>
              <a:rPr lang="en-US" sz="2800" i="1" spc="-185" dirty="0">
                <a:solidFill>
                  <a:srgbClr val="7030A0"/>
                </a:solidFill>
                <a:cs typeface="Carlito"/>
              </a:rPr>
              <a:t>lightweight  </a:t>
            </a:r>
            <a:r>
              <a:rPr lang="en-US" sz="2800" i="1" spc="-165" dirty="0">
                <a:solidFill>
                  <a:srgbClr val="7030A0"/>
                </a:solidFill>
                <a:cs typeface="Carlito"/>
              </a:rPr>
              <a:t>process</a:t>
            </a:r>
            <a:r>
              <a:rPr lang="en-US" sz="2800" spc="-165" dirty="0">
                <a:solidFill>
                  <a:srgbClr val="7030A0"/>
                </a:solidFill>
                <a:cs typeface="Carlito"/>
              </a:rPr>
              <a:t>or</a:t>
            </a:r>
            <a:r>
              <a:rPr lang="en-US" sz="2800" spc="-290" dirty="0">
                <a:solidFill>
                  <a:srgbClr val="7030A0"/>
                </a:solidFill>
                <a:cs typeface="Carlito"/>
              </a:rPr>
              <a:t> </a:t>
            </a:r>
            <a:r>
              <a:rPr lang="en-US" sz="2800" spc="-155" dirty="0">
                <a:solidFill>
                  <a:srgbClr val="7030A0"/>
                </a:solidFill>
                <a:cs typeface="Carlito"/>
              </a:rPr>
              <a:t>execution</a:t>
            </a:r>
            <a:r>
              <a:rPr lang="en-US" sz="2800" spc="-200" dirty="0">
                <a:solidFill>
                  <a:srgbClr val="7030A0"/>
                </a:solidFill>
                <a:cs typeface="Carlito"/>
              </a:rPr>
              <a:t> </a:t>
            </a:r>
            <a:r>
              <a:rPr lang="en-US" sz="2800" spc="-145" dirty="0">
                <a:solidFill>
                  <a:srgbClr val="7030A0"/>
                </a:solidFill>
                <a:cs typeface="Carlito"/>
              </a:rPr>
              <a:t>context.</a:t>
            </a:r>
            <a:endParaRPr lang="en-US" sz="2800" dirty="0">
              <a:solidFill>
                <a:srgbClr val="7030A0"/>
              </a:solidFill>
              <a:cs typeface="Carlito"/>
            </a:endParaRPr>
          </a:p>
          <a:p>
            <a:pPr marL="0" indent="0">
              <a:buNone/>
            </a:pPr>
            <a:endParaRPr lang="en-IN" dirty="0"/>
          </a:p>
        </p:txBody>
      </p:sp>
    </p:spTree>
    <p:extLst>
      <p:ext uri="{BB962C8B-B14F-4D97-AF65-F5344CB8AC3E}">
        <p14:creationId xmlns:p14="http://schemas.microsoft.com/office/powerpoint/2010/main" val="119047036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1714E3-754D-0ADB-FCEC-D4ED780247AB}"/>
              </a:ext>
            </a:extLst>
          </p:cNvPr>
          <p:cNvSpPr>
            <a:spLocks noGrp="1"/>
          </p:cNvSpPr>
          <p:nvPr>
            <p:ph idx="1"/>
          </p:nvPr>
        </p:nvSpPr>
        <p:spPr>
          <a:xfrm>
            <a:off x="838200" y="569167"/>
            <a:ext cx="10515600" cy="5607796"/>
          </a:xfrm>
        </p:spPr>
        <p:txBody>
          <a:bodyPr/>
          <a:lstStyle/>
          <a:p>
            <a:pPr marL="0" indent="0">
              <a:buNone/>
            </a:pPr>
            <a:r>
              <a:rPr lang="en-IN" dirty="0"/>
              <a:t>Types of Thread</a:t>
            </a:r>
          </a:p>
          <a:p>
            <a:r>
              <a:rPr lang="en-IN" dirty="0"/>
              <a:t>Single Thread</a:t>
            </a:r>
          </a:p>
          <a:p>
            <a:r>
              <a:rPr lang="en-IN" dirty="0"/>
              <a:t>Multi Thread</a:t>
            </a:r>
          </a:p>
          <a:p>
            <a:r>
              <a:rPr lang="en-IN" dirty="0"/>
              <a:t>Priority Thread</a:t>
            </a:r>
          </a:p>
          <a:p>
            <a:r>
              <a:rPr lang="en-IN" dirty="0"/>
              <a:t>Daemon Thread</a:t>
            </a:r>
          </a:p>
          <a:p>
            <a:r>
              <a:rPr lang="en-IN" b="0" i="0" dirty="0">
                <a:effectLst/>
              </a:rPr>
              <a:t>Synchronization</a:t>
            </a:r>
          </a:p>
          <a:p>
            <a:r>
              <a:rPr lang="en-IN" b="0" i="0" dirty="0">
                <a:effectLst/>
              </a:rPr>
              <a:t>Garbage Collection</a:t>
            </a:r>
            <a:endParaRPr lang="en-IN" dirty="0"/>
          </a:p>
        </p:txBody>
      </p:sp>
    </p:spTree>
    <p:extLst>
      <p:ext uri="{BB962C8B-B14F-4D97-AF65-F5344CB8AC3E}">
        <p14:creationId xmlns:p14="http://schemas.microsoft.com/office/powerpoint/2010/main" val="21601248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1D171A-1A49-741D-E9BE-6AE92BB7687C}"/>
              </a:ext>
            </a:extLst>
          </p:cNvPr>
          <p:cNvSpPr>
            <a:spLocks noGrp="1"/>
          </p:cNvSpPr>
          <p:nvPr>
            <p:ph idx="1"/>
          </p:nvPr>
        </p:nvSpPr>
        <p:spPr>
          <a:xfrm>
            <a:off x="838200" y="475862"/>
            <a:ext cx="10515600" cy="5710432"/>
          </a:xfrm>
        </p:spPr>
        <p:txBody>
          <a:bodyPr/>
          <a:lstStyle/>
          <a:p>
            <a:pPr marL="0" indent="0">
              <a:buNone/>
            </a:pPr>
            <a:r>
              <a:rPr lang="en-IN" b="1" dirty="0">
                <a:solidFill>
                  <a:srgbClr val="7030A0"/>
                </a:solidFill>
              </a:rPr>
              <a:t>Single Thread</a:t>
            </a:r>
          </a:p>
          <a:p>
            <a:pPr>
              <a:lnSpc>
                <a:spcPct val="150000"/>
              </a:lnSpc>
            </a:pPr>
            <a:r>
              <a:rPr lang="en-US" b="0" i="0" dirty="0">
                <a:solidFill>
                  <a:srgbClr val="202124"/>
                </a:solidFill>
                <a:effectLst/>
              </a:rPr>
              <a:t>A single thread in Java is basically </a:t>
            </a:r>
            <a:r>
              <a:rPr lang="en-US" b="0" i="0" dirty="0">
                <a:solidFill>
                  <a:srgbClr val="040C28"/>
                </a:solidFill>
                <a:effectLst/>
              </a:rPr>
              <a:t>a </a:t>
            </a:r>
            <a:r>
              <a:rPr lang="en-US" b="1" i="0" dirty="0">
                <a:solidFill>
                  <a:srgbClr val="7030A0"/>
                </a:solidFill>
                <a:effectLst/>
              </a:rPr>
              <a:t>lightweight and the smallest unit of processing. </a:t>
            </a:r>
          </a:p>
          <a:p>
            <a:pPr>
              <a:lnSpc>
                <a:spcPct val="150000"/>
              </a:lnSpc>
            </a:pPr>
            <a:r>
              <a:rPr lang="en-US" b="0" i="0" dirty="0">
                <a:solidFill>
                  <a:srgbClr val="202124"/>
                </a:solidFill>
                <a:effectLst/>
              </a:rPr>
              <a:t>Java uses threads by using a </a:t>
            </a:r>
            <a:r>
              <a:rPr lang="en-US" b="1" i="0" dirty="0">
                <a:solidFill>
                  <a:srgbClr val="7030A0"/>
                </a:solidFill>
                <a:effectLst/>
              </a:rPr>
              <a:t>“Thread Class”.</a:t>
            </a:r>
            <a:endParaRPr lang="en-IN" b="1" dirty="0">
              <a:solidFill>
                <a:srgbClr val="7030A0"/>
              </a:solidFill>
            </a:endParaRPr>
          </a:p>
        </p:txBody>
      </p:sp>
    </p:spTree>
    <p:extLst>
      <p:ext uri="{BB962C8B-B14F-4D97-AF65-F5344CB8AC3E}">
        <p14:creationId xmlns:p14="http://schemas.microsoft.com/office/powerpoint/2010/main" val="177381734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1D7F3-12B1-EFE4-9E44-FB1EAF8B7495}"/>
              </a:ext>
            </a:extLst>
          </p:cNvPr>
          <p:cNvSpPr>
            <a:spLocks noGrp="1"/>
          </p:cNvSpPr>
          <p:nvPr>
            <p:ph idx="1"/>
          </p:nvPr>
        </p:nvSpPr>
        <p:spPr>
          <a:xfrm>
            <a:off x="838200" y="466531"/>
            <a:ext cx="10515600" cy="5710432"/>
          </a:xfrm>
        </p:spPr>
        <p:txBody>
          <a:bodyPr/>
          <a:lstStyle/>
          <a:p>
            <a:pPr marL="0" indent="0">
              <a:lnSpc>
                <a:spcPct val="150000"/>
              </a:lnSpc>
              <a:buNone/>
            </a:pPr>
            <a:r>
              <a:rPr lang="en-US" b="1" i="0" dirty="0">
                <a:solidFill>
                  <a:srgbClr val="7030A0"/>
                </a:solidFill>
                <a:effectLst/>
              </a:rPr>
              <a:t>How to create a single thread in Java?</a:t>
            </a:r>
          </a:p>
          <a:p>
            <a:pPr>
              <a:lnSpc>
                <a:spcPct val="150000"/>
              </a:lnSpc>
            </a:pPr>
            <a:r>
              <a:rPr lang="en-US" b="0" i="0" dirty="0">
                <a:solidFill>
                  <a:srgbClr val="202124"/>
                </a:solidFill>
                <a:effectLst/>
              </a:rPr>
              <a:t>You can create threads by</a:t>
            </a:r>
            <a:r>
              <a:rPr lang="en-US" b="1" i="0" dirty="0">
                <a:solidFill>
                  <a:srgbClr val="7030A0"/>
                </a:solidFill>
                <a:effectLst/>
              </a:rPr>
              <a:t> implementing the runnable interface and overriding the run() method.</a:t>
            </a:r>
          </a:p>
          <a:p>
            <a:pPr>
              <a:lnSpc>
                <a:spcPct val="150000"/>
              </a:lnSpc>
            </a:pPr>
            <a:r>
              <a:rPr lang="en-US" b="0" i="0" dirty="0">
                <a:solidFill>
                  <a:srgbClr val="202124"/>
                </a:solidFill>
                <a:effectLst/>
              </a:rPr>
              <a:t> Then, you can create a </a:t>
            </a:r>
            <a:r>
              <a:rPr lang="en-US" b="1" i="0" dirty="0">
                <a:solidFill>
                  <a:srgbClr val="7030A0"/>
                </a:solidFill>
                <a:effectLst/>
              </a:rPr>
              <a:t>thread object </a:t>
            </a:r>
            <a:r>
              <a:rPr lang="en-US" b="0" i="0" dirty="0">
                <a:solidFill>
                  <a:srgbClr val="202124"/>
                </a:solidFill>
                <a:effectLst/>
              </a:rPr>
              <a:t>and </a:t>
            </a:r>
            <a:r>
              <a:rPr lang="en-US" b="1" i="0" dirty="0">
                <a:solidFill>
                  <a:srgbClr val="7030A0"/>
                </a:solidFill>
                <a:effectLst/>
              </a:rPr>
              <a:t>call the start() method.</a:t>
            </a:r>
          </a:p>
          <a:p>
            <a:pPr>
              <a:lnSpc>
                <a:spcPct val="150000"/>
              </a:lnSpc>
            </a:pPr>
            <a:r>
              <a:rPr lang="en-US" b="0" i="0" dirty="0">
                <a:solidFill>
                  <a:srgbClr val="202124"/>
                </a:solidFill>
                <a:effectLst/>
              </a:rPr>
              <a:t> </a:t>
            </a:r>
            <a:r>
              <a:rPr lang="en-US" b="1" i="0" dirty="0">
                <a:solidFill>
                  <a:srgbClr val="7030A0"/>
                </a:solidFill>
                <a:effectLst/>
              </a:rPr>
              <a:t>Thread Class: </a:t>
            </a:r>
            <a:r>
              <a:rPr lang="en-US" b="0" i="0" dirty="0">
                <a:solidFill>
                  <a:srgbClr val="202124"/>
                </a:solidFill>
                <a:effectLst/>
              </a:rPr>
              <a:t>The Thread class provides constructors and methods for creating and operating on threads.</a:t>
            </a:r>
            <a:endParaRPr lang="en-IN" dirty="0"/>
          </a:p>
        </p:txBody>
      </p:sp>
    </p:spTree>
    <p:extLst>
      <p:ext uri="{BB962C8B-B14F-4D97-AF65-F5344CB8AC3E}">
        <p14:creationId xmlns:p14="http://schemas.microsoft.com/office/powerpoint/2010/main" val="335314527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B75CB-4750-0163-AA2C-1FC840542526}"/>
              </a:ext>
            </a:extLst>
          </p:cNvPr>
          <p:cNvSpPr>
            <a:spLocks noGrp="1"/>
          </p:cNvSpPr>
          <p:nvPr>
            <p:ph idx="1"/>
          </p:nvPr>
        </p:nvSpPr>
        <p:spPr>
          <a:xfrm>
            <a:off x="838200" y="606490"/>
            <a:ext cx="10515600" cy="5570473"/>
          </a:xfrm>
        </p:spPr>
        <p:txBody>
          <a:bodyPr/>
          <a:lstStyle/>
          <a:p>
            <a:pPr marL="0" indent="0">
              <a:buNone/>
            </a:pPr>
            <a:r>
              <a:rPr lang="en-US" b="1" dirty="0">
                <a:solidFill>
                  <a:srgbClr val="7030A0"/>
                </a:solidFill>
              </a:rPr>
              <a:t> Multithread</a:t>
            </a:r>
          </a:p>
          <a:p>
            <a:pPr>
              <a:lnSpc>
                <a:spcPct val="150000"/>
              </a:lnSpc>
            </a:pPr>
            <a:r>
              <a:rPr lang="en-US" dirty="0"/>
              <a:t>In Java, Multithreading refers to </a:t>
            </a:r>
            <a:r>
              <a:rPr lang="en-US" b="1" dirty="0">
                <a:solidFill>
                  <a:srgbClr val="7030A0"/>
                </a:solidFill>
              </a:rPr>
              <a:t>a process of executing two or more threads simultaneously for maximum utilization of the CPU</a:t>
            </a:r>
            <a:r>
              <a:rPr lang="en-US" dirty="0">
                <a:solidFill>
                  <a:srgbClr val="7030A0"/>
                </a:solidFill>
              </a:rPr>
              <a:t>.</a:t>
            </a:r>
          </a:p>
          <a:p>
            <a:pPr>
              <a:lnSpc>
                <a:spcPct val="150000"/>
              </a:lnSpc>
            </a:pPr>
            <a:r>
              <a:rPr lang="en-US" dirty="0"/>
              <a:t>we use multithreading than multiprocessing because threads use a shared memory area.</a:t>
            </a:r>
          </a:p>
          <a:p>
            <a:pPr>
              <a:lnSpc>
                <a:spcPct val="150000"/>
              </a:lnSpc>
            </a:pPr>
            <a:r>
              <a:rPr lang="en-US" b="1" dirty="0">
                <a:solidFill>
                  <a:srgbClr val="7030A0"/>
                </a:solidFill>
              </a:rPr>
              <a:t> They don't allocate separate memory area so saves memory, </a:t>
            </a:r>
            <a:r>
              <a:rPr lang="en-US" dirty="0"/>
              <a:t>and context-switching between the threads takes less time than process.</a:t>
            </a:r>
          </a:p>
          <a:p>
            <a:pPr>
              <a:lnSpc>
                <a:spcPct val="150000"/>
              </a:lnSpc>
            </a:pPr>
            <a:r>
              <a:rPr lang="en-US" b="1" dirty="0">
                <a:solidFill>
                  <a:srgbClr val="7030A0"/>
                </a:solidFill>
              </a:rPr>
              <a:t>Java Multithreading is mostly used in games, animation, </a:t>
            </a:r>
            <a:r>
              <a:rPr lang="en-US" dirty="0"/>
              <a:t>etc.</a:t>
            </a:r>
          </a:p>
          <a:p>
            <a:pPr marL="0" indent="0">
              <a:buNone/>
            </a:pPr>
            <a:endParaRPr lang="en-IN" dirty="0"/>
          </a:p>
        </p:txBody>
      </p:sp>
    </p:spTree>
    <p:extLst>
      <p:ext uri="{BB962C8B-B14F-4D97-AF65-F5344CB8AC3E}">
        <p14:creationId xmlns:p14="http://schemas.microsoft.com/office/powerpoint/2010/main" val="111719384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BFC1C3-505A-468C-F143-63EADBE7FA37}"/>
              </a:ext>
            </a:extLst>
          </p:cNvPr>
          <p:cNvSpPr>
            <a:spLocks noGrp="1"/>
          </p:cNvSpPr>
          <p:nvPr>
            <p:ph idx="1"/>
          </p:nvPr>
        </p:nvSpPr>
        <p:spPr>
          <a:xfrm>
            <a:off x="838200" y="503853"/>
            <a:ext cx="10515600" cy="5673110"/>
          </a:xfrm>
        </p:spPr>
        <p:txBody>
          <a:bodyPr/>
          <a:lstStyle/>
          <a:p>
            <a:pPr marL="0" indent="0">
              <a:lnSpc>
                <a:spcPct val="150000"/>
              </a:lnSpc>
              <a:buNone/>
            </a:pPr>
            <a:r>
              <a:rPr lang="en-IN" b="1" dirty="0">
                <a:solidFill>
                  <a:srgbClr val="7030A0"/>
                </a:solidFill>
              </a:rPr>
              <a:t>Advantages of Java Multithreading</a:t>
            </a:r>
          </a:p>
          <a:p>
            <a:pPr marL="0" indent="0">
              <a:lnSpc>
                <a:spcPct val="150000"/>
              </a:lnSpc>
              <a:buNone/>
            </a:pPr>
            <a:r>
              <a:rPr lang="en-US" sz="2800" dirty="0"/>
              <a:t>1) It </a:t>
            </a:r>
            <a:r>
              <a:rPr lang="en-US" sz="2800" b="1" dirty="0">
                <a:solidFill>
                  <a:srgbClr val="7030A0"/>
                </a:solidFill>
              </a:rPr>
              <a:t>doesn't block the user</a:t>
            </a:r>
            <a:r>
              <a:rPr lang="en-US" sz="2800" dirty="0"/>
              <a:t> because threads are independent and you can perform multiple operations at the same time.</a:t>
            </a:r>
          </a:p>
          <a:p>
            <a:pPr marL="0" indent="0">
              <a:lnSpc>
                <a:spcPct val="150000"/>
              </a:lnSpc>
              <a:buNone/>
            </a:pPr>
            <a:r>
              <a:rPr lang="en-US" sz="2800" dirty="0"/>
              <a:t>2) You </a:t>
            </a:r>
            <a:r>
              <a:rPr lang="en-US" sz="2800" b="1" dirty="0">
                <a:solidFill>
                  <a:srgbClr val="7030A0"/>
                </a:solidFill>
              </a:rPr>
              <a:t>can perform many operations together, so it saves time</a:t>
            </a:r>
            <a:r>
              <a:rPr lang="en-US" sz="2800" dirty="0"/>
              <a:t>.</a:t>
            </a:r>
          </a:p>
          <a:p>
            <a:pPr marL="0" indent="0">
              <a:lnSpc>
                <a:spcPct val="150000"/>
              </a:lnSpc>
              <a:buNone/>
            </a:pPr>
            <a:r>
              <a:rPr lang="en-US" sz="2800" dirty="0"/>
              <a:t>3) Threads are </a:t>
            </a:r>
            <a:r>
              <a:rPr lang="en-US" sz="2800" b="1" dirty="0">
                <a:solidFill>
                  <a:srgbClr val="7030A0"/>
                </a:solidFill>
              </a:rPr>
              <a:t>independent</a:t>
            </a:r>
            <a:r>
              <a:rPr lang="en-US" sz="2800" dirty="0"/>
              <a:t>, so it doesn't affect other threads if an exception occurs in a single thread</a:t>
            </a:r>
            <a:r>
              <a:rPr lang="en-US" dirty="0"/>
              <a:t>.</a:t>
            </a:r>
          </a:p>
          <a:p>
            <a:endParaRPr lang="en-IN" dirty="0"/>
          </a:p>
        </p:txBody>
      </p:sp>
    </p:spTree>
    <p:extLst>
      <p:ext uri="{BB962C8B-B14F-4D97-AF65-F5344CB8AC3E}">
        <p14:creationId xmlns:p14="http://schemas.microsoft.com/office/powerpoint/2010/main" val="147362029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8B7461-89D1-ECB2-24E5-698A48F1E57F}"/>
              </a:ext>
            </a:extLst>
          </p:cNvPr>
          <p:cNvSpPr>
            <a:spLocks noGrp="1"/>
          </p:cNvSpPr>
          <p:nvPr>
            <p:ph idx="1"/>
          </p:nvPr>
        </p:nvSpPr>
        <p:spPr>
          <a:xfrm>
            <a:off x="716902" y="550506"/>
            <a:ext cx="10515600" cy="5626457"/>
          </a:xfrm>
        </p:spPr>
        <p:txBody>
          <a:bodyPr/>
          <a:lstStyle/>
          <a:p>
            <a:pPr marL="0" indent="0" algn="just" fontAlgn="base">
              <a:lnSpc>
                <a:spcPct val="150000"/>
              </a:lnSpc>
              <a:buNone/>
            </a:pPr>
            <a:r>
              <a:rPr lang="en-US" b="1" i="0" dirty="0">
                <a:solidFill>
                  <a:srgbClr val="7030A0"/>
                </a:solidFill>
                <a:effectLst/>
              </a:rPr>
              <a:t>Threads can be created by using two mechanisms : </a:t>
            </a:r>
          </a:p>
          <a:p>
            <a:pPr algn="just" fontAlgn="base">
              <a:lnSpc>
                <a:spcPct val="150000"/>
              </a:lnSpc>
              <a:buFont typeface="+mj-lt"/>
              <a:buAutoNum type="arabicPeriod"/>
            </a:pPr>
            <a:r>
              <a:rPr lang="en-US" b="0" i="0" dirty="0">
                <a:solidFill>
                  <a:srgbClr val="273239"/>
                </a:solidFill>
                <a:effectLst/>
              </a:rPr>
              <a:t>Extending the Thread class </a:t>
            </a:r>
          </a:p>
          <a:p>
            <a:pPr algn="just" fontAlgn="base">
              <a:lnSpc>
                <a:spcPct val="150000"/>
              </a:lnSpc>
              <a:buFont typeface="+mj-lt"/>
              <a:buAutoNum type="arabicPeriod"/>
            </a:pPr>
            <a:r>
              <a:rPr lang="en-US" b="0" i="0" dirty="0">
                <a:solidFill>
                  <a:srgbClr val="273239"/>
                </a:solidFill>
                <a:effectLst/>
              </a:rPr>
              <a:t>Implementing the Runnable Interface</a:t>
            </a:r>
          </a:p>
          <a:p>
            <a:pPr marL="0" indent="0">
              <a:buNone/>
            </a:pPr>
            <a:endParaRPr lang="en-IN" dirty="0"/>
          </a:p>
        </p:txBody>
      </p:sp>
    </p:spTree>
    <p:extLst>
      <p:ext uri="{BB962C8B-B14F-4D97-AF65-F5344CB8AC3E}">
        <p14:creationId xmlns:p14="http://schemas.microsoft.com/office/powerpoint/2010/main" val="139858030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94BB7-93A2-27CF-B8FB-F90114A5E707}"/>
              </a:ext>
            </a:extLst>
          </p:cNvPr>
          <p:cNvSpPr>
            <a:spLocks noGrp="1"/>
          </p:cNvSpPr>
          <p:nvPr>
            <p:ph idx="1"/>
          </p:nvPr>
        </p:nvSpPr>
        <p:spPr>
          <a:xfrm>
            <a:off x="718457" y="541176"/>
            <a:ext cx="10635343" cy="5635787"/>
          </a:xfrm>
        </p:spPr>
        <p:txBody>
          <a:bodyPr/>
          <a:lstStyle/>
          <a:p>
            <a:pPr marL="0" indent="0">
              <a:lnSpc>
                <a:spcPct val="150000"/>
              </a:lnSpc>
              <a:buNone/>
            </a:pPr>
            <a:r>
              <a:rPr lang="en-IN" b="1" dirty="0">
                <a:solidFill>
                  <a:srgbClr val="7030A0"/>
                </a:solidFill>
              </a:rPr>
              <a:t>Java Runnable Interface</a:t>
            </a:r>
          </a:p>
          <a:p>
            <a:pPr>
              <a:lnSpc>
                <a:spcPct val="150000"/>
              </a:lnSpc>
            </a:pPr>
            <a:r>
              <a:rPr lang="en-US" sz="2800" dirty="0"/>
              <a:t>Java runnable is an interface used to execute code on a concurrent thread.</a:t>
            </a:r>
          </a:p>
          <a:p>
            <a:pPr>
              <a:lnSpc>
                <a:spcPct val="150000"/>
              </a:lnSpc>
            </a:pPr>
            <a:r>
              <a:rPr lang="en-US" sz="2800" dirty="0"/>
              <a:t> It is an </a:t>
            </a:r>
            <a:r>
              <a:rPr lang="en-US" sz="2800" b="1" dirty="0">
                <a:solidFill>
                  <a:srgbClr val="7030A0"/>
                </a:solidFill>
              </a:rPr>
              <a:t>interface which is implemented by any class</a:t>
            </a:r>
            <a:r>
              <a:rPr lang="en-US" sz="2800" dirty="0"/>
              <a:t> if we want that the instances of that class should be executed by a thread.</a:t>
            </a:r>
          </a:p>
          <a:p>
            <a:pPr marL="0" indent="0">
              <a:buNone/>
            </a:pPr>
            <a:endParaRPr lang="en-IN" dirty="0"/>
          </a:p>
        </p:txBody>
      </p:sp>
    </p:spTree>
    <p:extLst>
      <p:ext uri="{BB962C8B-B14F-4D97-AF65-F5344CB8AC3E}">
        <p14:creationId xmlns:p14="http://schemas.microsoft.com/office/powerpoint/2010/main" val="304721164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77C00-C52C-9B75-9794-01C2409E75CE}"/>
              </a:ext>
            </a:extLst>
          </p:cNvPr>
          <p:cNvSpPr>
            <a:spLocks noGrp="1"/>
          </p:cNvSpPr>
          <p:nvPr>
            <p:ph idx="1"/>
          </p:nvPr>
        </p:nvSpPr>
        <p:spPr>
          <a:xfrm>
            <a:off x="838200" y="550506"/>
            <a:ext cx="10515600" cy="5626457"/>
          </a:xfrm>
        </p:spPr>
        <p:txBody>
          <a:bodyPr/>
          <a:lstStyle/>
          <a:p>
            <a:pPr marL="0" indent="0">
              <a:buNone/>
            </a:pPr>
            <a:r>
              <a:rPr lang="en-IN" sz="2800" b="1" dirty="0">
                <a:solidFill>
                  <a:srgbClr val="7030A0"/>
                </a:solidFill>
              </a:rPr>
              <a:t>public void run()</a:t>
            </a:r>
          </a:p>
          <a:p>
            <a:pPr>
              <a:lnSpc>
                <a:spcPct val="150000"/>
              </a:lnSpc>
            </a:pPr>
            <a:r>
              <a:rPr lang="en-US" sz="2800" dirty="0"/>
              <a:t>This method takes in </a:t>
            </a:r>
            <a:r>
              <a:rPr lang="en-US" sz="2800" b="1" dirty="0">
                <a:solidFill>
                  <a:srgbClr val="7030A0"/>
                </a:solidFill>
              </a:rPr>
              <a:t>no arguments</a:t>
            </a:r>
            <a:r>
              <a:rPr lang="en-US" sz="2800" dirty="0"/>
              <a:t>.</a:t>
            </a:r>
          </a:p>
          <a:p>
            <a:pPr>
              <a:lnSpc>
                <a:spcPct val="150000"/>
              </a:lnSpc>
            </a:pPr>
            <a:r>
              <a:rPr lang="en-US" sz="2800" dirty="0"/>
              <a:t> When the object of </a:t>
            </a:r>
            <a:r>
              <a:rPr lang="en-US" sz="2800" b="1" dirty="0">
                <a:solidFill>
                  <a:srgbClr val="7030A0"/>
                </a:solidFill>
              </a:rPr>
              <a:t>a class implementing Runnable class is used to create a thread.</a:t>
            </a:r>
          </a:p>
          <a:p>
            <a:pPr>
              <a:lnSpc>
                <a:spcPct val="150000"/>
              </a:lnSpc>
            </a:pPr>
            <a:r>
              <a:rPr lang="en-US" sz="2800" dirty="0"/>
              <a:t>Then  the run method is invoked in the thread which executes separately.</a:t>
            </a:r>
            <a:endParaRPr lang="en-IN" sz="2800" b="1" dirty="0">
              <a:solidFill>
                <a:srgbClr val="7030A0"/>
              </a:solidFill>
            </a:endParaRPr>
          </a:p>
          <a:p>
            <a:endParaRPr lang="en-IN" dirty="0"/>
          </a:p>
        </p:txBody>
      </p:sp>
    </p:spTree>
    <p:extLst>
      <p:ext uri="{BB962C8B-B14F-4D97-AF65-F5344CB8AC3E}">
        <p14:creationId xmlns:p14="http://schemas.microsoft.com/office/powerpoint/2010/main" val="32840106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40BD0-2E01-6EC7-823B-A4C062AE5CFB}"/>
              </a:ext>
            </a:extLst>
          </p:cNvPr>
          <p:cNvSpPr>
            <a:spLocks noGrp="1"/>
          </p:cNvSpPr>
          <p:nvPr>
            <p:ph idx="1"/>
          </p:nvPr>
        </p:nvSpPr>
        <p:spPr>
          <a:xfrm>
            <a:off x="838200" y="587829"/>
            <a:ext cx="10515600" cy="5589134"/>
          </a:xfrm>
        </p:spPr>
        <p:txBody>
          <a:bodyPr/>
          <a:lstStyle/>
          <a:p>
            <a:pPr marL="0" indent="0">
              <a:lnSpc>
                <a:spcPct val="150000"/>
              </a:lnSpc>
              <a:buNone/>
            </a:pPr>
            <a:r>
              <a:rPr lang="en-US" b="1" i="0" dirty="0">
                <a:solidFill>
                  <a:srgbClr val="7030A0"/>
                </a:solidFill>
                <a:effectLst/>
              </a:rPr>
              <a:t>How to create a thread using Runnable interface</a:t>
            </a:r>
          </a:p>
          <a:p>
            <a:pPr marL="0" indent="0">
              <a:lnSpc>
                <a:spcPct val="150000"/>
              </a:lnSpc>
              <a:buNone/>
            </a:pPr>
            <a:r>
              <a:rPr lang="en-US" b="0" i="0" dirty="0">
                <a:solidFill>
                  <a:srgbClr val="000000"/>
                </a:solidFill>
                <a:effectLst/>
              </a:rPr>
              <a:t>Runnable </a:t>
            </a:r>
            <a:r>
              <a:rPr lang="en-US" b="0" i="0" dirty="0" err="1">
                <a:solidFill>
                  <a:srgbClr val="000000"/>
                </a:solidFill>
                <a:effectLst/>
              </a:rPr>
              <a:t>runnable</a:t>
            </a:r>
            <a:r>
              <a:rPr lang="en-US" b="0" i="0" dirty="0">
                <a:solidFill>
                  <a:srgbClr val="000000"/>
                </a:solidFill>
                <a:effectLst/>
              </a:rPr>
              <a:t> = </a:t>
            </a:r>
            <a:r>
              <a:rPr lang="en-US" b="1" i="0" dirty="0">
                <a:solidFill>
                  <a:srgbClr val="006699"/>
                </a:solidFill>
                <a:effectLst/>
              </a:rPr>
              <a:t>new</a:t>
            </a:r>
            <a:r>
              <a:rPr lang="en-US" b="0" i="0" dirty="0">
                <a:solidFill>
                  <a:srgbClr val="000000"/>
                </a:solidFill>
                <a:effectLst/>
              </a:rPr>
              <a:t> </a:t>
            </a:r>
            <a:r>
              <a:rPr lang="en-US" b="0" i="0" dirty="0" err="1">
                <a:solidFill>
                  <a:srgbClr val="000000"/>
                </a:solidFill>
                <a:effectLst/>
              </a:rPr>
              <a:t>MyRunnable</a:t>
            </a:r>
            <a:r>
              <a:rPr lang="en-US" b="0" i="0" dirty="0">
                <a:solidFill>
                  <a:srgbClr val="000000"/>
                </a:solidFill>
                <a:effectLst/>
              </a:rPr>
              <a:t>();    </a:t>
            </a:r>
          </a:p>
          <a:p>
            <a:pPr marL="0" indent="0">
              <a:lnSpc>
                <a:spcPct val="150000"/>
              </a:lnSpc>
              <a:buNone/>
            </a:pPr>
            <a:r>
              <a:rPr lang="en-US" b="0" i="0" dirty="0">
                <a:solidFill>
                  <a:srgbClr val="000000"/>
                </a:solidFill>
                <a:effectLst/>
              </a:rPr>
              <a:t>Thread </a:t>
            </a:r>
            <a:r>
              <a:rPr lang="en-US" b="0" i="0" dirty="0" err="1">
                <a:solidFill>
                  <a:srgbClr val="000000"/>
                </a:solidFill>
                <a:effectLst/>
              </a:rPr>
              <a:t>thread</a:t>
            </a:r>
            <a:r>
              <a:rPr lang="en-US" b="0" i="0" dirty="0">
                <a:solidFill>
                  <a:srgbClr val="000000"/>
                </a:solidFill>
                <a:effectLst/>
              </a:rPr>
              <a:t> = </a:t>
            </a:r>
            <a:r>
              <a:rPr lang="en-US" b="1" i="0" dirty="0">
                <a:solidFill>
                  <a:srgbClr val="006699"/>
                </a:solidFill>
                <a:effectLst/>
              </a:rPr>
              <a:t>new</a:t>
            </a:r>
            <a:r>
              <a:rPr lang="en-US" b="0" i="0" dirty="0">
                <a:solidFill>
                  <a:srgbClr val="000000"/>
                </a:solidFill>
                <a:effectLst/>
              </a:rPr>
              <a:t> Thread(runnable);  </a:t>
            </a:r>
          </a:p>
          <a:p>
            <a:pPr marL="0" indent="0">
              <a:lnSpc>
                <a:spcPct val="150000"/>
              </a:lnSpc>
              <a:buNone/>
            </a:pPr>
            <a:r>
              <a:rPr lang="en-US" b="0" i="0" dirty="0" err="1">
                <a:solidFill>
                  <a:srgbClr val="000000"/>
                </a:solidFill>
                <a:effectLst/>
              </a:rPr>
              <a:t>thread.start</a:t>
            </a:r>
            <a:r>
              <a:rPr lang="en-US" b="0" i="0" dirty="0">
                <a:solidFill>
                  <a:srgbClr val="000000"/>
                </a:solidFill>
                <a:effectLst/>
              </a:rPr>
              <a:t>();  </a:t>
            </a:r>
          </a:p>
          <a:p>
            <a:pPr marL="0" indent="0" algn="just">
              <a:lnSpc>
                <a:spcPct val="150000"/>
              </a:lnSpc>
              <a:buNone/>
            </a:pPr>
            <a:r>
              <a:rPr lang="en-US" b="0" i="0" dirty="0">
                <a:solidFill>
                  <a:srgbClr val="333333"/>
                </a:solidFill>
                <a:effectLst/>
              </a:rPr>
              <a:t>The thread will execute the code which is mentioned in the run() method of the Runnable object passed in its argument.</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355661723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E7208-F7F0-CAF1-3C7D-ADEDEFA82CF0}"/>
              </a:ext>
            </a:extLst>
          </p:cNvPr>
          <p:cNvSpPr>
            <a:spLocks noGrp="1"/>
          </p:cNvSpPr>
          <p:nvPr>
            <p:ph idx="1"/>
          </p:nvPr>
        </p:nvSpPr>
        <p:spPr>
          <a:xfrm>
            <a:off x="838200" y="606490"/>
            <a:ext cx="10515600" cy="5570473"/>
          </a:xfrm>
        </p:spPr>
        <p:txBody>
          <a:bodyPr>
            <a:normAutofit fontScale="92500" lnSpcReduction="10000"/>
          </a:bodyPr>
          <a:lstStyle/>
          <a:p>
            <a:pPr marL="0" indent="0">
              <a:buNone/>
            </a:pPr>
            <a:r>
              <a:rPr lang="en-US" b="1" i="0" dirty="0">
                <a:solidFill>
                  <a:srgbClr val="7030A0"/>
                </a:solidFill>
                <a:effectLst/>
              </a:rPr>
              <a:t>A simple thread example using runnable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ExampleClass </a:t>
            </a:r>
            <a:r>
              <a:rPr lang="en-IN" b="1" i="0" dirty="0">
                <a:solidFill>
                  <a:srgbClr val="006699"/>
                </a:solidFill>
                <a:effectLst/>
              </a:rPr>
              <a:t>implements</a:t>
            </a:r>
            <a:r>
              <a:rPr lang="en-IN" b="0" i="0" dirty="0">
                <a:solidFill>
                  <a:srgbClr val="000000"/>
                </a:solidFill>
                <a:effectLst/>
              </a:rPr>
              <a:t> Runnable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 {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"Thread has ended"</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a:solidFill>
                  <a:srgbClr val="000000"/>
                </a:solidFill>
                <a:effectLst/>
              </a:rPr>
              <a:t>        ExampleClass ex = </a:t>
            </a:r>
            <a:r>
              <a:rPr lang="en-IN" b="1" i="0" dirty="0">
                <a:solidFill>
                  <a:srgbClr val="006699"/>
                </a:solidFill>
                <a:effectLst/>
              </a:rPr>
              <a:t>new</a:t>
            </a:r>
            <a:r>
              <a:rPr lang="en-IN" b="0" i="0" dirty="0">
                <a:solidFill>
                  <a:srgbClr val="000000"/>
                </a:solidFill>
                <a:effectLst/>
              </a:rPr>
              <a:t> ExampleClass();  </a:t>
            </a:r>
          </a:p>
          <a:p>
            <a:pPr marL="0" indent="0" algn="just">
              <a:buNone/>
            </a:pPr>
            <a:r>
              <a:rPr lang="en-IN" b="0" i="0" dirty="0">
                <a:solidFill>
                  <a:srgbClr val="000000"/>
                </a:solidFill>
                <a:effectLst/>
              </a:rPr>
              <a:t>        Thread t1= </a:t>
            </a:r>
            <a:r>
              <a:rPr lang="en-IN" b="1" i="0" dirty="0">
                <a:solidFill>
                  <a:srgbClr val="006699"/>
                </a:solidFill>
                <a:effectLst/>
              </a:rPr>
              <a:t>new</a:t>
            </a:r>
            <a:r>
              <a:rPr lang="en-IN" b="0" i="0" dirty="0">
                <a:solidFill>
                  <a:srgbClr val="000000"/>
                </a:solidFill>
                <a:effectLst/>
              </a:rPr>
              <a:t> Thread(ex);  </a:t>
            </a:r>
          </a:p>
          <a:p>
            <a:pPr marL="0" indent="0" algn="just">
              <a:buNone/>
            </a:pPr>
            <a:r>
              <a:rPr lang="en-IN" b="0" i="0" dirty="0">
                <a:solidFill>
                  <a:srgbClr val="000000"/>
                </a:solidFill>
                <a:effectLst/>
              </a:rPr>
              <a:t>        t1.start();  </a:t>
            </a:r>
          </a:p>
          <a:p>
            <a:pPr marL="0" indent="0" algn="just">
              <a:buNone/>
            </a:pPr>
            <a:r>
              <a:rPr lang="en-IN" b="0" i="0" dirty="0">
                <a:solidFill>
                  <a:srgbClr val="000000"/>
                </a:solidFill>
                <a:effectLst/>
              </a:rPr>
              <a:t>        System.out.println(</a:t>
            </a:r>
            <a:r>
              <a:rPr lang="en-IN" b="0" i="0" dirty="0">
                <a:solidFill>
                  <a:srgbClr val="0000FF"/>
                </a:solidFill>
                <a:effectLst/>
              </a:rPr>
              <a:t>"Hi"</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102086393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D6E15-FF11-0F59-D2C8-956E7985E625}"/>
              </a:ext>
            </a:extLst>
          </p:cNvPr>
          <p:cNvSpPr>
            <a:spLocks noGrp="1"/>
          </p:cNvSpPr>
          <p:nvPr>
            <p:ph idx="1"/>
          </p:nvPr>
        </p:nvSpPr>
        <p:spPr>
          <a:xfrm>
            <a:off x="838200" y="429208"/>
            <a:ext cx="10515600" cy="5841061"/>
          </a:xfrm>
        </p:spPr>
        <p:txBody>
          <a:bodyPr/>
          <a:lstStyle/>
          <a:p>
            <a:pPr marL="0" indent="0">
              <a:lnSpc>
                <a:spcPct val="150000"/>
              </a:lnSpc>
              <a:buNone/>
            </a:pPr>
            <a:r>
              <a:rPr lang="en-US" b="1" i="0" dirty="0">
                <a:solidFill>
                  <a:srgbClr val="7030A0"/>
                </a:solidFill>
                <a:effectLst/>
              </a:rPr>
              <a:t>Thread creation by extending the Thread class</a:t>
            </a:r>
          </a:p>
          <a:p>
            <a:pPr>
              <a:lnSpc>
                <a:spcPct val="150000"/>
              </a:lnSpc>
            </a:pPr>
            <a:r>
              <a:rPr lang="en-US" b="0" i="0" dirty="0">
                <a:solidFill>
                  <a:srgbClr val="273239"/>
                </a:solidFill>
                <a:effectLst/>
              </a:rPr>
              <a:t>We create a </a:t>
            </a:r>
            <a:r>
              <a:rPr lang="en-US" b="1" i="0" dirty="0">
                <a:solidFill>
                  <a:srgbClr val="7030A0"/>
                </a:solidFill>
                <a:effectLst/>
              </a:rPr>
              <a:t>class that extends the </a:t>
            </a:r>
            <a:r>
              <a:rPr lang="en-US" b="1" i="0" dirty="0" err="1">
                <a:solidFill>
                  <a:srgbClr val="7030A0"/>
                </a:solidFill>
                <a:effectLst/>
              </a:rPr>
              <a:t>java.lang.Thread</a:t>
            </a:r>
            <a:r>
              <a:rPr lang="en-US" b="1" i="0" dirty="0">
                <a:solidFill>
                  <a:srgbClr val="7030A0"/>
                </a:solidFill>
                <a:effectLst/>
              </a:rPr>
              <a:t> class. </a:t>
            </a:r>
            <a:r>
              <a:rPr lang="en-US" b="0" i="0" dirty="0">
                <a:solidFill>
                  <a:srgbClr val="273239"/>
                </a:solidFill>
                <a:effectLst/>
              </a:rPr>
              <a:t>This class overrides the </a:t>
            </a:r>
            <a:r>
              <a:rPr lang="en-US" b="1" i="0" dirty="0">
                <a:solidFill>
                  <a:srgbClr val="7030A0"/>
                </a:solidFill>
                <a:effectLst/>
              </a:rPr>
              <a:t>run() </a:t>
            </a:r>
            <a:r>
              <a:rPr lang="en-US" b="0" i="0" dirty="0">
                <a:solidFill>
                  <a:srgbClr val="273239"/>
                </a:solidFill>
                <a:effectLst/>
              </a:rPr>
              <a:t>method available in the Thread class.</a:t>
            </a:r>
          </a:p>
          <a:p>
            <a:pPr>
              <a:lnSpc>
                <a:spcPct val="150000"/>
              </a:lnSpc>
            </a:pPr>
            <a:r>
              <a:rPr lang="en-US" b="0" i="0" dirty="0">
                <a:solidFill>
                  <a:srgbClr val="273239"/>
                </a:solidFill>
                <a:effectLst/>
              </a:rPr>
              <a:t> A thread </a:t>
            </a:r>
            <a:r>
              <a:rPr lang="en-US" b="1" i="0" dirty="0">
                <a:solidFill>
                  <a:srgbClr val="7030A0"/>
                </a:solidFill>
                <a:effectLst/>
              </a:rPr>
              <a:t>begins its life inside run() method. </a:t>
            </a:r>
          </a:p>
          <a:p>
            <a:pPr>
              <a:lnSpc>
                <a:spcPct val="150000"/>
              </a:lnSpc>
            </a:pPr>
            <a:r>
              <a:rPr lang="en-US" b="0" i="0" dirty="0">
                <a:solidFill>
                  <a:srgbClr val="273239"/>
                </a:solidFill>
                <a:effectLst/>
              </a:rPr>
              <a:t>We create an object of our new class </a:t>
            </a:r>
            <a:r>
              <a:rPr lang="en-US" b="1" i="0" dirty="0">
                <a:solidFill>
                  <a:srgbClr val="7030A0"/>
                </a:solidFill>
                <a:effectLst/>
              </a:rPr>
              <a:t>and call start() method to start the execution of a thread.</a:t>
            </a:r>
          </a:p>
          <a:p>
            <a:pPr>
              <a:lnSpc>
                <a:spcPct val="150000"/>
              </a:lnSpc>
            </a:pPr>
            <a:r>
              <a:rPr lang="en-US" b="0" i="0" dirty="0">
                <a:solidFill>
                  <a:srgbClr val="273239"/>
                </a:solidFill>
                <a:effectLst/>
              </a:rPr>
              <a:t> </a:t>
            </a:r>
            <a:r>
              <a:rPr lang="en-US" b="1" i="0" dirty="0">
                <a:solidFill>
                  <a:srgbClr val="7030A0"/>
                </a:solidFill>
                <a:effectLst/>
              </a:rPr>
              <a:t>Start() invokes the run() method on the Thread object.</a:t>
            </a:r>
            <a:endParaRPr lang="en-IN" b="1" dirty="0">
              <a:solidFill>
                <a:srgbClr val="7030A0"/>
              </a:solidFill>
            </a:endParaRPr>
          </a:p>
        </p:txBody>
      </p:sp>
    </p:spTree>
    <p:extLst>
      <p:ext uri="{BB962C8B-B14F-4D97-AF65-F5344CB8AC3E}">
        <p14:creationId xmlns:p14="http://schemas.microsoft.com/office/powerpoint/2010/main" val="16903834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E4892E-66F8-659B-8321-8F440D2844B8}"/>
              </a:ext>
            </a:extLst>
          </p:cNvPr>
          <p:cNvSpPr>
            <a:spLocks noGrp="1"/>
          </p:cNvSpPr>
          <p:nvPr>
            <p:ph idx="1"/>
          </p:nvPr>
        </p:nvSpPr>
        <p:spPr>
          <a:xfrm>
            <a:off x="838200" y="522515"/>
            <a:ext cx="10515600" cy="5654448"/>
          </a:xfrm>
        </p:spPr>
        <p:txBody>
          <a:bodyPr/>
          <a:lstStyle/>
          <a:p>
            <a:r>
              <a:rPr lang="en-IN" dirty="0"/>
              <a:t>Example program</a:t>
            </a:r>
          </a:p>
          <a:p>
            <a:pPr marL="0" indent="0" algn="l">
              <a:buNone/>
            </a:pPr>
            <a:r>
              <a:rPr lang="en-IN" b="0" i="0" dirty="0">
                <a:solidFill>
                  <a:srgbClr val="202124"/>
                </a:solidFill>
                <a:effectLst/>
              </a:rPr>
              <a:t>class Multi extends Thread</a:t>
            </a:r>
          </a:p>
          <a:p>
            <a:pPr marL="0" indent="0" algn="l">
              <a:buNone/>
            </a:pPr>
            <a:r>
              <a:rPr lang="en-IN" b="0" i="0" dirty="0">
                <a:solidFill>
                  <a:srgbClr val="202124"/>
                </a:solidFill>
                <a:effectLst/>
              </a:rPr>
              <a:t>{</a:t>
            </a:r>
          </a:p>
          <a:p>
            <a:pPr marL="0" indent="0" algn="l">
              <a:buNone/>
            </a:pPr>
            <a:r>
              <a:rPr lang="en-IN" b="0" i="0" dirty="0">
                <a:solidFill>
                  <a:srgbClr val="202124"/>
                </a:solidFill>
                <a:effectLst/>
              </a:rPr>
              <a:t>public void run(){</a:t>
            </a:r>
          </a:p>
          <a:p>
            <a:pPr marL="0" indent="0" algn="l">
              <a:buNone/>
            </a:pPr>
            <a:r>
              <a:rPr lang="en-IN" b="0" i="0" dirty="0" err="1">
                <a:solidFill>
                  <a:srgbClr val="202124"/>
                </a:solidFill>
                <a:effectLst/>
              </a:rPr>
              <a:t>System.out.println</a:t>
            </a:r>
            <a:r>
              <a:rPr lang="en-IN" b="0" i="0" dirty="0">
                <a:solidFill>
                  <a:srgbClr val="202124"/>
                </a:solidFill>
                <a:effectLst/>
              </a:rPr>
              <a:t>("thread is running...");</a:t>
            </a:r>
          </a:p>
          <a:p>
            <a:pPr marL="0" indent="0" algn="l">
              <a:buNone/>
            </a:pPr>
            <a:r>
              <a:rPr lang="en-IN" b="0" i="0" dirty="0">
                <a:solidFill>
                  <a:srgbClr val="202124"/>
                </a:solidFill>
                <a:effectLst/>
              </a:rPr>
              <a:t>}</a:t>
            </a:r>
          </a:p>
          <a:p>
            <a:pPr marL="0" indent="0" algn="l">
              <a:buNone/>
            </a:pPr>
            <a:r>
              <a:rPr lang="en-IN" b="0" i="0" dirty="0">
                <a:solidFill>
                  <a:srgbClr val="202124"/>
                </a:solidFill>
                <a:effectLst/>
              </a:rPr>
              <a:t>public static void main(String </a:t>
            </a:r>
            <a:r>
              <a:rPr lang="en-IN" b="0" i="0" dirty="0" err="1">
                <a:solidFill>
                  <a:srgbClr val="202124"/>
                </a:solidFill>
                <a:effectLst/>
              </a:rPr>
              <a:t>args</a:t>
            </a:r>
            <a:r>
              <a:rPr lang="en-IN" b="0" i="0" dirty="0">
                <a:solidFill>
                  <a:srgbClr val="202124"/>
                </a:solidFill>
                <a:effectLst/>
              </a:rPr>
              <a:t>[])</a:t>
            </a:r>
          </a:p>
          <a:p>
            <a:pPr marL="0" indent="0" algn="l">
              <a:buNone/>
            </a:pPr>
            <a:r>
              <a:rPr lang="en-IN" b="0" i="0" dirty="0">
                <a:solidFill>
                  <a:srgbClr val="202124"/>
                </a:solidFill>
                <a:effectLst/>
              </a:rPr>
              <a:t>{</a:t>
            </a:r>
          </a:p>
          <a:p>
            <a:pPr marL="0" indent="0" algn="l">
              <a:buNone/>
            </a:pPr>
            <a:r>
              <a:rPr lang="en-IN" b="0" i="0" dirty="0">
                <a:solidFill>
                  <a:srgbClr val="202124"/>
                </a:solidFill>
                <a:effectLst/>
              </a:rPr>
              <a:t>Multi t1=new Multi();</a:t>
            </a:r>
          </a:p>
          <a:p>
            <a:pPr marL="0" indent="0" algn="l">
              <a:buNone/>
            </a:pPr>
            <a:r>
              <a:rPr lang="en-IN" b="0" i="0" dirty="0">
                <a:solidFill>
                  <a:srgbClr val="202124"/>
                </a:solidFill>
                <a:effectLst/>
              </a:rPr>
              <a:t>t1.start();</a:t>
            </a:r>
          </a:p>
          <a:p>
            <a:pPr marL="0" indent="0" algn="l">
              <a:buNone/>
            </a:pPr>
            <a:r>
              <a:rPr lang="en-IN" b="0" i="0" dirty="0">
                <a:solidFill>
                  <a:srgbClr val="202124"/>
                </a:solidFill>
                <a:effectLst/>
              </a:rPr>
              <a:t>}</a:t>
            </a:r>
          </a:p>
          <a:p>
            <a:endParaRPr lang="en-IN" dirty="0"/>
          </a:p>
        </p:txBody>
      </p:sp>
    </p:spTree>
    <p:extLst>
      <p:ext uri="{BB962C8B-B14F-4D97-AF65-F5344CB8AC3E}">
        <p14:creationId xmlns:p14="http://schemas.microsoft.com/office/powerpoint/2010/main" val="318210740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55100-8497-C6A3-385E-DBB8B07262E7}"/>
              </a:ext>
            </a:extLst>
          </p:cNvPr>
          <p:cNvSpPr>
            <a:spLocks noGrp="1"/>
          </p:cNvSpPr>
          <p:nvPr>
            <p:ph idx="1"/>
          </p:nvPr>
        </p:nvSpPr>
        <p:spPr>
          <a:xfrm>
            <a:off x="619708" y="494473"/>
            <a:ext cx="10952584" cy="5869053"/>
          </a:xfrm>
        </p:spPr>
        <p:txBody>
          <a:bodyPr>
            <a:normAutofit fontScale="92500"/>
          </a:bodyPr>
          <a:lstStyle/>
          <a:p>
            <a:pPr marL="0" indent="0">
              <a:lnSpc>
                <a:spcPct val="150000"/>
              </a:lnSpc>
              <a:buNone/>
            </a:pPr>
            <a:r>
              <a:rPr lang="en-IN" b="1" i="0" dirty="0">
                <a:solidFill>
                  <a:srgbClr val="7030A0"/>
                </a:solidFill>
                <a:effectLst/>
              </a:rPr>
              <a:t>Daemon Thread</a:t>
            </a:r>
          </a:p>
          <a:p>
            <a:pPr>
              <a:lnSpc>
                <a:spcPct val="150000"/>
              </a:lnSpc>
            </a:pPr>
            <a:r>
              <a:rPr lang="en-US" b="1" i="0" dirty="0">
                <a:solidFill>
                  <a:srgbClr val="7030A0"/>
                </a:solidFill>
                <a:effectLst/>
              </a:rPr>
              <a:t>Daemon thread in Java</a:t>
            </a:r>
            <a:r>
              <a:rPr lang="en-US" b="0" i="0" dirty="0">
                <a:solidFill>
                  <a:srgbClr val="7030A0"/>
                </a:solidFill>
                <a:effectLst/>
              </a:rPr>
              <a:t> </a:t>
            </a:r>
            <a:r>
              <a:rPr lang="en-US" b="0" i="0" dirty="0">
                <a:solidFill>
                  <a:srgbClr val="333333"/>
                </a:solidFill>
                <a:effectLst/>
              </a:rPr>
              <a:t>is a service provider thread that provides </a:t>
            </a:r>
            <a:r>
              <a:rPr lang="en-US" b="1" i="0" dirty="0">
                <a:solidFill>
                  <a:srgbClr val="7030A0"/>
                </a:solidFill>
                <a:effectLst/>
              </a:rPr>
              <a:t>services to the user thread.</a:t>
            </a:r>
          </a:p>
          <a:p>
            <a:pPr>
              <a:lnSpc>
                <a:spcPct val="150000"/>
              </a:lnSpc>
            </a:pPr>
            <a:r>
              <a:rPr lang="en-US" b="1" i="0" dirty="0">
                <a:solidFill>
                  <a:srgbClr val="7030A0"/>
                </a:solidFill>
                <a:effectLst/>
              </a:rPr>
              <a:t>when all the user threads dies, JVM terminates this thread automatically.</a:t>
            </a:r>
          </a:p>
          <a:p>
            <a:pPr algn="just">
              <a:lnSpc>
                <a:spcPct val="150000"/>
              </a:lnSpc>
              <a:buFont typeface="Arial" panose="020B0604020202020204" pitchFamily="34" charset="0"/>
              <a:buChar char="•"/>
            </a:pPr>
            <a:r>
              <a:rPr lang="en-US" b="0" i="0" dirty="0">
                <a:solidFill>
                  <a:srgbClr val="000000"/>
                </a:solidFill>
                <a:effectLst/>
              </a:rPr>
              <a:t>It provides services to user threads for background supporting tasks. It has no role in life than to serve user threads.</a:t>
            </a:r>
          </a:p>
          <a:p>
            <a:pPr algn="just">
              <a:lnSpc>
                <a:spcPct val="150000"/>
              </a:lnSpc>
              <a:buFont typeface="Arial" panose="020B0604020202020204" pitchFamily="34" charset="0"/>
              <a:buChar char="•"/>
            </a:pPr>
            <a:r>
              <a:rPr lang="en-US" b="0" i="0" dirty="0">
                <a:solidFill>
                  <a:srgbClr val="000000"/>
                </a:solidFill>
                <a:effectLst/>
              </a:rPr>
              <a:t>Its life depends on user threads.</a:t>
            </a:r>
          </a:p>
          <a:p>
            <a:pPr algn="just">
              <a:lnSpc>
                <a:spcPct val="150000"/>
              </a:lnSpc>
              <a:buFont typeface="Arial" panose="020B0604020202020204" pitchFamily="34" charset="0"/>
              <a:buChar char="•"/>
            </a:pPr>
            <a:r>
              <a:rPr lang="en-US" b="0" i="0" dirty="0">
                <a:solidFill>
                  <a:srgbClr val="000000"/>
                </a:solidFill>
                <a:effectLst/>
              </a:rPr>
              <a:t>It is a low priority thread.</a:t>
            </a:r>
          </a:p>
          <a:p>
            <a:pPr>
              <a:lnSpc>
                <a:spcPct val="150000"/>
              </a:lnSpc>
            </a:pPr>
            <a:endParaRPr lang="en-IN" b="1" dirty="0">
              <a:solidFill>
                <a:srgbClr val="7030A0"/>
              </a:solidFill>
            </a:endParaRPr>
          </a:p>
        </p:txBody>
      </p:sp>
    </p:spTree>
    <p:extLst>
      <p:ext uri="{BB962C8B-B14F-4D97-AF65-F5344CB8AC3E}">
        <p14:creationId xmlns:p14="http://schemas.microsoft.com/office/powerpoint/2010/main" val="58301755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41EEE-5B83-3D73-1C3C-FAC7FCBEA7BB}"/>
              </a:ext>
            </a:extLst>
          </p:cNvPr>
          <p:cNvSpPr>
            <a:spLocks noGrp="1"/>
          </p:cNvSpPr>
          <p:nvPr>
            <p:ph idx="1"/>
          </p:nvPr>
        </p:nvSpPr>
        <p:spPr>
          <a:xfrm>
            <a:off x="838200" y="559837"/>
            <a:ext cx="10515600" cy="5617126"/>
          </a:xfrm>
        </p:spPr>
        <p:txBody>
          <a:bodyPr/>
          <a:lstStyle/>
          <a:p>
            <a:pPr marL="0" indent="0" algn="just">
              <a:lnSpc>
                <a:spcPct val="150000"/>
              </a:lnSpc>
              <a:buNone/>
            </a:pPr>
            <a:r>
              <a:rPr lang="en-US" b="1" i="0" dirty="0">
                <a:solidFill>
                  <a:srgbClr val="7030A0"/>
                </a:solidFill>
                <a:effectLst/>
              </a:rPr>
              <a:t>Why JVM terminates the daemon thread if there is no user thread?</a:t>
            </a:r>
          </a:p>
          <a:p>
            <a:pPr algn="just">
              <a:lnSpc>
                <a:spcPct val="150000"/>
              </a:lnSpc>
            </a:pPr>
            <a:r>
              <a:rPr lang="en-US" b="0" i="0" dirty="0">
                <a:solidFill>
                  <a:srgbClr val="333333"/>
                </a:solidFill>
                <a:effectLst/>
              </a:rPr>
              <a:t>The sole purpose of the daemon thread is that </a:t>
            </a:r>
            <a:r>
              <a:rPr lang="en-US" b="1" i="0" dirty="0">
                <a:solidFill>
                  <a:srgbClr val="7030A0"/>
                </a:solidFill>
                <a:effectLst/>
              </a:rPr>
              <a:t>it provides services to user thread for background supporting task. </a:t>
            </a:r>
          </a:p>
          <a:p>
            <a:pPr algn="just">
              <a:lnSpc>
                <a:spcPct val="150000"/>
              </a:lnSpc>
            </a:pPr>
            <a:r>
              <a:rPr lang="en-US" b="1" i="0" dirty="0">
                <a:solidFill>
                  <a:srgbClr val="7030A0"/>
                </a:solidFill>
                <a:effectLst/>
              </a:rPr>
              <a:t>If there is no user thread, why should JVM keep running this thread. </a:t>
            </a:r>
          </a:p>
          <a:p>
            <a:pPr algn="just">
              <a:lnSpc>
                <a:spcPct val="150000"/>
              </a:lnSpc>
            </a:pPr>
            <a:r>
              <a:rPr lang="en-US" b="0" i="0" dirty="0">
                <a:solidFill>
                  <a:srgbClr val="333333"/>
                </a:solidFill>
                <a:effectLst/>
              </a:rPr>
              <a:t>That is why JVM terminates the daemon thread if there is no user thread.</a:t>
            </a:r>
          </a:p>
          <a:p>
            <a:endParaRPr lang="en-IN" dirty="0"/>
          </a:p>
        </p:txBody>
      </p:sp>
    </p:spTree>
    <p:extLst>
      <p:ext uri="{BB962C8B-B14F-4D97-AF65-F5344CB8AC3E}">
        <p14:creationId xmlns:p14="http://schemas.microsoft.com/office/powerpoint/2010/main" val="425717485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0B79F-F937-9E16-1BC7-5016CCE2513D}"/>
              </a:ext>
            </a:extLst>
          </p:cNvPr>
          <p:cNvSpPr>
            <a:spLocks noGrp="1"/>
          </p:cNvSpPr>
          <p:nvPr>
            <p:ph idx="1"/>
          </p:nvPr>
        </p:nvSpPr>
        <p:spPr>
          <a:xfrm>
            <a:off x="838200" y="531845"/>
            <a:ext cx="10515600" cy="5645118"/>
          </a:xfrm>
        </p:spPr>
        <p:txBody>
          <a:bodyPr>
            <a:normAutofit fontScale="62500" lnSpcReduction="20000"/>
          </a:bodyPr>
          <a:lstStyle/>
          <a:p>
            <a:r>
              <a:rPr lang="en-IN" dirty="0"/>
              <a:t>Example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TestDaemonThread1 </a:t>
            </a:r>
            <a:r>
              <a:rPr lang="en-IN" b="1" i="0" dirty="0">
                <a:solidFill>
                  <a:srgbClr val="006699"/>
                </a:solidFill>
                <a:effectLst/>
              </a:rPr>
              <a:t>extends</a:t>
            </a:r>
            <a:r>
              <a:rPr lang="en-IN" b="0" i="0" dirty="0">
                <a:solidFill>
                  <a:srgbClr val="000000"/>
                </a:solidFill>
                <a:effectLst/>
              </a:rPr>
              <a:t> Thread{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  </a:t>
            </a:r>
          </a:p>
          <a:p>
            <a:pPr marL="0" indent="0" algn="just">
              <a:buNone/>
            </a:pPr>
            <a:r>
              <a:rPr lang="en-IN" b="0" i="0" dirty="0">
                <a:solidFill>
                  <a:srgbClr val="000000"/>
                </a:solidFill>
                <a:effectLst/>
              </a:rPr>
              <a:t>  </a:t>
            </a:r>
            <a:r>
              <a:rPr lang="en-IN" b="1" i="0" dirty="0">
                <a:solidFill>
                  <a:srgbClr val="006699"/>
                </a:solidFill>
                <a:effectLst/>
              </a:rPr>
              <a:t>if</a:t>
            </a:r>
            <a:r>
              <a:rPr lang="en-IN" b="0" i="0" dirty="0">
                <a:solidFill>
                  <a:srgbClr val="000000"/>
                </a:solidFill>
                <a:effectLst/>
              </a:rPr>
              <a:t>(</a:t>
            </a:r>
            <a:r>
              <a:rPr lang="en-IN" b="0" i="0" dirty="0" err="1">
                <a:solidFill>
                  <a:srgbClr val="000000"/>
                </a:solidFill>
                <a:effectLst/>
              </a:rPr>
              <a:t>Thread.currentThread</a:t>
            </a:r>
            <a:r>
              <a:rPr lang="en-IN" b="0" i="0" dirty="0">
                <a:solidFill>
                  <a:srgbClr val="000000"/>
                </a:solidFill>
                <a:effectLst/>
              </a:rPr>
              <a:t>().</a:t>
            </a:r>
            <a:r>
              <a:rPr lang="en-IN" b="0" i="0" dirty="0" err="1">
                <a:solidFill>
                  <a:srgbClr val="000000"/>
                </a:solidFill>
                <a:effectLst/>
              </a:rPr>
              <a:t>isDaemon</a:t>
            </a:r>
            <a:r>
              <a:rPr lang="en-IN" b="0" i="0" dirty="0">
                <a:solidFill>
                  <a:srgbClr val="000000"/>
                </a:solidFill>
                <a:effectLst/>
              </a:rPr>
              <a:t>()){</a:t>
            </a:r>
            <a:r>
              <a:rPr lang="en-IN" b="0" i="0" dirty="0">
                <a:solidFill>
                  <a:srgbClr val="008200"/>
                </a:solidFill>
                <a:effectLst/>
              </a:rPr>
              <a:t>//checking for daemon thread</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"daemon thread work"</a:t>
            </a:r>
            <a:r>
              <a:rPr lang="en-IN" b="0" i="0" dirty="0">
                <a:solidFill>
                  <a:srgbClr val="000000"/>
                </a:solidFill>
                <a:effectLst/>
              </a:rPr>
              <a:t>);  </a:t>
            </a:r>
          </a:p>
          <a:p>
            <a:pPr marL="0" indent="0" algn="just">
              <a:buNone/>
            </a:pPr>
            <a:r>
              <a:rPr lang="en-IN" b="0" i="0" dirty="0">
                <a:solidFill>
                  <a:srgbClr val="000000"/>
                </a:solidFill>
                <a:effectLst/>
              </a:rPr>
              <a:t>  }  </a:t>
            </a:r>
            <a:r>
              <a:rPr lang="en-IN" b="1" i="0" dirty="0">
                <a:solidFill>
                  <a:srgbClr val="006699"/>
                </a:solidFill>
                <a:effectLst/>
              </a:rPr>
              <a:t>else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"user thread work"</a:t>
            </a:r>
            <a:r>
              <a:rPr lang="en-IN" b="0" i="0" dirty="0">
                <a:solidFill>
                  <a:srgbClr val="000000"/>
                </a:solidFill>
                <a:effectLst/>
              </a:rPr>
              <a:t>);  </a:t>
            </a:r>
          </a:p>
          <a:p>
            <a:pPr marL="0" indent="0" algn="just">
              <a:buNone/>
            </a:pPr>
            <a:r>
              <a:rPr lang="en-IN" b="0" i="0" dirty="0">
                <a:solidFill>
                  <a:srgbClr val="000000"/>
                </a:solidFill>
                <a:effectLst/>
              </a:rPr>
              <a:t> }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  TestDaemonThread1 t1=</a:t>
            </a:r>
            <a:r>
              <a:rPr lang="en-IN" b="1" i="0" dirty="0">
                <a:solidFill>
                  <a:srgbClr val="006699"/>
                </a:solidFill>
                <a:effectLst/>
              </a:rPr>
              <a:t>new</a:t>
            </a:r>
            <a:r>
              <a:rPr lang="en-IN" b="0" i="0" dirty="0">
                <a:solidFill>
                  <a:srgbClr val="000000"/>
                </a:solidFill>
                <a:effectLst/>
              </a:rPr>
              <a:t> TestDaemonThread1();</a:t>
            </a:r>
            <a:r>
              <a:rPr lang="en-IN" b="0" i="0" dirty="0">
                <a:solidFill>
                  <a:srgbClr val="008200"/>
                </a:solidFill>
                <a:effectLst/>
              </a:rPr>
              <a:t>//creating thread</a:t>
            </a:r>
            <a:r>
              <a:rPr lang="en-IN" b="0" i="0" dirty="0">
                <a:solidFill>
                  <a:srgbClr val="000000"/>
                </a:solidFill>
                <a:effectLst/>
              </a:rPr>
              <a:t>  </a:t>
            </a:r>
          </a:p>
          <a:p>
            <a:pPr marL="0" indent="0" algn="just">
              <a:buNone/>
            </a:pPr>
            <a:r>
              <a:rPr lang="en-IN" b="0" i="0" dirty="0">
                <a:solidFill>
                  <a:srgbClr val="000000"/>
                </a:solidFill>
                <a:effectLst/>
              </a:rPr>
              <a:t>  TestDaemonThread1 t2=</a:t>
            </a:r>
            <a:r>
              <a:rPr lang="en-IN" b="1" i="0" dirty="0">
                <a:solidFill>
                  <a:srgbClr val="006699"/>
                </a:solidFill>
                <a:effectLst/>
              </a:rPr>
              <a:t>new</a:t>
            </a:r>
            <a:r>
              <a:rPr lang="en-IN" b="0" i="0" dirty="0">
                <a:solidFill>
                  <a:srgbClr val="000000"/>
                </a:solidFill>
                <a:effectLst/>
              </a:rPr>
              <a:t> TestDaemonThread1();  </a:t>
            </a:r>
          </a:p>
          <a:p>
            <a:pPr marL="0" indent="0" algn="just">
              <a:buNone/>
            </a:pPr>
            <a:r>
              <a:rPr lang="en-IN" b="0" i="0" dirty="0">
                <a:solidFill>
                  <a:srgbClr val="000000"/>
                </a:solidFill>
                <a:effectLst/>
              </a:rPr>
              <a:t>  TestDaemonThread1 t3=</a:t>
            </a:r>
            <a:r>
              <a:rPr lang="en-IN" b="1" i="0" dirty="0">
                <a:solidFill>
                  <a:srgbClr val="006699"/>
                </a:solidFill>
                <a:effectLst/>
              </a:rPr>
              <a:t>new</a:t>
            </a:r>
            <a:r>
              <a:rPr lang="en-IN" b="0" i="0" dirty="0">
                <a:solidFill>
                  <a:srgbClr val="000000"/>
                </a:solidFill>
                <a:effectLst/>
              </a:rPr>
              <a:t> TestDaemonThread1();  </a:t>
            </a:r>
          </a:p>
          <a:p>
            <a:pPr marL="0" indent="0" algn="just">
              <a:buNone/>
            </a:pPr>
            <a:r>
              <a:rPr lang="en-IN" b="0" i="0" dirty="0">
                <a:solidFill>
                  <a:srgbClr val="000000"/>
                </a:solidFill>
                <a:effectLst/>
              </a:rPr>
              <a:t>  t1.setDaemon(</a:t>
            </a:r>
            <a:r>
              <a:rPr lang="en-IN" b="1" i="0" dirty="0">
                <a:solidFill>
                  <a:srgbClr val="006699"/>
                </a:solidFill>
                <a:effectLst/>
              </a:rPr>
              <a:t>true</a:t>
            </a:r>
            <a:r>
              <a:rPr lang="en-IN" b="0" i="0" dirty="0">
                <a:solidFill>
                  <a:srgbClr val="000000"/>
                </a:solidFill>
                <a:effectLst/>
              </a:rPr>
              <a:t>);</a:t>
            </a:r>
          </a:p>
          <a:p>
            <a:pPr marL="0" indent="0" algn="just">
              <a:buNone/>
            </a:pPr>
            <a:r>
              <a:rPr lang="en-IN" b="0" i="0" dirty="0">
                <a:solidFill>
                  <a:srgbClr val="000000"/>
                </a:solidFill>
                <a:effectLst/>
              </a:rPr>
              <a:t>  t1.start();</a:t>
            </a:r>
          </a:p>
          <a:p>
            <a:pPr marL="0" indent="0" algn="just">
              <a:buNone/>
            </a:pPr>
            <a:r>
              <a:rPr lang="en-IN" b="0" i="0" dirty="0">
                <a:solidFill>
                  <a:srgbClr val="000000"/>
                </a:solidFill>
                <a:effectLst/>
              </a:rPr>
              <a:t>  t2.start();  </a:t>
            </a:r>
          </a:p>
          <a:p>
            <a:pPr marL="0" indent="0" algn="just">
              <a:buNone/>
            </a:pPr>
            <a:r>
              <a:rPr lang="en-IN" b="0" i="0" dirty="0">
                <a:solidFill>
                  <a:srgbClr val="000000"/>
                </a:solidFill>
                <a:effectLst/>
              </a:rPr>
              <a:t>  t3.start();  </a:t>
            </a:r>
          </a:p>
          <a:p>
            <a:pPr marL="0" indent="0" algn="just">
              <a:buNone/>
            </a:pPr>
            <a:r>
              <a:rPr lang="en-IN" b="0" i="0" dirty="0">
                <a:solidFill>
                  <a:srgbClr val="000000"/>
                </a:solidFill>
                <a:effectLst/>
              </a:rPr>
              <a:t> }  }</a:t>
            </a:r>
          </a:p>
          <a:p>
            <a:endParaRPr lang="en-IN" dirty="0"/>
          </a:p>
        </p:txBody>
      </p:sp>
    </p:spTree>
    <p:extLst>
      <p:ext uri="{BB962C8B-B14F-4D97-AF65-F5344CB8AC3E}">
        <p14:creationId xmlns:p14="http://schemas.microsoft.com/office/powerpoint/2010/main" val="417598087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4B6746-4E90-7EF3-8AA4-7442957BAAC7}"/>
              </a:ext>
            </a:extLst>
          </p:cNvPr>
          <p:cNvSpPr>
            <a:spLocks noGrp="1"/>
          </p:cNvSpPr>
          <p:nvPr>
            <p:ph idx="1"/>
          </p:nvPr>
        </p:nvSpPr>
        <p:spPr>
          <a:xfrm>
            <a:off x="838200" y="401216"/>
            <a:ext cx="10515600" cy="5775747"/>
          </a:xfrm>
        </p:spPr>
        <p:txBody>
          <a:bodyPr/>
          <a:lstStyle/>
          <a:p>
            <a:pPr marL="0" indent="0">
              <a:lnSpc>
                <a:spcPct val="150000"/>
              </a:lnSpc>
              <a:buNone/>
            </a:pPr>
            <a:r>
              <a:rPr lang="en-IN" b="1" i="0" dirty="0">
                <a:solidFill>
                  <a:srgbClr val="7030A0"/>
                </a:solidFill>
                <a:effectLst/>
              </a:rPr>
              <a:t>Priority of a Thread</a:t>
            </a:r>
          </a:p>
          <a:p>
            <a:pPr>
              <a:lnSpc>
                <a:spcPct val="150000"/>
              </a:lnSpc>
            </a:pPr>
            <a:r>
              <a:rPr lang="en-US" b="0" i="0" dirty="0">
                <a:solidFill>
                  <a:srgbClr val="333333"/>
                </a:solidFill>
                <a:effectLst/>
              </a:rPr>
              <a:t>Each thread has a priority</a:t>
            </a:r>
            <a:r>
              <a:rPr lang="en-US" b="1" i="0" dirty="0">
                <a:solidFill>
                  <a:srgbClr val="7030A0"/>
                </a:solidFill>
                <a:effectLst/>
              </a:rPr>
              <a:t>. Priorities are represented by a number between 1 and 10.</a:t>
            </a:r>
          </a:p>
          <a:p>
            <a:pPr>
              <a:lnSpc>
                <a:spcPct val="150000"/>
              </a:lnSpc>
            </a:pPr>
            <a:r>
              <a:rPr lang="en-US" b="0" i="0" dirty="0">
                <a:solidFill>
                  <a:srgbClr val="333333"/>
                </a:solidFill>
                <a:effectLst/>
              </a:rPr>
              <a:t> In most cases, the thread scheduler schedules the threads according to their priority (known as preemptive scheduling).</a:t>
            </a:r>
          </a:p>
          <a:p>
            <a:pPr>
              <a:lnSpc>
                <a:spcPct val="150000"/>
              </a:lnSpc>
            </a:pPr>
            <a:r>
              <a:rPr lang="en-US" b="0" i="0" dirty="0">
                <a:solidFill>
                  <a:srgbClr val="333333"/>
                </a:solidFill>
                <a:effectLst/>
              </a:rPr>
              <a:t> But it is not guaranteed because it depends on JVM specification that which scheduling it chooses.</a:t>
            </a:r>
            <a:endParaRPr lang="en-IN" dirty="0"/>
          </a:p>
        </p:txBody>
      </p:sp>
    </p:spTree>
    <p:extLst>
      <p:ext uri="{BB962C8B-B14F-4D97-AF65-F5344CB8AC3E}">
        <p14:creationId xmlns:p14="http://schemas.microsoft.com/office/powerpoint/2010/main" val="26850478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6D36F3-05EB-BD81-A34E-EC8AE7EC749A}"/>
              </a:ext>
            </a:extLst>
          </p:cNvPr>
          <p:cNvSpPr>
            <a:spLocks noGrp="1"/>
          </p:cNvSpPr>
          <p:nvPr>
            <p:ph idx="1"/>
          </p:nvPr>
        </p:nvSpPr>
        <p:spPr>
          <a:xfrm>
            <a:off x="838200" y="494522"/>
            <a:ext cx="10515600" cy="5971592"/>
          </a:xfrm>
        </p:spPr>
        <p:txBody>
          <a:bodyPr>
            <a:normAutofit lnSpcReduction="10000"/>
          </a:bodyPr>
          <a:lstStyle/>
          <a:p>
            <a:pPr marL="0" indent="0">
              <a:lnSpc>
                <a:spcPct val="150000"/>
              </a:lnSpc>
              <a:buNone/>
            </a:pPr>
            <a:r>
              <a:rPr lang="en-US" b="1" i="0" dirty="0">
                <a:solidFill>
                  <a:srgbClr val="7030A0"/>
                </a:solidFill>
                <a:effectLst/>
              </a:rPr>
              <a:t>Setter &amp; Getter Method of Thread Priority</a:t>
            </a:r>
          </a:p>
          <a:p>
            <a:pPr algn="just">
              <a:lnSpc>
                <a:spcPct val="150000"/>
              </a:lnSpc>
            </a:pPr>
            <a:r>
              <a:rPr lang="en-US" b="1" i="0" dirty="0">
                <a:solidFill>
                  <a:srgbClr val="7030A0"/>
                </a:solidFill>
                <a:effectLst/>
              </a:rPr>
              <a:t>public final int </a:t>
            </a:r>
            <a:r>
              <a:rPr lang="en-US" b="1" i="0" dirty="0" err="1">
                <a:solidFill>
                  <a:srgbClr val="7030A0"/>
                </a:solidFill>
                <a:effectLst/>
              </a:rPr>
              <a:t>getPriority</a:t>
            </a:r>
            <a:r>
              <a:rPr lang="en-US" b="1" i="0" dirty="0">
                <a:solidFill>
                  <a:srgbClr val="7030A0"/>
                </a:solidFill>
                <a:effectLst/>
              </a:rPr>
              <a:t>(): </a:t>
            </a:r>
            <a:r>
              <a:rPr lang="en-US" b="0" i="0" dirty="0">
                <a:solidFill>
                  <a:srgbClr val="333333"/>
                </a:solidFill>
                <a:effectLst/>
              </a:rPr>
              <a:t>The </a:t>
            </a:r>
            <a:r>
              <a:rPr lang="en-US" b="1" i="0" dirty="0" err="1">
                <a:solidFill>
                  <a:srgbClr val="7030A0"/>
                </a:solidFill>
                <a:effectLst/>
              </a:rPr>
              <a:t>java.lang.Thread.getPriority</a:t>
            </a:r>
            <a:r>
              <a:rPr lang="en-US" b="1" i="0" dirty="0">
                <a:solidFill>
                  <a:srgbClr val="7030A0"/>
                </a:solidFill>
                <a:effectLst/>
              </a:rPr>
              <a:t>()</a:t>
            </a:r>
            <a:r>
              <a:rPr lang="en-US" b="0" i="0" dirty="0">
                <a:solidFill>
                  <a:srgbClr val="333333"/>
                </a:solidFill>
                <a:effectLst/>
              </a:rPr>
              <a:t> method returns the priority of the given thread.</a:t>
            </a:r>
          </a:p>
          <a:p>
            <a:pPr algn="just">
              <a:lnSpc>
                <a:spcPct val="150000"/>
              </a:lnSpc>
            </a:pPr>
            <a:r>
              <a:rPr lang="en-US" b="1" i="0" dirty="0">
                <a:solidFill>
                  <a:srgbClr val="7030A0"/>
                </a:solidFill>
                <a:effectLst/>
              </a:rPr>
              <a:t>public final void </a:t>
            </a:r>
            <a:r>
              <a:rPr lang="en-US" b="1" i="0" dirty="0" err="1">
                <a:solidFill>
                  <a:srgbClr val="7030A0"/>
                </a:solidFill>
                <a:effectLst/>
              </a:rPr>
              <a:t>setPriority</a:t>
            </a:r>
            <a:r>
              <a:rPr lang="en-US" b="1" i="0" dirty="0">
                <a:solidFill>
                  <a:srgbClr val="7030A0"/>
                </a:solidFill>
                <a:effectLst/>
              </a:rPr>
              <a:t>(int </a:t>
            </a:r>
            <a:r>
              <a:rPr lang="en-US" b="1" i="0" dirty="0" err="1">
                <a:solidFill>
                  <a:srgbClr val="7030A0"/>
                </a:solidFill>
                <a:effectLst/>
              </a:rPr>
              <a:t>newPriority</a:t>
            </a:r>
            <a:r>
              <a:rPr lang="en-US" b="1" i="0" dirty="0">
                <a:solidFill>
                  <a:srgbClr val="7030A0"/>
                </a:solidFill>
                <a:effectLst/>
              </a:rPr>
              <a:t>):</a:t>
            </a:r>
            <a:r>
              <a:rPr lang="en-US" b="0" i="0" dirty="0">
                <a:solidFill>
                  <a:srgbClr val="333333"/>
                </a:solidFill>
                <a:effectLst/>
              </a:rPr>
              <a:t> The </a:t>
            </a:r>
            <a:r>
              <a:rPr lang="en-US" b="1" i="0" dirty="0" err="1">
                <a:solidFill>
                  <a:srgbClr val="7030A0"/>
                </a:solidFill>
                <a:effectLst/>
              </a:rPr>
              <a:t>java.lang.Thread.setPriority</a:t>
            </a:r>
            <a:r>
              <a:rPr lang="en-US" b="1" i="0" dirty="0">
                <a:solidFill>
                  <a:srgbClr val="7030A0"/>
                </a:solidFill>
                <a:effectLst/>
              </a:rPr>
              <a:t>() </a:t>
            </a:r>
            <a:r>
              <a:rPr lang="en-US" b="0" i="0" dirty="0">
                <a:solidFill>
                  <a:srgbClr val="333333"/>
                </a:solidFill>
                <a:effectLst/>
              </a:rPr>
              <a:t>method updates or assign the priority of the thread to </a:t>
            </a:r>
            <a:r>
              <a:rPr lang="en-US" b="0" i="0" dirty="0" err="1">
                <a:solidFill>
                  <a:srgbClr val="333333"/>
                </a:solidFill>
                <a:effectLst/>
              </a:rPr>
              <a:t>newPriority</a:t>
            </a:r>
            <a:r>
              <a:rPr lang="en-US" b="0" i="0" dirty="0">
                <a:solidFill>
                  <a:srgbClr val="333333"/>
                </a:solidFill>
                <a:effectLst/>
              </a:rPr>
              <a:t>.</a:t>
            </a:r>
          </a:p>
          <a:p>
            <a:pPr algn="just">
              <a:lnSpc>
                <a:spcPct val="150000"/>
              </a:lnSpc>
            </a:pPr>
            <a:r>
              <a:rPr lang="en-US" b="0" i="0" dirty="0">
                <a:solidFill>
                  <a:srgbClr val="333333"/>
                </a:solidFill>
                <a:effectLst/>
              </a:rPr>
              <a:t> The method throws </a:t>
            </a:r>
            <a:r>
              <a:rPr lang="en-US" b="0" i="0" dirty="0" err="1">
                <a:solidFill>
                  <a:srgbClr val="7030A0"/>
                </a:solidFill>
                <a:effectLst/>
              </a:rPr>
              <a:t>IllegalArgumentException</a:t>
            </a:r>
            <a:r>
              <a:rPr lang="en-US" b="0" i="0" dirty="0">
                <a:solidFill>
                  <a:srgbClr val="333333"/>
                </a:solidFill>
                <a:effectLst/>
              </a:rPr>
              <a:t> if the value </a:t>
            </a:r>
            <a:r>
              <a:rPr lang="en-US" b="0" i="0" dirty="0" err="1">
                <a:solidFill>
                  <a:srgbClr val="333333"/>
                </a:solidFill>
                <a:effectLst/>
              </a:rPr>
              <a:t>newPriority</a:t>
            </a:r>
            <a:r>
              <a:rPr lang="en-US" b="0" i="0" dirty="0">
                <a:solidFill>
                  <a:srgbClr val="333333"/>
                </a:solidFill>
                <a:effectLst/>
              </a:rPr>
              <a:t> goes out of the range, which is 1 (minimum) to 10 (maximum).</a:t>
            </a:r>
          </a:p>
          <a:p>
            <a:endParaRPr lang="en-IN" dirty="0"/>
          </a:p>
        </p:txBody>
      </p:sp>
    </p:spTree>
    <p:extLst>
      <p:ext uri="{BB962C8B-B14F-4D97-AF65-F5344CB8AC3E}">
        <p14:creationId xmlns:p14="http://schemas.microsoft.com/office/powerpoint/2010/main" val="3934183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171D5E-69C8-F2C4-5DDC-E974A1D4D57E}"/>
              </a:ext>
            </a:extLst>
          </p:cNvPr>
          <p:cNvSpPr>
            <a:spLocks noGrp="1"/>
          </p:cNvSpPr>
          <p:nvPr>
            <p:ph idx="1"/>
          </p:nvPr>
        </p:nvSpPr>
        <p:spPr>
          <a:xfrm>
            <a:off x="838200" y="457200"/>
            <a:ext cx="10515600" cy="5719763"/>
          </a:xfrm>
        </p:spPr>
        <p:txBody>
          <a:bodyPr>
            <a:normAutofit fontScale="85000" lnSpcReduction="20000"/>
          </a:bodyPr>
          <a:lstStyle/>
          <a:p>
            <a:r>
              <a:rPr lang="en-US" b="0" i="0" dirty="0">
                <a:solidFill>
                  <a:srgbClr val="610B4B"/>
                </a:solidFill>
                <a:effectLst/>
                <a:latin typeface="erdana"/>
              </a:rPr>
              <a:t>Example of priority of a Thread:</a:t>
            </a:r>
          </a:p>
          <a:p>
            <a:pPr marL="0" indent="0" algn="just">
              <a:buNone/>
            </a:pPr>
            <a:r>
              <a:rPr lang="en-US" b="1" i="0" dirty="0">
                <a:solidFill>
                  <a:srgbClr val="006699"/>
                </a:solidFill>
                <a:effectLst/>
                <a:latin typeface="inter-regular"/>
              </a:rPr>
              <a:t>import</a:t>
            </a:r>
            <a:r>
              <a:rPr lang="en-US" b="0" i="0" dirty="0">
                <a:solidFill>
                  <a:srgbClr val="000000"/>
                </a:solidFill>
                <a:effectLst/>
                <a:latin typeface="inter-regular"/>
              </a:rPr>
              <a:t> </a:t>
            </a:r>
            <a:r>
              <a:rPr lang="en-US" b="0" i="0" dirty="0" err="1">
                <a:solidFill>
                  <a:srgbClr val="000000"/>
                </a:solidFill>
                <a:effectLst/>
                <a:latin typeface="inter-regular"/>
              </a:rPr>
              <a:t>java.lang</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r>
              <a:rPr lang="en-US" b="1" i="0" dirty="0">
                <a:solidFill>
                  <a:srgbClr val="006699"/>
                </a:solidFill>
                <a:effectLst/>
                <a:latin typeface="inter-regular"/>
              </a:rPr>
              <a:t>extends</a:t>
            </a:r>
            <a:r>
              <a:rPr lang="en-US" b="0" i="0" dirty="0">
                <a:solidFill>
                  <a:srgbClr val="000000"/>
                </a:solidFill>
                <a:effectLst/>
                <a:latin typeface="inter-regular"/>
              </a:rPr>
              <a:t> Thread   {  </a:t>
            </a:r>
          </a:p>
          <a:p>
            <a:pPr marL="0" indent="0" algn="just">
              <a:buNone/>
            </a:pPr>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run()  {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"Inside the run() method"</a:t>
            </a:r>
            <a:r>
              <a:rPr lang="en-US" b="0" i="0" dirty="0">
                <a:solidFill>
                  <a:srgbClr val="000000"/>
                </a:solidFill>
                <a:effectLst/>
                <a:latin typeface="inter-regular"/>
              </a:rPr>
              <a:t>);  } </a:t>
            </a:r>
          </a:p>
          <a:p>
            <a:pPr marL="0" indent="0" algn="just">
              <a:buNone/>
            </a:pP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argvs</a:t>
            </a:r>
            <a:r>
              <a:rPr lang="en-US" b="0" i="0" dirty="0">
                <a:solidFill>
                  <a:srgbClr val="000000"/>
                </a:solidFill>
                <a:effectLst/>
                <a:latin typeface="inter-regular"/>
              </a:rPr>
              <a:t>[])  {  </a:t>
            </a:r>
          </a:p>
          <a:p>
            <a:pPr marL="0" indent="0" algn="just">
              <a:buNone/>
            </a:pPr>
            <a:r>
              <a:rPr lang="en-US" b="0" i="0" dirty="0" err="1">
                <a:solidFill>
                  <a:srgbClr val="000000"/>
                </a:solidFill>
                <a:effectLst/>
                <a:latin typeface="inter-regular"/>
              </a:rPr>
              <a:t>ThreadPriorityExample</a:t>
            </a:r>
            <a:r>
              <a:rPr lang="en-US" b="0" i="0" dirty="0">
                <a:solidFill>
                  <a:srgbClr val="000000"/>
                </a:solidFill>
                <a:effectLst/>
                <a:latin typeface="inter-regular"/>
              </a:rPr>
              <a:t> th1 =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ThreadPriorityExample</a:t>
            </a:r>
            <a:r>
              <a:rPr lang="en-US" b="0" i="0" dirty="0">
                <a:solidFill>
                  <a:srgbClr val="000000"/>
                </a:solidFill>
                <a:effectLst/>
                <a:latin typeface="inter-regular"/>
              </a:rPr>
              <a:t> th2 =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ThreadPriorityExample</a:t>
            </a:r>
            <a:r>
              <a:rPr lang="en-US" b="0" i="0" dirty="0">
                <a:solidFill>
                  <a:srgbClr val="000000"/>
                </a:solidFill>
                <a:effectLst/>
                <a:latin typeface="inter-regular"/>
              </a:rPr>
              <a:t> th3 =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th1 is : "</a:t>
            </a:r>
            <a:r>
              <a:rPr lang="en-US" b="0" i="0" dirty="0">
                <a:solidFill>
                  <a:srgbClr val="000000"/>
                </a:solidFill>
                <a:effectLst/>
                <a:latin typeface="inter-regular"/>
              </a:rPr>
              <a:t> + th1.getPriority());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th2 is : "</a:t>
            </a:r>
            <a:r>
              <a:rPr lang="en-US" b="0" i="0" dirty="0">
                <a:solidFill>
                  <a:srgbClr val="000000"/>
                </a:solidFill>
                <a:effectLst/>
                <a:latin typeface="inter-regular"/>
              </a:rPr>
              <a:t> + th2.getPriority());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th2 is : "</a:t>
            </a:r>
            <a:r>
              <a:rPr lang="en-US" b="0" i="0" dirty="0">
                <a:solidFill>
                  <a:srgbClr val="000000"/>
                </a:solidFill>
                <a:effectLst/>
                <a:latin typeface="inter-regular"/>
              </a:rPr>
              <a:t> + th2.getPriority());  </a:t>
            </a:r>
          </a:p>
          <a:p>
            <a:pPr marL="0" indent="0" algn="just">
              <a:buNone/>
            </a:pPr>
            <a:r>
              <a:rPr lang="en-US" b="0" i="0" dirty="0">
                <a:solidFill>
                  <a:srgbClr val="000000"/>
                </a:solidFill>
                <a:effectLst/>
                <a:latin typeface="inter-regular"/>
              </a:rPr>
              <a:t>  th1.setPriority(</a:t>
            </a:r>
            <a:r>
              <a:rPr lang="en-US" b="0" i="0" dirty="0">
                <a:solidFill>
                  <a:srgbClr val="C00000"/>
                </a:solidFill>
                <a:effectLst/>
                <a:latin typeface="inter-regular"/>
              </a:rPr>
              <a:t>6</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th2.setPriority(</a:t>
            </a:r>
            <a:r>
              <a:rPr lang="en-US" b="0" i="0" dirty="0">
                <a:solidFill>
                  <a:srgbClr val="C00000"/>
                </a:solidFill>
                <a:effectLst/>
                <a:latin typeface="inter-regular"/>
              </a:rPr>
              <a:t>3</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th3.setPriority(</a:t>
            </a:r>
            <a:r>
              <a:rPr lang="en-US" b="0" i="0" dirty="0">
                <a:solidFill>
                  <a:srgbClr val="C00000"/>
                </a:solidFill>
                <a:effectLst/>
                <a:latin typeface="inter-regular"/>
              </a:rPr>
              <a:t>9</a:t>
            </a:r>
            <a:r>
              <a:rPr lang="en-US" b="0" i="0" dirty="0">
                <a:solidFill>
                  <a:srgbClr val="000000"/>
                </a:solidFill>
                <a:effectLst/>
                <a:latin typeface="inter-regular"/>
              </a:rPr>
              <a:t>);  </a:t>
            </a:r>
          </a:p>
          <a:p>
            <a:pPr marL="0" indent="0" algn="just">
              <a:buNone/>
            </a:pPr>
            <a:endParaRPr lang="en-US" b="0" i="0" dirty="0">
              <a:solidFill>
                <a:srgbClr val="000000"/>
              </a:solidFill>
              <a:effectLst/>
              <a:latin typeface="inter-regular"/>
            </a:endParaRPr>
          </a:p>
        </p:txBody>
      </p:sp>
    </p:spTree>
    <p:extLst>
      <p:ext uri="{BB962C8B-B14F-4D97-AF65-F5344CB8AC3E}">
        <p14:creationId xmlns:p14="http://schemas.microsoft.com/office/powerpoint/2010/main" val="251255821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E4959F-CC1A-7E7F-FCD4-ACC3E3B54639}"/>
              </a:ext>
            </a:extLst>
          </p:cNvPr>
          <p:cNvSpPr>
            <a:spLocks noGrp="1"/>
          </p:cNvSpPr>
          <p:nvPr>
            <p:ph idx="1"/>
          </p:nvPr>
        </p:nvSpPr>
        <p:spPr>
          <a:xfrm>
            <a:off x="989046" y="513184"/>
            <a:ext cx="9898224" cy="5691771"/>
          </a:xfrm>
        </p:spPr>
        <p:txBody>
          <a:bodyPr>
            <a:normAutofit fontScale="85000" lnSpcReduction="20000"/>
          </a:bodyPr>
          <a:lstStyle/>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th1 is : "</a:t>
            </a:r>
            <a:r>
              <a:rPr lang="en-US" b="0" i="0" dirty="0">
                <a:solidFill>
                  <a:srgbClr val="000000"/>
                </a:solidFill>
                <a:effectLst/>
                <a:latin typeface="inter-regular"/>
              </a:rPr>
              <a:t> + th1.getPriority());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th2 is : "</a:t>
            </a:r>
            <a:r>
              <a:rPr lang="en-US" b="0" i="0" dirty="0">
                <a:solidFill>
                  <a:srgbClr val="000000"/>
                </a:solidFill>
                <a:effectLst/>
                <a:latin typeface="inter-regular"/>
              </a:rPr>
              <a:t> + th2.getPriority());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th3 is : "</a:t>
            </a:r>
            <a:r>
              <a:rPr lang="en-US" b="0" i="0" dirty="0">
                <a:solidFill>
                  <a:srgbClr val="000000"/>
                </a:solidFill>
                <a:effectLst/>
                <a:latin typeface="inter-regular"/>
              </a:rPr>
              <a:t> + th3.getPriority());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"Currently Executing The Thread : "</a:t>
            </a:r>
            <a:r>
              <a:rPr lang="en-US" b="0" i="0" dirty="0">
                <a:solidFill>
                  <a:srgbClr val="000000"/>
                </a:solidFill>
                <a:effectLst/>
                <a:latin typeface="inter-regular"/>
              </a:rPr>
              <a:t> + </a:t>
            </a: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getName</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main thread is : "</a:t>
            </a:r>
            <a:r>
              <a:rPr lang="en-US" b="0" i="0" dirty="0">
                <a:solidFill>
                  <a:srgbClr val="000000"/>
                </a:solidFill>
                <a:effectLst/>
                <a:latin typeface="inter-regular"/>
              </a:rPr>
              <a:t> + </a:t>
            </a: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getPriority</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setPriority</a:t>
            </a:r>
            <a:r>
              <a:rPr lang="en-US" b="0" i="0" dirty="0">
                <a:solidFill>
                  <a:srgbClr val="000000"/>
                </a:solidFill>
                <a:effectLst/>
                <a:latin typeface="inter-regular"/>
              </a:rPr>
              <a:t>(</a:t>
            </a:r>
            <a:r>
              <a:rPr lang="en-US" b="0" i="0" dirty="0">
                <a:solidFill>
                  <a:srgbClr val="C00000"/>
                </a:solidFill>
                <a:effectLst/>
                <a:latin typeface="inter-regular"/>
              </a:rPr>
              <a:t>10</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main thread is : "</a:t>
            </a:r>
            <a:r>
              <a:rPr lang="en-US" b="0" i="0" dirty="0">
                <a:solidFill>
                  <a:srgbClr val="000000"/>
                </a:solidFill>
                <a:effectLst/>
                <a:latin typeface="inter-regular"/>
              </a:rPr>
              <a:t> + </a:t>
            </a: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getPriority</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49640658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9BA4B5-53F2-04E2-6656-01F63B5C5137}"/>
              </a:ext>
            </a:extLst>
          </p:cNvPr>
          <p:cNvSpPr>
            <a:spLocks noGrp="1"/>
          </p:cNvSpPr>
          <p:nvPr>
            <p:ph idx="1"/>
          </p:nvPr>
        </p:nvSpPr>
        <p:spPr>
          <a:xfrm>
            <a:off x="838200" y="513184"/>
            <a:ext cx="10515600" cy="5663779"/>
          </a:xfrm>
        </p:spPr>
        <p:txBody>
          <a:bodyPr/>
          <a:lstStyle/>
          <a:p>
            <a:pPr marL="0" indent="0">
              <a:lnSpc>
                <a:spcPct val="150000"/>
              </a:lnSpc>
              <a:buNone/>
            </a:pPr>
            <a:r>
              <a:rPr lang="en-IN" b="1" i="0" dirty="0">
                <a:solidFill>
                  <a:srgbClr val="7030A0"/>
                </a:solidFill>
                <a:effectLst/>
              </a:rPr>
              <a:t>Synchronization</a:t>
            </a:r>
          </a:p>
          <a:p>
            <a:pPr algn="just">
              <a:lnSpc>
                <a:spcPct val="150000"/>
              </a:lnSpc>
            </a:pPr>
            <a:r>
              <a:rPr lang="en-US" b="0" i="0" dirty="0">
                <a:solidFill>
                  <a:srgbClr val="333333"/>
                </a:solidFill>
                <a:effectLst/>
              </a:rPr>
              <a:t>Synchronization in Java is </a:t>
            </a:r>
            <a:r>
              <a:rPr lang="en-US" b="1" i="0" dirty="0">
                <a:solidFill>
                  <a:srgbClr val="7030A0"/>
                </a:solidFill>
                <a:effectLst/>
              </a:rPr>
              <a:t>the capability to control the access of multiple threads to any shared resource.</a:t>
            </a:r>
          </a:p>
          <a:p>
            <a:pPr algn="just">
              <a:lnSpc>
                <a:spcPct val="150000"/>
              </a:lnSpc>
            </a:pPr>
            <a:r>
              <a:rPr lang="en-US" b="0" i="0" dirty="0">
                <a:solidFill>
                  <a:srgbClr val="333333"/>
                </a:solidFill>
                <a:effectLst/>
              </a:rPr>
              <a:t>Java Synchronization is better option where we want to allow only one thread to access the shared resource.</a:t>
            </a:r>
          </a:p>
          <a:p>
            <a:pPr marL="0" indent="0">
              <a:buNone/>
            </a:pPr>
            <a:endParaRPr lang="en-IN" dirty="0"/>
          </a:p>
        </p:txBody>
      </p:sp>
    </p:spTree>
    <p:extLst>
      <p:ext uri="{BB962C8B-B14F-4D97-AF65-F5344CB8AC3E}">
        <p14:creationId xmlns:p14="http://schemas.microsoft.com/office/powerpoint/2010/main" val="391084681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72576-FA8B-0A2C-3514-60226D2E1663}"/>
              </a:ext>
            </a:extLst>
          </p:cNvPr>
          <p:cNvSpPr>
            <a:spLocks noGrp="1"/>
          </p:cNvSpPr>
          <p:nvPr>
            <p:ph idx="1"/>
          </p:nvPr>
        </p:nvSpPr>
        <p:spPr>
          <a:xfrm>
            <a:off x="838200" y="503853"/>
            <a:ext cx="10515600" cy="5673110"/>
          </a:xfrm>
        </p:spPr>
        <p:txBody>
          <a:bodyPr/>
          <a:lstStyle/>
          <a:p>
            <a:pPr marL="0" indent="0" algn="just">
              <a:lnSpc>
                <a:spcPct val="150000"/>
              </a:lnSpc>
              <a:buNone/>
            </a:pPr>
            <a:r>
              <a:rPr lang="en-US" b="1" i="0" dirty="0">
                <a:solidFill>
                  <a:srgbClr val="7030A0"/>
                </a:solidFill>
                <a:effectLst/>
              </a:rPr>
              <a:t>Why use Synchronization?</a:t>
            </a:r>
          </a:p>
          <a:p>
            <a:pPr marL="0" indent="0" algn="just">
              <a:lnSpc>
                <a:spcPct val="150000"/>
              </a:lnSpc>
              <a:buNone/>
            </a:pPr>
            <a:r>
              <a:rPr lang="en-US" b="0" i="0" dirty="0">
                <a:solidFill>
                  <a:srgbClr val="333333"/>
                </a:solidFill>
                <a:effectLst/>
              </a:rPr>
              <a:t>The synchronization is mainly used to</a:t>
            </a:r>
          </a:p>
          <a:p>
            <a:pPr algn="just">
              <a:lnSpc>
                <a:spcPct val="150000"/>
              </a:lnSpc>
            </a:pPr>
            <a:r>
              <a:rPr lang="en-US" b="0" i="0" dirty="0">
                <a:solidFill>
                  <a:srgbClr val="000000"/>
                </a:solidFill>
                <a:effectLst/>
              </a:rPr>
              <a:t>To prevent thread interference.</a:t>
            </a:r>
          </a:p>
          <a:p>
            <a:pPr algn="just">
              <a:lnSpc>
                <a:spcPct val="150000"/>
              </a:lnSpc>
            </a:pPr>
            <a:r>
              <a:rPr lang="en-US" b="0" i="0" dirty="0">
                <a:solidFill>
                  <a:srgbClr val="000000"/>
                </a:solidFill>
                <a:effectLst/>
              </a:rPr>
              <a:t>To prevent consistency problem.</a:t>
            </a:r>
          </a:p>
          <a:p>
            <a:pPr marL="0" indent="0">
              <a:buNone/>
            </a:pPr>
            <a:endParaRPr lang="en-IN" dirty="0"/>
          </a:p>
        </p:txBody>
      </p:sp>
    </p:spTree>
    <p:extLst>
      <p:ext uri="{BB962C8B-B14F-4D97-AF65-F5344CB8AC3E}">
        <p14:creationId xmlns:p14="http://schemas.microsoft.com/office/powerpoint/2010/main" val="290298219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9F35D1-D831-EB5B-11D1-4A068367FAED}"/>
              </a:ext>
            </a:extLst>
          </p:cNvPr>
          <p:cNvSpPr>
            <a:spLocks noGrp="1"/>
          </p:cNvSpPr>
          <p:nvPr>
            <p:ph idx="1"/>
          </p:nvPr>
        </p:nvSpPr>
        <p:spPr>
          <a:xfrm>
            <a:off x="838200" y="634482"/>
            <a:ext cx="10515600" cy="5542481"/>
          </a:xfrm>
        </p:spPr>
        <p:txBody>
          <a:bodyPr/>
          <a:lstStyle/>
          <a:p>
            <a:pPr algn="just"/>
            <a:r>
              <a:rPr lang="en-US" b="0" i="0" dirty="0">
                <a:solidFill>
                  <a:srgbClr val="610B38"/>
                </a:solidFill>
                <a:effectLst/>
                <a:latin typeface="erdana"/>
              </a:rPr>
              <a:t>Java Synchronized Method</a:t>
            </a:r>
          </a:p>
          <a:p>
            <a:pPr algn="just"/>
            <a:r>
              <a:rPr lang="en-US" b="0" i="0" dirty="0">
                <a:solidFill>
                  <a:srgbClr val="333333"/>
                </a:solidFill>
                <a:effectLst/>
                <a:latin typeface="inter-regular"/>
              </a:rPr>
              <a:t>If you declare any method as synchronized, it is known as synchronized method.</a:t>
            </a:r>
          </a:p>
          <a:p>
            <a:pPr algn="just"/>
            <a:r>
              <a:rPr lang="en-US" b="0" i="0" dirty="0">
                <a:solidFill>
                  <a:srgbClr val="333333"/>
                </a:solidFill>
                <a:effectLst/>
                <a:latin typeface="inter-regular"/>
              </a:rPr>
              <a:t>Synchronized method is used to lock an object for any shared resource.</a:t>
            </a:r>
          </a:p>
          <a:p>
            <a:pPr algn="just"/>
            <a:r>
              <a:rPr lang="en-US" b="0" i="0" dirty="0">
                <a:solidFill>
                  <a:srgbClr val="333333"/>
                </a:solidFill>
                <a:effectLst/>
                <a:latin typeface="inter-regular"/>
              </a:rPr>
              <a:t>When a thread invokes a synchronized method, it automatically acquires the lock for that object and releases it when the thread completes its task.</a:t>
            </a:r>
          </a:p>
          <a:p>
            <a:endParaRPr lang="en-IN" dirty="0"/>
          </a:p>
        </p:txBody>
      </p:sp>
    </p:spTree>
    <p:extLst>
      <p:ext uri="{BB962C8B-B14F-4D97-AF65-F5344CB8AC3E}">
        <p14:creationId xmlns:p14="http://schemas.microsoft.com/office/powerpoint/2010/main" val="322340441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0DA55-BF23-2538-7956-6FDC1F28611E}"/>
              </a:ext>
            </a:extLst>
          </p:cNvPr>
          <p:cNvSpPr>
            <a:spLocks noGrp="1"/>
          </p:cNvSpPr>
          <p:nvPr>
            <p:ph idx="1"/>
          </p:nvPr>
        </p:nvSpPr>
        <p:spPr>
          <a:xfrm>
            <a:off x="838200" y="569167"/>
            <a:ext cx="10515600" cy="5607796"/>
          </a:xfrm>
        </p:spPr>
        <p:txBody>
          <a:bodyPr>
            <a:normAutofit fontScale="92500" lnSpcReduction="20000"/>
          </a:bodyPr>
          <a:lstStyle/>
          <a:p>
            <a:r>
              <a:rPr lang="en-IN" dirty="0"/>
              <a:t>Example</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Table{  </a:t>
            </a:r>
          </a:p>
          <a:p>
            <a:pPr marL="0" indent="0" algn="just">
              <a:buNone/>
            </a:pP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n){</a:t>
            </a:r>
            <a:r>
              <a:rPr lang="en-IN" b="0" i="0" dirty="0">
                <a:solidFill>
                  <a:srgbClr val="008200"/>
                </a:solidFill>
                <a:effectLst/>
                <a:latin typeface="inter-regular"/>
              </a:rPr>
              <a:t>//method not synchronized</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a:t>
            </a:r>
            <a:r>
              <a:rPr lang="en-IN" b="0" i="0" dirty="0">
                <a:solidFill>
                  <a:srgbClr val="C00000"/>
                </a:solidFill>
                <a:effectLst/>
                <a:latin typeface="inter-regular"/>
              </a:rPr>
              <a:t>5</a:t>
            </a:r>
            <a:r>
              <a:rPr lang="en-IN" b="0" i="0" dirty="0">
                <a:solidFill>
                  <a:srgbClr val="000000"/>
                </a:solidFill>
                <a:effectLst/>
                <a:latin typeface="inter-regular"/>
              </a:rPr>
              <a:t>;i++){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(n*</a:t>
            </a:r>
            <a:r>
              <a:rPr lang="en-IN" b="0" i="0" dirty="0" err="1">
                <a:solidFill>
                  <a:srgbClr val="000000"/>
                </a:solidFill>
                <a:effectLst/>
                <a:latin typeface="inter-regular"/>
              </a:rPr>
              <a:t>i</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 } }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MyThread1 </a:t>
            </a:r>
            <a:r>
              <a:rPr lang="en-IN" b="1" i="0" dirty="0">
                <a:solidFill>
                  <a:srgbClr val="006699"/>
                </a:solidFill>
                <a:effectLst/>
                <a:latin typeface="inter-regular"/>
              </a:rPr>
              <a:t>extends</a:t>
            </a:r>
            <a:r>
              <a:rPr lang="en-IN" b="0" i="0" dirty="0">
                <a:solidFill>
                  <a:srgbClr val="000000"/>
                </a:solidFill>
                <a:effectLst/>
                <a:latin typeface="inter-regular"/>
              </a:rPr>
              <a:t> Thread{  </a:t>
            </a:r>
          </a:p>
          <a:p>
            <a:pPr marL="0" indent="0" algn="just">
              <a:buNone/>
            </a:pPr>
            <a:r>
              <a:rPr lang="en-IN" b="0" i="0" dirty="0">
                <a:solidFill>
                  <a:srgbClr val="000000"/>
                </a:solidFill>
                <a:effectLst/>
                <a:latin typeface="inter-regular"/>
              </a:rPr>
              <a:t>Table t;  </a:t>
            </a:r>
          </a:p>
          <a:p>
            <a:pPr marL="0" indent="0" algn="just">
              <a:buNone/>
            </a:pPr>
            <a:r>
              <a:rPr lang="en-IN" b="0" i="0" dirty="0">
                <a:solidFill>
                  <a:srgbClr val="000000"/>
                </a:solidFill>
                <a:effectLst/>
                <a:latin typeface="inter-regular"/>
              </a:rPr>
              <a:t>MyThread2(Table t){  </a:t>
            </a:r>
            <a:r>
              <a:rPr lang="en-IN" b="1" i="0" dirty="0">
                <a:solidFill>
                  <a:srgbClr val="006699"/>
                </a:solidFill>
                <a:effectLst/>
                <a:latin typeface="inter-regular"/>
              </a:rPr>
              <a:t>this</a:t>
            </a:r>
            <a:r>
              <a:rPr lang="en-IN" b="0" i="0" dirty="0">
                <a:solidFill>
                  <a:srgbClr val="000000"/>
                </a:solidFill>
                <a:effectLst/>
                <a:latin typeface="inter-regular"/>
              </a:rPr>
              <a:t>.t=t;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a:t>
            </a:r>
            <a:r>
              <a:rPr lang="en-IN" b="0" i="0" dirty="0" err="1">
                <a:solidFill>
                  <a:srgbClr val="000000"/>
                </a:solidFill>
                <a:effectLst/>
                <a:latin typeface="inter-regular"/>
              </a:rPr>
              <a:t>t.printTable</a:t>
            </a:r>
            <a:r>
              <a:rPr lang="en-IN" b="0" i="0">
                <a:solidFill>
                  <a:srgbClr val="000000"/>
                </a:solidFill>
                <a:effectLst/>
                <a:latin typeface="inter-regular"/>
              </a:rPr>
              <a:t>(</a:t>
            </a:r>
            <a:r>
              <a:rPr lang="en-IN">
                <a:solidFill>
                  <a:srgbClr val="C00000"/>
                </a:solidFill>
                <a:latin typeface="inter-regular"/>
              </a:rPr>
              <a:t>5</a:t>
            </a:r>
            <a:r>
              <a:rPr lang="en-IN" b="0" i="0">
                <a:solidFill>
                  <a:srgbClr val="C00000"/>
                </a:solidFill>
                <a:effectLst/>
                <a:latin typeface="inter-regular"/>
              </a:rPr>
              <a:t>0</a:t>
            </a:r>
            <a:r>
              <a:rPr lang="en-IN" b="0" i="0" dirty="0">
                <a:solidFill>
                  <a:srgbClr val="000000"/>
                </a:solidFill>
                <a:effectLst/>
                <a:latin typeface="inter-regular"/>
              </a:rPr>
              <a:t>); } }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65064348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F440A-673F-C49C-3822-EBE111DDFB79}"/>
              </a:ext>
            </a:extLst>
          </p:cNvPr>
          <p:cNvSpPr>
            <a:spLocks noGrp="1"/>
          </p:cNvSpPr>
          <p:nvPr>
            <p:ph idx="1"/>
          </p:nvPr>
        </p:nvSpPr>
        <p:spPr>
          <a:xfrm>
            <a:off x="838200" y="606490"/>
            <a:ext cx="10515600" cy="5570473"/>
          </a:xfrm>
        </p:spPr>
        <p:txBody>
          <a:bodyPr>
            <a:normAutofit lnSpcReduction="10000"/>
          </a:bodyPr>
          <a:lstStyle/>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MyThread2 </a:t>
            </a:r>
            <a:r>
              <a:rPr lang="en-IN" b="1" i="0" dirty="0">
                <a:solidFill>
                  <a:srgbClr val="006699"/>
                </a:solidFill>
                <a:effectLst/>
                <a:latin typeface="inter-regular"/>
              </a:rPr>
              <a:t>extends</a:t>
            </a:r>
            <a:r>
              <a:rPr lang="en-IN" b="0" i="0" dirty="0">
                <a:solidFill>
                  <a:srgbClr val="000000"/>
                </a:solidFill>
                <a:effectLst/>
                <a:latin typeface="inter-regular"/>
              </a:rPr>
              <a:t> Thread{  </a:t>
            </a:r>
          </a:p>
          <a:p>
            <a:pPr marL="0" indent="0" algn="just">
              <a:buNone/>
            </a:pPr>
            <a:r>
              <a:rPr lang="en-IN" b="0" i="0" dirty="0">
                <a:solidFill>
                  <a:srgbClr val="000000"/>
                </a:solidFill>
                <a:effectLst/>
                <a:latin typeface="inter-regular"/>
              </a:rPr>
              <a:t>Table t;  </a:t>
            </a:r>
          </a:p>
          <a:p>
            <a:pPr marL="0" indent="0" algn="just">
              <a:buNone/>
            </a:pPr>
            <a:r>
              <a:rPr lang="en-IN" b="0" i="0" dirty="0">
                <a:solidFill>
                  <a:srgbClr val="000000"/>
                </a:solidFill>
                <a:effectLst/>
                <a:latin typeface="inter-regular"/>
              </a:rPr>
              <a:t>MyThread2(Table t){  </a:t>
            </a:r>
            <a:r>
              <a:rPr lang="en-IN" b="1" i="0" dirty="0">
                <a:solidFill>
                  <a:srgbClr val="006699"/>
                </a:solidFill>
                <a:effectLst/>
                <a:latin typeface="inter-regular"/>
              </a:rPr>
              <a:t>this</a:t>
            </a:r>
            <a:r>
              <a:rPr lang="en-IN" b="0" i="0" dirty="0">
                <a:solidFill>
                  <a:srgbClr val="000000"/>
                </a:solidFill>
                <a:effectLst/>
                <a:latin typeface="inter-regular"/>
              </a:rPr>
              <a:t>.t=t;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100</a:t>
            </a:r>
            <a:r>
              <a:rPr lang="en-IN" b="0" i="0" dirty="0">
                <a:solidFill>
                  <a:srgbClr val="000000"/>
                </a:solidFill>
                <a:effectLst/>
                <a:latin typeface="inter-regular"/>
              </a:rPr>
              <a:t>); } }  </a:t>
            </a:r>
          </a:p>
          <a:p>
            <a:pPr marL="0" indent="0" algn="just">
              <a:buNone/>
            </a:pPr>
            <a:r>
              <a:rPr lang="en-US" b="1" i="0" dirty="0">
                <a:solidFill>
                  <a:srgbClr val="006699"/>
                </a:solidFill>
                <a:effectLst/>
                <a:latin typeface="inter-regular"/>
              </a:rPr>
              <a:t>class</a:t>
            </a:r>
            <a:r>
              <a:rPr lang="en-US" b="0" i="0" dirty="0">
                <a:solidFill>
                  <a:srgbClr val="000000"/>
                </a:solidFill>
                <a:effectLst/>
                <a:latin typeface="inter-regular"/>
              </a:rPr>
              <a:t> TestSynchronization1{  </a:t>
            </a:r>
          </a:p>
          <a:p>
            <a:pPr marL="0" indent="0" algn="just">
              <a:buNone/>
            </a:pP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Table obj = </a:t>
            </a:r>
            <a:r>
              <a:rPr lang="en-US" b="1" i="0" dirty="0">
                <a:solidFill>
                  <a:srgbClr val="006699"/>
                </a:solidFill>
                <a:effectLst/>
                <a:latin typeface="inter-regular"/>
              </a:rPr>
              <a:t>new</a:t>
            </a:r>
            <a:r>
              <a:rPr lang="en-US" b="0" i="0" dirty="0">
                <a:solidFill>
                  <a:srgbClr val="000000"/>
                </a:solidFill>
                <a:effectLst/>
                <a:latin typeface="inter-regular"/>
              </a:rPr>
              <a:t> Table();</a:t>
            </a:r>
            <a:r>
              <a:rPr lang="en-US" b="0" i="0" dirty="0">
                <a:solidFill>
                  <a:srgbClr val="008200"/>
                </a:solidFill>
                <a:effectLst/>
                <a:latin typeface="inter-regular"/>
              </a:rPr>
              <a:t>//only one object</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MyThread1 t1=</a:t>
            </a:r>
            <a:r>
              <a:rPr lang="en-US" b="1" i="0" dirty="0">
                <a:solidFill>
                  <a:srgbClr val="006699"/>
                </a:solidFill>
                <a:effectLst/>
                <a:latin typeface="inter-regular"/>
              </a:rPr>
              <a:t>new</a:t>
            </a:r>
            <a:r>
              <a:rPr lang="en-US" b="0" i="0" dirty="0">
                <a:solidFill>
                  <a:srgbClr val="000000"/>
                </a:solidFill>
                <a:effectLst/>
                <a:latin typeface="inter-regular"/>
              </a:rPr>
              <a:t> MyThread1(obj);  </a:t>
            </a:r>
          </a:p>
          <a:p>
            <a:pPr marL="0" indent="0" algn="just">
              <a:buNone/>
            </a:pPr>
            <a:r>
              <a:rPr lang="en-US" b="0" i="0" dirty="0">
                <a:solidFill>
                  <a:srgbClr val="000000"/>
                </a:solidFill>
                <a:effectLst/>
                <a:latin typeface="inter-regular"/>
              </a:rPr>
              <a:t>MyThread2 t2=</a:t>
            </a:r>
            <a:r>
              <a:rPr lang="en-US" b="1" i="0" dirty="0">
                <a:solidFill>
                  <a:srgbClr val="006699"/>
                </a:solidFill>
                <a:effectLst/>
                <a:latin typeface="inter-regular"/>
              </a:rPr>
              <a:t>new</a:t>
            </a:r>
            <a:r>
              <a:rPr lang="en-US" b="0" i="0" dirty="0">
                <a:solidFill>
                  <a:srgbClr val="000000"/>
                </a:solidFill>
                <a:effectLst/>
                <a:latin typeface="inter-regular"/>
              </a:rPr>
              <a:t> MyThread2(obj);  </a:t>
            </a:r>
          </a:p>
          <a:p>
            <a:pPr marL="0" indent="0" algn="just">
              <a:buNone/>
            </a:pPr>
            <a:r>
              <a:rPr lang="en-US" b="0" i="0" dirty="0">
                <a:solidFill>
                  <a:srgbClr val="000000"/>
                </a:solidFill>
                <a:effectLst/>
                <a:latin typeface="inter-regular"/>
              </a:rPr>
              <a:t>t1.start();  </a:t>
            </a:r>
          </a:p>
          <a:p>
            <a:pPr marL="0" indent="0" algn="just">
              <a:buNone/>
            </a:pPr>
            <a:r>
              <a:rPr lang="en-US" b="0" i="0" dirty="0">
                <a:solidFill>
                  <a:srgbClr val="000000"/>
                </a:solidFill>
                <a:effectLst/>
                <a:latin typeface="inter-regular"/>
              </a:rPr>
              <a:t>t2.start(); } }  </a:t>
            </a:r>
          </a:p>
          <a:p>
            <a:pPr marL="0" indent="0" algn="just">
              <a:buNone/>
            </a:pPr>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234125487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E36FD-8C61-20E6-0850-7D0E66692226}"/>
              </a:ext>
            </a:extLst>
          </p:cNvPr>
          <p:cNvSpPr>
            <a:spLocks noGrp="1"/>
          </p:cNvSpPr>
          <p:nvPr>
            <p:ph idx="1"/>
          </p:nvPr>
        </p:nvSpPr>
        <p:spPr>
          <a:xfrm>
            <a:off x="642258" y="522515"/>
            <a:ext cx="10515600" cy="5738424"/>
          </a:xfrm>
        </p:spPr>
        <p:txBody>
          <a:bodyPr/>
          <a:lstStyle/>
          <a:p>
            <a:pPr marL="0" indent="0">
              <a:lnSpc>
                <a:spcPct val="150000"/>
              </a:lnSpc>
              <a:buNone/>
            </a:pPr>
            <a:r>
              <a:rPr lang="en-IN" b="1" dirty="0">
                <a:solidFill>
                  <a:srgbClr val="7030A0"/>
                </a:solidFill>
              </a:rPr>
              <a:t>Thread join method</a:t>
            </a:r>
          </a:p>
          <a:p>
            <a:pPr>
              <a:lnSpc>
                <a:spcPct val="150000"/>
              </a:lnSpc>
            </a:pPr>
            <a:r>
              <a:rPr lang="en-US" b="0" i="0" dirty="0">
                <a:solidFill>
                  <a:srgbClr val="333333"/>
                </a:solidFill>
                <a:effectLst/>
              </a:rPr>
              <a:t>The </a:t>
            </a:r>
            <a:r>
              <a:rPr lang="en-US" b="1" i="0" dirty="0">
                <a:solidFill>
                  <a:srgbClr val="7030A0"/>
                </a:solidFill>
                <a:effectLst/>
              </a:rPr>
              <a:t>join() method </a:t>
            </a:r>
            <a:r>
              <a:rPr lang="en-US" b="0" i="0" dirty="0">
                <a:solidFill>
                  <a:srgbClr val="333333"/>
                </a:solidFill>
                <a:effectLst/>
              </a:rPr>
              <a:t>in Java is provided by the </a:t>
            </a:r>
            <a:r>
              <a:rPr lang="en-US" b="1" i="0" dirty="0" err="1">
                <a:solidFill>
                  <a:srgbClr val="7030A0"/>
                </a:solidFill>
                <a:effectLst/>
              </a:rPr>
              <a:t>java.lang.Thread</a:t>
            </a:r>
            <a:r>
              <a:rPr lang="en-US" b="0" i="0" dirty="0">
                <a:solidFill>
                  <a:srgbClr val="333333"/>
                </a:solidFill>
                <a:effectLst/>
              </a:rPr>
              <a:t> class that </a:t>
            </a:r>
            <a:r>
              <a:rPr lang="en-US" b="1" i="0" dirty="0">
                <a:solidFill>
                  <a:srgbClr val="7030A0"/>
                </a:solidFill>
                <a:effectLst/>
              </a:rPr>
              <a:t>permits one thread to wait until the other thread to finish its execution.</a:t>
            </a:r>
            <a:endParaRPr lang="en-IN" b="1" i="0" dirty="0">
              <a:solidFill>
                <a:srgbClr val="7030A0"/>
              </a:solidFill>
              <a:effectLst/>
            </a:endParaRPr>
          </a:p>
          <a:p>
            <a:pPr>
              <a:lnSpc>
                <a:spcPct val="150000"/>
              </a:lnSpc>
            </a:pPr>
            <a:r>
              <a:rPr lang="en-US" b="0" i="0" dirty="0">
                <a:solidFill>
                  <a:srgbClr val="333333"/>
                </a:solidFill>
                <a:effectLst/>
              </a:rPr>
              <a:t>When there are more than one thread invoking the join() method, then it leads to overloading on the join() method that permits the developer or programmer to mention the waiting period</a:t>
            </a:r>
            <a:r>
              <a:rPr lang="en-US"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411838665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5F582-A3F0-0712-5823-0ACCF429AB7E}"/>
              </a:ext>
            </a:extLst>
          </p:cNvPr>
          <p:cNvSpPr>
            <a:spLocks noGrp="1"/>
          </p:cNvSpPr>
          <p:nvPr>
            <p:ph idx="1"/>
          </p:nvPr>
        </p:nvSpPr>
        <p:spPr>
          <a:xfrm>
            <a:off x="838200" y="587829"/>
            <a:ext cx="10515600" cy="5589134"/>
          </a:xfrm>
        </p:spPr>
        <p:txBody>
          <a:bodyPr>
            <a:normAutofit/>
          </a:bodyPr>
          <a:lstStyle/>
          <a:p>
            <a:r>
              <a:rPr lang="en-IN" dirty="0"/>
              <a:t>Example</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TestJoinMethod1 </a:t>
            </a:r>
            <a:r>
              <a:rPr lang="en-IN" b="1" i="0" dirty="0">
                <a:solidFill>
                  <a:srgbClr val="006699"/>
                </a:solidFill>
                <a:effectLst/>
                <a:latin typeface="inter-regular"/>
              </a:rPr>
              <a:t>extends</a:t>
            </a:r>
            <a:r>
              <a:rPr lang="en-IN" b="0" i="0" dirty="0">
                <a:solidFill>
                  <a:srgbClr val="000000"/>
                </a:solidFill>
                <a:effectLst/>
                <a:latin typeface="inter-regular"/>
              </a:rPr>
              <a:t> Thread{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a:t>
            </a:r>
            <a:r>
              <a:rPr lang="en-IN" b="0" i="0" dirty="0">
                <a:solidFill>
                  <a:srgbClr val="C00000"/>
                </a:solidFill>
                <a:effectLst/>
                <a:latin typeface="inter-regular"/>
              </a:rPr>
              <a:t>5</a:t>
            </a:r>
            <a:r>
              <a:rPr lang="en-IN" b="0" i="0" dirty="0">
                <a:solidFill>
                  <a:srgbClr val="000000"/>
                </a:solidFill>
                <a:effectLst/>
                <a:latin typeface="inter-regular"/>
              </a:rPr>
              <a:t>;i++){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500</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   }    </a:t>
            </a:r>
          </a:p>
        </p:txBody>
      </p:sp>
    </p:spTree>
    <p:extLst>
      <p:ext uri="{BB962C8B-B14F-4D97-AF65-F5344CB8AC3E}">
        <p14:creationId xmlns:p14="http://schemas.microsoft.com/office/powerpoint/2010/main" val="47379058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C8D3A-F1DD-4684-9A05-CB81DE7252FF}"/>
              </a:ext>
            </a:extLst>
          </p:cNvPr>
          <p:cNvSpPr>
            <a:spLocks noGrp="1"/>
          </p:cNvSpPr>
          <p:nvPr>
            <p:ph idx="1"/>
          </p:nvPr>
        </p:nvSpPr>
        <p:spPr>
          <a:xfrm>
            <a:off x="838200" y="559837"/>
            <a:ext cx="10515600" cy="5617126"/>
          </a:xfrm>
        </p:spPr>
        <p:txBody>
          <a:bodyPr/>
          <a:lstStyle/>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TestJoinMethod1 t1=</a:t>
            </a:r>
            <a:r>
              <a:rPr lang="en-IN" b="1" i="0" dirty="0">
                <a:solidFill>
                  <a:srgbClr val="006699"/>
                </a:solidFill>
                <a:effectLst/>
                <a:latin typeface="inter-regular"/>
              </a:rPr>
              <a:t>new</a:t>
            </a:r>
            <a:r>
              <a:rPr lang="en-IN" b="0" i="0" dirty="0">
                <a:solidFill>
                  <a:srgbClr val="000000"/>
                </a:solidFill>
                <a:effectLst/>
                <a:latin typeface="inter-regular"/>
              </a:rPr>
              <a:t> TestJoinMethod1();    </a:t>
            </a:r>
          </a:p>
          <a:p>
            <a:pPr marL="0" indent="0" algn="just">
              <a:buNone/>
            </a:pPr>
            <a:r>
              <a:rPr lang="en-IN" b="0" i="0" dirty="0">
                <a:solidFill>
                  <a:srgbClr val="000000"/>
                </a:solidFill>
                <a:effectLst/>
                <a:latin typeface="inter-regular"/>
              </a:rPr>
              <a:t> TestJoinMethod1 t2=</a:t>
            </a:r>
            <a:r>
              <a:rPr lang="en-IN" b="1" i="0" dirty="0">
                <a:solidFill>
                  <a:srgbClr val="006699"/>
                </a:solidFill>
                <a:effectLst/>
                <a:latin typeface="inter-regular"/>
              </a:rPr>
              <a:t>new</a:t>
            </a:r>
            <a:r>
              <a:rPr lang="en-IN" b="0" i="0" dirty="0">
                <a:solidFill>
                  <a:srgbClr val="000000"/>
                </a:solidFill>
                <a:effectLst/>
                <a:latin typeface="inter-regular"/>
              </a:rPr>
              <a:t> TestJoinMethod1();    </a:t>
            </a:r>
          </a:p>
          <a:p>
            <a:pPr marL="0" indent="0" algn="just">
              <a:buNone/>
            </a:pPr>
            <a:r>
              <a:rPr lang="en-IN" b="0" i="0" dirty="0">
                <a:solidFill>
                  <a:srgbClr val="000000"/>
                </a:solidFill>
                <a:effectLst/>
                <a:latin typeface="inter-regular"/>
              </a:rPr>
              <a:t> TestJoinMethod1 t3=</a:t>
            </a:r>
            <a:r>
              <a:rPr lang="en-IN" b="1" i="0" dirty="0">
                <a:solidFill>
                  <a:srgbClr val="006699"/>
                </a:solidFill>
                <a:effectLst/>
                <a:latin typeface="inter-regular"/>
              </a:rPr>
              <a:t>new</a:t>
            </a:r>
            <a:r>
              <a:rPr lang="en-IN" b="0" i="0" dirty="0">
                <a:solidFill>
                  <a:srgbClr val="000000"/>
                </a:solidFill>
                <a:effectLst/>
                <a:latin typeface="inter-regular"/>
              </a:rPr>
              <a:t> TestJoinMethod1();    </a:t>
            </a:r>
          </a:p>
          <a:p>
            <a:pPr marL="0" indent="0" algn="just">
              <a:buNone/>
            </a:pPr>
            <a:r>
              <a:rPr lang="en-IN" b="0" i="0" dirty="0">
                <a:solidFill>
                  <a:srgbClr val="000000"/>
                </a:solidFill>
                <a:effectLst/>
                <a:latin typeface="inter-regular"/>
              </a:rPr>
              <a:t> t1.start();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t1.join();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t2.start();    </a:t>
            </a:r>
          </a:p>
          <a:p>
            <a:pPr marL="0" indent="0" algn="just">
              <a:buNone/>
            </a:pPr>
            <a:r>
              <a:rPr lang="en-IN" b="0" i="0" dirty="0">
                <a:solidFill>
                  <a:srgbClr val="000000"/>
                </a:solidFill>
                <a:effectLst/>
                <a:latin typeface="inter-regular"/>
              </a:rPr>
              <a:t> t3.start();    }   }    </a:t>
            </a:r>
          </a:p>
        </p:txBody>
      </p:sp>
    </p:spTree>
    <p:extLst>
      <p:ext uri="{BB962C8B-B14F-4D97-AF65-F5344CB8AC3E}">
        <p14:creationId xmlns:p14="http://schemas.microsoft.com/office/powerpoint/2010/main" val="143969074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E099B9-57FD-BB94-89AD-AFDD6126B868}"/>
              </a:ext>
            </a:extLst>
          </p:cNvPr>
          <p:cNvSpPr>
            <a:spLocks noGrp="1"/>
          </p:cNvSpPr>
          <p:nvPr>
            <p:ph idx="1"/>
          </p:nvPr>
        </p:nvSpPr>
        <p:spPr>
          <a:xfrm>
            <a:off x="838200" y="550506"/>
            <a:ext cx="10515600" cy="5626457"/>
          </a:xfrm>
        </p:spPr>
        <p:txBody>
          <a:bodyPr/>
          <a:lstStyle/>
          <a:p>
            <a:pPr marL="0" indent="0">
              <a:lnSpc>
                <a:spcPct val="150000"/>
              </a:lnSpc>
              <a:buNone/>
            </a:pPr>
            <a:r>
              <a:rPr lang="en-IN" b="1" i="0" dirty="0">
                <a:solidFill>
                  <a:srgbClr val="7030A0"/>
                </a:solidFill>
                <a:effectLst/>
              </a:rPr>
              <a:t>Garbage Collection</a:t>
            </a:r>
          </a:p>
          <a:p>
            <a:pPr>
              <a:lnSpc>
                <a:spcPct val="150000"/>
              </a:lnSpc>
            </a:pPr>
            <a:r>
              <a:rPr lang="en-IN" b="0" i="0" dirty="0">
                <a:solidFill>
                  <a:srgbClr val="333333"/>
                </a:solidFill>
                <a:effectLst/>
              </a:rPr>
              <a:t>garbage means </a:t>
            </a:r>
            <a:r>
              <a:rPr lang="en-IN" b="1" i="0" dirty="0">
                <a:solidFill>
                  <a:srgbClr val="7030A0"/>
                </a:solidFill>
                <a:effectLst/>
              </a:rPr>
              <a:t>unreferenced objects.</a:t>
            </a:r>
          </a:p>
          <a:p>
            <a:pPr algn="just">
              <a:lnSpc>
                <a:spcPct val="150000"/>
              </a:lnSpc>
            </a:pPr>
            <a:r>
              <a:rPr lang="en-US" b="0" i="0" dirty="0">
                <a:solidFill>
                  <a:srgbClr val="333333"/>
                </a:solidFill>
                <a:effectLst/>
              </a:rPr>
              <a:t>Garbage Collection is process of </a:t>
            </a:r>
            <a:r>
              <a:rPr lang="en-US" b="1" i="0" dirty="0">
                <a:solidFill>
                  <a:srgbClr val="7030A0"/>
                </a:solidFill>
                <a:effectLst/>
              </a:rPr>
              <a:t>reclaiming the runtime unused memory automatically.</a:t>
            </a:r>
            <a:r>
              <a:rPr lang="en-US" b="0" i="0" dirty="0">
                <a:solidFill>
                  <a:srgbClr val="333333"/>
                </a:solidFill>
                <a:effectLst/>
              </a:rPr>
              <a:t> In other words, </a:t>
            </a:r>
            <a:r>
              <a:rPr lang="en-US" b="1" i="0" dirty="0">
                <a:solidFill>
                  <a:srgbClr val="7030A0"/>
                </a:solidFill>
                <a:effectLst/>
              </a:rPr>
              <a:t>it is a way to destroy the unused objects.</a:t>
            </a:r>
          </a:p>
          <a:p>
            <a:pPr algn="just">
              <a:lnSpc>
                <a:spcPct val="150000"/>
              </a:lnSpc>
            </a:pPr>
            <a:r>
              <a:rPr lang="en-US" b="0" i="0" dirty="0">
                <a:solidFill>
                  <a:srgbClr val="333333"/>
                </a:solidFill>
                <a:effectLst/>
              </a:rPr>
              <a:t>To do so, we were using </a:t>
            </a:r>
            <a:r>
              <a:rPr lang="en-US" b="1" i="0" dirty="0">
                <a:solidFill>
                  <a:srgbClr val="7030A0"/>
                </a:solidFill>
                <a:effectLst/>
              </a:rPr>
              <a:t>free() </a:t>
            </a:r>
            <a:r>
              <a:rPr lang="en-US" b="0" i="0" dirty="0">
                <a:solidFill>
                  <a:srgbClr val="333333"/>
                </a:solidFill>
                <a:effectLst/>
              </a:rPr>
              <a:t>function </a:t>
            </a:r>
            <a:r>
              <a:rPr lang="en-US" b="1" i="0" dirty="0">
                <a:solidFill>
                  <a:srgbClr val="7030A0"/>
                </a:solidFill>
                <a:effectLst/>
              </a:rPr>
              <a:t>in C</a:t>
            </a:r>
            <a:r>
              <a:rPr lang="en-US" b="0" i="0" dirty="0">
                <a:solidFill>
                  <a:srgbClr val="333333"/>
                </a:solidFill>
                <a:effectLst/>
              </a:rPr>
              <a:t> language and </a:t>
            </a:r>
            <a:r>
              <a:rPr lang="en-US" b="1" i="0" dirty="0">
                <a:solidFill>
                  <a:srgbClr val="7030A0"/>
                </a:solidFill>
                <a:effectLst/>
              </a:rPr>
              <a:t>delete() </a:t>
            </a:r>
            <a:r>
              <a:rPr lang="en-US" b="0" i="0" dirty="0">
                <a:solidFill>
                  <a:srgbClr val="333333"/>
                </a:solidFill>
                <a:effectLst/>
              </a:rPr>
              <a:t>in </a:t>
            </a:r>
            <a:r>
              <a:rPr lang="en-US" b="1" i="0" dirty="0">
                <a:solidFill>
                  <a:srgbClr val="7030A0"/>
                </a:solidFill>
                <a:effectLst/>
              </a:rPr>
              <a:t>C++. </a:t>
            </a:r>
            <a:r>
              <a:rPr lang="en-US" b="0" i="0" dirty="0">
                <a:solidFill>
                  <a:srgbClr val="333333"/>
                </a:solidFill>
                <a:effectLst/>
              </a:rPr>
              <a:t>But, in </a:t>
            </a:r>
            <a:r>
              <a:rPr lang="en-US" b="1" i="0" dirty="0">
                <a:solidFill>
                  <a:srgbClr val="7030A0"/>
                </a:solidFill>
                <a:effectLst/>
              </a:rPr>
              <a:t>java it is performed automatically</a:t>
            </a:r>
            <a:r>
              <a:rPr lang="en-US" b="0" i="0" dirty="0">
                <a:solidFill>
                  <a:srgbClr val="333333"/>
                </a:solidFill>
                <a:effectLst/>
              </a:rPr>
              <a:t>. So, </a:t>
            </a:r>
            <a:r>
              <a:rPr lang="en-US" b="1" i="0" dirty="0">
                <a:solidFill>
                  <a:srgbClr val="7030A0"/>
                </a:solidFill>
                <a:effectLst/>
              </a:rPr>
              <a:t>java provides better memory management.</a:t>
            </a:r>
          </a:p>
          <a:p>
            <a:endParaRPr lang="en-IN" dirty="0"/>
          </a:p>
        </p:txBody>
      </p:sp>
    </p:spTree>
    <p:extLst>
      <p:ext uri="{BB962C8B-B14F-4D97-AF65-F5344CB8AC3E}">
        <p14:creationId xmlns:p14="http://schemas.microsoft.com/office/powerpoint/2010/main" val="64966123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0DC604-132E-98B3-20DE-EA48FF2F4D7E}"/>
              </a:ext>
            </a:extLst>
          </p:cNvPr>
          <p:cNvSpPr>
            <a:spLocks noGrp="1"/>
          </p:cNvSpPr>
          <p:nvPr>
            <p:ph idx="1"/>
          </p:nvPr>
        </p:nvSpPr>
        <p:spPr>
          <a:xfrm>
            <a:off x="838200" y="606490"/>
            <a:ext cx="10515600" cy="5570473"/>
          </a:xfrm>
        </p:spPr>
        <p:txBody>
          <a:bodyPr/>
          <a:lstStyle/>
          <a:p>
            <a:pPr marL="0" indent="0" algn="just">
              <a:lnSpc>
                <a:spcPct val="150000"/>
              </a:lnSpc>
              <a:buNone/>
            </a:pPr>
            <a:r>
              <a:rPr lang="en-US" b="1" i="0" dirty="0">
                <a:solidFill>
                  <a:srgbClr val="7030A0"/>
                </a:solidFill>
                <a:effectLst/>
              </a:rPr>
              <a:t>Advantage of Garbage Collection</a:t>
            </a:r>
          </a:p>
          <a:p>
            <a:pPr algn="just">
              <a:lnSpc>
                <a:spcPct val="150000"/>
              </a:lnSpc>
              <a:buFont typeface="Arial" panose="020B0604020202020204" pitchFamily="34" charset="0"/>
              <a:buChar char="•"/>
            </a:pPr>
            <a:r>
              <a:rPr lang="en-US" b="0" i="0" dirty="0">
                <a:solidFill>
                  <a:srgbClr val="000000"/>
                </a:solidFill>
                <a:effectLst/>
              </a:rPr>
              <a:t>It makes java </a:t>
            </a:r>
            <a:r>
              <a:rPr lang="en-US" b="1" i="0" dirty="0">
                <a:solidFill>
                  <a:srgbClr val="7030A0"/>
                </a:solidFill>
                <a:effectLst/>
              </a:rPr>
              <a:t>memory efficient</a:t>
            </a:r>
            <a:r>
              <a:rPr lang="en-US" b="0" i="0" dirty="0">
                <a:solidFill>
                  <a:srgbClr val="7030A0"/>
                </a:solidFill>
                <a:effectLst/>
              </a:rPr>
              <a:t> </a:t>
            </a:r>
            <a:r>
              <a:rPr lang="en-US" b="0" i="0" dirty="0">
                <a:solidFill>
                  <a:srgbClr val="000000"/>
                </a:solidFill>
                <a:effectLst/>
              </a:rPr>
              <a:t>because </a:t>
            </a:r>
            <a:r>
              <a:rPr lang="en-US" b="1" i="0" dirty="0">
                <a:solidFill>
                  <a:srgbClr val="7030A0"/>
                </a:solidFill>
                <a:effectLst/>
              </a:rPr>
              <a:t>garbage collector removes the unreferenced objects from heap memory</a:t>
            </a:r>
            <a:r>
              <a:rPr lang="en-US" b="0" i="0" dirty="0">
                <a:solidFill>
                  <a:srgbClr val="000000"/>
                </a:solidFill>
                <a:effectLst/>
              </a:rPr>
              <a:t>.</a:t>
            </a:r>
          </a:p>
          <a:p>
            <a:pPr algn="just">
              <a:lnSpc>
                <a:spcPct val="150000"/>
              </a:lnSpc>
              <a:buFont typeface="Arial" panose="020B0604020202020204" pitchFamily="34" charset="0"/>
              <a:buChar char="•"/>
            </a:pPr>
            <a:r>
              <a:rPr lang="en-US" b="0" i="0" dirty="0">
                <a:solidFill>
                  <a:srgbClr val="000000"/>
                </a:solidFill>
                <a:effectLst/>
              </a:rPr>
              <a:t>It is </a:t>
            </a:r>
            <a:r>
              <a:rPr lang="en-US" b="1" i="0" dirty="0">
                <a:solidFill>
                  <a:srgbClr val="7030A0"/>
                </a:solidFill>
                <a:effectLst/>
              </a:rPr>
              <a:t>automatically done by the garbage collector</a:t>
            </a:r>
            <a:r>
              <a:rPr lang="en-US" b="0" i="0" dirty="0">
                <a:solidFill>
                  <a:srgbClr val="000000"/>
                </a:solidFill>
                <a:effectLst/>
              </a:rPr>
              <a:t>(a part of JVM) so we don't need to make extra efforts.</a:t>
            </a:r>
          </a:p>
          <a:p>
            <a:endParaRPr lang="en-IN" dirty="0"/>
          </a:p>
        </p:txBody>
      </p:sp>
    </p:spTree>
    <p:extLst>
      <p:ext uri="{BB962C8B-B14F-4D97-AF65-F5344CB8AC3E}">
        <p14:creationId xmlns:p14="http://schemas.microsoft.com/office/powerpoint/2010/main" val="48507641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F87E05-C4CC-BF6B-D6B0-B64247CCD3B1}"/>
              </a:ext>
            </a:extLst>
          </p:cNvPr>
          <p:cNvSpPr>
            <a:spLocks noGrp="1"/>
          </p:cNvSpPr>
          <p:nvPr>
            <p:ph idx="1"/>
          </p:nvPr>
        </p:nvSpPr>
        <p:spPr>
          <a:xfrm>
            <a:off x="838200" y="559837"/>
            <a:ext cx="10515600" cy="5617126"/>
          </a:xfrm>
        </p:spPr>
        <p:txBody>
          <a:bodyPr/>
          <a:lstStyle/>
          <a:p>
            <a:pPr marL="0" indent="0" algn="just">
              <a:lnSpc>
                <a:spcPct val="150000"/>
              </a:lnSpc>
              <a:buNone/>
            </a:pPr>
            <a:r>
              <a:rPr lang="en-US" b="1" i="0" dirty="0">
                <a:solidFill>
                  <a:srgbClr val="7030A0"/>
                </a:solidFill>
                <a:effectLst/>
              </a:rPr>
              <a:t>How can an object be unreferenced?</a:t>
            </a:r>
          </a:p>
          <a:p>
            <a:pPr marL="0" indent="0" algn="just">
              <a:lnSpc>
                <a:spcPct val="150000"/>
              </a:lnSpc>
              <a:buNone/>
            </a:pPr>
            <a:r>
              <a:rPr lang="en-US" b="0" i="0" dirty="0">
                <a:solidFill>
                  <a:srgbClr val="333333"/>
                </a:solidFill>
                <a:effectLst/>
              </a:rPr>
              <a:t>There are many ways:</a:t>
            </a:r>
          </a:p>
          <a:p>
            <a:pPr algn="just">
              <a:lnSpc>
                <a:spcPct val="150000"/>
              </a:lnSpc>
              <a:buFont typeface="Arial" panose="020B0604020202020204" pitchFamily="34" charset="0"/>
              <a:buChar char="•"/>
            </a:pPr>
            <a:r>
              <a:rPr lang="en-US" b="0" i="0" dirty="0">
                <a:solidFill>
                  <a:srgbClr val="000000"/>
                </a:solidFill>
                <a:effectLst/>
              </a:rPr>
              <a:t>By nulling the reference</a:t>
            </a:r>
          </a:p>
          <a:p>
            <a:pPr algn="just">
              <a:lnSpc>
                <a:spcPct val="150000"/>
              </a:lnSpc>
              <a:buFont typeface="Arial" panose="020B0604020202020204" pitchFamily="34" charset="0"/>
              <a:buChar char="•"/>
            </a:pPr>
            <a:r>
              <a:rPr lang="en-US" b="0" i="0" dirty="0">
                <a:solidFill>
                  <a:srgbClr val="000000"/>
                </a:solidFill>
                <a:effectLst/>
              </a:rPr>
              <a:t>By assigning a reference to another</a:t>
            </a:r>
          </a:p>
          <a:p>
            <a:pPr algn="just">
              <a:lnSpc>
                <a:spcPct val="150000"/>
              </a:lnSpc>
              <a:buFont typeface="Arial" panose="020B0604020202020204" pitchFamily="34" charset="0"/>
              <a:buChar char="•"/>
            </a:pPr>
            <a:r>
              <a:rPr lang="en-US" b="0" i="0" dirty="0">
                <a:solidFill>
                  <a:srgbClr val="000000"/>
                </a:solidFill>
                <a:effectLst/>
              </a:rPr>
              <a:t>By anonymous object etc.</a:t>
            </a:r>
          </a:p>
          <a:p>
            <a:endParaRPr lang="en-IN" dirty="0"/>
          </a:p>
        </p:txBody>
      </p:sp>
    </p:spTree>
    <p:extLst>
      <p:ext uri="{BB962C8B-B14F-4D97-AF65-F5344CB8AC3E}">
        <p14:creationId xmlns:p14="http://schemas.microsoft.com/office/powerpoint/2010/main" val="288177759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0275B5-9DB6-8A06-CB48-A4D208C59B8F}"/>
              </a:ext>
            </a:extLst>
          </p:cNvPr>
          <p:cNvSpPr>
            <a:spLocks noGrp="1"/>
          </p:cNvSpPr>
          <p:nvPr>
            <p:ph idx="1"/>
          </p:nvPr>
        </p:nvSpPr>
        <p:spPr>
          <a:xfrm>
            <a:off x="838200" y="531845"/>
            <a:ext cx="10515600" cy="5645118"/>
          </a:xfrm>
        </p:spPr>
        <p:txBody>
          <a:bodyPr/>
          <a:lstStyle/>
          <a:p>
            <a:pPr marL="0" indent="0" algn="just">
              <a:lnSpc>
                <a:spcPct val="100000"/>
              </a:lnSpc>
              <a:buNone/>
            </a:pPr>
            <a:r>
              <a:rPr lang="en-US" b="1" i="0" dirty="0">
                <a:solidFill>
                  <a:srgbClr val="7030A0"/>
                </a:solidFill>
                <a:effectLst/>
              </a:rPr>
              <a:t>By nulling a reference:</a:t>
            </a:r>
          </a:p>
          <a:p>
            <a:pPr marL="0" indent="0" algn="just">
              <a:lnSpc>
                <a:spcPct val="100000"/>
              </a:lnSpc>
              <a:buNone/>
            </a:pPr>
            <a:r>
              <a:rPr lang="en-US" b="0" i="0" dirty="0">
                <a:solidFill>
                  <a:srgbClr val="000000"/>
                </a:solidFill>
                <a:effectLst/>
              </a:rPr>
              <a:t>Employee e=</a:t>
            </a:r>
            <a:r>
              <a:rPr lang="en-US" b="1" i="0" dirty="0">
                <a:solidFill>
                  <a:srgbClr val="006699"/>
                </a:solidFill>
                <a:effectLst/>
              </a:rPr>
              <a:t>new</a:t>
            </a:r>
            <a:r>
              <a:rPr lang="en-US" b="0" i="0" dirty="0">
                <a:solidFill>
                  <a:srgbClr val="000000"/>
                </a:solidFill>
                <a:effectLst/>
              </a:rPr>
              <a:t> Employee();  </a:t>
            </a:r>
          </a:p>
          <a:p>
            <a:pPr marL="0" indent="0" algn="just">
              <a:lnSpc>
                <a:spcPct val="100000"/>
              </a:lnSpc>
              <a:buNone/>
            </a:pPr>
            <a:r>
              <a:rPr lang="en-US" b="0" i="0" dirty="0">
                <a:solidFill>
                  <a:srgbClr val="000000"/>
                </a:solidFill>
                <a:effectLst/>
              </a:rPr>
              <a:t>e=</a:t>
            </a:r>
            <a:r>
              <a:rPr lang="en-US" b="1" i="0" dirty="0">
                <a:solidFill>
                  <a:srgbClr val="006699"/>
                </a:solidFill>
                <a:effectLst/>
              </a:rPr>
              <a:t>null</a:t>
            </a:r>
            <a:r>
              <a:rPr lang="en-US" b="0" i="0" dirty="0">
                <a:solidFill>
                  <a:srgbClr val="000000"/>
                </a:solidFill>
                <a:effectLst/>
              </a:rPr>
              <a:t>;  </a:t>
            </a:r>
          </a:p>
          <a:p>
            <a:pPr marL="0" indent="0" algn="just">
              <a:lnSpc>
                <a:spcPct val="100000"/>
              </a:lnSpc>
              <a:buNone/>
            </a:pPr>
            <a:r>
              <a:rPr lang="en-US" b="1" i="0" dirty="0">
                <a:solidFill>
                  <a:srgbClr val="7030A0"/>
                </a:solidFill>
                <a:effectLst/>
              </a:rPr>
              <a:t>By assigning a reference to another:</a:t>
            </a:r>
          </a:p>
          <a:p>
            <a:pPr marL="0" indent="0" algn="just">
              <a:lnSpc>
                <a:spcPct val="100000"/>
              </a:lnSpc>
              <a:buNone/>
            </a:pPr>
            <a:r>
              <a:rPr lang="en-US" b="0" i="0" dirty="0">
                <a:solidFill>
                  <a:srgbClr val="000000"/>
                </a:solidFill>
                <a:effectLst/>
              </a:rPr>
              <a:t>Employee e1=</a:t>
            </a:r>
            <a:r>
              <a:rPr lang="en-US" b="1" i="0" dirty="0">
                <a:solidFill>
                  <a:srgbClr val="006699"/>
                </a:solidFill>
                <a:effectLst/>
              </a:rPr>
              <a:t>new</a:t>
            </a:r>
            <a:r>
              <a:rPr lang="en-US" b="0" i="0" dirty="0">
                <a:solidFill>
                  <a:srgbClr val="000000"/>
                </a:solidFill>
                <a:effectLst/>
              </a:rPr>
              <a:t> Employee();  </a:t>
            </a:r>
          </a:p>
          <a:p>
            <a:pPr marL="0" indent="0" algn="just">
              <a:lnSpc>
                <a:spcPct val="100000"/>
              </a:lnSpc>
              <a:buNone/>
            </a:pPr>
            <a:r>
              <a:rPr lang="en-US" b="0" i="0" dirty="0">
                <a:solidFill>
                  <a:srgbClr val="000000"/>
                </a:solidFill>
                <a:effectLst/>
              </a:rPr>
              <a:t>Employee e2=</a:t>
            </a:r>
            <a:r>
              <a:rPr lang="en-US" b="1" i="0" dirty="0">
                <a:solidFill>
                  <a:srgbClr val="006699"/>
                </a:solidFill>
                <a:effectLst/>
              </a:rPr>
              <a:t>new</a:t>
            </a:r>
            <a:r>
              <a:rPr lang="en-US" b="0" i="0" dirty="0">
                <a:solidFill>
                  <a:srgbClr val="000000"/>
                </a:solidFill>
                <a:effectLst/>
              </a:rPr>
              <a:t> Employee();  </a:t>
            </a:r>
          </a:p>
          <a:p>
            <a:pPr marL="0" indent="0" algn="just">
              <a:lnSpc>
                <a:spcPct val="100000"/>
              </a:lnSpc>
              <a:buNone/>
            </a:pPr>
            <a:r>
              <a:rPr lang="en-US" b="0" i="0" dirty="0">
                <a:solidFill>
                  <a:srgbClr val="000000"/>
                </a:solidFill>
                <a:effectLst/>
              </a:rPr>
              <a:t>e1=e2;</a:t>
            </a:r>
          </a:p>
          <a:p>
            <a:pPr marL="0" indent="0" algn="just">
              <a:lnSpc>
                <a:spcPct val="100000"/>
              </a:lnSpc>
              <a:buNone/>
            </a:pPr>
            <a:r>
              <a:rPr lang="en-US" b="1" i="0" dirty="0">
                <a:solidFill>
                  <a:srgbClr val="7030A0"/>
                </a:solidFill>
                <a:effectLst/>
              </a:rPr>
              <a:t>By anonymous object:</a:t>
            </a:r>
          </a:p>
          <a:p>
            <a:pPr marL="0" indent="0" algn="just">
              <a:lnSpc>
                <a:spcPct val="100000"/>
              </a:lnSpc>
              <a:buNone/>
            </a:pPr>
            <a:r>
              <a:rPr lang="en-US" b="1" i="0" dirty="0">
                <a:solidFill>
                  <a:srgbClr val="006699"/>
                </a:solidFill>
                <a:effectLst/>
              </a:rPr>
              <a:t>new</a:t>
            </a:r>
            <a:r>
              <a:rPr lang="en-US" b="0" i="0" dirty="0">
                <a:solidFill>
                  <a:srgbClr val="000000"/>
                </a:solidFill>
                <a:effectLst/>
              </a:rPr>
              <a:t> Employee();  </a:t>
            </a:r>
          </a:p>
          <a:p>
            <a:pPr marL="0" indent="0" algn="just">
              <a:buNone/>
            </a:pPr>
            <a:endParaRPr lang="en-US" b="0" i="0" dirty="0">
              <a:solidFill>
                <a:srgbClr val="000000"/>
              </a:solidFill>
              <a:effectLst/>
            </a:endParaRPr>
          </a:p>
          <a:p>
            <a:pPr marL="0" indent="0" algn="just">
              <a:buNone/>
            </a:pPr>
            <a:endParaRPr lang="en-US" b="0" i="0" dirty="0">
              <a:solidFill>
                <a:srgbClr val="000000"/>
              </a:solidFill>
              <a:effectLst/>
            </a:endParaRPr>
          </a:p>
          <a:p>
            <a:endParaRPr lang="en-IN" dirty="0"/>
          </a:p>
        </p:txBody>
      </p:sp>
    </p:spTree>
    <p:extLst>
      <p:ext uri="{BB962C8B-B14F-4D97-AF65-F5344CB8AC3E}">
        <p14:creationId xmlns:p14="http://schemas.microsoft.com/office/powerpoint/2010/main" val="84141489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857E7-C11F-D6FD-0AB3-BD228581D043}"/>
              </a:ext>
            </a:extLst>
          </p:cNvPr>
          <p:cNvSpPr>
            <a:spLocks noGrp="1"/>
          </p:cNvSpPr>
          <p:nvPr>
            <p:ph idx="1"/>
          </p:nvPr>
        </p:nvSpPr>
        <p:spPr>
          <a:xfrm>
            <a:off x="838200" y="410547"/>
            <a:ext cx="10515600" cy="5766416"/>
          </a:xfrm>
        </p:spPr>
        <p:txBody>
          <a:bodyPr/>
          <a:lstStyle/>
          <a:p>
            <a:pPr marL="0" indent="0" algn="just">
              <a:lnSpc>
                <a:spcPct val="150000"/>
              </a:lnSpc>
              <a:buNone/>
            </a:pPr>
            <a:r>
              <a:rPr lang="en-US" b="1" i="0" dirty="0">
                <a:solidFill>
                  <a:srgbClr val="7030A0"/>
                </a:solidFill>
                <a:effectLst/>
              </a:rPr>
              <a:t>finalize() method</a:t>
            </a:r>
          </a:p>
          <a:p>
            <a:pPr algn="just">
              <a:lnSpc>
                <a:spcPct val="150000"/>
              </a:lnSpc>
            </a:pPr>
            <a:r>
              <a:rPr lang="en-US" b="0" i="0" dirty="0">
                <a:solidFill>
                  <a:srgbClr val="333333"/>
                </a:solidFill>
                <a:effectLst/>
              </a:rPr>
              <a:t>The </a:t>
            </a:r>
            <a:r>
              <a:rPr lang="en-US" b="1" i="0" dirty="0">
                <a:solidFill>
                  <a:srgbClr val="7030A0"/>
                </a:solidFill>
                <a:effectLst/>
              </a:rPr>
              <a:t>finalize() </a:t>
            </a:r>
            <a:r>
              <a:rPr lang="en-US" b="0" i="0" dirty="0">
                <a:solidFill>
                  <a:srgbClr val="333333"/>
                </a:solidFill>
                <a:effectLst/>
              </a:rPr>
              <a:t>method is invoked each time before the object is garbage collected.</a:t>
            </a:r>
          </a:p>
          <a:p>
            <a:pPr algn="just">
              <a:lnSpc>
                <a:spcPct val="150000"/>
              </a:lnSpc>
            </a:pPr>
            <a:r>
              <a:rPr lang="en-US" b="0" i="0" dirty="0">
                <a:solidFill>
                  <a:srgbClr val="333333"/>
                </a:solidFill>
                <a:effectLst/>
              </a:rPr>
              <a:t> </a:t>
            </a:r>
            <a:r>
              <a:rPr lang="en-US" b="1" i="0" dirty="0">
                <a:solidFill>
                  <a:srgbClr val="7030A0"/>
                </a:solidFill>
                <a:effectLst/>
              </a:rPr>
              <a:t>This method can be used to perform cleanup processing. </a:t>
            </a:r>
          </a:p>
          <a:p>
            <a:pPr algn="just">
              <a:lnSpc>
                <a:spcPct val="150000"/>
              </a:lnSpc>
            </a:pPr>
            <a:r>
              <a:rPr lang="en-US" b="0" i="0" dirty="0">
                <a:solidFill>
                  <a:srgbClr val="333333"/>
                </a:solidFill>
                <a:effectLst/>
              </a:rPr>
              <a:t>This method is defined in Object class as:</a:t>
            </a:r>
          </a:p>
          <a:p>
            <a:pPr marL="0" indent="0" algn="just">
              <a:lnSpc>
                <a:spcPct val="150000"/>
              </a:lnSpc>
              <a:buNone/>
            </a:pPr>
            <a:r>
              <a:rPr lang="en-US" b="1" i="0" dirty="0">
                <a:solidFill>
                  <a:srgbClr val="7030A0"/>
                </a:solidFill>
                <a:effectLst/>
              </a:rPr>
              <a:t>protected void finalize(){}  </a:t>
            </a:r>
          </a:p>
          <a:p>
            <a:endParaRPr lang="en-IN" dirty="0"/>
          </a:p>
        </p:txBody>
      </p:sp>
    </p:spTree>
    <p:extLst>
      <p:ext uri="{BB962C8B-B14F-4D97-AF65-F5344CB8AC3E}">
        <p14:creationId xmlns:p14="http://schemas.microsoft.com/office/powerpoint/2010/main" val="241313052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47449D-3D76-FB51-C312-4C8FE92E84C1}"/>
              </a:ext>
            </a:extLst>
          </p:cNvPr>
          <p:cNvSpPr>
            <a:spLocks noGrp="1"/>
          </p:cNvSpPr>
          <p:nvPr>
            <p:ph idx="1"/>
          </p:nvPr>
        </p:nvSpPr>
        <p:spPr>
          <a:xfrm>
            <a:off x="838200" y="475861"/>
            <a:ext cx="10515600" cy="5701102"/>
          </a:xfrm>
        </p:spPr>
        <p:txBody>
          <a:bodyPr/>
          <a:lstStyle/>
          <a:p>
            <a:pPr marL="0" indent="0" algn="just">
              <a:lnSpc>
                <a:spcPct val="150000"/>
              </a:lnSpc>
              <a:buNone/>
            </a:pPr>
            <a:r>
              <a:rPr lang="en-US" b="1" i="0" dirty="0" err="1">
                <a:solidFill>
                  <a:srgbClr val="7030A0"/>
                </a:solidFill>
                <a:effectLst/>
              </a:rPr>
              <a:t>gc</a:t>
            </a:r>
            <a:r>
              <a:rPr lang="en-US" b="1" i="0" dirty="0">
                <a:solidFill>
                  <a:srgbClr val="7030A0"/>
                </a:solidFill>
                <a:effectLst/>
              </a:rPr>
              <a:t>() method</a:t>
            </a:r>
          </a:p>
          <a:p>
            <a:pPr algn="just">
              <a:lnSpc>
                <a:spcPct val="150000"/>
              </a:lnSpc>
            </a:pPr>
            <a:r>
              <a:rPr lang="en-US" b="0" i="0" dirty="0">
                <a:solidFill>
                  <a:srgbClr val="333333"/>
                </a:solidFill>
                <a:effectLst/>
              </a:rPr>
              <a:t>The </a:t>
            </a:r>
            <a:r>
              <a:rPr lang="en-US" b="0" i="0" dirty="0" err="1">
                <a:solidFill>
                  <a:srgbClr val="333333"/>
                </a:solidFill>
                <a:effectLst/>
              </a:rPr>
              <a:t>gc</a:t>
            </a:r>
            <a:r>
              <a:rPr lang="en-US" b="0" i="0" dirty="0">
                <a:solidFill>
                  <a:srgbClr val="333333"/>
                </a:solidFill>
                <a:effectLst/>
              </a:rPr>
              <a:t>() method is used to invoke the </a:t>
            </a:r>
            <a:r>
              <a:rPr lang="en-US" b="1" i="0" dirty="0">
                <a:solidFill>
                  <a:srgbClr val="7030A0"/>
                </a:solidFill>
                <a:effectLst/>
              </a:rPr>
              <a:t>garbage collector to perform cleanup processing.</a:t>
            </a:r>
          </a:p>
          <a:p>
            <a:pPr algn="just">
              <a:lnSpc>
                <a:spcPct val="150000"/>
              </a:lnSpc>
            </a:pPr>
            <a:r>
              <a:rPr lang="en-US" b="0" i="0" dirty="0">
                <a:solidFill>
                  <a:srgbClr val="333333"/>
                </a:solidFill>
                <a:effectLst/>
              </a:rPr>
              <a:t> The </a:t>
            </a:r>
            <a:r>
              <a:rPr lang="en-US" b="1" i="0" dirty="0" err="1">
                <a:solidFill>
                  <a:srgbClr val="7030A0"/>
                </a:solidFill>
                <a:effectLst/>
              </a:rPr>
              <a:t>gc</a:t>
            </a:r>
            <a:r>
              <a:rPr lang="en-US" b="1" i="0" dirty="0">
                <a:solidFill>
                  <a:srgbClr val="7030A0"/>
                </a:solidFill>
                <a:effectLst/>
              </a:rPr>
              <a:t>() is found in System and Runtime classes.</a:t>
            </a:r>
          </a:p>
          <a:p>
            <a:pPr marL="0" indent="0" algn="just">
              <a:lnSpc>
                <a:spcPct val="150000"/>
              </a:lnSpc>
              <a:buNone/>
            </a:pPr>
            <a:r>
              <a:rPr lang="en-US" b="1" i="0" dirty="0">
                <a:solidFill>
                  <a:srgbClr val="006699"/>
                </a:solidFill>
                <a:effectLst/>
              </a:rPr>
              <a:t>     </a:t>
            </a:r>
            <a:r>
              <a:rPr lang="en-US" b="1" i="0" dirty="0">
                <a:solidFill>
                  <a:srgbClr val="7030A0"/>
                </a:solidFill>
                <a:effectLst/>
              </a:rPr>
              <a:t>public static void </a:t>
            </a:r>
            <a:r>
              <a:rPr lang="en-US" b="1" i="0" dirty="0" err="1">
                <a:solidFill>
                  <a:srgbClr val="7030A0"/>
                </a:solidFill>
                <a:effectLst/>
              </a:rPr>
              <a:t>gc</a:t>
            </a:r>
            <a:r>
              <a:rPr lang="en-US" b="1" i="0" dirty="0">
                <a:solidFill>
                  <a:srgbClr val="7030A0"/>
                </a:solidFill>
                <a:effectLst/>
              </a:rPr>
              <a:t>(){}  </a:t>
            </a:r>
          </a:p>
          <a:p>
            <a:endParaRPr lang="en-IN" dirty="0"/>
          </a:p>
        </p:txBody>
      </p:sp>
    </p:spTree>
    <p:extLst>
      <p:ext uri="{BB962C8B-B14F-4D97-AF65-F5344CB8AC3E}">
        <p14:creationId xmlns:p14="http://schemas.microsoft.com/office/powerpoint/2010/main" val="144426017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7178E-5647-4973-5BC1-6FF62151106D}"/>
              </a:ext>
            </a:extLst>
          </p:cNvPr>
          <p:cNvSpPr>
            <a:spLocks noGrp="1"/>
          </p:cNvSpPr>
          <p:nvPr>
            <p:ph idx="1"/>
          </p:nvPr>
        </p:nvSpPr>
        <p:spPr>
          <a:xfrm>
            <a:off x="838200" y="643812"/>
            <a:ext cx="10515600" cy="5449176"/>
          </a:xfrm>
        </p:spPr>
        <p:txBody>
          <a:bodyPr>
            <a:normAutofit lnSpcReduction="10000"/>
          </a:bodyPr>
          <a:lstStyle/>
          <a:p>
            <a:r>
              <a:rPr lang="en-US" b="0" dirty="0">
                <a:solidFill>
                  <a:srgbClr val="610B38"/>
                </a:solidFill>
                <a:effectLst/>
                <a:latin typeface="erdana"/>
              </a:rPr>
              <a:t>Simple Example of garbage collection in java</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TestGarbage1{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finalize(){</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"object is garbage collected"</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TestGarbage1 s1=</a:t>
            </a:r>
            <a:r>
              <a:rPr lang="en-IN" b="1" i="0" dirty="0">
                <a:solidFill>
                  <a:srgbClr val="006699"/>
                </a:solidFill>
                <a:effectLst/>
                <a:latin typeface="inter-regular"/>
              </a:rPr>
              <a:t>new</a:t>
            </a:r>
            <a:r>
              <a:rPr lang="en-IN" b="0" i="0" dirty="0">
                <a:solidFill>
                  <a:srgbClr val="000000"/>
                </a:solidFill>
                <a:effectLst/>
                <a:latin typeface="inter-regular"/>
              </a:rPr>
              <a:t> TestGarbage1();  </a:t>
            </a:r>
          </a:p>
          <a:p>
            <a:pPr marL="0" indent="0" algn="just">
              <a:buNone/>
            </a:pPr>
            <a:r>
              <a:rPr lang="en-IN" b="0" i="0" dirty="0">
                <a:solidFill>
                  <a:srgbClr val="000000"/>
                </a:solidFill>
                <a:effectLst/>
                <a:latin typeface="inter-regular"/>
              </a:rPr>
              <a:t>  TestGarbage1 s2=</a:t>
            </a:r>
            <a:r>
              <a:rPr lang="en-IN" b="1" i="0" dirty="0">
                <a:solidFill>
                  <a:srgbClr val="006699"/>
                </a:solidFill>
                <a:effectLst/>
                <a:latin typeface="inter-regular"/>
              </a:rPr>
              <a:t>new</a:t>
            </a:r>
            <a:r>
              <a:rPr lang="en-IN" b="0" i="0" dirty="0">
                <a:solidFill>
                  <a:srgbClr val="000000"/>
                </a:solidFill>
                <a:effectLst/>
                <a:latin typeface="inter-regular"/>
              </a:rPr>
              <a:t> TestGarbage1();  </a:t>
            </a:r>
          </a:p>
          <a:p>
            <a:pPr marL="0" indent="0" algn="just">
              <a:buNone/>
            </a:pPr>
            <a:r>
              <a:rPr lang="en-IN" b="0" i="0" dirty="0">
                <a:solidFill>
                  <a:srgbClr val="000000"/>
                </a:solidFill>
                <a:effectLst/>
                <a:latin typeface="inter-regular"/>
              </a:rPr>
              <a:t>  s1=</a:t>
            </a:r>
            <a:r>
              <a:rPr lang="en-IN" b="1" i="0" dirty="0">
                <a:solidFill>
                  <a:srgbClr val="006699"/>
                </a:solidFill>
                <a:effectLst/>
                <a:latin typeface="inter-regular"/>
              </a:rPr>
              <a:t>null</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s2=</a:t>
            </a:r>
            <a:r>
              <a:rPr lang="en-IN" b="1" i="0" dirty="0">
                <a:solidFill>
                  <a:srgbClr val="006699"/>
                </a:solidFill>
                <a:effectLst/>
                <a:latin typeface="inter-regular"/>
              </a:rPr>
              <a:t>null</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System.gc</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a:solidFill>
                  <a:srgbClr val="000000"/>
                </a:solidFill>
                <a:effectLst/>
                <a:latin typeface="inter-regular"/>
              </a:rPr>
              <a:t>} }  </a:t>
            </a:r>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27532566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B6427-D758-67F5-6B6C-8A362E2FFE5D}"/>
              </a:ext>
            </a:extLst>
          </p:cNvPr>
          <p:cNvSpPr>
            <a:spLocks noGrp="1"/>
          </p:cNvSpPr>
          <p:nvPr>
            <p:ph type="ctrTitle"/>
          </p:nvPr>
        </p:nvSpPr>
        <p:spPr/>
        <p:txBody>
          <a:bodyPr/>
          <a:lstStyle/>
          <a:p>
            <a:r>
              <a:rPr lang="en-IN" dirty="0"/>
              <a:t>Database Management</a:t>
            </a:r>
          </a:p>
        </p:txBody>
      </p:sp>
      <p:sp>
        <p:nvSpPr>
          <p:cNvPr id="3" name="Subtitle 2">
            <a:extLst>
              <a:ext uri="{FF2B5EF4-FFF2-40B4-BE49-F238E27FC236}">
                <a16:creationId xmlns:a16="http://schemas.microsoft.com/office/drawing/2014/main" id="{3511971A-6FC6-CA2B-9457-28BD67EA42A4}"/>
              </a:ext>
            </a:extLst>
          </p:cNvPr>
          <p:cNvSpPr>
            <a:spLocks noGrp="1"/>
          </p:cNvSpPr>
          <p:nvPr>
            <p:ph type="subTitle" idx="1"/>
          </p:nvPr>
        </p:nvSpPr>
        <p:spPr/>
        <p:txBody>
          <a:bodyPr>
            <a:normAutofit/>
          </a:bodyPr>
          <a:lstStyle/>
          <a:p>
            <a:r>
              <a:rPr lang="en-IN" sz="4400" dirty="0"/>
              <a:t>Introduction and JDBC</a:t>
            </a:r>
          </a:p>
        </p:txBody>
      </p:sp>
    </p:spTree>
    <p:extLst>
      <p:ext uri="{BB962C8B-B14F-4D97-AF65-F5344CB8AC3E}">
        <p14:creationId xmlns:p14="http://schemas.microsoft.com/office/powerpoint/2010/main" val="272143946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933" y="575733"/>
            <a:ext cx="11133667" cy="5550431"/>
          </a:xfrm>
        </p:spPr>
        <p:txBody>
          <a:bodyPr/>
          <a:lstStyle/>
          <a:p>
            <a:pPr marL="0" indent="0">
              <a:buNone/>
            </a:pPr>
            <a:r>
              <a:rPr lang="en-IN" b="1" dirty="0">
                <a:solidFill>
                  <a:srgbClr val="7030A0"/>
                </a:solidFill>
              </a:rPr>
              <a:t>Database</a:t>
            </a:r>
          </a:p>
          <a:p>
            <a:r>
              <a:rPr lang="en-US" dirty="0"/>
              <a:t>A </a:t>
            </a:r>
            <a:r>
              <a:rPr lang="en-US" b="1" dirty="0">
                <a:solidFill>
                  <a:srgbClr val="7030A0"/>
                </a:solidFill>
              </a:rPr>
              <a:t>database</a:t>
            </a:r>
            <a:r>
              <a:rPr lang="en-US" dirty="0"/>
              <a:t> is an organized </a:t>
            </a:r>
            <a:r>
              <a:rPr lang="en-US" b="1" dirty="0">
                <a:solidFill>
                  <a:srgbClr val="7030A0"/>
                </a:solidFill>
              </a:rPr>
              <a:t>collection of data</a:t>
            </a:r>
            <a:r>
              <a:rPr lang="en-US" dirty="0"/>
              <a:t>, so that it can be easily accessed and managed.</a:t>
            </a:r>
          </a:p>
          <a:p>
            <a:r>
              <a:rPr lang="en-US" dirty="0"/>
              <a:t>The </a:t>
            </a:r>
            <a:r>
              <a:rPr lang="en-US" b="1" dirty="0">
                <a:solidFill>
                  <a:srgbClr val="7030A0"/>
                </a:solidFill>
              </a:rPr>
              <a:t>main purpose</a:t>
            </a:r>
            <a:r>
              <a:rPr lang="en-US" dirty="0"/>
              <a:t> of the database is </a:t>
            </a:r>
            <a:r>
              <a:rPr lang="en-US" b="1" dirty="0">
                <a:solidFill>
                  <a:srgbClr val="7030A0"/>
                </a:solidFill>
              </a:rPr>
              <a:t>to operate a large amount of information by storing, retrieving, and managing data.</a:t>
            </a:r>
          </a:p>
          <a:p>
            <a:r>
              <a:rPr lang="en-US" b="1" dirty="0">
                <a:solidFill>
                  <a:srgbClr val="7030A0"/>
                </a:solidFill>
              </a:rPr>
              <a:t>SQL</a:t>
            </a:r>
            <a:r>
              <a:rPr lang="en-US" dirty="0"/>
              <a:t> or Structured Query Language is used to operate on </a:t>
            </a:r>
            <a:r>
              <a:rPr lang="en-US" b="1" dirty="0">
                <a:solidFill>
                  <a:srgbClr val="7030A0"/>
                </a:solidFill>
              </a:rPr>
              <a:t>the data stored in a database.</a:t>
            </a:r>
            <a:endParaRPr lang="en-IN" b="1" dirty="0">
              <a:solidFill>
                <a:srgbClr val="7030A0"/>
              </a:solidFill>
            </a:endParaRPr>
          </a:p>
        </p:txBody>
      </p:sp>
    </p:spTree>
    <p:extLst>
      <p:ext uri="{BB962C8B-B14F-4D97-AF65-F5344CB8AC3E}">
        <p14:creationId xmlns:p14="http://schemas.microsoft.com/office/powerpoint/2010/main" val="272004501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585F22-42E5-0A0F-DC9F-6FE83C140990}"/>
              </a:ext>
            </a:extLst>
          </p:cNvPr>
          <p:cNvSpPr>
            <a:spLocks noGrp="1"/>
          </p:cNvSpPr>
          <p:nvPr>
            <p:ph idx="1"/>
          </p:nvPr>
        </p:nvSpPr>
        <p:spPr>
          <a:xfrm>
            <a:off x="539620" y="550506"/>
            <a:ext cx="10515600" cy="5486498"/>
          </a:xfrm>
        </p:spPr>
        <p:txBody>
          <a:bodyPr/>
          <a:lstStyle/>
          <a:p>
            <a:pPr marL="0" indent="0">
              <a:buNone/>
            </a:pPr>
            <a:r>
              <a:rPr lang="en-IN" b="1" dirty="0">
                <a:solidFill>
                  <a:srgbClr val="7030A0"/>
                </a:solidFill>
              </a:rPr>
              <a:t>JDBC(Java Data Base Connectivity )</a:t>
            </a:r>
          </a:p>
          <a:p>
            <a:r>
              <a:rPr lang="en-IN" dirty="0"/>
              <a:t>It is used to connect Front end and Back end.</a:t>
            </a:r>
          </a:p>
          <a:p>
            <a:r>
              <a:rPr lang="en-IN" dirty="0"/>
              <a:t>To connect client and server.</a:t>
            </a:r>
          </a:p>
          <a:p>
            <a:pPr marL="0" indent="0">
              <a:buNone/>
            </a:pPr>
            <a:endParaRPr lang="en-IN" dirty="0"/>
          </a:p>
          <a:p>
            <a:pPr marL="0" indent="0">
              <a:buNone/>
            </a:pPr>
            <a:r>
              <a:rPr lang="en-IN" dirty="0"/>
              <a:t>How to connect java program to mysql connector.</a:t>
            </a:r>
          </a:p>
          <a:p>
            <a:pPr marL="0" indent="0">
              <a:buNone/>
            </a:pPr>
            <a:r>
              <a:rPr lang="en-IN" dirty="0"/>
              <a:t>Package -- build path – configure build path – libraries –</a:t>
            </a:r>
            <a:r>
              <a:rPr lang="en-IN" dirty="0" err="1"/>
              <a:t>modulepath</a:t>
            </a:r>
            <a:r>
              <a:rPr lang="en-IN" dirty="0"/>
              <a:t> –</a:t>
            </a:r>
          </a:p>
          <a:p>
            <a:pPr marL="0" indent="0">
              <a:buNone/>
            </a:pPr>
            <a:endParaRPr lang="en-IN" dirty="0"/>
          </a:p>
          <a:p>
            <a:pPr marL="0" indent="0">
              <a:buNone/>
            </a:pPr>
            <a:r>
              <a:rPr lang="en-IN" dirty="0"/>
              <a:t>Add external JARs – set the mysql connector – apply to all – close.</a:t>
            </a:r>
          </a:p>
          <a:p>
            <a:pPr marL="0" indent="0">
              <a:buNone/>
            </a:pPr>
            <a:endParaRPr lang="en-IN" dirty="0"/>
          </a:p>
          <a:p>
            <a:pPr marL="0" indent="0">
              <a:buNone/>
            </a:pPr>
            <a:r>
              <a:rPr lang="en-IN" dirty="0"/>
              <a:t>After apply Reference library will be added.</a:t>
            </a:r>
          </a:p>
        </p:txBody>
      </p:sp>
    </p:spTree>
    <p:extLst>
      <p:ext uri="{BB962C8B-B14F-4D97-AF65-F5344CB8AC3E}">
        <p14:creationId xmlns:p14="http://schemas.microsoft.com/office/powerpoint/2010/main" val="167886698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4070B0-7F11-342D-9408-1F068DFF77D6}"/>
              </a:ext>
            </a:extLst>
          </p:cNvPr>
          <p:cNvSpPr>
            <a:spLocks noGrp="1"/>
          </p:cNvSpPr>
          <p:nvPr>
            <p:ph idx="1"/>
          </p:nvPr>
        </p:nvSpPr>
        <p:spPr>
          <a:xfrm>
            <a:off x="707571" y="653094"/>
            <a:ext cx="10515600" cy="5551812"/>
          </a:xfrm>
        </p:spPr>
        <p:txBody>
          <a:bodyPr>
            <a:normAutofit lnSpcReduction="10000"/>
          </a:bodyPr>
          <a:lstStyle/>
          <a:p>
            <a:pPr marL="0" indent="0">
              <a:buNone/>
            </a:pPr>
            <a:r>
              <a:rPr lang="en-IN" b="1" dirty="0">
                <a:solidFill>
                  <a:srgbClr val="7030A0"/>
                </a:solidFill>
              </a:rPr>
              <a:t>Front end</a:t>
            </a:r>
          </a:p>
          <a:p>
            <a:r>
              <a:rPr lang="en-IN" dirty="0"/>
              <a:t>Java</a:t>
            </a:r>
          </a:p>
          <a:p>
            <a:r>
              <a:rPr lang="en-IN" dirty="0"/>
              <a:t>Python</a:t>
            </a:r>
          </a:p>
          <a:p>
            <a:r>
              <a:rPr lang="en-IN" dirty="0"/>
              <a:t>Html</a:t>
            </a:r>
          </a:p>
          <a:p>
            <a:r>
              <a:rPr lang="en-IN" dirty="0"/>
              <a:t>Dot net</a:t>
            </a:r>
          </a:p>
          <a:p>
            <a:r>
              <a:rPr lang="en-IN" dirty="0"/>
              <a:t>C++</a:t>
            </a:r>
            <a:endParaRPr lang="en-IN" b="1" dirty="0">
              <a:solidFill>
                <a:srgbClr val="7030A0"/>
              </a:solidFill>
            </a:endParaRPr>
          </a:p>
          <a:p>
            <a:pPr marL="0" indent="0">
              <a:buNone/>
            </a:pPr>
            <a:r>
              <a:rPr lang="en-IN" b="1" dirty="0">
                <a:solidFill>
                  <a:srgbClr val="7030A0"/>
                </a:solidFill>
              </a:rPr>
              <a:t>Back end</a:t>
            </a:r>
          </a:p>
          <a:p>
            <a:r>
              <a:rPr lang="en-IN" dirty="0"/>
              <a:t>Mysql</a:t>
            </a:r>
          </a:p>
          <a:p>
            <a:r>
              <a:rPr lang="en-IN" dirty="0"/>
              <a:t>Sql</a:t>
            </a:r>
          </a:p>
          <a:p>
            <a:r>
              <a:rPr lang="en-IN" dirty="0"/>
              <a:t>Mongo DB</a:t>
            </a:r>
          </a:p>
          <a:p>
            <a:r>
              <a:rPr lang="en-IN" dirty="0"/>
              <a:t>Oracal</a:t>
            </a:r>
          </a:p>
          <a:p>
            <a:pPr marL="0" indent="0">
              <a:buNone/>
            </a:pPr>
            <a:endParaRPr lang="en-IN" dirty="0"/>
          </a:p>
        </p:txBody>
      </p:sp>
    </p:spTree>
    <p:extLst>
      <p:ext uri="{BB962C8B-B14F-4D97-AF65-F5344CB8AC3E}">
        <p14:creationId xmlns:p14="http://schemas.microsoft.com/office/powerpoint/2010/main" val="11467658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07C6DD-3A9B-9BCA-1C70-DE153D82C181}"/>
              </a:ext>
            </a:extLst>
          </p:cNvPr>
          <p:cNvSpPr>
            <a:spLocks noGrp="1"/>
          </p:cNvSpPr>
          <p:nvPr>
            <p:ph idx="1"/>
          </p:nvPr>
        </p:nvSpPr>
        <p:spPr>
          <a:xfrm>
            <a:off x="838200" y="634482"/>
            <a:ext cx="10515600" cy="5542481"/>
          </a:xfrm>
        </p:spPr>
        <p:txBody>
          <a:bodyPr>
            <a:normAutofit/>
          </a:bodyPr>
          <a:lstStyle/>
          <a:p>
            <a:pPr marL="0" indent="0">
              <a:buNone/>
            </a:pPr>
            <a:r>
              <a:rPr lang="en-IN" dirty="0"/>
              <a:t>Syntax  for SQL</a:t>
            </a:r>
          </a:p>
          <a:p>
            <a:pPr marL="514350" indent="-514350">
              <a:lnSpc>
                <a:spcPct val="150000"/>
              </a:lnSpc>
              <a:buFont typeface="+mj-lt"/>
              <a:buAutoNum type="arabicPeriod"/>
            </a:pPr>
            <a:r>
              <a:rPr lang="en-IN" dirty="0"/>
              <a:t> CREATE DATABASE DATABASE NAME;</a:t>
            </a:r>
          </a:p>
          <a:p>
            <a:pPr marL="514350" indent="-514350">
              <a:lnSpc>
                <a:spcPct val="150000"/>
              </a:lnSpc>
              <a:buFont typeface="+mj-lt"/>
              <a:buAutoNum type="arabicPeriod"/>
            </a:pPr>
            <a:r>
              <a:rPr lang="en-IN" dirty="0"/>
              <a:t> CREATE TABLE TABLENAME(ID INT,NAME VARCHAR(25),MARK INT);</a:t>
            </a:r>
          </a:p>
          <a:p>
            <a:pPr marL="514350" indent="-514350">
              <a:lnSpc>
                <a:spcPct val="150000"/>
              </a:lnSpc>
              <a:buFont typeface="+mj-lt"/>
              <a:buAutoNum type="arabicPeriod"/>
            </a:pPr>
            <a:r>
              <a:rPr lang="en-IN" dirty="0"/>
              <a:t> INSERT INTO (TABLE NAME) VALUES(12,”KOKILA”,100);</a:t>
            </a:r>
          </a:p>
          <a:p>
            <a:pPr marL="514350" indent="-514350">
              <a:lnSpc>
                <a:spcPct val="150000"/>
              </a:lnSpc>
              <a:buFont typeface="+mj-lt"/>
              <a:buAutoNum type="arabicPeriod"/>
            </a:pPr>
            <a:r>
              <a:rPr lang="en-IN" dirty="0"/>
              <a:t> DELETE FROM (TABLE NAME) WHERE  ID=12;</a:t>
            </a:r>
          </a:p>
          <a:p>
            <a:pPr marL="514350" indent="-514350">
              <a:lnSpc>
                <a:spcPct val="150000"/>
              </a:lnSpc>
              <a:buFont typeface="+mj-lt"/>
              <a:buAutoNum type="arabicPeriod"/>
            </a:pPr>
            <a:r>
              <a:rPr lang="en-IN" dirty="0"/>
              <a:t> UPDATE (TABLE NAME</a:t>
            </a:r>
            <a:r>
              <a:rPr lang="en-IN"/>
              <a:t>) SET </a:t>
            </a:r>
            <a:r>
              <a:rPr lang="en-IN" dirty="0"/>
              <a:t>NAME=“”,MARK=“”,WHERE ID=12;</a:t>
            </a:r>
          </a:p>
          <a:p>
            <a:pPr marL="514350" indent="-514350">
              <a:lnSpc>
                <a:spcPct val="150000"/>
              </a:lnSpc>
              <a:buFont typeface="+mj-lt"/>
              <a:buAutoNum type="arabicPeriod"/>
            </a:pPr>
            <a:endParaRPr lang="en-IN" dirty="0"/>
          </a:p>
          <a:p>
            <a:pPr marL="0" indent="0">
              <a:buNone/>
            </a:pPr>
            <a:endParaRPr lang="en-IN" dirty="0"/>
          </a:p>
          <a:p>
            <a:endParaRPr lang="en-IN" dirty="0"/>
          </a:p>
        </p:txBody>
      </p:sp>
    </p:spTree>
    <p:extLst>
      <p:ext uri="{BB962C8B-B14F-4D97-AF65-F5344CB8AC3E}">
        <p14:creationId xmlns:p14="http://schemas.microsoft.com/office/powerpoint/2010/main" val="331127850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4E4D0-561C-9DA2-D9EC-A16088CAD0D3}"/>
              </a:ext>
            </a:extLst>
          </p:cNvPr>
          <p:cNvSpPr>
            <a:spLocks noGrp="1"/>
          </p:cNvSpPr>
          <p:nvPr>
            <p:ph idx="1"/>
          </p:nvPr>
        </p:nvSpPr>
        <p:spPr>
          <a:xfrm>
            <a:off x="597159" y="522514"/>
            <a:ext cx="10756641" cy="5654449"/>
          </a:xfrm>
        </p:spPr>
        <p:txBody>
          <a:bodyPr/>
          <a:lstStyle/>
          <a:p>
            <a:pPr marL="0" indent="0">
              <a:buNone/>
            </a:pPr>
            <a:r>
              <a:rPr lang="en-IN" dirty="0"/>
              <a:t>6.   TO VIEW THE TABLE</a:t>
            </a:r>
          </a:p>
          <a:p>
            <a:pPr marL="0" indent="0">
              <a:buNone/>
            </a:pPr>
            <a:r>
              <a:rPr lang="en-IN" dirty="0"/>
              <a:t>        SELECT * FROM(TABLE NAME);</a:t>
            </a:r>
          </a:p>
          <a:p>
            <a:pPr marL="514350" indent="-514350">
              <a:buAutoNum type="arabicPeriod" startAt="7"/>
            </a:pPr>
            <a:r>
              <a:rPr lang="en-IN" dirty="0"/>
              <a:t>TO ACCESS COLOUM  WISE</a:t>
            </a:r>
          </a:p>
          <a:p>
            <a:pPr marL="0" indent="0">
              <a:buNone/>
            </a:pPr>
            <a:r>
              <a:rPr lang="en-IN" dirty="0"/>
              <a:t>       SELECT NAME FROM (TABLE NAME);</a:t>
            </a:r>
          </a:p>
          <a:p>
            <a:pPr marL="0" indent="0">
              <a:buNone/>
            </a:pPr>
            <a:r>
              <a:rPr lang="en-IN" dirty="0"/>
              <a:t>8.   TO ACCESS ROW WISE</a:t>
            </a:r>
          </a:p>
          <a:p>
            <a:pPr marL="0" indent="0">
              <a:buNone/>
            </a:pPr>
            <a:r>
              <a:rPr lang="en-IN" dirty="0"/>
              <a:t>       </a:t>
            </a:r>
            <a:r>
              <a:rPr lang="en-US" dirty="0"/>
              <a:t>SELECT </a:t>
            </a:r>
            <a:r>
              <a:rPr lang="en-US" i="0" dirty="0">
                <a:effectLst/>
              </a:rPr>
              <a:t> * FROM (TABLE NAME) WHERE NAME ="SASIKUMAR";</a:t>
            </a:r>
          </a:p>
          <a:p>
            <a:pPr marL="0" indent="0">
              <a:buNone/>
            </a:pPr>
            <a:r>
              <a:rPr lang="en-US" dirty="0"/>
              <a:t>9.    TO DELETE COLUMN</a:t>
            </a:r>
          </a:p>
          <a:p>
            <a:pPr marL="0" indent="0">
              <a:buNone/>
            </a:pPr>
            <a:r>
              <a:rPr lang="en-US" dirty="0"/>
              <a:t>        ALTER  TABLE  (TABLENAME) DROP COLUMN COLUMN NAME ;</a:t>
            </a:r>
          </a:p>
          <a:p>
            <a:pPr marL="514350" indent="-514350">
              <a:buAutoNum type="arabicPeriod" startAt="10"/>
            </a:pPr>
            <a:r>
              <a:rPr lang="en-US" i="0" dirty="0">
                <a:effectLst/>
              </a:rPr>
              <a:t>TO ADD COLUMN</a:t>
            </a:r>
          </a:p>
          <a:p>
            <a:pPr marL="0" indent="0">
              <a:buNone/>
            </a:pPr>
            <a:r>
              <a:rPr lang="en-US" dirty="0"/>
              <a:t>         ALTER  TABLE  (TABLENAME) ADD COLUMN COLUMN NAME ;</a:t>
            </a:r>
            <a:endParaRPr lang="en-US" i="0" dirty="0">
              <a:effectLst/>
            </a:endParaRPr>
          </a:p>
          <a:p>
            <a:endParaRPr lang="en-IN" dirty="0"/>
          </a:p>
        </p:txBody>
      </p:sp>
    </p:spTree>
    <p:extLst>
      <p:ext uri="{BB962C8B-B14F-4D97-AF65-F5344CB8AC3E}">
        <p14:creationId xmlns:p14="http://schemas.microsoft.com/office/powerpoint/2010/main" val="372981313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7C6CDF-6A1C-9349-3DFA-8259E8F78CB9}"/>
              </a:ext>
            </a:extLst>
          </p:cNvPr>
          <p:cNvSpPr>
            <a:spLocks noGrp="1"/>
          </p:cNvSpPr>
          <p:nvPr>
            <p:ph idx="1"/>
          </p:nvPr>
        </p:nvSpPr>
        <p:spPr>
          <a:xfrm>
            <a:off x="838200" y="634482"/>
            <a:ext cx="10515600" cy="5542481"/>
          </a:xfrm>
        </p:spPr>
        <p:txBody>
          <a:bodyPr/>
          <a:lstStyle/>
          <a:p>
            <a:pPr marL="0" indent="0">
              <a:buNone/>
            </a:pPr>
            <a:r>
              <a:rPr lang="en-IN" b="1" i="0" dirty="0">
                <a:solidFill>
                  <a:srgbClr val="7030A0"/>
                </a:solidFill>
                <a:effectLst/>
              </a:rPr>
              <a:t>Connection interface</a:t>
            </a:r>
          </a:p>
          <a:p>
            <a:pPr>
              <a:lnSpc>
                <a:spcPct val="150000"/>
              </a:lnSpc>
            </a:pPr>
            <a:r>
              <a:rPr lang="en-US" b="0" i="0" dirty="0">
                <a:solidFill>
                  <a:srgbClr val="333333"/>
                </a:solidFill>
                <a:effectLst/>
              </a:rPr>
              <a:t>A Connection is a session between a Java application and a database. </a:t>
            </a:r>
            <a:r>
              <a:rPr lang="en-US" b="0" i="0" dirty="0">
                <a:solidFill>
                  <a:srgbClr val="7030A0"/>
                </a:solidFill>
                <a:effectLst/>
              </a:rPr>
              <a:t>It helps to establish a connection with the database.</a:t>
            </a:r>
          </a:p>
          <a:p>
            <a:pPr>
              <a:lnSpc>
                <a:spcPct val="150000"/>
              </a:lnSpc>
            </a:pPr>
            <a:r>
              <a:rPr lang="en-US" b="0" i="0" dirty="0">
                <a:solidFill>
                  <a:srgbClr val="333333"/>
                </a:solidFill>
                <a:effectLst/>
              </a:rPr>
              <a:t>The Connection interface is a factory of Statement, PreparedStatement</a:t>
            </a:r>
            <a:r>
              <a:rPr lang="en-US" dirty="0">
                <a:solidFill>
                  <a:srgbClr val="333333"/>
                </a:solidFill>
              </a:rPr>
              <a:t>.</a:t>
            </a:r>
            <a:endParaRPr lang="en-IN" dirty="0"/>
          </a:p>
        </p:txBody>
      </p:sp>
    </p:spTree>
    <p:extLst>
      <p:ext uri="{BB962C8B-B14F-4D97-AF65-F5344CB8AC3E}">
        <p14:creationId xmlns:p14="http://schemas.microsoft.com/office/powerpoint/2010/main" val="346078230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B180A-A898-1FC6-9618-01F8CC0C0B96}"/>
              </a:ext>
            </a:extLst>
          </p:cNvPr>
          <p:cNvSpPr>
            <a:spLocks noGrp="1"/>
          </p:cNvSpPr>
          <p:nvPr>
            <p:ph idx="1"/>
          </p:nvPr>
        </p:nvSpPr>
        <p:spPr>
          <a:xfrm>
            <a:off x="838200" y="597159"/>
            <a:ext cx="10515600" cy="5579804"/>
          </a:xfrm>
        </p:spPr>
        <p:txBody>
          <a:bodyPr/>
          <a:lstStyle/>
          <a:p>
            <a:pPr marL="0" indent="0">
              <a:lnSpc>
                <a:spcPct val="150000"/>
              </a:lnSpc>
              <a:buNone/>
            </a:pPr>
            <a:r>
              <a:rPr lang="en-IN" b="1" i="0" dirty="0">
                <a:solidFill>
                  <a:srgbClr val="7030A0"/>
                </a:solidFill>
                <a:effectLst/>
              </a:rPr>
              <a:t>DriverManager</a:t>
            </a:r>
          </a:p>
          <a:p>
            <a:pPr>
              <a:lnSpc>
                <a:spcPct val="150000"/>
              </a:lnSpc>
            </a:pPr>
            <a:r>
              <a:rPr lang="en-US" b="0" i="0" dirty="0">
                <a:solidFill>
                  <a:srgbClr val="333333"/>
                </a:solidFill>
                <a:effectLst/>
              </a:rPr>
              <a:t> The DriverManager class is the component of JDBC API and also a member of the</a:t>
            </a:r>
            <a:r>
              <a:rPr lang="en-US" b="0" i="1" dirty="0">
                <a:solidFill>
                  <a:srgbClr val="333333"/>
                </a:solidFill>
                <a:effectLst/>
              </a:rPr>
              <a:t> </a:t>
            </a:r>
            <a:r>
              <a:rPr lang="en-US" b="0" i="1" dirty="0">
                <a:solidFill>
                  <a:srgbClr val="7030A0"/>
                </a:solidFill>
                <a:effectLst/>
              </a:rPr>
              <a:t>java.sql </a:t>
            </a:r>
            <a:r>
              <a:rPr lang="en-US" b="0" i="0" dirty="0">
                <a:solidFill>
                  <a:srgbClr val="7030A0"/>
                </a:solidFill>
                <a:effectLst/>
              </a:rPr>
              <a:t>package. </a:t>
            </a:r>
          </a:p>
          <a:p>
            <a:pPr>
              <a:lnSpc>
                <a:spcPct val="150000"/>
              </a:lnSpc>
            </a:pPr>
            <a:r>
              <a:rPr lang="en-US" b="0" i="0" dirty="0">
                <a:solidFill>
                  <a:srgbClr val="333333"/>
                </a:solidFill>
                <a:effectLst/>
              </a:rPr>
              <a:t>The DriverManager class acts as an </a:t>
            </a:r>
            <a:r>
              <a:rPr lang="en-US" b="0" i="0" dirty="0">
                <a:solidFill>
                  <a:srgbClr val="7030A0"/>
                </a:solidFill>
                <a:effectLst/>
              </a:rPr>
              <a:t>interface between users and drivers.</a:t>
            </a:r>
            <a:endParaRPr lang="en-IN" dirty="0">
              <a:solidFill>
                <a:srgbClr val="7030A0"/>
              </a:solidFill>
            </a:endParaRPr>
          </a:p>
        </p:txBody>
      </p:sp>
    </p:spTree>
    <p:extLst>
      <p:ext uri="{BB962C8B-B14F-4D97-AF65-F5344CB8AC3E}">
        <p14:creationId xmlns:p14="http://schemas.microsoft.com/office/powerpoint/2010/main" val="156895446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4C37A-2D35-D52F-54CD-D2DFD2B15792}"/>
              </a:ext>
            </a:extLst>
          </p:cNvPr>
          <p:cNvSpPr>
            <a:spLocks noGrp="1"/>
          </p:cNvSpPr>
          <p:nvPr>
            <p:ph idx="1"/>
          </p:nvPr>
        </p:nvSpPr>
        <p:spPr>
          <a:xfrm>
            <a:off x="838200" y="550506"/>
            <a:ext cx="10515600" cy="5626457"/>
          </a:xfrm>
        </p:spPr>
        <p:txBody>
          <a:bodyPr/>
          <a:lstStyle/>
          <a:p>
            <a:pPr marL="0" indent="0">
              <a:buNone/>
            </a:pPr>
            <a:r>
              <a:rPr lang="en-IN" b="0" i="0" dirty="0">
                <a:solidFill>
                  <a:srgbClr val="202124"/>
                </a:solidFill>
                <a:effectLst/>
              </a:rPr>
              <a:t> </a:t>
            </a:r>
            <a:r>
              <a:rPr lang="en-IN" b="1" i="0" dirty="0">
                <a:solidFill>
                  <a:srgbClr val="7030A0"/>
                </a:solidFill>
                <a:effectLst/>
              </a:rPr>
              <a:t>PreparedStatement </a:t>
            </a:r>
            <a:endParaRPr lang="en-US" b="1" i="0" dirty="0">
              <a:solidFill>
                <a:srgbClr val="7030A0"/>
              </a:solidFill>
              <a:effectLst/>
            </a:endParaRPr>
          </a:p>
          <a:p>
            <a:pPr>
              <a:lnSpc>
                <a:spcPct val="150000"/>
              </a:lnSpc>
            </a:pPr>
            <a:r>
              <a:rPr lang="en-US" b="0" i="0" dirty="0">
                <a:solidFill>
                  <a:srgbClr val="040C28"/>
                </a:solidFill>
                <a:effectLst/>
              </a:rPr>
              <a:t>An object that represents a precompiled SQL statement</a:t>
            </a:r>
            <a:r>
              <a:rPr lang="en-US" b="0" i="0" dirty="0">
                <a:solidFill>
                  <a:srgbClr val="202124"/>
                </a:solidFill>
                <a:effectLst/>
              </a:rPr>
              <a:t>.</a:t>
            </a:r>
          </a:p>
          <a:p>
            <a:pPr>
              <a:lnSpc>
                <a:spcPct val="150000"/>
              </a:lnSpc>
            </a:pPr>
            <a:r>
              <a:rPr lang="en-US" b="0" i="0" dirty="0">
                <a:solidFill>
                  <a:srgbClr val="202124"/>
                </a:solidFill>
                <a:effectLst/>
              </a:rPr>
              <a:t> A SQL statement is precompiled and stored in a PreparedStatement object.</a:t>
            </a:r>
          </a:p>
          <a:p>
            <a:pPr>
              <a:lnSpc>
                <a:spcPct val="150000"/>
              </a:lnSpc>
            </a:pPr>
            <a:r>
              <a:rPr lang="en-US" b="0" i="0" dirty="0">
                <a:solidFill>
                  <a:srgbClr val="202124"/>
                </a:solidFill>
                <a:effectLst/>
              </a:rPr>
              <a:t> This object can then be used to efficiently execute this statement multiple times.</a:t>
            </a:r>
            <a:endParaRPr lang="en-IN" dirty="0"/>
          </a:p>
        </p:txBody>
      </p:sp>
    </p:spTree>
    <p:extLst>
      <p:ext uri="{BB962C8B-B14F-4D97-AF65-F5344CB8AC3E}">
        <p14:creationId xmlns:p14="http://schemas.microsoft.com/office/powerpoint/2010/main" val="269123175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E809FB-FC31-4C43-D2E7-C8F27AB48D4A}"/>
              </a:ext>
            </a:extLst>
          </p:cNvPr>
          <p:cNvSpPr>
            <a:spLocks noGrp="1"/>
          </p:cNvSpPr>
          <p:nvPr>
            <p:ph idx="1"/>
          </p:nvPr>
        </p:nvSpPr>
        <p:spPr>
          <a:xfrm>
            <a:off x="838200" y="363894"/>
            <a:ext cx="10515600" cy="5813069"/>
          </a:xfrm>
        </p:spPr>
        <p:txBody>
          <a:bodyPr>
            <a:normAutofit lnSpcReduction="10000"/>
          </a:bodyPr>
          <a:lstStyle/>
          <a:p>
            <a:pPr marL="0" indent="0">
              <a:buNone/>
            </a:pPr>
            <a:r>
              <a:rPr lang="en-IN" sz="1800" dirty="0">
                <a:solidFill>
                  <a:srgbClr val="000000"/>
                </a:solidFill>
                <a:effectLst/>
              </a:rPr>
              <a:t>String </a:t>
            </a:r>
            <a:r>
              <a:rPr lang="en-IN" sz="1800" dirty="0" err="1">
                <a:solidFill>
                  <a:srgbClr val="6A3E3E"/>
                </a:solidFill>
                <a:effectLst/>
              </a:rPr>
              <a:t>url</a:t>
            </a:r>
            <a:r>
              <a:rPr lang="en-IN" sz="1800" dirty="0">
                <a:solidFill>
                  <a:srgbClr val="000000"/>
                </a:solidFill>
                <a:effectLst/>
              </a:rPr>
              <a:t>=</a:t>
            </a:r>
            <a:r>
              <a:rPr lang="en-IN" sz="1800" dirty="0">
                <a:solidFill>
                  <a:srgbClr val="2A00FF"/>
                </a:solidFill>
                <a:effectLst/>
              </a:rPr>
              <a:t>"</a:t>
            </a:r>
            <a:r>
              <a:rPr lang="en-IN" sz="1800" dirty="0" err="1">
                <a:solidFill>
                  <a:srgbClr val="2A00FF"/>
                </a:solidFill>
                <a:effectLst/>
              </a:rPr>
              <a:t>jdbc:mysql</a:t>
            </a:r>
            <a:r>
              <a:rPr lang="en-IN" sz="1800" dirty="0">
                <a:solidFill>
                  <a:srgbClr val="2A00FF"/>
                </a:solidFill>
                <a:effectLst/>
              </a:rPr>
              <a:t>://localhost/</a:t>
            </a:r>
            <a:r>
              <a:rPr lang="en-IN" sz="1800" dirty="0" err="1">
                <a:solidFill>
                  <a:srgbClr val="2A00FF"/>
                </a:solidFill>
                <a:effectLst/>
              </a:rPr>
              <a:t>swing_demo</a:t>
            </a:r>
            <a:r>
              <a:rPr lang="en-IN" sz="1800" dirty="0">
                <a:solidFill>
                  <a:srgbClr val="2A00FF"/>
                </a:solidFill>
                <a:effectLst/>
              </a:rPr>
              <a:t>"</a:t>
            </a:r>
            <a:r>
              <a:rPr lang="en-IN" sz="1800" dirty="0">
                <a:solidFill>
                  <a:srgbClr val="000000"/>
                </a:solidFill>
                <a:effectLst/>
              </a:rPr>
              <a:t>;</a:t>
            </a:r>
          </a:p>
          <a:p>
            <a:pPr marL="0" indent="0">
              <a:buNone/>
            </a:pPr>
            <a:r>
              <a:rPr lang="en-IN" sz="1800" dirty="0">
                <a:solidFill>
                  <a:srgbClr val="000000"/>
                </a:solidFill>
                <a:effectLst/>
              </a:rPr>
              <a:t>String </a:t>
            </a:r>
            <a:r>
              <a:rPr lang="en-IN" sz="1800" dirty="0">
                <a:solidFill>
                  <a:srgbClr val="6A3E3E"/>
                </a:solidFill>
                <a:effectLst/>
              </a:rPr>
              <a:t>user</a:t>
            </a:r>
            <a:r>
              <a:rPr lang="en-IN" sz="1800" dirty="0">
                <a:solidFill>
                  <a:srgbClr val="000000"/>
                </a:solidFill>
                <a:effectLst/>
              </a:rPr>
              <a:t>=</a:t>
            </a:r>
            <a:r>
              <a:rPr lang="en-IN" sz="1800" dirty="0">
                <a:solidFill>
                  <a:srgbClr val="2A00FF"/>
                </a:solidFill>
                <a:effectLst/>
              </a:rPr>
              <a:t>"root"</a:t>
            </a:r>
            <a:r>
              <a:rPr lang="en-IN" sz="1800" dirty="0">
                <a:solidFill>
                  <a:srgbClr val="000000"/>
                </a:solidFill>
                <a:effectLst/>
              </a:rPr>
              <a:t>;</a:t>
            </a:r>
          </a:p>
          <a:p>
            <a:pPr marL="0" indent="0">
              <a:buNone/>
            </a:pPr>
            <a:r>
              <a:rPr lang="en-IN" sz="1800" dirty="0">
                <a:solidFill>
                  <a:srgbClr val="000000"/>
                </a:solidFill>
                <a:effectLst/>
              </a:rPr>
              <a:t>String </a:t>
            </a:r>
            <a:r>
              <a:rPr lang="en-IN" sz="1800" dirty="0">
                <a:solidFill>
                  <a:srgbClr val="6A3E3E"/>
                </a:solidFill>
                <a:effectLst/>
              </a:rPr>
              <a:t>password</a:t>
            </a:r>
            <a:r>
              <a:rPr lang="en-IN" sz="1800" dirty="0">
                <a:solidFill>
                  <a:srgbClr val="000000"/>
                </a:solidFill>
                <a:effectLst/>
              </a:rPr>
              <a:t>=</a:t>
            </a:r>
            <a:r>
              <a:rPr lang="en-IN" sz="1800" dirty="0">
                <a:solidFill>
                  <a:srgbClr val="2A00FF"/>
                </a:solidFill>
                <a:effectLst/>
              </a:rPr>
              <a:t>""</a:t>
            </a:r>
            <a:r>
              <a:rPr lang="en-IN" sz="1800" dirty="0">
                <a:solidFill>
                  <a:srgbClr val="000000"/>
                </a:solidFill>
                <a:effectLst/>
              </a:rPr>
              <a:t>;</a:t>
            </a:r>
          </a:p>
          <a:p>
            <a:pPr marL="0" indent="0">
              <a:buNone/>
            </a:pPr>
            <a:r>
              <a:rPr lang="en-IN" sz="1800" b="1" dirty="0">
                <a:solidFill>
                  <a:srgbClr val="7F0055"/>
                </a:solidFill>
                <a:effectLst/>
              </a:rPr>
              <a:t>try</a:t>
            </a:r>
            <a:r>
              <a:rPr lang="en-IN" sz="1800" dirty="0">
                <a:solidFill>
                  <a:srgbClr val="000000"/>
                </a:solidFill>
                <a:effectLst/>
              </a:rPr>
              <a:t> {</a:t>
            </a:r>
          </a:p>
          <a:p>
            <a:pPr marL="0" indent="0">
              <a:buNone/>
            </a:pPr>
            <a:r>
              <a:rPr lang="en-IN" sz="1800" dirty="0">
                <a:solidFill>
                  <a:srgbClr val="000000"/>
                </a:solidFill>
                <a:effectLst/>
              </a:rPr>
              <a:t>Connection </a:t>
            </a:r>
            <a:r>
              <a:rPr lang="en-IN" sz="1800" dirty="0">
                <a:solidFill>
                  <a:srgbClr val="6A3E3E"/>
                </a:solidFill>
                <a:effectLst/>
              </a:rPr>
              <a:t>c</a:t>
            </a:r>
            <a:r>
              <a:rPr lang="en-IN" sz="1800" dirty="0">
                <a:solidFill>
                  <a:srgbClr val="000000"/>
                </a:solidFill>
                <a:effectLst/>
              </a:rPr>
              <a:t>=</a:t>
            </a:r>
            <a:r>
              <a:rPr lang="en-IN" sz="1800" dirty="0" err="1">
                <a:solidFill>
                  <a:srgbClr val="000000"/>
                </a:solidFill>
                <a:effectLst/>
              </a:rPr>
              <a:t>DriverManager.</a:t>
            </a:r>
            <a:r>
              <a:rPr lang="en-IN" sz="1800" i="1" dirty="0" err="1">
                <a:solidFill>
                  <a:srgbClr val="000000"/>
                </a:solidFill>
                <a:effectLst/>
              </a:rPr>
              <a:t>getConnection</a:t>
            </a:r>
            <a:r>
              <a:rPr lang="en-IN" sz="1800" dirty="0">
                <a:solidFill>
                  <a:srgbClr val="000000"/>
                </a:solidFill>
                <a:effectLst/>
              </a:rPr>
              <a:t>(</a:t>
            </a:r>
            <a:r>
              <a:rPr lang="en-IN" sz="1800" dirty="0" err="1">
                <a:solidFill>
                  <a:srgbClr val="6A3E3E"/>
                </a:solidFill>
                <a:effectLst/>
              </a:rPr>
              <a:t>url</a:t>
            </a:r>
            <a:r>
              <a:rPr lang="en-IN" sz="1800" dirty="0" err="1">
                <a:solidFill>
                  <a:srgbClr val="000000"/>
                </a:solidFill>
                <a:effectLst/>
              </a:rPr>
              <a:t>,</a:t>
            </a:r>
            <a:r>
              <a:rPr lang="en-IN" sz="1800" dirty="0" err="1">
                <a:solidFill>
                  <a:srgbClr val="6A3E3E"/>
                </a:solidFill>
                <a:effectLst/>
              </a:rPr>
              <a:t>user</a:t>
            </a:r>
            <a:r>
              <a:rPr lang="en-IN" sz="1800" dirty="0" err="1">
                <a:solidFill>
                  <a:srgbClr val="000000"/>
                </a:solidFill>
                <a:effectLst/>
              </a:rPr>
              <a:t>,</a:t>
            </a:r>
            <a:r>
              <a:rPr lang="en-IN" sz="1800" dirty="0" err="1">
                <a:solidFill>
                  <a:srgbClr val="6A3E3E"/>
                </a:solidFill>
                <a:effectLst/>
              </a:rPr>
              <a:t>password</a:t>
            </a:r>
            <a:r>
              <a:rPr lang="en-IN" sz="1800" dirty="0">
                <a:solidFill>
                  <a:srgbClr val="000000"/>
                </a:solidFill>
                <a:effectLst/>
              </a:rPr>
              <a:t>);</a:t>
            </a:r>
          </a:p>
          <a:p>
            <a:pPr marL="0" indent="0">
              <a:buNone/>
            </a:pPr>
            <a:r>
              <a:rPr lang="en-IN" sz="1800" dirty="0">
                <a:solidFill>
                  <a:srgbClr val="000000"/>
                </a:solidFill>
                <a:effectLst/>
              </a:rPr>
              <a:t>PreparedStatement </a:t>
            </a:r>
            <a:r>
              <a:rPr lang="en-IN" sz="1800" dirty="0" err="1">
                <a:solidFill>
                  <a:srgbClr val="6A3E3E"/>
                </a:solidFill>
                <a:effectLst/>
              </a:rPr>
              <a:t>ps</a:t>
            </a:r>
            <a:r>
              <a:rPr lang="en-IN" sz="1800" dirty="0">
                <a:solidFill>
                  <a:srgbClr val="000000"/>
                </a:solidFill>
                <a:effectLst/>
              </a:rPr>
              <a:t>= </a:t>
            </a:r>
            <a:r>
              <a:rPr lang="en-IN" sz="1800" dirty="0" err="1">
                <a:solidFill>
                  <a:srgbClr val="6A3E3E"/>
                </a:solidFill>
                <a:effectLst/>
              </a:rPr>
              <a:t>c</a:t>
            </a:r>
            <a:r>
              <a:rPr lang="en-IN" sz="1800" dirty="0" err="1">
                <a:solidFill>
                  <a:srgbClr val="000000"/>
                </a:solidFill>
                <a:effectLst/>
              </a:rPr>
              <a:t>.prepareStatement</a:t>
            </a:r>
            <a:r>
              <a:rPr lang="en-IN" sz="1800" dirty="0">
                <a:solidFill>
                  <a:srgbClr val="000000"/>
                </a:solidFill>
                <a:effectLst/>
              </a:rPr>
              <a:t>(</a:t>
            </a:r>
            <a:r>
              <a:rPr lang="en-IN" sz="1800" dirty="0">
                <a:solidFill>
                  <a:srgbClr val="2A00FF"/>
                </a:solidFill>
                <a:effectLst/>
              </a:rPr>
              <a:t>"Insert into student values(?,?,?)"</a:t>
            </a:r>
            <a:r>
              <a:rPr lang="en-IN" sz="1800" dirty="0">
                <a:solidFill>
                  <a:srgbClr val="000000"/>
                </a:solidFill>
                <a:effectLst/>
              </a:rPr>
              <a:t>);</a:t>
            </a:r>
          </a:p>
          <a:p>
            <a:pPr marL="0" indent="0">
              <a:buNone/>
            </a:pPr>
            <a:r>
              <a:rPr lang="en-IN" sz="1800" dirty="0" err="1">
                <a:solidFill>
                  <a:srgbClr val="6A3E3E"/>
                </a:solidFill>
                <a:effectLst/>
              </a:rPr>
              <a:t>ps</a:t>
            </a:r>
            <a:r>
              <a:rPr lang="en-IN" sz="1800" dirty="0" err="1">
                <a:solidFill>
                  <a:srgbClr val="000000"/>
                </a:solidFill>
                <a:effectLst/>
              </a:rPr>
              <a:t>.setInt</a:t>
            </a:r>
            <a:r>
              <a:rPr lang="en-IN" sz="1800" dirty="0">
                <a:solidFill>
                  <a:srgbClr val="000000"/>
                </a:solidFill>
                <a:effectLst/>
              </a:rPr>
              <a:t>(1, 1);</a:t>
            </a:r>
          </a:p>
          <a:p>
            <a:pPr marL="0" indent="0">
              <a:buNone/>
            </a:pPr>
            <a:r>
              <a:rPr lang="en-IN" sz="1800" dirty="0" err="1">
                <a:solidFill>
                  <a:srgbClr val="6A3E3E"/>
                </a:solidFill>
                <a:effectLst/>
              </a:rPr>
              <a:t>ps</a:t>
            </a:r>
            <a:r>
              <a:rPr lang="en-IN" sz="1800" dirty="0" err="1">
                <a:solidFill>
                  <a:srgbClr val="000000"/>
                </a:solidFill>
                <a:effectLst/>
              </a:rPr>
              <a:t>.setString</a:t>
            </a:r>
            <a:r>
              <a:rPr lang="en-IN" sz="1800" dirty="0">
                <a:solidFill>
                  <a:srgbClr val="000000"/>
                </a:solidFill>
                <a:effectLst/>
              </a:rPr>
              <a:t>(2,</a:t>
            </a:r>
            <a:r>
              <a:rPr lang="en-IN" sz="1800" dirty="0">
                <a:solidFill>
                  <a:srgbClr val="2A00FF"/>
                </a:solidFill>
                <a:effectLst/>
              </a:rPr>
              <a:t>"kokila"</a:t>
            </a:r>
            <a:r>
              <a:rPr lang="en-IN" sz="1800" dirty="0">
                <a:solidFill>
                  <a:srgbClr val="000000"/>
                </a:solidFill>
                <a:effectLst/>
              </a:rPr>
              <a:t>);</a:t>
            </a:r>
          </a:p>
          <a:p>
            <a:pPr marL="0" indent="0">
              <a:buNone/>
            </a:pPr>
            <a:r>
              <a:rPr lang="en-IN" sz="1800" dirty="0" err="1">
                <a:solidFill>
                  <a:srgbClr val="6A3E3E"/>
                </a:solidFill>
                <a:effectLst/>
              </a:rPr>
              <a:t>ps</a:t>
            </a:r>
            <a:r>
              <a:rPr lang="en-IN" sz="1800" dirty="0" err="1">
                <a:solidFill>
                  <a:srgbClr val="000000"/>
                </a:solidFill>
                <a:effectLst/>
              </a:rPr>
              <a:t>.setString</a:t>
            </a:r>
            <a:r>
              <a:rPr lang="en-IN" sz="1800" dirty="0">
                <a:solidFill>
                  <a:srgbClr val="000000"/>
                </a:solidFill>
                <a:effectLst/>
              </a:rPr>
              <a:t>(3, </a:t>
            </a:r>
            <a:r>
              <a:rPr lang="en-IN" sz="1800" dirty="0">
                <a:solidFill>
                  <a:srgbClr val="2A00FF"/>
                </a:solidFill>
                <a:effectLst/>
              </a:rPr>
              <a:t>"12364597"</a:t>
            </a:r>
            <a:r>
              <a:rPr lang="en-IN" sz="1800" dirty="0">
                <a:solidFill>
                  <a:srgbClr val="000000"/>
                </a:solidFill>
                <a:effectLst/>
              </a:rPr>
              <a:t>);</a:t>
            </a:r>
          </a:p>
          <a:p>
            <a:pPr marL="0" indent="0">
              <a:buNone/>
            </a:pPr>
            <a:r>
              <a:rPr lang="en-IN" sz="1800" dirty="0">
                <a:solidFill>
                  <a:srgbClr val="3F7F5F"/>
                </a:solidFill>
                <a:effectLst/>
              </a:rPr>
              <a:t>//</a:t>
            </a:r>
            <a:r>
              <a:rPr lang="en-IN" sz="1800" dirty="0" err="1">
                <a:solidFill>
                  <a:srgbClr val="3F7F5F"/>
                </a:solidFill>
                <a:effectLst/>
              </a:rPr>
              <a:t>ps.setInt</a:t>
            </a:r>
            <a:r>
              <a:rPr lang="en-IN" sz="1800" dirty="0">
                <a:solidFill>
                  <a:srgbClr val="3F7F5F"/>
                </a:solidFill>
                <a:effectLst/>
              </a:rPr>
              <a:t>(1, 7);</a:t>
            </a:r>
            <a:endParaRPr lang="en-IN" sz="1800" dirty="0">
              <a:solidFill>
                <a:srgbClr val="000000"/>
              </a:solidFill>
              <a:effectLst/>
            </a:endParaRPr>
          </a:p>
          <a:p>
            <a:pPr marL="0" indent="0">
              <a:buNone/>
            </a:pPr>
            <a:r>
              <a:rPr lang="en-IN" sz="1800" dirty="0" err="1">
                <a:solidFill>
                  <a:srgbClr val="6A3E3E"/>
                </a:solidFill>
                <a:effectLst/>
              </a:rPr>
              <a:t>ps</a:t>
            </a:r>
            <a:r>
              <a:rPr lang="en-IN" sz="1800" dirty="0" err="1">
                <a:solidFill>
                  <a:srgbClr val="000000"/>
                </a:solidFill>
                <a:effectLst/>
              </a:rPr>
              <a:t>.execute</a:t>
            </a:r>
            <a:r>
              <a:rPr lang="en-IN" sz="1800" dirty="0">
                <a:solidFill>
                  <a:srgbClr val="000000"/>
                </a:solidFill>
                <a:effectLst/>
              </a:rPr>
              <a:t>();</a:t>
            </a:r>
          </a:p>
          <a:p>
            <a:pPr marL="0" indent="0">
              <a:buNone/>
            </a:pPr>
            <a:r>
              <a:rPr lang="en-IN" sz="1800" dirty="0" err="1">
                <a:solidFill>
                  <a:srgbClr val="000000"/>
                </a:solidFill>
                <a:effectLst/>
              </a:rPr>
              <a:t>System.</a:t>
            </a:r>
            <a:r>
              <a:rPr lang="en-IN" sz="1800" b="1" i="1" dirty="0" err="1">
                <a:solidFill>
                  <a:srgbClr val="0000C0"/>
                </a:solidFill>
                <a:effectLst/>
              </a:rPr>
              <a:t>out</a:t>
            </a:r>
            <a:r>
              <a:rPr lang="en-IN" sz="1800" dirty="0" err="1">
                <a:solidFill>
                  <a:srgbClr val="000000"/>
                </a:solidFill>
                <a:effectLst/>
              </a:rPr>
              <a:t>.println</a:t>
            </a:r>
            <a:r>
              <a:rPr lang="en-IN" sz="1800" dirty="0">
                <a:solidFill>
                  <a:srgbClr val="000000"/>
                </a:solidFill>
                <a:effectLst/>
              </a:rPr>
              <a:t>(</a:t>
            </a:r>
            <a:r>
              <a:rPr lang="en-IN" sz="1800" dirty="0">
                <a:solidFill>
                  <a:srgbClr val="2A00FF"/>
                </a:solidFill>
                <a:effectLst/>
              </a:rPr>
              <a:t>"success"</a:t>
            </a:r>
            <a:r>
              <a:rPr lang="en-IN" sz="1800" dirty="0">
                <a:solidFill>
                  <a:srgbClr val="000000"/>
                </a:solidFill>
                <a:effectLst/>
              </a:rPr>
              <a:t>);</a:t>
            </a:r>
          </a:p>
          <a:p>
            <a:pPr marL="0" indent="0">
              <a:buNone/>
            </a:pPr>
            <a:r>
              <a:rPr lang="en-IN" sz="1800" dirty="0">
                <a:solidFill>
                  <a:srgbClr val="000000"/>
                </a:solidFill>
                <a:effectLst/>
              </a:rPr>
              <a:t>} </a:t>
            </a:r>
            <a:r>
              <a:rPr lang="en-IN" sz="1800" b="1" dirty="0">
                <a:solidFill>
                  <a:srgbClr val="7F0055"/>
                </a:solidFill>
                <a:effectLst/>
              </a:rPr>
              <a:t>catch</a:t>
            </a:r>
            <a:r>
              <a:rPr lang="en-IN" sz="1800" dirty="0">
                <a:solidFill>
                  <a:srgbClr val="000000"/>
                </a:solidFill>
                <a:effectLst/>
              </a:rPr>
              <a:t> (</a:t>
            </a:r>
            <a:r>
              <a:rPr lang="en-IN" sz="1800" dirty="0" err="1">
                <a:solidFill>
                  <a:srgbClr val="000000"/>
                </a:solidFill>
                <a:effectLst/>
              </a:rPr>
              <a:t>SQLException</a:t>
            </a:r>
            <a:r>
              <a:rPr lang="en-IN" sz="1800" dirty="0">
                <a:solidFill>
                  <a:srgbClr val="000000"/>
                </a:solidFill>
                <a:effectLst/>
              </a:rPr>
              <a:t> </a:t>
            </a:r>
            <a:r>
              <a:rPr lang="en-IN" sz="1800" dirty="0">
                <a:solidFill>
                  <a:srgbClr val="6A3E3E"/>
                </a:solidFill>
                <a:effectLst/>
              </a:rPr>
              <a:t>e</a:t>
            </a:r>
            <a:r>
              <a:rPr lang="en-IN" sz="1800" dirty="0">
                <a:solidFill>
                  <a:srgbClr val="000000"/>
                </a:solidFill>
                <a:effectLst/>
              </a:rPr>
              <a:t>) </a:t>
            </a:r>
          </a:p>
          <a:p>
            <a:pPr marL="0" indent="0">
              <a:buNone/>
            </a:pPr>
            <a:r>
              <a:rPr lang="en-IN" sz="1800" dirty="0">
                <a:solidFill>
                  <a:srgbClr val="000000"/>
                </a:solidFill>
                <a:effectLst/>
              </a:rPr>
              <a:t>{</a:t>
            </a:r>
          </a:p>
          <a:p>
            <a:pPr marL="0" indent="0">
              <a:buNone/>
            </a:pPr>
            <a:r>
              <a:rPr lang="en-IN" sz="1800" dirty="0" err="1">
                <a:solidFill>
                  <a:srgbClr val="6A3E3E"/>
                </a:solidFill>
                <a:effectLst/>
              </a:rPr>
              <a:t>e</a:t>
            </a:r>
            <a:r>
              <a:rPr lang="en-IN" sz="1800" dirty="0" err="1">
                <a:solidFill>
                  <a:srgbClr val="000000"/>
                </a:solidFill>
                <a:effectLst/>
              </a:rPr>
              <a:t>.printStackTrace</a:t>
            </a:r>
            <a:r>
              <a:rPr lang="en-IN" sz="1800" dirty="0">
                <a:solidFill>
                  <a:srgbClr val="000000"/>
                </a:solidFill>
                <a:effectLst/>
              </a:rPr>
              <a:t>();</a:t>
            </a:r>
          </a:p>
          <a:p>
            <a:pPr marL="0" indent="0">
              <a:buNone/>
            </a:pPr>
            <a:r>
              <a:rPr lang="en-IN" sz="1800" dirty="0">
                <a:solidFill>
                  <a:srgbClr val="000000"/>
                </a:solidFill>
                <a:effectLst/>
              </a:rPr>
              <a:t>}</a:t>
            </a:r>
          </a:p>
          <a:p>
            <a:endParaRPr lang="en-IN" dirty="0"/>
          </a:p>
        </p:txBody>
      </p:sp>
    </p:spTree>
    <p:extLst>
      <p:ext uri="{BB962C8B-B14F-4D97-AF65-F5344CB8AC3E}">
        <p14:creationId xmlns:p14="http://schemas.microsoft.com/office/powerpoint/2010/main" val="235907267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322A-60C5-B076-EDF5-02799518A074}"/>
              </a:ext>
            </a:extLst>
          </p:cNvPr>
          <p:cNvSpPr>
            <a:spLocks noGrp="1"/>
          </p:cNvSpPr>
          <p:nvPr>
            <p:ph type="ctrTitle"/>
          </p:nvPr>
        </p:nvSpPr>
        <p:spPr>
          <a:xfrm>
            <a:off x="1524000" y="1122362"/>
            <a:ext cx="9144000" cy="2843147"/>
          </a:xfrm>
        </p:spPr>
        <p:txBody>
          <a:bodyPr/>
          <a:lstStyle/>
          <a:p>
            <a:r>
              <a:rPr lang="en-IN" dirty="0"/>
              <a:t>Serialization and Deserialization</a:t>
            </a:r>
          </a:p>
        </p:txBody>
      </p:sp>
    </p:spTree>
    <p:extLst>
      <p:ext uri="{BB962C8B-B14F-4D97-AF65-F5344CB8AC3E}">
        <p14:creationId xmlns:p14="http://schemas.microsoft.com/office/powerpoint/2010/main" val="416079344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512D25-4B83-35C7-1332-65A4484B5D7E}"/>
              </a:ext>
            </a:extLst>
          </p:cNvPr>
          <p:cNvSpPr>
            <a:spLocks noGrp="1"/>
          </p:cNvSpPr>
          <p:nvPr>
            <p:ph idx="1"/>
          </p:nvPr>
        </p:nvSpPr>
        <p:spPr>
          <a:xfrm>
            <a:off x="838200" y="550506"/>
            <a:ext cx="10515600" cy="5626457"/>
          </a:xfrm>
        </p:spPr>
        <p:txBody>
          <a:bodyPr/>
          <a:lstStyle/>
          <a:p>
            <a:pPr marL="0" indent="0">
              <a:lnSpc>
                <a:spcPct val="150000"/>
              </a:lnSpc>
              <a:buNone/>
            </a:pPr>
            <a:r>
              <a:rPr lang="en-IN" dirty="0"/>
              <a:t>What is </a:t>
            </a:r>
            <a:r>
              <a:rPr lang="en-IN" b="1" dirty="0">
                <a:solidFill>
                  <a:srgbClr val="7030A0"/>
                </a:solidFill>
              </a:rPr>
              <a:t>Serialization and deserialization</a:t>
            </a:r>
            <a:r>
              <a:rPr lang="en-IN" dirty="0"/>
              <a:t>?</a:t>
            </a:r>
          </a:p>
          <a:p>
            <a:pPr marL="0" indent="0">
              <a:lnSpc>
                <a:spcPct val="150000"/>
              </a:lnSpc>
              <a:buNone/>
            </a:pPr>
            <a:r>
              <a:rPr lang="en-US" i="0" dirty="0">
                <a:solidFill>
                  <a:srgbClr val="333333"/>
                </a:solidFill>
                <a:effectLst/>
              </a:rPr>
              <a:t>Serialization in Java </a:t>
            </a:r>
            <a:r>
              <a:rPr lang="en-US" b="0" i="0" dirty="0">
                <a:solidFill>
                  <a:srgbClr val="333333"/>
                </a:solidFill>
                <a:effectLst/>
              </a:rPr>
              <a:t>is a mechanism of </a:t>
            </a:r>
            <a:r>
              <a:rPr lang="en-US" b="0" i="1" dirty="0">
                <a:solidFill>
                  <a:srgbClr val="7030A0"/>
                </a:solidFill>
                <a:effectLst/>
              </a:rPr>
              <a:t>writing the state of an object into a byte-stream</a:t>
            </a:r>
            <a:r>
              <a:rPr lang="en-US" b="0" i="0" dirty="0">
                <a:solidFill>
                  <a:srgbClr val="7030A0"/>
                </a:solidFill>
                <a:effectLst/>
              </a:rPr>
              <a:t>.</a:t>
            </a:r>
          </a:p>
          <a:p>
            <a:pPr marL="0" indent="0">
              <a:lnSpc>
                <a:spcPct val="150000"/>
              </a:lnSpc>
              <a:buNone/>
            </a:pPr>
            <a:r>
              <a:rPr lang="en-US" b="0" i="0" dirty="0">
                <a:solidFill>
                  <a:srgbClr val="333333"/>
                </a:solidFill>
                <a:effectLst/>
              </a:rPr>
              <a:t>The </a:t>
            </a:r>
            <a:r>
              <a:rPr lang="en-US" b="0" i="0" dirty="0">
                <a:solidFill>
                  <a:srgbClr val="7030A0"/>
                </a:solidFill>
                <a:effectLst/>
              </a:rPr>
              <a:t>reverse operation of serialization is called </a:t>
            </a:r>
            <a:r>
              <a:rPr lang="en-US" b="0" i="1" dirty="0">
                <a:solidFill>
                  <a:srgbClr val="7030A0"/>
                </a:solidFill>
                <a:effectLst/>
              </a:rPr>
              <a:t>deserialization</a:t>
            </a:r>
            <a:r>
              <a:rPr lang="en-US" b="0" i="0" dirty="0">
                <a:solidFill>
                  <a:srgbClr val="7030A0"/>
                </a:solidFill>
                <a:effectLst/>
              </a:rPr>
              <a:t> </a:t>
            </a:r>
            <a:r>
              <a:rPr lang="en-US" b="0" i="0" dirty="0">
                <a:solidFill>
                  <a:srgbClr val="333333"/>
                </a:solidFill>
                <a:effectLst/>
              </a:rPr>
              <a:t>where byte-stream is converted into an object.</a:t>
            </a:r>
            <a:endParaRPr lang="en-US" dirty="0">
              <a:solidFill>
                <a:srgbClr val="333333"/>
              </a:solidFill>
            </a:endParaRPr>
          </a:p>
        </p:txBody>
      </p:sp>
    </p:spTree>
    <p:extLst>
      <p:ext uri="{BB962C8B-B14F-4D97-AF65-F5344CB8AC3E}">
        <p14:creationId xmlns:p14="http://schemas.microsoft.com/office/powerpoint/2010/main" val="88263344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A3A93-699E-FA52-C62A-7CCBE6CD78C8}"/>
              </a:ext>
            </a:extLst>
          </p:cNvPr>
          <p:cNvSpPr>
            <a:spLocks noGrp="1"/>
          </p:cNvSpPr>
          <p:nvPr>
            <p:ph idx="1"/>
          </p:nvPr>
        </p:nvSpPr>
        <p:spPr>
          <a:xfrm>
            <a:off x="838200" y="559837"/>
            <a:ext cx="10515600" cy="5617126"/>
          </a:xfrm>
        </p:spPr>
        <p:txBody>
          <a:bodyPr/>
          <a:lstStyle/>
          <a:p>
            <a:pPr>
              <a:lnSpc>
                <a:spcPct val="150000"/>
              </a:lnSpc>
            </a:pPr>
            <a:r>
              <a:rPr lang="en-US" b="0" i="0" dirty="0">
                <a:solidFill>
                  <a:srgbClr val="333333"/>
                </a:solidFill>
                <a:effectLst/>
              </a:rPr>
              <a:t>The </a:t>
            </a:r>
            <a:r>
              <a:rPr lang="en-US" b="0" i="0" dirty="0">
                <a:solidFill>
                  <a:srgbClr val="7030A0"/>
                </a:solidFill>
                <a:effectLst/>
              </a:rPr>
              <a:t>serialization</a:t>
            </a:r>
            <a:r>
              <a:rPr lang="en-US" b="0" i="0" dirty="0">
                <a:solidFill>
                  <a:srgbClr val="333333"/>
                </a:solidFill>
                <a:effectLst/>
              </a:rPr>
              <a:t> and </a:t>
            </a:r>
            <a:r>
              <a:rPr lang="en-US" b="0" i="0" dirty="0">
                <a:solidFill>
                  <a:srgbClr val="7030A0"/>
                </a:solidFill>
                <a:effectLst/>
              </a:rPr>
              <a:t>deserialization</a:t>
            </a:r>
            <a:r>
              <a:rPr lang="en-US" b="0" i="0" dirty="0">
                <a:solidFill>
                  <a:srgbClr val="333333"/>
                </a:solidFill>
                <a:effectLst/>
              </a:rPr>
              <a:t> process is </a:t>
            </a:r>
            <a:r>
              <a:rPr lang="en-US" b="0" i="0" dirty="0">
                <a:solidFill>
                  <a:srgbClr val="7030A0"/>
                </a:solidFill>
                <a:effectLst/>
              </a:rPr>
              <a:t>platform-independent.</a:t>
            </a:r>
          </a:p>
          <a:p>
            <a:pPr>
              <a:lnSpc>
                <a:spcPct val="150000"/>
              </a:lnSpc>
            </a:pPr>
            <a:r>
              <a:rPr lang="en-US" b="0" i="0" dirty="0">
                <a:solidFill>
                  <a:srgbClr val="333333"/>
                </a:solidFill>
                <a:effectLst/>
              </a:rPr>
              <a:t> it means you can serialize an object on one platform and deserialize it on a different platform.</a:t>
            </a:r>
          </a:p>
          <a:p>
            <a:pPr marL="0" indent="0">
              <a:buNone/>
            </a:pPr>
            <a:endParaRPr lang="en-IN" dirty="0"/>
          </a:p>
        </p:txBody>
      </p:sp>
    </p:spTree>
    <p:extLst>
      <p:ext uri="{BB962C8B-B14F-4D97-AF65-F5344CB8AC3E}">
        <p14:creationId xmlns:p14="http://schemas.microsoft.com/office/powerpoint/2010/main" val="415823476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7313BC-7384-CF95-F072-0313914D06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3649" y="1110343"/>
            <a:ext cx="9657184" cy="4079185"/>
          </a:xfrm>
        </p:spPr>
      </p:pic>
    </p:spTree>
    <p:extLst>
      <p:ext uri="{BB962C8B-B14F-4D97-AF65-F5344CB8AC3E}">
        <p14:creationId xmlns:p14="http://schemas.microsoft.com/office/powerpoint/2010/main" val="375108410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82FE2-FEFA-17F8-615D-654C83F637AD}"/>
              </a:ext>
            </a:extLst>
          </p:cNvPr>
          <p:cNvSpPr>
            <a:spLocks noGrp="1"/>
          </p:cNvSpPr>
          <p:nvPr>
            <p:ph idx="1"/>
          </p:nvPr>
        </p:nvSpPr>
        <p:spPr>
          <a:xfrm>
            <a:off x="838200" y="615820"/>
            <a:ext cx="10515600" cy="5561143"/>
          </a:xfrm>
        </p:spPr>
        <p:txBody>
          <a:bodyPr/>
          <a:lstStyle/>
          <a:p>
            <a:pPr marL="0" indent="0">
              <a:lnSpc>
                <a:spcPct val="150000"/>
              </a:lnSpc>
              <a:buNone/>
            </a:pPr>
            <a:r>
              <a:rPr lang="en-IN" b="1" i="0" dirty="0" err="1">
                <a:solidFill>
                  <a:srgbClr val="7030A0"/>
                </a:solidFill>
                <a:effectLst/>
              </a:rPr>
              <a:t>java.io.Serializable</a:t>
            </a:r>
            <a:r>
              <a:rPr lang="en-IN" b="1" i="0" dirty="0">
                <a:solidFill>
                  <a:srgbClr val="7030A0"/>
                </a:solidFill>
                <a:effectLst/>
              </a:rPr>
              <a:t> interface</a:t>
            </a:r>
          </a:p>
          <a:p>
            <a:pPr algn="just">
              <a:lnSpc>
                <a:spcPct val="150000"/>
              </a:lnSpc>
            </a:pPr>
            <a:r>
              <a:rPr lang="en-US" b="0" i="0" dirty="0">
                <a:solidFill>
                  <a:srgbClr val="333333"/>
                </a:solidFill>
                <a:effectLst/>
              </a:rPr>
              <a:t>The </a:t>
            </a:r>
            <a:r>
              <a:rPr lang="en-US" b="1" i="0" dirty="0">
                <a:solidFill>
                  <a:srgbClr val="333333"/>
                </a:solidFill>
                <a:effectLst/>
              </a:rPr>
              <a:t>Serializable</a:t>
            </a:r>
            <a:r>
              <a:rPr lang="en-US" b="0" i="0" dirty="0">
                <a:solidFill>
                  <a:srgbClr val="333333"/>
                </a:solidFill>
                <a:effectLst/>
              </a:rPr>
              <a:t> interface must be implemented by the class whose object needs to be persisted.</a:t>
            </a:r>
          </a:p>
          <a:p>
            <a:pPr algn="just">
              <a:lnSpc>
                <a:spcPct val="150000"/>
              </a:lnSpc>
            </a:pPr>
            <a:r>
              <a:rPr lang="en-US" b="0" i="0" dirty="0">
                <a:solidFill>
                  <a:srgbClr val="333333"/>
                </a:solidFill>
                <a:effectLst/>
              </a:rPr>
              <a:t>The String class and all the wrapper classes implement the </a:t>
            </a:r>
            <a:r>
              <a:rPr lang="en-US" b="0" i="1" dirty="0" err="1">
                <a:solidFill>
                  <a:srgbClr val="333333"/>
                </a:solidFill>
                <a:effectLst/>
              </a:rPr>
              <a:t>java.io.Serializable</a:t>
            </a:r>
            <a:r>
              <a:rPr lang="en-US" b="0" i="0" dirty="0">
                <a:solidFill>
                  <a:srgbClr val="333333"/>
                </a:solidFill>
                <a:effectLst/>
              </a:rPr>
              <a:t> interface by default.</a:t>
            </a:r>
          </a:p>
          <a:p>
            <a:endParaRPr lang="en-IN" dirty="0"/>
          </a:p>
        </p:txBody>
      </p:sp>
    </p:spTree>
    <p:extLst>
      <p:ext uri="{BB962C8B-B14F-4D97-AF65-F5344CB8AC3E}">
        <p14:creationId xmlns:p14="http://schemas.microsoft.com/office/powerpoint/2010/main" val="79340776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FCBE8C-FE68-ABD6-9EA2-AFD8F0324ED1}"/>
              </a:ext>
            </a:extLst>
          </p:cNvPr>
          <p:cNvSpPr>
            <a:spLocks noGrp="1"/>
          </p:cNvSpPr>
          <p:nvPr>
            <p:ph idx="1"/>
          </p:nvPr>
        </p:nvSpPr>
        <p:spPr>
          <a:xfrm>
            <a:off x="838200" y="578498"/>
            <a:ext cx="10515600" cy="5598465"/>
          </a:xfrm>
        </p:spPr>
        <p:txBody>
          <a:bodyPr/>
          <a:lstStyle/>
          <a:p>
            <a:pPr marL="0" indent="0" algn="just">
              <a:buNone/>
            </a:pPr>
            <a:r>
              <a:rPr lang="en-IN" b="1" i="0" dirty="0">
                <a:solidFill>
                  <a:srgbClr val="006699"/>
                </a:solidFill>
                <a:effectLst/>
                <a:latin typeface="inter-regular"/>
              </a:rPr>
              <a:t>Example:</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marL="0" indent="0" algn="just">
              <a:buNone/>
            </a:pPr>
            <a:r>
              <a:rPr lang="en-IN" b="0" i="0" dirty="0">
                <a:solidFill>
                  <a:srgbClr val="000000"/>
                </a:solidFill>
                <a:effectLst/>
                <a:latin typeface="inter-regular"/>
              </a:rPr>
              <a:t> String name;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marL="0" indent="0">
              <a:buNone/>
            </a:pPr>
            <a:r>
              <a:rPr lang="en-IN" dirty="0"/>
              <a:t>}</a:t>
            </a:r>
          </a:p>
          <a:p>
            <a:pPr marL="0" indent="0">
              <a:buNone/>
            </a:pPr>
            <a:r>
              <a:rPr lang="en-IN" dirty="0"/>
              <a:t>}</a:t>
            </a:r>
          </a:p>
        </p:txBody>
      </p:sp>
    </p:spTree>
    <p:extLst>
      <p:ext uri="{BB962C8B-B14F-4D97-AF65-F5344CB8AC3E}">
        <p14:creationId xmlns:p14="http://schemas.microsoft.com/office/powerpoint/2010/main" val="92678149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017254-F1E8-0252-BD30-88FCF7809915}"/>
              </a:ext>
            </a:extLst>
          </p:cNvPr>
          <p:cNvSpPr>
            <a:spLocks noGrp="1"/>
          </p:cNvSpPr>
          <p:nvPr>
            <p:ph idx="1"/>
          </p:nvPr>
        </p:nvSpPr>
        <p:spPr>
          <a:xfrm>
            <a:off x="763555" y="569167"/>
            <a:ext cx="10515600" cy="5673013"/>
          </a:xfrm>
        </p:spPr>
        <p:txBody>
          <a:bodyPr>
            <a:normAutofit fontScale="77500" lnSpcReduction="20000"/>
          </a:bodyPr>
          <a:lstStyle/>
          <a:p>
            <a:pPr marL="0" indent="0" algn="just">
              <a:buNone/>
            </a:pPr>
            <a:r>
              <a:rPr lang="en-IN" b="1" i="0" dirty="0">
                <a:solidFill>
                  <a:srgbClr val="006699"/>
                </a:solidFill>
                <a:effectLst/>
              </a:rPr>
              <a:t>Serialization program:</a:t>
            </a:r>
          </a:p>
          <a:p>
            <a:pPr marL="0" indent="0" algn="just">
              <a:buNone/>
            </a:pPr>
            <a:r>
              <a:rPr lang="en-IN" b="1" i="0" dirty="0">
                <a:solidFill>
                  <a:srgbClr val="006699"/>
                </a:solidFill>
                <a:effectLst/>
              </a:rPr>
              <a:t>import</a:t>
            </a:r>
            <a:r>
              <a:rPr lang="en-IN" b="0" i="0" dirty="0">
                <a:solidFill>
                  <a:srgbClr val="000000"/>
                </a:solidFill>
                <a:effectLst/>
              </a:rPr>
              <a:t> java.io.*;    </a:t>
            </a:r>
          </a:p>
          <a:p>
            <a:pPr marL="0" indent="0" algn="just">
              <a:buNone/>
            </a:pPr>
            <a:r>
              <a:rPr lang="en-IN" b="1" i="0" dirty="0">
                <a:solidFill>
                  <a:srgbClr val="006699"/>
                </a:solidFill>
                <a:effectLst/>
              </a:rPr>
              <a:t>class</a:t>
            </a:r>
            <a:r>
              <a:rPr lang="en-IN" b="0" i="0" dirty="0">
                <a:solidFill>
                  <a:srgbClr val="000000"/>
                </a:solidFill>
                <a:effectLst/>
              </a:rPr>
              <a:t> Persist{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try</a:t>
            </a:r>
            <a:r>
              <a:rPr lang="en-IN" b="0" i="0" dirty="0">
                <a:solidFill>
                  <a:srgbClr val="000000"/>
                </a:solidFill>
                <a:effectLst/>
              </a:rPr>
              <a:t>{    </a:t>
            </a:r>
          </a:p>
          <a:p>
            <a:pPr marL="0" indent="0" algn="just">
              <a:buNone/>
            </a:pPr>
            <a:r>
              <a:rPr lang="en-IN" b="0" i="0" dirty="0">
                <a:solidFill>
                  <a:srgbClr val="000000"/>
                </a:solidFill>
                <a:effectLst/>
              </a:rPr>
              <a:t>    Student s1 =</a:t>
            </a:r>
            <a:r>
              <a:rPr lang="en-IN" b="1" i="0" dirty="0">
                <a:solidFill>
                  <a:srgbClr val="006699"/>
                </a:solidFill>
                <a:effectLst/>
              </a:rPr>
              <a:t>new</a:t>
            </a:r>
            <a:r>
              <a:rPr lang="en-IN" b="0" i="0" dirty="0">
                <a:solidFill>
                  <a:srgbClr val="000000"/>
                </a:solidFill>
                <a:effectLst/>
              </a:rPr>
              <a:t> Student(</a:t>
            </a:r>
            <a:r>
              <a:rPr lang="en-IN" b="0" i="0" dirty="0">
                <a:solidFill>
                  <a:srgbClr val="C00000"/>
                </a:solidFill>
                <a:effectLst/>
              </a:rPr>
              <a:t>211</a:t>
            </a:r>
            <a:r>
              <a:rPr lang="en-IN" b="0" i="0" dirty="0">
                <a:solidFill>
                  <a:srgbClr val="000000"/>
                </a:solidFill>
                <a:effectLst/>
              </a:rPr>
              <a:t>,</a:t>
            </a:r>
            <a:r>
              <a:rPr lang="en-IN" b="0" i="0" dirty="0">
                <a:solidFill>
                  <a:srgbClr val="0000FF"/>
                </a:solidFill>
                <a:effectLst/>
              </a:rPr>
              <a:t>"ravi"</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FileOutputStream</a:t>
            </a:r>
            <a:r>
              <a:rPr lang="en-IN" b="0" i="0" dirty="0">
                <a:solidFill>
                  <a:srgbClr val="000000"/>
                </a:solidFill>
                <a:effectLst/>
              </a:rPr>
              <a:t> </a:t>
            </a:r>
            <a:r>
              <a:rPr lang="en-IN" b="0" i="0" dirty="0" err="1">
                <a:solidFill>
                  <a:srgbClr val="000000"/>
                </a:solidFill>
                <a:effectLst/>
              </a:rPr>
              <a:t>fout</a:t>
            </a:r>
            <a:r>
              <a:rPr lang="en-IN" b="0" i="0" dirty="0">
                <a:solidFill>
                  <a:srgbClr val="000000"/>
                </a:solidFill>
                <a:effectLst/>
              </a:rPr>
              <a: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FileOutputStream</a:t>
            </a:r>
            <a:r>
              <a:rPr lang="en-IN" b="0" i="0" dirty="0">
                <a:solidFill>
                  <a:srgbClr val="000000"/>
                </a:solidFill>
                <a:effectLst/>
              </a:rPr>
              <a:t>(</a:t>
            </a:r>
            <a:r>
              <a:rPr lang="en-IN" b="0" i="0" dirty="0">
                <a:solidFill>
                  <a:srgbClr val="0000FF"/>
                </a:solidFill>
                <a:effectLst/>
              </a:rPr>
              <a:t>"f.txt"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ObjectOutputStream</a:t>
            </a:r>
            <a:r>
              <a:rPr lang="en-IN" b="0" i="0" dirty="0">
                <a:solidFill>
                  <a:srgbClr val="000000"/>
                </a:solidFill>
                <a:effectLst/>
              </a:rPr>
              <a:t> out=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ObjectOutputStream</a:t>
            </a:r>
            <a:r>
              <a:rPr lang="en-IN" b="0" i="0" dirty="0">
                <a:solidFill>
                  <a:srgbClr val="000000"/>
                </a:solidFill>
                <a:effectLst/>
              </a:rPr>
              <a:t>(</a:t>
            </a:r>
            <a:r>
              <a:rPr lang="en-IN" b="0" i="0" dirty="0" err="1">
                <a:solidFill>
                  <a:srgbClr val="000000"/>
                </a:solidFill>
                <a:effectLst/>
              </a:rPr>
              <a:t>fout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out.writeObject</a:t>
            </a:r>
            <a:r>
              <a:rPr lang="en-IN" b="0" i="0" dirty="0">
                <a:solidFill>
                  <a:srgbClr val="000000"/>
                </a:solidFill>
                <a:effectLst/>
              </a:rPr>
              <a:t>(s1);    </a:t>
            </a:r>
          </a:p>
          <a:p>
            <a:pPr marL="0" indent="0" algn="just">
              <a:buNone/>
            </a:pPr>
            <a:r>
              <a:rPr lang="en-IN" b="0" i="0" dirty="0">
                <a:solidFill>
                  <a:srgbClr val="000000"/>
                </a:solidFill>
                <a:effectLst/>
              </a:rPr>
              <a:t>  </a:t>
            </a:r>
            <a:r>
              <a:rPr lang="en-IN" b="0" i="0" dirty="0" err="1">
                <a:solidFill>
                  <a:srgbClr val="000000"/>
                </a:solidFill>
                <a:effectLst/>
              </a:rPr>
              <a:t>out.flush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out.close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"success"</a:t>
            </a: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catch</a:t>
            </a:r>
            <a:r>
              <a:rPr lang="en-IN" b="0" i="0" dirty="0">
                <a:solidFill>
                  <a:srgbClr val="000000"/>
                </a:solidFill>
                <a:effectLst/>
              </a:rPr>
              <a:t>(Exception e){</a:t>
            </a:r>
            <a:r>
              <a:rPr lang="en-IN" b="0" i="0" dirty="0" err="1">
                <a:solidFill>
                  <a:srgbClr val="000000"/>
                </a:solidFill>
                <a:effectLst/>
              </a:rPr>
              <a:t>System.out.println</a:t>
            </a:r>
            <a:r>
              <a:rPr lang="en-IN" b="0" i="0" dirty="0">
                <a:solidFill>
                  <a:srgbClr val="000000"/>
                </a:solidFill>
                <a:effectLst/>
              </a:rPr>
              <a:t>(e);}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p>
        </p:txBody>
      </p:sp>
    </p:spTree>
    <p:extLst>
      <p:ext uri="{BB962C8B-B14F-4D97-AF65-F5344CB8AC3E}">
        <p14:creationId xmlns:p14="http://schemas.microsoft.com/office/powerpoint/2010/main" val="201361389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CBC816-28C9-9899-AC11-BB5224A65C2C}"/>
              </a:ext>
            </a:extLst>
          </p:cNvPr>
          <p:cNvSpPr>
            <a:spLocks noGrp="1"/>
          </p:cNvSpPr>
          <p:nvPr>
            <p:ph idx="1"/>
          </p:nvPr>
        </p:nvSpPr>
        <p:spPr>
          <a:xfrm>
            <a:off x="485192" y="541126"/>
            <a:ext cx="11616611" cy="5775747"/>
          </a:xfrm>
        </p:spPr>
        <p:txBody>
          <a:bodyPr>
            <a:normAutofit lnSpcReduction="10000"/>
          </a:bodyPr>
          <a:lstStyle/>
          <a:p>
            <a:pPr marL="0" indent="0" algn="just">
              <a:buNone/>
            </a:pPr>
            <a:r>
              <a:rPr lang="en-IN" b="1" i="0" dirty="0">
                <a:solidFill>
                  <a:srgbClr val="006699"/>
                </a:solidFill>
                <a:effectLst/>
                <a:latin typeface="inter-regular"/>
              </a:rPr>
              <a:t>Deserialization:</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java.io.*;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Depersist</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 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"f.txt"</a:t>
            </a:r>
            <a:r>
              <a:rPr lang="en-IN" b="0" i="0" dirty="0">
                <a:solidFill>
                  <a:srgbClr val="000000"/>
                </a:solidFill>
                <a:effectLst/>
                <a:latin typeface="inter-regular"/>
              </a:rPr>
              <a:t>));   Student s=(Student)</a:t>
            </a:r>
            <a:r>
              <a:rPr lang="en-IN" b="0" i="0" dirty="0" err="1">
                <a:solidFill>
                  <a:srgbClr val="000000"/>
                </a:solidFill>
                <a:effectLst/>
                <a:latin typeface="inter-regular"/>
              </a:rPr>
              <a:t>in.readObject</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(s.id+</a:t>
            </a:r>
            <a:r>
              <a:rPr lang="en-IN" b="0" i="0" dirty="0">
                <a:solidFill>
                  <a:srgbClr val="0000FF"/>
                </a:solidFill>
                <a:effectLst/>
                <a:latin typeface="inter-regular"/>
              </a:rPr>
              <a:t>" "</a:t>
            </a:r>
            <a:r>
              <a:rPr lang="en-IN" b="0" i="0" dirty="0">
                <a:solidFill>
                  <a:srgbClr val="000000"/>
                </a:solidFill>
                <a:effectLst/>
                <a:latin typeface="inter-regular"/>
              </a:rPr>
              <a:t>+s.name);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in.close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288601514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1D291-7724-E694-6457-94D557BB402E}"/>
              </a:ext>
            </a:extLst>
          </p:cNvPr>
          <p:cNvSpPr>
            <a:spLocks noGrp="1"/>
          </p:cNvSpPr>
          <p:nvPr>
            <p:ph type="ctrTitle"/>
          </p:nvPr>
        </p:nvSpPr>
        <p:spPr/>
        <p:txBody>
          <a:bodyPr/>
          <a:lstStyle/>
          <a:p>
            <a:r>
              <a:rPr lang="en-IN" dirty="0"/>
              <a:t>Networking in Java</a:t>
            </a:r>
          </a:p>
        </p:txBody>
      </p:sp>
    </p:spTree>
    <p:extLst>
      <p:ext uri="{BB962C8B-B14F-4D97-AF65-F5344CB8AC3E}">
        <p14:creationId xmlns:p14="http://schemas.microsoft.com/office/powerpoint/2010/main" val="62671860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932EC-EE0E-1353-F049-7099773D3CF1}"/>
              </a:ext>
            </a:extLst>
          </p:cNvPr>
          <p:cNvSpPr>
            <a:spLocks noGrp="1"/>
          </p:cNvSpPr>
          <p:nvPr>
            <p:ph idx="1"/>
          </p:nvPr>
        </p:nvSpPr>
        <p:spPr>
          <a:xfrm>
            <a:off x="838200" y="522514"/>
            <a:ext cx="10515600" cy="5654449"/>
          </a:xfrm>
        </p:spPr>
        <p:txBody>
          <a:bodyPr/>
          <a:lstStyle/>
          <a:p>
            <a:pPr marL="0" indent="0">
              <a:buNone/>
            </a:pPr>
            <a:r>
              <a:rPr lang="en-IN" b="1" dirty="0">
                <a:solidFill>
                  <a:srgbClr val="7030A0"/>
                </a:solidFill>
              </a:rPr>
              <a:t>What is Networking?</a:t>
            </a:r>
          </a:p>
          <a:p>
            <a:pPr>
              <a:lnSpc>
                <a:spcPct val="150000"/>
              </a:lnSpc>
            </a:pPr>
            <a:r>
              <a:rPr lang="en-US" b="0" i="0" dirty="0">
                <a:solidFill>
                  <a:srgbClr val="333333"/>
                </a:solidFill>
                <a:effectLst/>
              </a:rPr>
              <a:t>Java Networking is a concept of </a:t>
            </a:r>
            <a:r>
              <a:rPr lang="en-US" b="0" i="0" dirty="0">
                <a:solidFill>
                  <a:srgbClr val="7030A0"/>
                </a:solidFill>
                <a:effectLst/>
              </a:rPr>
              <a:t>connecting two or more computing devices together so that we can share resources.</a:t>
            </a:r>
            <a:endParaRPr lang="en-IN" b="0" i="0" dirty="0">
              <a:solidFill>
                <a:srgbClr val="7030A0"/>
              </a:solidFill>
              <a:effectLst/>
            </a:endParaRPr>
          </a:p>
          <a:p>
            <a:pPr>
              <a:lnSpc>
                <a:spcPct val="150000"/>
              </a:lnSpc>
            </a:pPr>
            <a:r>
              <a:rPr lang="en-IN" dirty="0">
                <a:solidFill>
                  <a:srgbClr val="333333"/>
                </a:solidFill>
              </a:rPr>
              <a:t>J</a:t>
            </a:r>
            <a:r>
              <a:rPr lang="en-US" b="0" i="0" dirty="0">
                <a:solidFill>
                  <a:srgbClr val="333333"/>
                </a:solidFill>
                <a:effectLst/>
              </a:rPr>
              <a:t>ava </a:t>
            </a:r>
            <a:r>
              <a:rPr lang="en-US" b="1" i="0" dirty="0">
                <a:solidFill>
                  <a:srgbClr val="7030A0"/>
                </a:solidFill>
                <a:effectLst/>
              </a:rPr>
              <a:t>socket</a:t>
            </a:r>
            <a:r>
              <a:rPr lang="en-US" b="0" i="0" dirty="0">
                <a:solidFill>
                  <a:srgbClr val="333333"/>
                </a:solidFill>
                <a:effectLst/>
              </a:rPr>
              <a:t> programming </a:t>
            </a:r>
            <a:r>
              <a:rPr lang="en-US" b="0" i="0" dirty="0">
                <a:solidFill>
                  <a:srgbClr val="7030A0"/>
                </a:solidFill>
                <a:effectLst/>
              </a:rPr>
              <a:t>provides facility to share data between different computing devices.</a:t>
            </a:r>
          </a:p>
          <a:p>
            <a:pPr>
              <a:lnSpc>
                <a:spcPct val="150000"/>
              </a:lnSpc>
            </a:pPr>
            <a:r>
              <a:rPr lang="en-US" dirty="0"/>
              <a:t>Networking in java is possible through the use of  </a:t>
            </a:r>
            <a:r>
              <a:rPr lang="en-US" dirty="0">
                <a:solidFill>
                  <a:srgbClr val="7030A0"/>
                </a:solidFill>
              </a:rPr>
              <a:t>java.net  package.</a:t>
            </a:r>
            <a:endParaRPr lang="en-IN" dirty="0"/>
          </a:p>
        </p:txBody>
      </p:sp>
    </p:spTree>
    <p:extLst>
      <p:ext uri="{BB962C8B-B14F-4D97-AF65-F5344CB8AC3E}">
        <p14:creationId xmlns:p14="http://schemas.microsoft.com/office/powerpoint/2010/main" val="227600816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7855CE-EE2E-FB7C-5D04-DE83308E54D3}"/>
              </a:ext>
            </a:extLst>
          </p:cNvPr>
          <p:cNvSpPr>
            <a:spLocks noGrp="1"/>
          </p:cNvSpPr>
          <p:nvPr>
            <p:ph idx="1"/>
          </p:nvPr>
        </p:nvSpPr>
        <p:spPr>
          <a:xfrm>
            <a:off x="838200" y="597159"/>
            <a:ext cx="10515600" cy="5579804"/>
          </a:xfrm>
        </p:spPr>
        <p:txBody>
          <a:bodyPr/>
          <a:lstStyle/>
          <a:p>
            <a:pPr marL="0" indent="0" algn="just">
              <a:lnSpc>
                <a:spcPct val="150000"/>
              </a:lnSpc>
              <a:buNone/>
            </a:pPr>
            <a:r>
              <a:rPr lang="en-US" b="0" i="0" dirty="0">
                <a:solidFill>
                  <a:srgbClr val="610B4B"/>
                </a:solidFill>
                <a:effectLst/>
              </a:rPr>
              <a:t>Advantage of Java Networking</a:t>
            </a:r>
          </a:p>
          <a:p>
            <a:pPr algn="just">
              <a:lnSpc>
                <a:spcPct val="150000"/>
              </a:lnSpc>
              <a:buFont typeface="+mj-lt"/>
              <a:buAutoNum type="arabicPeriod"/>
            </a:pPr>
            <a:r>
              <a:rPr lang="en-US" b="0" i="0" dirty="0">
                <a:solidFill>
                  <a:srgbClr val="000000"/>
                </a:solidFill>
                <a:effectLst/>
              </a:rPr>
              <a:t>Sharing resources</a:t>
            </a:r>
          </a:p>
          <a:p>
            <a:pPr algn="just">
              <a:lnSpc>
                <a:spcPct val="150000"/>
              </a:lnSpc>
              <a:buFont typeface="+mj-lt"/>
              <a:buAutoNum type="arabicPeriod"/>
            </a:pPr>
            <a:r>
              <a:rPr lang="en-US" b="0" i="0" dirty="0">
                <a:solidFill>
                  <a:srgbClr val="000000"/>
                </a:solidFill>
                <a:effectLst/>
              </a:rPr>
              <a:t>Centralize software management</a:t>
            </a:r>
          </a:p>
          <a:p>
            <a:pPr algn="just">
              <a:lnSpc>
                <a:spcPct val="150000"/>
              </a:lnSpc>
            </a:pPr>
            <a:r>
              <a:rPr lang="en-IN" dirty="0"/>
              <a:t> </a:t>
            </a:r>
            <a:r>
              <a:rPr lang="en-US" b="0" i="0" dirty="0">
                <a:solidFill>
                  <a:srgbClr val="202124"/>
                </a:solidFill>
                <a:effectLst/>
              </a:rPr>
              <a:t>Centralized network management refers to </a:t>
            </a:r>
            <a:r>
              <a:rPr lang="en-US" b="0" i="0" dirty="0">
                <a:solidFill>
                  <a:srgbClr val="040C28"/>
                </a:solidFill>
                <a:effectLst/>
              </a:rPr>
              <a:t>managing a network built around a single server</a:t>
            </a:r>
            <a:r>
              <a:rPr lang="en-US" b="0" i="0" dirty="0">
                <a:solidFill>
                  <a:srgbClr val="202124"/>
                </a:solidFill>
                <a:effectLst/>
                <a:latin typeface="Google Sans"/>
              </a:rPr>
              <a:t>.</a:t>
            </a:r>
            <a:endParaRPr lang="en-IN" dirty="0"/>
          </a:p>
        </p:txBody>
      </p:sp>
    </p:spTree>
    <p:extLst>
      <p:ext uri="{BB962C8B-B14F-4D97-AF65-F5344CB8AC3E}">
        <p14:creationId xmlns:p14="http://schemas.microsoft.com/office/powerpoint/2010/main" val="290398005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45393D-3CBD-85E9-7E93-23DB8E7EFAB4}"/>
              </a:ext>
            </a:extLst>
          </p:cNvPr>
          <p:cNvSpPr>
            <a:spLocks noGrp="1"/>
          </p:cNvSpPr>
          <p:nvPr>
            <p:ph idx="1"/>
          </p:nvPr>
        </p:nvSpPr>
        <p:spPr>
          <a:xfrm>
            <a:off x="726233" y="429208"/>
            <a:ext cx="10515600" cy="5682441"/>
          </a:xfrm>
        </p:spPr>
        <p:txBody>
          <a:bodyPr/>
          <a:lstStyle/>
          <a:p>
            <a:pPr marL="0" indent="0">
              <a:lnSpc>
                <a:spcPct val="150000"/>
              </a:lnSpc>
              <a:buNone/>
            </a:pPr>
            <a:r>
              <a:rPr lang="en-IN" b="1" i="0" dirty="0">
                <a:solidFill>
                  <a:srgbClr val="7030A0"/>
                </a:solidFill>
                <a:effectLst/>
                <a:latin typeface="erdana"/>
              </a:rPr>
              <a:t>Java Networking Terminology</a:t>
            </a:r>
          </a:p>
          <a:p>
            <a:pPr marL="514350" indent="-514350">
              <a:lnSpc>
                <a:spcPct val="150000"/>
              </a:lnSpc>
              <a:buFont typeface="+mj-lt"/>
              <a:buAutoNum type="arabicPeriod"/>
            </a:pPr>
            <a:r>
              <a:rPr lang="en-IN" b="1" i="0" dirty="0">
                <a:solidFill>
                  <a:srgbClr val="7030A0"/>
                </a:solidFill>
                <a:effectLst/>
                <a:latin typeface="inter-regular"/>
              </a:rPr>
              <a:t>IP Address</a:t>
            </a:r>
          </a:p>
          <a:p>
            <a:pPr>
              <a:lnSpc>
                <a:spcPct val="150000"/>
              </a:lnSpc>
            </a:pPr>
            <a:r>
              <a:rPr lang="en-US" b="0" i="0" dirty="0">
                <a:solidFill>
                  <a:srgbClr val="333333"/>
                </a:solidFill>
                <a:effectLst/>
                <a:latin typeface="inter-regular"/>
              </a:rPr>
              <a:t>IP address is a unique number assigned to a node of a network</a:t>
            </a:r>
          </a:p>
          <a:p>
            <a:pPr>
              <a:lnSpc>
                <a:spcPct val="150000"/>
              </a:lnSpc>
            </a:pPr>
            <a:r>
              <a:rPr lang="en-US" b="0" i="0" dirty="0">
                <a:solidFill>
                  <a:srgbClr val="333333"/>
                </a:solidFill>
                <a:effectLst/>
                <a:latin typeface="inter-regular"/>
              </a:rPr>
              <a:t>It is a logical address that can be changed.</a:t>
            </a:r>
          </a:p>
          <a:p>
            <a:pPr>
              <a:lnSpc>
                <a:spcPct val="150000"/>
              </a:lnSpc>
            </a:pPr>
            <a:r>
              <a:rPr lang="en-US" dirty="0">
                <a:solidFill>
                  <a:srgbClr val="333333"/>
                </a:solidFill>
                <a:latin typeface="inter-regular"/>
              </a:rPr>
              <a:t>By using command prompt using this comment to know the IP address of the system.</a:t>
            </a:r>
          </a:p>
          <a:p>
            <a:pPr marL="0" indent="0">
              <a:lnSpc>
                <a:spcPct val="150000"/>
              </a:lnSpc>
              <a:buNone/>
            </a:pPr>
            <a:r>
              <a:rPr lang="en-US" dirty="0">
                <a:solidFill>
                  <a:srgbClr val="333333"/>
                </a:solidFill>
                <a:latin typeface="inter-regular"/>
              </a:rPr>
              <a:t>             </a:t>
            </a:r>
            <a:r>
              <a:rPr lang="en-US" dirty="0">
                <a:solidFill>
                  <a:srgbClr val="7030A0"/>
                </a:solidFill>
                <a:latin typeface="inter-regular"/>
              </a:rPr>
              <a:t>ipconfig </a:t>
            </a:r>
          </a:p>
        </p:txBody>
      </p:sp>
    </p:spTree>
    <p:extLst>
      <p:ext uri="{BB962C8B-B14F-4D97-AF65-F5344CB8AC3E}">
        <p14:creationId xmlns:p14="http://schemas.microsoft.com/office/powerpoint/2010/main" val="1542042523"/>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2FFB0-7093-10E8-E3E4-F995F2C0F30F}"/>
              </a:ext>
            </a:extLst>
          </p:cNvPr>
          <p:cNvSpPr>
            <a:spLocks noGrp="1"/>
          </p:cNvSpPr>
          <p:nvPr>
            <p:ph idx="1"/>
          </p:nvPr>
        </p:nvSpPr>
        <p:spPr>
          <a:xfrm>
            <a:off x="838200" y="522514"/>
            <a:ext cx="10515600" cy="5654449"/>
          </a:xfrm>
        </p:spPr>
        <p:txBody>
          <a:bodyPr>
            <a:normAutofit lnSpcReduction="10000"/>
          </a:bodyPr>
          <a:lstStyle/>
          <a:p>
            <a:pPr marL="0" indent="0">
              <a:lnSpc>
                <a:spcPct val="150000"/>
              </a:lnSpc>
              <a:buNone/>
            </a:pPr>
            <a:r>
              <a:rPr lang="en-US" b="1" dirty="0">
                <a:solidFill>
                  <a:srgbClr val="7030A0"/>
                </a:solidFill>
                <a:latin typeface="inter-regular"/>
              </a:rPr>
              <a:t>2</a:t>
            </a:r>
            <a:r>
              <a:rPr lang="en-US" b="1" dirty="0">
                <a:solidFill>
                  <a:srgbClr val="7030A0"/>
                </a:solidFill>
              </a:rPr>
              <a:t>. </a:t>
            </a:r>
            <a:r>
              <a:rPr lang="en-IN" b="1" i="0" dirty="0">
                <a:solidFill>
                  <a:srgbClr val="7030A0"/>
                </a:solidFill>
                <a:effectLst/>
              </a:rPr>
              <a:t>Port Number</a:t>
            </a:r>
          </a:p>
          <a:p>
            <a:pPr>
              <a:lnSpc>
                <a:spcPct val="150000"/>
              </a:lnSpc>
            </a:pPr>
            <a:r>
              <a:rPr lang="en-US" b="0" i="0" dirty="0">
                <a:solidFill>
                  <a:srgbClr val="333333"/>
                </a:solidFill>
                <a:effectLst/>
              </a:rPr>
              <a:t>The port number is associated with the IP address for communication between two applications.</a:t>
            </a:r>
          </a:p>
          <a:p>
            <a:pPr>
              <a:lnSpc>
                <a:spcPct val="150000"/>
              </a:lnSpc>
            </a:pPr>
            <a:r>
              <a:rPr lang="en-US" b="0" i="0" dirty="0">
                <a:solidFill>
                  <a:srgbClr val="333333"/>
                </a:solidFill>
                <a:effectLst/>
              </a:rPr>
              <a:t>The port number is used to uniquely identify different applications.</a:t>
            </a:r>
            <a:endParaRPr lang="en-IN" dirty="0"/>
          </a:p>
          <a:p>
            <a:pPr>
              <a:lnSpc>
                <a:spcPct val="150000"/>
              </a:lnSpc>
            </a:pPr>
            <a:r>
              <a:rPr lang="en-IN" dirty="0"/>
              <a:t>Total ports 65536</a:t>
            </a:r>
          </a:p>
          <a:p>
            <a:pPr>
              <a:lnSpc>
                <a:spcPct val="150000"/>
              </a:lnSpc>
            </a:pPr>
            <a:r>
              <a:rPr lang="en-IN" dirty="0"/>
              <a:t>Reserved ports 20000</a:t>
            </a:r>
          </a:p>
          <a:p>
            <a:pPr>
              <a:lnSpc>
                <a:spcPct val="150000"/>
              </a:lnSpc>
            </a:pPr>
            <a:r>
              <a:rPr lang="en-IN" dirty="0"/>
              <a:t>Port –20  is File transfer protocol(FTP)</a:t>
            </a:r>
          </a:p>
          <a:p>
            <a:r>
              <a:rPr lang="en-IN" dirty="0"/>
              <a:t>Port –25 is Simple Mail Transfer Protocol(SMTP)</a:t>
            </a:r>
          </a:p>
        </p:txBody>
      </p:sp>
    </p:spTree>
    <p:extLst>
      <p:ext uri="{BB962C8B-B14F-4D97-AF65-F5344CB8AC3E}">
        <p14:creationId xmlns:p14="http://schemas.microsoft.com/office/powerpoint/2010/main" val="160105197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5887D-3681-678B-BA27-17099BD5D838}"/>
              </a:ext>
            </a:extLst>
          </p:cNvPr>
          <p:cNvSpPr>
            <a:spLocks noGrp="1"/>
          </p:cNvSpPr>
          <p:nvPr>
            <p:ph idx="1"/>
          </p:nvPr>
        </p:nvSpPr>
        <p:spPr>
          <a:xfrm>
            <a:off x="838200" y="569167"/>
            <a:ext cx="10515600" cy="5607796"/>
          </a:xfrm>
        </p:spPr>
        <p:txBody>
          <a:bodyPr/>
          <a:lstStyle/>
          <a:p>
            <a:pPr marL="0" indent="0">
              <a:buNone/>
            </a:pPr>
            <a:r>
              <a:rPr lang="en-IN" b="1" i="0" dirty="0">
                <a:solidFill>
                  <a:srgbClr val="7030A0"/>
                </a:solidFill>
                <a:effectLst/>
                <a:latin typeface="erdana"/>
              </a:rPr>
              <a:t>3. Protocol</a:t>
            </a:r>
          </a:p>
          <a:p>
            <a:pPr>
              <a:lnSpc>
                <a:spcPct val="100000"/>
              </a:lnSpc>
            </a:pPr>
            <a:r>
              <a:rPr lang="en-US" b="0" i="0" dirty="0">
                <a:solidFill>
                  <a:srgbClr val="333333"/>
                </a:solidFill>
                <a:effectLst/>
              </a:rPr>
              <a:t>A protocol is a set of rules basically that is followed for communication.</a:t>
            </a:r>
          </a:p>
          <a:p>
            <a:pPr marL="0" indent="0" algn="just">
              <a:lnSpc>
                <a:spcPct val="100000"/>
              </a:lnSpc>
              <a:buNone/>
            </a:pPr>
            <a:r>
              <a:rPr lang="en-IN" b="0" i="0" dirty="0">
                <a:solidFill>
                  <a:srgbClr val="333333"/>
                </a:solidFill>
                <a:effectLst/>
              </a:rPr>
              <a:t>For example:</a:t>
            </a:r>
          </a:p>
          <a:p>
            <a:pPr algn="just">
              <a:lnSpc>
                <a:spcPct val="100000"/>
              </a:lnSpc>
              <a:buFont typeface="Arial" panose="020B0604020202020204" pitchFamily="34" charset="0"/>
              <a:buChar char="•"/>
            </a:pPr>
            <a:r>
              <a:rPr lang="en-IN" b="0" i="0" dirty="0">
                <a:solidFill>
                  <a:srgbClr val="000000"/>
                </a:solidFill>
                <a:effectLst/>
              </a:rPr>
              <a:t>TCP</a:t>
            </a:r>
          </a:p>
          <a:p>
            <a:pPr algn="just">
              <a:lnSpc>
                <a:spcPct val="100000"/>
              </a:lnSpc>
              <a:buFont typeface="Arial" panose="020B0604020202020204" pitchFamily="34" charset="0"/>
              <a:buChar char="•"/>
            </a:pPr>
            <a:r>
              <a:rPr lang="en-IN" dirty="0">
                <a:solidFill>
                  <a:srgbClr val="000000"/>
                </a:solidFill>
              </a:rPr>
              <a:t>UDP</a:t>
            </a:r>
            <a:endParaRPr lang="en-IN" b="0" i="0" dirty="0">
              <a:solidFill>
                <a:srgbClr val="000000"/>
              </a:solidFill>
              <a:effectLst/>
            </a:endParaRPr>
          </a:p>
          <a:p>
            <a:pPr algn="just">
              <a:lnSpc>
                <a:spcPct val="100000"/>
              </a:lnSpc>
              <a:buFont typeface="Arial" panose="020B0604020202020204" pitchFamily="34" charset="0"/>
              <a:buChar char="•"/>
            </a:pPr>
            <a:r>
              <a:rPr lang="en-IN" b="0" i="0" dirty="0">
                <a:solidFill>
                  <a:srgbClr val="000000"/>
                </a:solidFill>
                <a:effectLst/>
              </a:rPr>
              <a:t>FTP</a:t>
            </a:r>
          </a:p>
          <a:p>
            <a:pPr algn="just">
              <a:lnSpc>
                <a:spcPct val="100000"/>
              </a:lnSpc>
              <a:buFont typeface="Arial" panose="020B0604020202020204" pitchFamily="34" charset="0"/>
              <a:buChar char="•"/>
            </a:pPr>
            <a:r>
              <a:rPr lang="en-IN" b="0" i="0" dirty="0">
                <a:solidFill>
                  <a:srgbClr val="000000"/>
                </a:solidFill>
                <a:effectLst/>
              </a:rPr>
              <a:t>Telnet</a:t>
            </a:r>
          </a:p>
          <a:p>
            <a:pPr algn="just">
              <a:lnSpc>
                <a:spcPct val="100000"/>
              </a:lnSpc>
              <a:buFont typeface="Arial" panose="020B0604020202020204" pitchFamily="34" charset="0"/>
              <a:buChar char="•"/>
            </a:pPr>
            <a:r>
              <a:rPr lang="en-IN" b="0" i="0" dirty="0">
                <a:solidFill>
                  <a:srgbClr val="000000"/>
                </a:solidFill>
                <a:effectLst/>
              </a:rPr>
              <a:t>SMTP</a:t>
            </a:r>
          </a:p>
          <a:p>
            <a:pPr algn="just">
              <a:lnSpc>
                <a:spcPct val="100000"/>
              </a:lnSpc>
              <a:buFont typeface="Arial" panose="020B0604020202020204" pitchFamily="34" charset="0"/>
              <a:buChar char="•"/>
            </a:pPr>
            <a:r>
              <a:rPr lang="en-IN" b="0" i="0" dirty="0">
                <a:solidFill>
                  <a:srgbClr val="000000"/>
                </a:solidFill>
                <a:effectLst/>
              </a:rPr>
              <a:t>POP etc.</a:t>
            </a:r>
          </a:p>
          <a:p>
            <a:endParaRPr lang="en-IN" dirty="0"/>
          </a:p>
        </p:txBody>
      </p:sp>
    </p:spTree>
    <p:extLst>
      <p:ext uri="{BB962C8B-B14F-4D97-AF65-F5344CB8AC3E}">
        <p14:creationId xmlns:p14="http://schemas.microsoft.com/office/powerpoint/2010/main" val="253699009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F1EA39-AC6D-A014-4709-9BF016D14EDF}"/>
              </a:ext>
            </a:extLst>
          </p:cNvPr>
          <p:cNvSpPr>
            <a:spLocks noGrp="1"/>
          </p:cNvSpPr>
          <p:nvPr>
            <p:ph idx="1"/>
          </p:nvPr>
        </p:nvSpPr>
        <p:spPr>
          <a:xfrm>
            <a:off x="838200" y="746449"/>
            <a:ext cx="10515600" cy="5430514"/>
          </a:xfrm>
        </p:spPr>
        <p:txBody>
          <a:bodyPr>
            <a:normAutofit/>
          </a:bodyPr>
          <a:lstStyle/>
          <a:p>
            <a:pPr marL="0" indent="0">
              <a:lnSpc>
                <a:spcPct val="150000"/>
              </a:lnSpc>
              <a:buNone/>
            </a:pPr>
            <a:r>
              <a:rPr lang="en-IN" b="1" dirty="0">
                <a:solidFill>
                  <a:srgbClr val="7030A0"/>
                </a:solidFill>
              </a:rPr>
              <a:t>Java socket programming</a:t>
            </a:r>
          </a:p>
          <a:p>
            <a:pPr>
              <a:lnSpc>
                <a:spcPct val="150000"/>
              </a:lnSpc>
            </a:pPr>
            <a:r>
              <a:rPr lang="en-US" b="0" i="0" dirty="0">
                <a:solidFill>
                  <a:srgbClr val="333333"/>
                </a:solidFill>
                <a:effectLst/>
                <a:latin typeface="inter-regular"/>
              </a:rPr>
              <a:t>Java Socket programming is used for </a:t>
            </a:r>
            <a:r>
              <a:rPr lang="en-US" b="1" i="0" dirty="0">
                <a:solidFill>
                  <a:srgbClr val="7030A0"/>
                </a:solidFill>
                <a:effectLst/>
                <a:latin typeface="inter-regular"/>
              </a:rPr>
              <a:t>communication between the applications running on different JRE.</a:t>
            </a:r>
            <a:endParaRPr lang="en-IN" b="1" i="0" dirty="0">
              <a:solidFill>
                <a:srgbClr val="7030A0"/>
              </a:solidFill>
              <a:effectLst/>
              <a:latin typeface="inter-regular"/>
            </a:endParaRPr>
          </a:p>
          <a:p>
            <a:pPr>
              <a:lnSpc>
                <a:spcPct val="150000"/>
              </a:lnSpc>
            </a:pPr>
            <a:r>
              <a:rPr lang="en-US" b="0" i="0" dirty="0">
                <a:solidFill>
                  <a:srgbClr val="333333"/>
                </a:solidFill>
                <a:effectLst/>
                <a:latin typeface="inter-regular"/>
              </a:rPr>
              <a:t>Java Socket programming can be connection-oriented or connection-less.</a:t>
            </a:r>
            <a:endParaRPr lang="en-IN" dirty="0">
              <a:solidFill>
                <a:srgbClr val="333333"/>
              </a:solidFill>
              <a:latin typeface="inter-regular"/>
            </a:endParaRPr>
          </a:p>
          <a:p>
            <a:pPr>
              <a:lnSpc>
                <a:spcPct val="150000"/>
              </a:lnSpc>
            </a:pPr>
            <a:r>
              <a:rPr lang="en-US" b="0" i="0" dirty="0">
                <a:solidFill>
                  <a:srgbClr val="333333"/>
                </a:solidFill>
                <a:effectLst/>
                <a:latin typeface="inter-regular"/>
              </a:rPr>
              <a:t>Socket and </a:t>
            </a:r>
            <a:r>
              <a:rPr lang="en-US" b="0" i="0" dirty="0" err="1">
                <a:solidFill>
                  <a:srgbClr val="333333"/>
                </a:solidFill>
                <a:effectLst/>
                <a:latin typeface="inter-regular"/>
              </a:rPr>
              <a:t>ServerSocket</a:t>
            </a:r>
            <a:r>
              <a:rPr lang="en-US" b="0" i="0" dirty="0">
                <a:solidFill>
                  <a:srgbClr val="333333"/>
                </a:solidFill>
                <a:effectLst/>
                <a:latin typeface="inter-regular"/>
              </a:rPr>
              <a:t> classes are used for connection-oriented socket programming </a:t>
            </a:r>
            <a:endParaRPr lang="en-IN" b="0" i="0" dirty="0">
              <a:solidFill>
                <a:srgbClr val="333333"/>
              </a:solidFill>
              <a:effectLst/>
              <a:latin typeface="inter-regular"/>
            </a:endParaRPr>
          </a:p>
        </p:txBody>
      </p:sp>
    </p:spTree>
    <p:extLst>
      <p:ext uri="{BB962C8B-B14F-4D97-AF65-F5344CB8AC3E}">
        <p14:creationId xmlns:p14="http://schemas.microsoft.com/office/powerpoint/2010/main" val="44659948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6A415A-B0E7-3EC2-2186-CD02DD8C3B67}"/>
              </a:ext>
            </a:extLst>
          </p:cNvPr>
          <p:cNvSpPr>
            <a:spLocks noGrp="1"/>
          </p:cNvSpPr>
          <p:nvPr>
            <p:ph idx="1"/>
          </p:nvPr>
        </p:nvSpPr>
        <p:spPr>
          <a:xfrm>
            <a:off x="838200" y="597160"/>
            <a:ext cx="10515600" cy="5579804"/>
          </a:xfrm>
        </p:spPr>
        <p:txBody>
          <a:bodyPr>
            <a:normAutofit fontScale="92500" lnSpcReduction="10000"/>
          </a:bodyPr>
          <a:lstStyle/>
          <a:p>
            <a:pPr>
              <a:lnSpc>
                <a:spcPct val="150000"/>
              </a:lnSpc>
            </a:pPr>
            <a:r>
              <a:rPr lang="en-US" b="0" i="0" dirty="0">
                <a:solidFill>
                  <a:srgbClr val="333333"/>
                </a:solidFill>
                <a:effectLst/>
              </a:rPr>
              <a:t>The client in socket programming must know two information:</a:t>
            </a:r>
          </a:p>
          <a:p>
            <a:pPr algn="just">
              <a:lnSpc>
                <a:spcPct val="150000"/>
              </a:lnSpc>
              <a:buFont typeface="+mj-lt"/>
              <a:buAutoNum type="arabicPeriod"/>
            </a:pPr>
            <a:r>
              <a:rPr lang="en-US" b="0" i="0" dirty="0">
                <a:solidFill>
                  <a:srgbClr val="000000"/>
                </a:solidFill>
                <a:effectLst/>
              </a:rPr>
              <a:t>IP Address of Server, and</a:t>
            </a:r>
          </a:p>
          <a:p>
            <a:pPr algn="just">
              <a:lnSpc>
                <a:spcPct val="150000"/>
              </a:lnSpc>
              <a:buFont typeface="+mj-lt"/>
              <a:buAutoNum type="arabicPeriod"/>
            </a:pPr>
            <a:r>
              <a:rPr lang="en-US" b="0" i="0" dirty="0">
                <a:solidFill>
                  <a:srgbClr val="000000"/>
                </a:solidFill>
                <a:effectLst/>
              </a:rPr>
              <a:t>Port number.</a:t>
            </a:r>
          </a:p>
          <a:p>
            <a:pPr algn="just">
              <a:lnSpc>
                <a:spcPct val="150000"/>
              </a:lnSpc>
            </a:pPr>
            <a:r>
              <a:rPr lang="en-US" b="0" i="0" dirty="0">
                <a:solidFill>
                  <a:srgbClr val="333333"/>
                </a:solidFill>
                <a:effectLst/>
              </a:rPr>
              <a:t>Here, two classes are being used: Socket and </a:t>
            </a:r>
            <a:r>
              <a:rPr lang="en-US" b="0" i="0" dirty="0" err="1">
                <a:solidFill>
                  <a:srgbClr val="333333"/>
                </a:solidFill>
                <a:effectLst/>
              </a:rPr>
              <a:t>ServerSocket</a:t>
            </a:r>
            <a:endParaRPr lang="en-US" b="0" i="0" dirty="0">
              <a:solidFill>
                <a:srgbClr val="000000"/>
              </a:solidFill>
              <a:effectLst/>
            </a:endParaRPr>
          </a:p>
          <a:p>
            <a:pPr>
              <a:lnSpc>
                <a:spcPct val="150000"/>
              </a:lnSpc>
            </a:pPr>
            <a:r>
              <a:rPr lang="en-US" b="0" i="0" dirty="0">
                <a:solidFill>
                  <a:srgbClr val="333333"/>
                </a:solidFill>
                <a:effectLst/>
              </a:rPr>
              <a:t> The Socket class is used to communicate client and server. </a:t>
            </a:r>
            <a:endParaRPr lang="en-US" dirty="0">
              <a:solidFill>
                <a:srgbClr val="000000"/>
              </a:solidFill>
            </a:endParaRPr>
          </a:p>
          <a:p>
            <a:pPr>
              <a:lnSpc>
                <a:spcPct val="150000"/>
              </a:lnSpc>
            </a:pPr>
            <a:r>
              <a:rPr lang="en-US" b="0" i="0" dirty="0">
                <a:solidFill>
                  <a:srgbClr val="333333"/>
                </a:solidFill>
                <a:effectLst/>
              </a:rPr>
              <a:t>The </a:t>
            </a:r>
            <a:r>
              <a:rPr lang="en-US" b="0" i="0" dirty="0" err="1">
                <a:solidFill>
                  <a:srgbClr val="333333"/>
                </a:solidFill>
                <a:effectLst/>
              </a:rPr>
              <a:t>ServerSocket</a:t>
            </a:r>
            <a:r>
              <a:rPr lang="en-US" b="0" i="0" dirty="0">
                <a:solidFill>
                  <a:srgbClr val="333333"/>
                </a:solidFill>
                <a:effectLst/>
              </a:rPr>
              <a:t> class is used at server-side. </a:t>
            </a:r>
            <a:endParaRPr lang="en-US" b="0" i="0" dirty="0">
              <a:solidFill>
                <a:srgbClr val="000000"/>
              </a:solidFill>
              <a:effectLst/>
            </a:endParaRPr>
          </a:p>
          <a:p>
            <a:pPr>
              <a:lnSpc>
                <a:spcPct val="150000"/>
              </a:lnSpc>
            </a:pPr>
            <a:r>
              <a:rPr lang="en-US" b="0" i="0" dirty="0">
                <a:solidFill>
                  <a:srgbClr val="333333"/>
                </a:solidFill>
                <a:effectLst/>
              </a:rPr>
              <a:t>The accept() method of </a:t>
            </a:r>
            <a:r>
              <a:rPr lang="en-US" b="0" i="0" dirty="0" err="1">
                <a:solidFill>
                  <a:srgbClr val="333333"/>
                </a:solidFill>
                <a:effectLst/>
              </a:rPr>
              <a:t>ServerSocket</a:t>
            </a:r>
            <a:r>
              <a:rPr lang="en-US" b="0" i="0" dirty="0">
                <a:solidFill>
                  <a:srgbClr val="333333"/>
                </a:solidFill>
                <a:effectLst/>
              </a:rPr>
              <a:t> class blocks the console until the client is connected.</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108079925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C192B9-18D6-47C0-DBEA-C7ABA6B12E9C}"/>
              </a:ext>
            </a:extLst>
          </p:cNvPr>
          <p:cNvSpPr>
            <a:spLocks noGrp="1"/>
          </p:cNvSpPr>
          <p:nvPr>
            <p:ph idx="1"/>
          </p:nvPr>
        </p:nvSpPr>
        <p:spPr>
          <a:xfrm>
            <a:off x="838200" y="615820"/>
            <a:ext cx="10515600" cy="5561143"/>
          </a:xfrm>
        </p:spPr>
        <p:txBody>
          <a:bodyPr>
            <a:normAutofit fontScale="85000" lnSpcReduction="20000"/>
          </a:bodyPr>
          <a:lstStyle/>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java.io.*;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java.net.*;  //Server side programming</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MyServer</a:t>
            </a:r>
            <a:r>
              <a:rPr lang="en-IN" b="0" i="0" dirty="0">
                <a:solidFill>
                  <a:srgbClr val="000000"/>
                </a:solidFill>
                <a:effectLst/>
                <a:latin typeface="inter-regular"/>
              </a:rPr>
              <a: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ServerSocket</a:t>
            </a:r>
            <a:r>
              <a:rPr lang="en-IN" b="0" i="0" dirty="0">
                <a:solidFill>
                  <a:srgbClr val="000000"/>
                </a:solidFill>
                <a:effectLst/>
                <a:latin typeface="inter-regular"/>
              </a:rPr>
              <a:t> ss=</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ServerSocket</a:t>
            </a:r>
            <a:r>
              <a:rPr lang="en-IN" b="0" i="0" dirty="0">
                <a:solidFill>
                  <a:srgbClr val="000000"/>
                </a:solidFill>
                <a:effectLst/>
                <a:latin typeface="inter-regular"/>
              </a:rPr>
              <a:t>(</a:t>
            </a:r>
            <a:r>
              <a:rPr lang="en-IN" b="0" i="0" dirty="0">
                <a:solidFill>
                  <a:srgbClr val="C00000"/>
                </a:solidFill>
                <a:effectLst/>
                <a:latin typeface="inter-regular"/>
              </a:rPr>
              <a:t>6666</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Socket s=</a:t>
            </a:r>
            <a:r>
              <a:rPr lang="en-IN" b="0" i="0" dirty="0" err="1">
                <a:solidFill>
                  <a:srgbClr val="000000"/>
                </a:solidFill>
                <a:effectLst/>
                <a:latin typeface="inter-regular"/>
              </a:rPr>
              <a:t>ss.accept</a:t>
            </a:r>
            <a:r>
              <a:rPr lang="en-IN" b="0" i="0" dirty="0">
                <a:solidFill>
                  <a:srgbClr val="000000"/>
                </a:solidFill>
                <a:effectLst/>
                <a:latin typeface="inter-regular"/>
              </a:rPr>
              <a:t>();</a:t>
            </a:r>
          </a:p>
          <a:p>
            <a:pPr marL="0" indent="0" algn="just">
              <a:buNone/>
            </a:pPr>
            <a:r>
              <a:rPr lang="en-IN" b="0" i="0" dirty="0" err="1">
                <a:solidFill>
                  <a:srgbClr val="000000"/>
                </a:solidFill>
                <a:effectLst/>
                <a:latin typeface="inter-regular"/>
              </a:rPr>
              <a:t>DataInputStream</a:t>
            </a:r>
            <a:r>
              <a:rPr lang="en-IN" b="0" i="0" dirty="0">
                <a:solidFill>
                  <a:srgbClr val="000000"/>
                </a:solidFill>
                <a:effectLst/>
                <a:latin typeface="inter-regular"/>
              </a:rPr>
              <a:t> dis=</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DataInputStream</a:t>
            </a:r>
            <a:r>
              <a:rPr lang="en-IN" b="0" i="0" dirty="0">
                <a:solidFill>
                  <a:srgbClr val="000000"/>
                </a:solidFill>
                <a:effectLst/>
                <a:latin typeface="inter-regular"/>
              </a:rPr>
              <a:t>(</a:t>
            </a:r>
            <a:r>
              <a:rPr lang="en-IN" b="0" i="0" dirty="0" err="1">
                <a:solidFill>
                  <a:srgbClr val="000000"/>
                </a:solidFill>
                <a:effectLst/>
                <a:latin typeface="inter-regular"/>
              </a:rPr>
              <a:t>s.getInputStream</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String  str=(String)</a:t>
            </a:r>
            <a:r>
              <a:rPr lang="en-IN" b="0" i="0" dirty="0" err="1">
                <a:solidFill>
                  <a:srgbClr val="000000"/>
                </a:solidFill>
                <a:effectLst/>
                <a:latin typeface="inter-regular"/>
              </a:rPr>
              <a:t>dis.readUTF</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"message= "</a:t>
            </a:r>
            <a:r>
              <a:rPr lang="en-IN" b="0" i="0" dirty="0">
                <a:solidFill>
                  <a:srgbClr val="000000"/>
                </a:solidFill>
                <a:effectLst/>
                <a:latin typeface="inter-regular"/>
              </a:rPr>
              <a:t>+str);  </a:t>
            </a:r>
          </a:p>
          <a:p>
            <a:pPr marL="0" indent="0" algn="just">
              <a:buNone/>
            </a:pPr>
            <a:r>
              <a:rPr lang="en-IN" b="0" i="0" dirty="0" err="1">
                <a:solidFill>
                  <a:srgbClr val="000000"/>
                </a:solidFill>
                <a:effectLst/>
                <a:latin typeface="inter-regular"/>
              </a:rPr>
              <a:t>ss.close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383766637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FBE9D-7DDB-4CEA-B904-0EAD55FA0559}"/>
              </a:ext>
            </a:extLst>
          </p:cNvPr>
          <p:cNvSpPr>
            <a:spLocks noGrp="1"/>
          </p:cNvSpPr>
          <p:nvPr>
            <p:ph idx="1"/>
          </p:nvPr>
        </p:nvSpPr>
        <p:spPr>
          <a:xfrm>
            <a:off x="642257" y="550506"/>
            <a:ext cx="10515600" cy="5523820"/>
          </a:xfrm>
        </p:spPr>
        <p:txBody>
          <a:bodyPr>
            <a:normAutofit fontScale="85000" lnSpcReduction="20000"/>
          </a:bodyPr>
          <a:lstStyle/>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java.io.*;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java.net.*;  //Client side programming</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MyClient</a:t>
            </a:r>
            <a:r>
              <a:rPr lang="en-IN" b="0" i="0" dirty="0">
                <a:solidFill>
                  <a:srgbClr val="000000"/>
                </a:solidFill>
                <a:effectLst/>
                <a:latin typeface="inter-regular"/>
              </a:rPr>
              <a: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  </a:t>
            </a:r>
          </a:p>
          <a:p>
            <a:pPr marL="0" indent="0" algn="just">
              <a:buNone/>
            </a:pP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Socket s=</a:t>
            </a:r>
            <a:r>
              <a:rPr lang="en-IN" b="1" i="0" dirty="0">
                <a:solidFill>
                  <a:srgbClr val="006699"/>
                </a:solidFill>
                <a:effectLst/>
                <a:latin typeface="inter-regular"/>
              </a:rPr>
              <a:t>new</a:t>
            </a:r>
            <a:r>
              <a:rPr lang="en-IN" b="0" i="0" dirty="0">
                <a:solidFill>
                  <a:srgbClr val="000000"/>
                </a:solidFill>
                <a:effectLst/>
                <a:latin typeface="inter-regular"/>
              </a:rPr>
              <a:t> Socket(</a:t>
            </a:r>
            <a:r>
              <a:rPr lang="en-IN" b="0" i="0" dirty="0">
                <a:solidFill>
                  <a:srgbClr val="0000FF"/>
                </a:solidFill>
                <a:effectLst/>
                <a:latin typeface="inter-regular"/>
              </a:rPr>
              <a:t>"localhost"</a:t>
            </a:r>
            <a:r>
              <a:rPr lang="en-IN" b="0" i="0" dirty="0">
                <a:solidFill>
                  <a:srgbClr val="000000"/>
                </a:solidFill>
                <a:effectLst/>
                <a:latin typeface="inter-regular"/>
              </a:rPr>
              <a:t>,</a:t>
            </a:r>
            <a:r>
              <a:rPr lang="en-IN" b="0" i="0" dirty="0">
                <a:solidFill>
                  <a:srgbClr val="C00000"/>
                </a:solidFill>
                <a:effectLst/>
                <a:latin typeface="inter-regular"/>
              </a:rPr>
              <a:t>6666</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DataOutputStream</a:t>
            </a:r>
            <a:r>
              <a:rPr lang="en-IN" b="0" i="0" dirty="0">
                <a:solidFill>
                  <a:srgbClr val="000000"/>
                </a:solidFill>
                <a:effectLst/>
                <a:latin typeface="inter-regular"/>
              </a:rPr>
              <a:t> </a:t>
            </a:r>
            <a:r>
              <a:rPr lang="en-IN" b="0" i="0" dirty="0" err="1">
                <a:solidFill>
                  <a:srgbClr val="000000"/>
                </a:solidFill>
                <a:effectLst/>
                <a:latin typeface="inter-regular"/>
              </a:rPr>
              <a:t>dout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DataOutputStream</a:t>
            </a:r>
            <a:r>
              <a:rPr lang="en-IN" b="0" i="0" dirty="0">
                <a:solidFill>
                  <a:srgbClr val="000000"/>
                </a:solidFill>
                <a:effectLst/>
                <a:latin typeface="inter-regular"/>
              </a:rPr>
              <a:t>(</a:t>
            </a:r>
            <a:r>
              <a:rPr lang="en-IN" b="0" i="0" dirty="0" err="1">
                <a:solidFill>
                  <a:srgbClr val="000000"/>
                </a:solidFill>
                <a:effectLst/>
                <a:latin typeface="inter-regular"/>
              </a:rPr>
              <a:t>s.getOutputStream</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dout.writeUTF</a:t>
            </a:r>
            <a:r>
              <a:rPr lang="en-IN" b="0" i="0" dirty="0">
                <a:solidFill>
                  <a:srgbClr val="000000"/>
                </a:solidFill>
                <a:effectLst/>
                <a:latin typeface="inter-regular"/>
              </a:rPr>
              <a:t>(</a:t>
            </a:r>
            <a:r>
              <a:rPr lang="en-IN" b="0" i="0" dirty="0">
                <a:solidFill>
                  <a:srgbClr val="0000FF"/>
                </a:solidFill>
                <a:effectLst/>
                <a:latin typeface="inter-regular"/>
              </a:rPr>
              <a:t>"Hello Server"</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dout.flush</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dout.close</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s.close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p:txBody>
      </p:sp>
    </p:spTree>
    <p:extLst>
      <p:ext uri="{BB962C8B-B14F-4D97-AF65-F5344CB8AC3E}">
        <p14:creationId xmlns:p14="http://schemas.microsoft.com/office/powerpoint/2010/main" val="390169078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0856-2A22-3E29-C390-5FF9D0B790E0}"/>
              </a:ext>
            </a:extLst>
          </p:cNvPr>
          <p:cNvSpPr>
            <a:spLocks noGrp="1"/>
          </p:cNvSpPr>
          <p:nvPr>
            <p:ph type="ctrTitle"/>
          </p:nvPr>
        </p:nvSpPr>
        <p:spPr/>
        <p:txBody>
          <a:bodyPr/>
          <a:lstStyle/>
          <a:p>
            <a:r>
              <a:rPr lang="en-US" dirty="0"/>
              <a:t>Java Swings</a:t>
            </a:r>
            <a:endParaRPr lang="en-IN" dirty="0"/>
          </a:p>
        </p:txBody>
      </p:sp>
      <p:sp>
        <p:nvSpPr>
          <p:cNvPr id="3" name="Subtitle 2">
            <a:extLst>
              <a:ext uri="{FF2B5EF4-FFF2-40B4-BE49-F238E27FC236}">
                <a16:creationId xmlns:a16="http://schemas.microsoft.com/office/drawing/2014/main" id="{3F349183-4F96-7E09-9A62-C7221C2EFBE3}"/>
              </a:ext>
            </a:extLst>
          </p:cNvPr>
          <p:cNvSpPr>
            <a:spLocks noGrp="1"/>
          </p:cNvSpPr>
          <p:nvPr>
            <p:ph type="subTitle" idx="1"/>
          </p:nvPr>
        </p:nvSpPr>
        <p:spPr/>
        <p:txBody>
          <a:bodyPr>
            <a:normAutofit/>
          </a:bodyPr>
          <a:lstStyle/>
          <a:p>
            <a:r>
              <a:rPr lang="en-US" sz="3600" dirty="0"/>
              <a:t>Event Handling and  Layout Managers</a:t>
            </a:r>
            <a:endParaRPr lang="en-IN" sz="3600" dirty="0"/>
          </a:p>
        </p:txBody>
      </p:sp>
    </p:spTree>
    <p:extLst>
      <p:ext uri="{BB962C8B-B14F-4D97-AF65-F5344CB8AC3E}">
        <p14:creationId xmlns:p14="http://schemas.microsoft.com/office/powerpoint/2010/main" val="3128556010"/>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54815-3B5C-C46A-45F4-7667ABE5711F}"/>
              </a:ext>
            </a:extLst>
          </p:cNvPr>
          <p:cNvSpPr>
            <a:spLocks noGrp="1"/>
          </p:cNvSpPr>
          <p:nvPr>
            <p:ph idx="1"/>
          </p:nvPr>
        </p:nvSpPr>
        <p:spPr>
          <a:xfrm>
            <a:off x="838200" y="569167"/>
            <a:ext cx="10515600" cy="5607796"/>
          </a:xfrm>
        </p:spPr>
        <p:txBody>
          <a:bodyPr/>
          <a:lstStyle/>
          <a:p>
            <a:r>
              <a:rPr lang="en-US" dirty="0"/>
              <a:t>Java Swing</a:t>
            </a:r>
          </a:p>
          <a:p>
            <a:pPr>
              <a:lnSpc>
                <a:spcPct val="150000"/>
              </a:lnSpc>
            </a:pPr>
            <a:r>
              <a:rPr lang="en-US" b="0" i="0" dirty="0">
                <a:solidFill>
                  <a:srgbClr val="202124"/>
                </a:solidFill>
                <a:effectLst/>
              </a:rPr>
              <a:t>Swing in java is part of </a:t>
            </a:r>
            <a:r>
              <a:rPr lang="en-US" b="0" i="0" dirty="0">
                <a:solidFill>
                  <a:srgbClr val="7030A0"/>
                </a:solidFill>
                <a:effectLst/>
              </a:rPr>
              <a:t>Java foundation class </a:t>
            </a:r>
            <a:r>
              <a:rPr lang="en-US" b="0" i="0" dirty="0">
                <a:solidFill>
                  <a:srgbClr val="202124"/>
                </a:solidFill>
                <a:effectLst/>
              </a:rPr>
              <a:t>which is </a:t>
            </a:r>
            <a:r>
              <a:rPr lang="en-US" b="0" i="0" dirty="0">
                <a:solidFill>
                  <a:srgbClr val="7030A0"/>
                </a:solidFill>
                <a:effectLst/>
              </a:rPr>
              <a:t>lightweight</a:t>
            </a:r>
            <a:r>
              <a:rPr lang="en-US" b="0" i="0" dirty="0">
                <a:solidFill>
                  <a:srgbClr val="202124"/>
                </a:solidFill>
                <a:effectLst/>
              </a:rPr>
              <a:t> and </a:t>
            </a:r>
            <a:r>
              <a:rPr lang="en-US" b="0" i="0" dirty="0">
                <a:solidFill>
                  <a:srgbClr val="7030A0"/>
                </a:solidFill>
                <a:effectLst/>
              </a:rPr>
              <a:t>platform independent</a:t>
            </a:r>
            <a:r>
              <a:rPr lang="en-US" b="0" i="0" dirty="0">
                <a:solidFill>
                  <a:srgbClr val="202124"/>
                </a:solidFill>
                <a:effectLst/>
              </a:rPr>
              <a:t>.</a:t>
            </a:r>
          </a:p>
          <a:p>
            <a:pPr>
              <a:lnSpc>
                <a:spcPct val="150000"/>
              </a:lnSpc>
            </a:pPr>
            <a:r>
              <a:rPr lang="en-US" b="0" i="0" dirty="0">
                <a:solidFill>
                  <a:srgbClr val="202124"/>
                </a:solidFill>
                <a:effectLst/>
              </a:rPr>
              <a:t> It is used for </a:t>
            </a:r>
            <a:r>
              <a:rPr lang="en-US" b="1" i="0" dirty="0">
                <a:solidFill>
                  <a:srgbClr val="7030A0"/>
                </a:solidFill>
                <a:effectLst/>
              </a:rPr>
              <a:t>creating window based applications</a:t>
            </a:r>
            <a:r>
              <a:rPr lang="en-US" b="0" i="0" dirty="0">
                <a:solidFill>
                  <a:srgbClr val="202124"/>
                </a:solidFill>
                <a:effectLst/>
              </a:rPr>
              <a:t>. It includes components like button, scroll bar, text field etc.</a:t>
            </a:r>
          </a:p>
          <a:p>
            <a:pPr>
              <a:lnSpc>
                <a:spcPct val="150000"/>
              </a:lnSpc>
            </a:pPr>
            <a:r>
              <a:rPr lang="en-US" b="0" i="0" dirty="0">
                <a:solidFill>
                  <a:srgbClr val="202124"/>
                </a:solidFill>
                <a:effectLst/>
              </a:rPr>
              <a:t> Putting together all these components makes a graphical user interface.</a:t>
            </a:r>
            <a:endParaRPr lang="en-IN" dirty="0"/>
          </a:p>
        </p:txBody>
      </p:sp>
    </p:spTree>
    <p:extLst>
      <p:ext uri="{BB962C8B-B14F-4D97-AF65-F5344CB8AC3E}">
        <p14:creationId xmlns:p14="http://schemas.microsoft.com/office/powerpoint/2010/main" val="393550677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320DA2A-FA23-B861-36BC-BBB942E98A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515" y="606491"/>
            <a:ext cx="11656843" cy="4208208"/>
          </a:xfrm>
        </p:spPr>
      </p:pic>
    </p:spTree>
    <p:extLst>
      <p:ext uri="{BB962C8B-B14F-4D97-AF65-F5344CB8AC3E}">
        <p14:creationId xmlns:p14="http://schemas.microsoft.com/office/powerpoint/2010/main" val="1524043265"/>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A3C1B0-ECA5-E7CB-3F66-30A6EA6717C4}"/>
              </a:ext>
            </a:extLst>
          </p:cNvPr>
          <p:cNvSpPr>
            <a:spLocks noGrp="1"/>
          </p:cNvSpPr>
          <p:nvPr>
            <p:ph idx="1"/>
          </p:nvPr>
        </p:nvSpPr>
        <p:spPr>
          <a:xfrm>
            <a:off x="838200" y="531845"/>
            <a:ext cx="10515600" cy="5645118"/>
          </a:xfrm>
        </p:spPr>
        <p:txBody>
          <a:bodyPr/>
          <a:lstStyle/>
          <a:p>
            <a:pPr marL="0" indent="0">
              <a:lnSpc>
                <a:spcPct val="150000"/>
              </a:lnSpc>
              <a:buNone/>
            </a:pPr>
            <a:r>
              <a:rPr lang="en-IN" dirty="0"/>
              <a:t>GUI</a:t>
            </a:r>
          </a:p>
          <a:p>
            <a:pPr>
              <a:lnSpc>
                <a:spcPct val="150000"/>
              </a:lnSpc>
            </a:pPr>
            <a:r>
              <a:rPr lang="en-US" b="0" i="0" dirty="0">
                <a:solidFill>
                  <a:srgbClr val="040C28"/>
                </a:solidFill>
                <a:effectLst/>
              </a:rPr>
              <a:t>A graphics-based operating system interface that uses icons, menus and a mouse (to click on the icon or pull down the menus) to manage interaction with the system</a:t>
            </a:r>
            <a:r>
              <a:rPr lang="en-US" b="0" i="0" dirty="0">
                <a:solidFill>
                  <a:srgbClr val="202124"/>
                </a:solidFill>
                <a:effectLst/>
              </a:rPr>
              <a:t>.</a:t>
            </a:r>
          </a:p>
          <a:p>
            <a:pPr>
              <a:lnSpc>
                <a:spcPct val="150000"/>
              </a:lnSpc>
            </a:pPr>
            <a:r>
              <a:rPr lang="en-US" b="0" i="0" dirty="0">
                <a:solidFill>
                  <a:srgbClr val="202124"/>
                </a:solidFill>
                <a:effectLst/>
              </a:rPr>
              <a:t>GUIs</a:t>
            </a:r>
            <a:r>
              <a:rPr lang="en-US" b="0" i="0" dirty="0">
                <a:solidFill>
                  <a:srgbClr val="7030A0"/>
                </a:solidFill>
                <a:effectLst/>
              </a:rPr>
              <a:t> </a:t>
            </a:r>
            <a:r>
              <a:rPr lang="en-US" b="1" i="0" dirty="0">
                <a:solidFill>
                  <a:srgbClr val="7030A0"/>
                </a:solidFill>
                <a:effectLst/>
              </a:rPr>
              <a:t>help your users do things within your device, platform, program, or app without needing to type commands or know the coding behind the action</a:t>
            </a:r>
            <a:r>
              <a:rPr lang="en-US" b="0" i="0" dirty="0">
                <a:solidFill>
                  <a:srgbClr val="7030A0"/>
                </a:solidFill>
                <a:effectLst/>
              </a:rPr>
              <a:t>.</a:t>
            </a:r>
            <a:endParaRPr lang="en-IN" dirty="0">
              <a:solidFill>
                <a:srgbClr val="7030A0"/>
              </a:solidFill>
            </a:endParaRPr>
          </a:p>
        </p:txBody>
      </p:sp>
    </p:spTree>
    <p:extLst>
      <p:ext uri="{BB962C8B-B14F-4D97-AF65-F5344CB8AC3E}">
        <p14:creationId xmlns:p14="http://schemas.microsoft.com/office/powerpoint/2010/main" val="188965952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B27844-6D1F-2365-88D3-66CD8F641C36}"/>
              </a:ext>
            </a:extLst>
          </p:cNvPr>
          <p:cNvSpPr>
            <a:spLocks noGrp="1"/>
          </p:cNvSpPr>
          <p:nvPr>
            <p:ph idx="1"/>
          </p:nvPr>
        </p:nvSpPr>
        <p:spPr>
          <a:xfrm>
            <a:off x="838200" y="503853"/>
            <a:ext cx="10515600" cy="5673110"/>
          </a:xfrm>
        </p:spPr>
        <p:txBody>
          <a:bodyPr/>
          <a:lstStyle/>
          <a:p>
            <a:pPr>
              <a:lnSpc>
                <a:spcPct val="150000"/>
              </a:lnSpc>
            </a:pPr>
            <a:r>
              <a:rPr lang="en-IN" dirty="0"/>
              <a:t>Every application  is  a collection of program.</a:t>
            </a:r>
          </a:p>
          <a:p>
            <a:pPr>
              <a:lnSpc>
                <a:spcPct val="150000"/>
              </a:lnSpc>
            </a:pPr>
            <a:r>
              <a:rPr lang="en-IN" dirty="0"/>
              <a:t>But , here we  will call collection of windows , like </a:t>
            </a:r>
            <a:r>
              <a:rPr lang="en-IN" dirty="0" err="1"/>
              <a:t>JFrame</a:t>
            </a:r>
            <a:endParaRPr lang="en-IN" dirty="0"/>
          </a:p>
          <a:p>
            <a:pPr>
              <a:lnSpc>
                <a:spcPct val="150000"/>
              </a:lnSpc>
            </a:pPr>
            <a:r>
              <a:rPr lang="en-IN" dirty="0" err="1">
                <a:latin typeface="Monotype Corsiva" panose="03010101010201010101" pitchFamily="66" charset="0"/>
              </a:rPr>
              <a:t>JFrame</a:t>
            </a:r>
            <a:r>
              <a:rPr lang="en-IN" dirty="0">
                <a:latin typeface="Monotype Corsiva" panose="03010101010201010101" pitchFamily="66" charset="0"/>
              </a:rPr>
              <a:t>  is a class </a:t>
            </a:r>
            <a:r>
              <a:rPr lang="en-IN" dirty="0"/>
              <a:t>in </a:t>
            </a:r>
            <a:r>
              <a:rPr lang="en-IN" dirty="0" err="1"/>
              <a:t>javax.swing</a:t>
            </a:r>
            <a:r>
              <a:rPr lang="en-IN" dirty="0"/>
              <a:t> package.</a:t>
            </a:r>
          </a:p>
          <a:p>
            <a:pPr>
              <a:lnSpc>
                <a:spcPct val="150000"/>
              </a:lnSpc>
            </a:pPr>
            <a:r>
              <a:rPr lang="en-IN" dirty="0"/>
              <a:t>By using this we can create ,</a:t>
            </a:r>
          </a:p>
          <a:p>
            <a:pPr>
              <a:buFont typeface="Wingdings" panose="05000000000000000000" pitchFamily="2" charset="2"/>
              <a:buChar char="ü"/>
            </a:pPr>
            <a:r>
              <a:rPr lang="en-IN" dirty="0"/>
              <a:t>Gamming apps</a:t>
            </a:r>
          </a:p>
          <a:p>
            <a:pPr>
              <a:buFont typeface="Wingdings" panose="05000000000000000000" pitchFamily="2" charset="2"/>
              <a:buChar char="ü"/>
            </a:pPr>
            <a:r>
              <a:rPr lang="en-IN" dirty="0"/>
              <a:t>Billing System</a:t>
            </a:r>
          </a:p>
          <a:p>
            <a:pPr>
              <a:buFont typeface="Wingdings" panose="05000000000000000000" pitchFamily="2" charset="2"/>
              <a:buChar char="ü"/>
            </a:pPr>
            <a:r>
              <a:rPr lang="en-IN" dirty="0"/>
              <a:t>Calculator </a:t>
            </a:r>
          </a:p>
          <a:p>
            <a:pPr>
              <a:buFont typeface="Wingdings" panose="05000000000000000000" pitchFamily="2" charset="2"/>
              <a:buChar char="ü"/>
            </a:pPr>
            <a:r>
              <a:rPr lang="en-IN" dirty="0" err="1"/>
              <a:t>Calander</a:t>
            </a:r>
            <a:r>
              <a:rPr lang="en-IN" dirty="0"/>
              <a:t> </a:t>
            </a:r>
          </a:p>
        </p:txBody>
      </p:sp>
    </p:spTree>
    <p:extLst>
      <p:ext uri="{BB962C8B-B14F-4D97-AF65-F5344CB8AC3E}">
        <p14:creationId xmlns:p14="http://schemas.microsoft.com/office/powerpoint/2010/main" val="2766996443"/>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9AF324-4174-524C-FD46-CA991BB63CD6}"/>
              </a:ext>
            </a:extLst>
          </p:cNvPr>
          <p:cNvSpPr>
            <a:spLocks noGrp="1"/>
          </p:cNvSpPr>
          <p:nvPr>
            <p:ph idx="1"/>
          </p:nvPr>
        </p:nvSpPr>
        <p:spPr>
          <a:xfrm>
            <a:off x="653143" y="541176"/>
            <a:ext cx="10700657" cy="5710432"/>
          </a:xfrm>
        </p:spPr>
        <p:txBody>
          <a:bodyPr/>
          <a:lstStyle/>
          <a:p>
            <a:pPr marL="0" indent="0">
              <a:buNone/>
            </a:pPr>
            <a:r>
              <a:rPr lang="en-IN" b="1" dirty="0">
                <a:solidFill>
                  <a:srgbClr val="7030A0"/>
                </a:solidFill>
                <a:latin typeface="Harlow Solid Italic" panose="04030604020F02020D02" pitchFamily="82" charset="0"/>
              </a:rPr>
              <a:t>Methods</a:t>
            </a:r>
            <a:r>
              <a:rPr lang="en-IN" b="1" dirty="0">
                <a:solidFill>
                  <a:srgbClr val="7030A0"/>
                </a:solidFill>
              </a:rPr>
              <a:t> in java swings</a:t>
            </a:r>
          </a:p>
          <a:p>
            <a:pPr marL="0" indent="0">
              <a:buNone/>
            </a:pPr>
            <a:r>
              <a:rPr lang="en-IN" b="1" dirty="0" err="1">
                <a:solidFill>
                  <a:srgbClr val="7030A0"/>
                </a:solidFill>
              </a:rPr>
              <a:t>JFrame</a:t>
            </a:r>
            <a:endParaRPr lang="en-IN" b="1" dirty="0">
              <a:solidFill>
                <a:srgbClr val="7030A0"/>
              </a:solidFill>
            </a:endParaRPr>
          </a:p>
          <a:p>
            <a:r>
              <a:rPr lang="en-IN" sz="2400" b="1" dirty="0">
                <a:solidFill>
                  <a:srgbClr val="7030A0"/>
                </a:solidFill>
              </a:rPr>
              <a:t>  </a:t>
            </a:r>
            <a:r>
              <a:rPr lang="en-IN" sz="2400" dirty="0">
                <a:solidFill>
                  <a:srgbClr val="0000C0"/>
                </a:solidFill>
                <a:effectLst/>
              </a:rPr>
              <a:t>f</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JFrame</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.setContentPane</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JLabel</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ImageIcon</a:t>
            </a:r>
            <a:r>
              <a:rPr lang="en-IN" sz="2400" dirty="0">
                <a:solidFill>
                  <a:srgbClr val="000000"/>
                </a:solidFill>
                <a:effectLst/>
              </a:rPr>
              <a:t>(</a:t>
            </a:r>
            <a:r>
              <a:rPr lang="en-IN" sz="2400" dirty="0">
                <a:solidFill>
                  <a:srgbClr val="2A00FF"/>
                </a:solidFill>
                <a:effectLst/>
              </a:rPr>
              <a:t>"C:\\Users\\manojana\\OneDrive\\Pictures\\Saved Pictures\\b1.jpg"</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.setSize</a:t>
            </a:r>
            <a:r>
              <a:rPr lang="en-IN" sz="2400" dirty="0">
                <a:solidFill>
                  <a:srgbClr val="000000"/>
                </a:solidFill>
                <a:effectLst/>
              </a:rPr>
              <a:t>(600,600); </a:t>
            </a:r>
          </a:p>
          <a:p>
            <a:r>
              <a:rPr lang="en-IN" sz="2400" dirty="0" err="1">
                <a:solidFill>
                  <a:srgbClr val="0000C0"/>
                </a:solidFill>
                <a:effectLst/>
              </a:rPr>
              <a:t>f</a:t>
            </a:r>
            <a:r>
              <a:rPr lang="en-IN" sz="2400" dirty="0" err="1">
                <a:solidFill>
                  <a:srgbClr val="000000"/>
                </a:solidFill>
                <a:effectLst/>
              </a:rPr>
              <a:t>.setLayout</a:t>
            </a:r>
            <a:r>
              <a:rPr lang="en-IN" sz="2400" dirty="0">
                <a:solidFill>
                  <a:srgbClr val="000000"/>
                </a:solidFill>
                <a:effectLst/>
              </a:rPr>
              <a:t>(</a:t>
            </a:r>
            <a:r>
              <a:rPr lang="en-IN" sz="2400" b="1" dirty="0">
                <a:solidFill>
                  <a:srgbClr val="7F0055"/>
                </a:solidFill>
                <a:effectLst/>
              </a:rPr>
              <a:t>null</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.setVisible</a:t>
            </a:r>
            <a:r>
              <a:rPr lang="en-IN" sz="2400" dirty="0">
                <a:solidFill>
                  <a:srgbClr val="000000"/>
                </a:solidFill>
                <a:effectLst/>
              </a:rPr>
              <a:t>(</a:t>
            </a:r>
            <a:r>
              <a:rPr lang="en-IN" sz="2400" b="1" dirty="0">
                <a:solidFill>
                  <a:srgbClr val="7F0055"/>
                </a:solidFill>
                <a:effectLst/>
              </a:rPr>
              <a:t>true</a:t>
            </a:r>
            <a:r>
              <a:rPr lang="en-IN" sz="2400" dirty="0">
                <a:solidFill>
                  <a:srgbClr val="000000"/>
                </a:solidFill>
                <a:effectLst/>
              </a:rPr>
              <a:t>);</a:t>
            </a:r>
          </a:p>
          <a:p>
            <a:pPr marL="0" indent="0">
              <a:buNone/>
            </a:pPr>
            <a:endParaRPr lang="en-IN" b="1" dirty="0">
              <a:solidFill>
                <a:srgbClr val="7030A0"/>
              </a:solidFill>
            </a:endParaRPr>
          </a:p>
          <a:p>
            <a:pPr marL="0" indent="0">
              <a:buNone/>
            </a:pPr>
            <a:endParaRPr lang="en-IN" b="1" dirty="0">
              <a:solidFill>
                <a:srgbClr val="7030A0"/>
              </a:solidFill>
            </a:endParaRPr>
          </a:p>
        </p:txBody>
      </p:sp>
      <p:pic>
        <p:nvPicPr>
          <p:cNvPr id="5" name="Picture 4">
            <a:extLst>
              <a:ext uri="{FF2B5EF4-FFF2-40B4-BE49-F238E27FC236}">
                <a16:creationId xmlns:a16="http://schemas.microsoft.com/office/drawing/2014/main" id="{53E7EA77-1765-7854-F892-2A226D784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5347" y="2896244"/>
            <a:ext cx="4791080" cy="3420580"/>
          </a:xfrm>
          <a:prstGeom prst="rect">
            <a:avLst/>
          </a:prstGeom>
        </p:spPr>
      </p:pic>
    </p:spTree>
    <p:extLst>
      <p:ext uri="{BB962C8B-B14F-4D97-AF65-F5344CB8AC3E}">
        <p14:creationId xmlns:p14="http://schemas.microsoft.com/office/powerpoint/2010/main" val="523465123"/>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D3E5A-3CA6-F25D-FAB1-21B9489A7A78}"/>
              </a:ext>
            </a:extLst>
          </p:cNvPr>
          <p:cNvSpPr>
            <a:spLocks noGrp="1"/>
          </p:cNvSpPr>
          <p:nvPr>
            <p:ph idx="1"/>
          </p:nvPr>
        </p:nvSpPr>
        <p:spPr>
          <a:xfrm>
            <a:off x="838200" y="307910"/>
            <a:ext cx="10515600" cy="5775747"/>
          </a:xfrm>
        </p:spPr>
        <p:txBody>
          <a:bodyPr/>
          <a:lstStyle/>
          <a:p>
            <a:pPr marL="0" indent="0">
              <a:buNone/>
            </a:pPr>
            <a:r>
              <a:rPr lang="en-IN" b="1" dirty="0" err="1">
                <a:solidFill>
                  <a:srgbClr val="7030A0"/>
                </a:solidFill>
              </a:rPr>
              <a:t>JLabel</a:t>
            </a:r>
            <a:endParaRPr lang="en-IN" b="1" dirty="0">
              <a:solidFill>
                <a:srgbClr val="7030A0"/>
              </a:solidFill>
            </a:endParaRPr>
          </a:p>
          <a:p>
            <a:r>
              <a:rPr lang="en-IN" sz="2400" dirty="0">
                <a:solidFill>
                  <a:srgbClr val="0000C0"/>
                </a:solidFill>
                <a:effectLst/>
              </a:rPr>
              <a:t>l1</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JLabel</a:t>
            </a:r>
            <a:r>
              <a:rPr lang="en-IN" sz="2400" dirty="0">
                <a:solidFill>
                  <a:srgbClr val="000000"/>
                </a:solidFill>
                <a:effectLst/>
              </a:rPr>
              <a:t>(</a:t>
            </a:r>
            <a:r>
              <a:rPr lang="en-IN" sz="2400" dirty="0">
                <a:solidFill>
                  <a:srgbClr val="2A00FF"/>
                </a:solidFill>
                <a:effectLst/>
              </a:rPr>
              <a:t>"welcome to JMSMK TRAVELS"</a:t>
            </a:r>
            <a:r>
              <a:rPr lang="en-IN" sz="2400" dirty="0">
                <a:solidFill>
                  <a:srgbClr val="000000"/>
                </a:solidFill>
                <a:effectLst/>
              </a:rPr>
              <a:t>);</a:t>
            </a:r>
          </a:p>
          <a:p>
            <a:r>
              <a:rPr lang="en-IN" sz="2400" dirty="0">
                <a:solidFill>
                  <a:srgbClr val="0000C0"/>
                </a:solidFill>
                <a:effectLst/>
              </a:rPr>
              <a:t>l1</a:t>
            </a:r>
            <a:r>
              <a:rPr lang="en-IN" sz="2400" dirty="0">
                <a:solidFill>
                  <a:srgbClr val="000000"/>
                </a:solidFill>
                <a:effectLst/>
              </a:rPr>
              <a:t>.setBounds(350, 20, 500, 50);</a:t>
            </a:r>
          </a:p>
          <a:p>
            <a:r>
              <a:rPr lang="en-IN" sz="2400" dirty="0">
                <a:solidFill>
                  <a:srgbClr val="0000C0"/>
                </a:solidFill>
                <a:effectLst/>
              </a:rPr>
              <a:t>l1</a:t>
            </a:r>
            <a:r>
              <a:rPr lang="en-IN" sz="2400" dirty="0">
                <a:solidFill>
                  <a:srgbClr val="000000"/>
                </a:solidFill>
                <a:effectLst/>
              </a:rPr>
              <a:t>.setFont(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"Times new roman"</a:t>
            </a:r>
            <a:r>
              <a:rPr lang="en-IN" sz="2400" dirty="0">
                <a:solidFill>
                  <a:srgbClr val="000000"/>
                </a:solidFill>
                <a:effectLst/>
              </a:rPr>
              <a:t>,Font.</a:t>
            </a:r>
            <a:r>
              <a:rPr lang="en-IN" sz="2400" b="1" i="1" dirty="0">
                <a:solidFill>
                  <a:srgbClr val="0000C0"/>
                </a:solidFill>
                <a:effectLst/>
              </a:rPr>
              <a:t>ITALIC</a:t>
            </a:r>
            <a:r>
              <a:rPr lang="en-IN" sz="2400" dirty="0">
                <a:solidFill>
                  <a:srgbClr val="000000"/>
                </a:solidFill>
                <a:effectLst/>
              </a:rPr>
              <a:t>,40));</a:t>
            </a:r>
          </a:p>
          <a:p>
            <a:r>
              <a:rPr lang="en-IN" sz="2400" dirty="0">
                <a:solidFill>
                  <a:srgbClr val="0000C0"/>
                </a:solidFill>
                <a:effectLst/>
              </a:rPr>
              <a:t>l1</a:t>
            </a:r>
            <a:r>
              <a:rPr lang="en-IN" sz="2400" dirty="0">
                <a:solidFill>
                  <a:srgbClr val="000000"/>
                </a:solidFill>
                <a:effectLst/>
              </a:rPr>
              <a:t>.setForeground(</a:t>
            </a:r>
            <a:r>
              <a:rPr lang="en-IN" sz="2400" dirty="0" err="1">
                <a:solidFill>
                  <a:srgbClr val="000000"/>
                </a:solidFill>
                <a:effectLst/>
              </a:rPr>
              <a:t>Color.</a:t>
            </a:r>
            <a:r>
              <a:rPr lang="en-IN" sz="2400" b="1" i="1" dirty="0" err="1">
                <a:solidFill>
                  <a:srgbClr val="0000C0"/>
                </a:solidFill>
                <a:effectLst/>
              </a:rPr>
              <a:t>black</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l1</a:t>
            </a:r>
            <a:r>
              <a:rPr lang="en-IN" sz="2400" dirty="0">
                <a:solidFill>
                  <a:srgbClr val="000000"/>
                </a:solidFill>
                <a:effectLst/>
              </a:rPr>
              <a:t>);</a:t>
            </a:r>
          </a:p>
          <a:p>
            <a:pPr marL="0" indent="0">
              <a:buNone/>
            </a:pPr>
            <a:endParaRPr lang="en-IN" b="1" dirty="0">
              <a:solidFill>
                <a:srgbClr val="7030A0"/>
              </a:solidFill>
            </a:endParaRPr>
          </a:p>
          <a:p>
            <a:pPr marL="0" indent="0">
              <a:buNone/>
            </a:pPr>
            <a:endParaRPr lang="en-IN" b="1" dirty="0">
              <a:solidFill>
                <a:srgbClr val="7030A0"/>
              </a:solidFill>
            </a:endParaRPr>
          </a:p>
        </p:txBody>
      </p:sp>
      <p:pic>
        <p:nvPicPr>
          <p:cNvPr id="5" name="Picture 4">
            <a:extLst>
              <a:ext uri="{FF2B5EF4-FFF2-40B4-BE49-F238E27FC236}">
                <a16:creationId xmlns:a16="http://schemas.microsoft.com/office/drawing/2014/main" id="{94CBF7A7-25DC-FF81-308B-487E171AD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7067" y="2444622"/>
            <a:ext cx="4404049" cy="3956178"/>
          </a:xfrm>
          <a:prstGeom prst="rect">
            <a:avLst/>
          </a:prstGeom>
        </p:spPr>
      </p:pic>
    </p:spTree>
    <p:extLst>
      <p:ext uri="{BB962C8B-B14F-4D97-AF65-F5344CB8AC3E}">
        <p14:creationId xmlns:p14="http://schemas.microsoft.com/office/powerpoint/2010/main" val="107117893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D79EB-DB4B-3396-06C3-0A15C5C49657}"/>
              </a:ext>
            </a:extLst>
          </p:cNvPr>
          <p:cNvSpPr>
            <a:spLocks noGrp="1"/>
          </p:cNvSpPr>
          <p:nvPr>
            <p:ph idx="1"/>
          </p:nvPr>
        </p:nvSpPr>
        <p:spPr>
          <a:xfrm>
            <a:off x="838200" y="615820"/>
            <a:ext cx="10515600" cy="5411854"/>
          </a:xfrm>
        </p:spPr>
        <p:txBody>
          <a:bodyPr>
            <a:normAutofit/>
          </a:bodyPr>
          <a:lstStyle/>
          <a:p>
            <a:r>
              <a:rPr lang="en-IN" b="1" dirty="0" err="1">
                <a:solidFill>
                  <a:srgbClr val="7030A0"/>
                </a:solidFill>
              </a:rPr>
              <a:t>JButton</a:t>
            </a:r>
            <a:endParaRPr lang="en-IN" b="1" dirty="0">
              <a:solidFill>
                <a:srgbClr val="7030A0"/>
              </a:solidFill>
            </a:endParaRPr>
          </a:p>
          <a:p>
            <a:r>
              <a:rPr lang="en-IN" sz="1800" dirty="0">
                <a:solidFill>
                  <a:srgbClr val="0000C0"/>
                </a:solidFill>
                <a:effectLst/>
              </a:rPr>
              <a:t>b13</a:t>
            </a:r>
            <a:r>
              <a:rPr lang="en-IN" sz="1800" dirty="0">
                <a:solidFill>
                  <a:srgbClr val="000000"/>
                </a:solidFill>
                <a:effectLst/>
              </a:rPr>
              <a:t>=</a:t>
            </a:r>
            <a:r>
              <a:rPr lang="en-IN" sz="1800" b="1" dirty="0">
                <a:solidFill>
                  <a:srgbClr val="7F0055"/>
                </a:solidFill>
                <a:effectLst/>
              </a:rPr>
              <a:t>new</a:t>
            </a:r>
            <a:r>
              <a:rPr lang="en-IN" sz="1800" dirty="0">
                <a:solidFill>
                  <a:srgbClr val="000000"/>
                </a:solidFill>
                <a:effectLst/>
              </a:rPr>
              <a:t> </a:t>
            </a:r>
            <a:r>
              <a:rPr lang="en-IN" sz="1800" dirty="0" err="1">
                <a:solidFill>
                  <a:srgbClr val="000000"/>
                </a:solidFill>
                <a:effectLst/>
              </a:rPr>
              <a:t>JButton</a:t>
            </a:r>
            <a:r>
              <a:rPr lang="en-IN" sz="1800" dirty="0">
                <a:solidFill>
                  <a:srgbClr val="000000"/>
                </a:solidFill>
                <a:effectLst/>
              </a:rPr>
              <a:t>(</a:t>
            </a:r>
            <a:r>
              <a:rPr lang="en-IN" sz="1800" dirty="0">
                <a:solidFill>
                  <a:srgbClr val="2A00FF"/>
                </a:solidFill>
                <a:effectLst/>
              </a:rPr>
              <a:t>"Book"</a:t>
            </a:r>
            <a:r>
              <a:rPr lang="en-IN" sz="1800" dirty="0">
                <a:solidFill>
                  <a:srgbClr val="000000"/>
                </a:solidFill>
                <a:effectLst/>
              </a:rPr>
              <a:t>);</a:t>
            </a:r>
          </a:p>
          <a:p>
            <a:r>
              <a:rPr lang="en-IN" sz="1800" dirty="0">
                <a:solidFill>
                  <a:srgbClr val="0000C0"/>
                </a:solidFill>
                <a:effectLst/>
              </a:rPr>
              <a:t>b13</a:t>
            </a:r>
            <a:r>
              <a:rPr lang="en-IN" sz="1800" dirty="0">
                <a:solidFill>
                  <a:srgbClr val="000000"/>
                </a:solidFill>
                <a:effectLst/>
              </a:rPr>
              <a:t>.setBounds(400, 485, 80, 60);</a:t>
            </a:r>
          </a:p>
          <a:p>
            <a:r>
              <a:rPr lang="en-IN" sz="1800" dirty="0">
                <a:solidFill>
                  <a:srgbClr val="0000C0"/>
                </a:solidFill>
                <a:effectLst/>
              </a:rPr>
              <a:t>b13</a:t>
            </a:r>
            <a:r>
              <a:rPr lang="en-IN" sz="1800" dirty="0">
                <a:solidFill>
                  <a:srgbClr val="000000"/>
                </a:solidFill>
                <a:effectLst/>
              </a:rPr>
              <a:t>.setFont(</a:t>
            </a:r>
            <a:r>
              <a:rPr lang="en-IN" sz="1800" b="1" dirty="0">
                <a:solidFill>
                  <a:srgbClr val="7F0055"/>
                </a:solidFill>
                <a:effectLst/>
              </a:rPr>
              <a:t>new</a:t>
            </a:r>
            <a:r>
              <a:rPr lang="en-IN" sz="1800" dirty="0">
                <a:solidFill>
                  <a:srgbClr val="000000"/>
                </a:solidFill>
                <a:effectLst/>
              </a:rPr>
              <a:t> Font(</a:t>
            </a:r>
            <a:r>
              <a:rPr lang="en-IN" sz="1800" dirty="0">
                <a:solidFill>
                  <a:srgbClr val="2A00FF"/>
                </a:solidFill>
                <a:effectLst/>
              </a:rPr>
              <a:t>"Times new roman"</a:t>
            </a:r>
            <a:r>
              <a:rPr lang="en-IN" sz="1800" dirty="0">
                <a:solidFill>
                  <a:srgbClr val="000000"/>
                </a:solidFill>
                <a:effectLst/>
              </a:rPr>
              <a:t>,Font.</a:t>
            </a:r>
            <a:r>
              <a:rPr lang="en-IN" sz="1800" b="1" i="1" dirty="0">
                <a:solidFill>
                  <a:srgbClr val="0000C0"/>
                </a:solidFill>
                <a:effectLst/>
              </a:rPr>
              <a:t>ITALIC</a:t>
            </a:r>
            <a:r>
              <a:rPr lang="en-IN" sz="1800" dirty="0">
                <a:solidFill>
                  <a:srgbClr val="000000"/>
                </a:solidFill>
                <a:effectLst/>
              </a:rPr>
              <a:t>,20));</a:t>
            </a:r>
          </a:p>
          <a:p>
            <a:r>
              <a:rPr lang="en-IN" sz="1800" dirty="0" err="1">
                <a:solidFill>
                  <a:srgbClr val="0000C0"/>
                </a:solidFill>
                <a:effectLst/>
              </a:rPr>
              <a:t>f</a:t>
            </a:r>
            <a:r>
              <a:rPr lang="en-IN" sz="1800" dirty="0" err="1">
                <a:solidFill>
                  <a:srgbClr val="000000"/>
                </a:solidFill>
                <a:effectLst/>
              </a:rPr>
              <a:t>.add</a:t>
            </a:r>
            <a:r>
              <a:rPr lang="en-IN" sz="1800" dirty="0">
                <a:solidFill>
                  <a:srgbClr val="000000"/>
                </a:solidFill>
                <a:effectLst/>
              </a:rPr>
              <a:t>(</a:t>
            </a:r>
            <a:r>
              <a:rPr lang="en-IN" sz="1800" dirty="0">
                <a:solidFill>
                  <a:srgbClr val="0000C0"/>
                </a:solidFill>
                <a:effectLst/>
              </a:rPr>
              <a:t>b13</a:t>
            </a:r>
            <a:r>
              <a:rPr lang="en-IN" sz="1800" dirty="0">
                <a:solidFill>
                  <a:srgbClr val="000000"/>
                </a:solidFill>
                <a:effectLst/>
              </a:rPr>
              <a:t>);</a:t>
            </a:r>
            <a:endParaRPr lang="en-IN" sz="1800" dirty="0"/>
          </a:p>
          <a:p>
            <a:r>
              <a:rPr lang="en-IN" b="1" dirty="0">
                <a:solidFill>
                  <a:srgbClr val="7030A0"/>
                </a:solidFill>
              </a:rPr>
              <a:t>Radio Button</a:t>
            </a:r>
          </a:p>
          <a:p>
            <a:r>
              <a:rPr lang="en-IN" sz="2400" dirty="0">
                <a:solidFill>
                  <a:srgbClr val="0000C0"/>
                </a:solidFill>
                <a:effectLst/>
              </a:rPr>
              <a:t>male</a:t>
            </a:r>
            <a:r>
              <a:rPr lang="en-IN" sz="2400" dirty="0">
                <a:solidFill>
                  <a:srgbClr val="000000"/>
                </a:solidFill>
                <a:effectLst/>
              </a:rPr>
              <a:t> = </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JRadioButton</a:t>
            </a:r>
            <a:r>
              <a:rPr lang="en-IN" sz="2400" dirty="0">
                <a:solidFill>
                  <a:srgbClr val="000000"/>
                </a:solidFill>
                <a:effectLst/>
              </a:rPr>
              <a:t>(</a:t>
            </a:r>
            <a:r>
              <a:rPr lang="en-IN" sz="2400" dirty="0">
                <a:solidFill>
                  <a:srgbClr val="2A00FF"/>
                </a:solidFill>
                <a:effectLst/>
              </a:rPr>
              <a:t>"Male"</a:t>
            </a:r>
            <a:r>
              <a:rPr lang="en-IN" sz="2400" dirty="0">
                <a:solidFill>
                  <a:srgbClr val="000000"/>
                </a:solidFill>
                <a:effectLst/>
              </a:rPr>
              <a:t>);</a:t>
            </a:r>
          </a:p>
          <a:p>
            <a:r>
              <a:rPr lang="en-IN" sz="2400" dirty="0" err="1">
                <a:solidFill>
                  <a:srgbClr val="0000C0"/>
                </a:solidFill>
                <a:effectLst/>
              </a:rPr>
              <a:t>male</a:t>
            </a:r>
            <a:r>
              <a:rPr lang="en-IN" sz="2400" dirty="0" err="1">
                <a:solidFill>
                  <a:srgbClr val="000000"/>
                </a:solidFill>
                <a:effectLst/>
              </a:rPr>
              <a:t>.setFont</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"Arial"</a:t>
            </a:r>
            <a:r>
              <a:rPr lang="en-IN" sz="2400" dirty="0">
                <a:solidFill>
                  <a:srgbClr val="000000"/>
                </a:solidFill>
                <a:effectLst/>
              </a:rPr>
              <a:t>, </a:t>
            </a:r>
            <a:r>
              <a:rPr lang="en-IN" sz="2400" dirty="0" err="1">
                <a:solidFill>
                  <a:srgbClr val="000000"/>
                </a:solidFill>
                <a:effectLst/>
              </a:rPr>
              <a:t>Font.</a:t>
            </a:r>
            <a:r>
              <a:rPr lang="en-IN" sz="2400" b="1" i="1" dirty="0" err="1">
                <a:solidFill>
                  <a:srgbClr val="0000C0"/>
                </a:solidFill>
                <a:effectLst/>
              </a:rPr>
              <a:t>PLAIN</a:t>
            </a:r>
            <a:r>
              <a:rPr lang="en-IN" sz="2400" dirty="0">
                <a:solidFill>
                  <a:srgbClr val="000000"/>
                </a:solidFill>
                <a:effectLst/>
              </a:rPr>
              <a:t>, 15));</a:t>
            </a:r>
          </a:p>
          <a:p>
            <a:r>
              <a:rPr lang="en-IN" sz="2400" dirty="0" err="1">
                <a:solidFill>
                  <a:srgbClr val="0000C0"/>
                </a:solidFill>
                <a:effectLst/>
              </a:rPr>
              <a:t>male</a:t>
            </a:r>
            <a:r>
              <a:rPr lang="en-IN" sz="2400" dirty="0" err="1">
                <a:solidFill>
                  <a:srgbClr val="000000"/>
                </a:solidFill>
                <a:effectLst/>
              </a:rPr>
              <a:t>.setSelected</a:t>
            </a:r>
            <a:r>
              <a:rPr lang="en-IN" sz="2400" dirty="0">
                <a:solidFill>
                  <a:srgbClr val="000000"/>
                </a:solidFill>
                <a:effectLst/>
              </a:rPr>
              <a:t>(</a:t>
            </a:r>
            <a:r>
              <a:rPr lang="en-IN" sz="2400" b="1" dirty="0">
                <a:solidFill>
                  <a:srgbClr val="7F0055"/>
                </a:solidFill>
                <a:effectLst/>
              </a:rPr>
              <a:t>true</a:t>
            </a:r>
            <a:r>
              <a:rPr lang="en-IN" sz="2400" dirty="0">
                <a:solidFill>
                  <a:srgbClr val="000000"/>
                </a:solidFill>
                <a:effectLst/>
              </a:rPr>
              <a:t>);</a:t>
            </a:r>
          </a:p>
          <a:p>
            <a:r>
              <a:rPr lang="en-IN" sz="2400" dirty="0" err="1">
                <a:solidFill>
                  <a:srgbClr val="0000C0"/>
                </a:solidFill>
                <a:effectLst/>
              </a:rPr>
              <a:t>male</a:t>
            </a:r>
            <a:r>
              <a:rPr lang="en-IN" sz="2400" dirty="0" err="1">
                <a:solidFill>
                  <a:srgbClr val="000000"/>
                </a:solidFill>
                <a:effectLst/>
              </a:rPr>
              <a:t>.setBounds</a:t>
            </a:r>
            <a:r>
              <a:rPr lang="en-IN" sz="2400" dirty="0">
                <a:solidFill>
                  <a:srgbClr val="000000"/>
                </a:solidFill>
                <a:effectLst/>
              </a:rPr>
              <a:t>(820, 200, 60, 60);</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male</a:t>
            </a:r>
            <a:r>
              <a:rPr lang="en-IN" sz="2400" dirty="0">
                <a:solidFill>
                  <a:srgbClr val="000000"/>
                </a:solidFill>
                <a:effectLst/>
              </a:rPr>
              <a:t>);</a:t>
            </a:r>
          </a:p>
          <a:p>
            <a:endParaRPr lang="en-IN" dirty="0"/>
          </a:p>
          <a:p>
            <a:endParaRPr lang="en-IN" dirty="0"/>
          </a:p>
          <a:p>
            <a:endParaRPr lang="en-IN" dirty="0"/>
          </a:p>
        </p:txBody>
      </p:sp>
      <p:pic>
        <p:nvPicPr>
          <p:cNvPr id="5" name="Picture 4">
            <a:extLst>
              <a:ext uri="{FF2B5EF4-FFF2-40B4-BE49-F238E27FC236}">
                <a16:creationId xmlns:a16="http://schemas.microsoft.com/office/drawing/2014/main" id="{0B1414F2-9434-1C37-6909-34F8155D5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9299" y="401068"/>
            <a:ext cx="4616164" cy="2705927"/>
          </a:xfrm>
          <a:prstGeom prst="rect">
            <a:avLst/>
          </a:prstGeom>
        </p:spPr>
      </p:pic>
      <p:pic>
        <p:nvPicPr>
          <p:cNvPr id="7" name="Picture 6">
            <a:extLst>
              <a:ext uri="{FF2B5EF4-FFF2-40B4-BE49-F238E27FC236}">
                <a16:creationId xmlns:a16="http://schemas.microsoft.com/office/drawing/2014/main" id="{6744BC41-0EF8-23C5-577C-C8F855B31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9929" y="3161789"/>
            <a:ext cx="4616163" cy="2811091"/>
          </a:xfrm>
          <a:prstGeom prst="rect">
            <a:avLst/>
          </a:prstGeom>
        </p:spPr>
      </p:pic>
    </p:spTree>
    <p:extLst>
      <p:ext uri="{BB962C8B-B14F-4D97-AF65-F5344CB8AC3E}">
        <p14:creationId xmlns:p14="http://schemas.microsoft.com/office/powerpoint/2010/main" val="1497360601"/>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BA21FD-37A3-6DE1-B4E1-93581BBFCFC6}"/>
              </a:ext>
            </a:extLst>
          </p:cNvPr>
          <p:cNvSpPr>
            <a:spLocks noGrp="1"/>
          </p:cNvSpPr>
          <p:nvPr>
            <p:ph idx="1"/>
          </p:nvPr>
        </p:nvSpPr>
        <p:spPr>
          <a:xfrm>
            <a:off x="838200" y="587829"/>
            <a:ext cx="10515600" cy="5589134"/>
          </a:xfrm>
        </p:spPr>
        <p:txBody>
          <a:bodyPr/>
          <a:lstStyle/>
          <a:p>
            <a:r>
              <a:rPr lang="en-IN" b="1" dirty="0">
                <a:solidFill>
                  <a:srgbClr val="7030A0"/>
                </a:solidFill>
              </a:rPr>
              <a:t>Radio Button</a:t>
            </a:r>
          </a:p>
          <a:p>
            <a:r>
              <a:rPr lang="en-IN" sz="2000" dirty="0">
                <a:solidFill>
                  <a:srgbClr val="0000C0"/>
                </a:solidFill>
                <a:effectLst/>
              </a:rPr>
              <a:t>female</a:t>
            </a:r>
            <a:r>
              <a:rPr lang="en-IN" sz="2000" dirty="0">
                <a:solidFill>
                  <a:srgbClr val="000000"/>
                </a:solidFill>
                <a:effectLst/>
              </a:rPr>
              <a:t> = </a:t>
            </a:r>
            <a:r>
              <a:rPr lang="en-IN" sz="2000" b="1" dirty="0">
                <a:solidFill>
                  <a:srgbClr val="7F0055"/>
                </a:solidFill>
                <a:effectLst/>
              </a:rPr>
              <a:t>new</a:t>
            </a:r>
            <a:r>
              <a:rPr lang="en-IN" sz="2000" dirty="0">
                <a:solidFill>
                  <a:srgbClr val="000000"/>
                </a:solidFill>
                <a:effectLst/>
              </a:rPr>
              <a:t> </a:t>
            </a:r>
            <a:r>
              <a:rPr lang="en-IN" sz="2000" dirty="0" err="1">
                <a:solidFill>
                  <a:srgbClr val="000000"/>
                </a:solidFill>
                <a:effectLst/>
              </a:rPr>
              <a:t>JRadioButton</a:t>
            </a:r>
            <a:r>
              <a:rPr lang="en-IN" sz="2000" dirty="0">
                <a:solidFill>
                  <a:srgbClr val="000000"/>
                </a:solidFill>
                <a:effectLst/>
              </a:rPr>
              <a:t>(</a:t>
            </a:r>
            <a:r>
              <a:rPr lang="en-IN" sz="2000" dirty="0">
                <a:solidFill>
                  <a:srgbClr val="2A00FF"/>
                </a:solidFill>
                <a:effectLst/>
              </a:rPr>
              <a:t>"Female"</a:t>
            </a:r>
            <a:r>
              <a:rPr lang="en-IN" sz="2000" dirty="0">
                <a:solidFill>
                  <a:srgbClr val="000000"/>
                </a:solidFill>
                <a:effectLst/>
              </a:rPr>
              <a:t>);</a:t>
            </a:r>
          </a:p>
          <a:p>
            <a:r>
              <a:rPr lang="en-IN" sz="2000" dirty="0" err="1">
                <a:solidFill>
                  <a:srgbClr val="0000C0"/>
                </a:solidFill>
                <a:effectLst/>
              </a:rPr>
              <a:t>female</a:t>
            </a:r>
            <a:r>
              <a:rPr lang="en-IN" sz="2000" dirty="0" err="1">
                <a:solidFill>
                  <a:srgbClr val="000000"/>
                </a:solidFill>
                <a:effectLst/>
              </a:rPr>
              <a:t>.setFont</a:t>
            </a:r>
            <a:r>
              <a:rPr lang="en-IN" sz="2000" dirty="0">
                <a:solidFill>
                  <a:srgbClr val="000000"/>
                </a:solidFill>
                <a:effectLst/>
              </a:rPr>
              <a:t>(</a:t>
            </a:r>
            <a:r>
              <a:rPr lang="en-IN" sz="2000" b="1" dirty="0">
                <a:solidFill>
                  <a:srgbClr val="7F0055"/>
                </a:solidFill>
                <a:effectLst/>
              </a:rPr>
              <a:t>new</a:t>
            </a:r>
            <a:r>
              <a:rPr lang="en-IN" sz="2000" dirty="0">
                <a:solidFill>
                  <a:srgbClr val="000000"/>
                </a:solidFill>
                <a:effectLst/>
              </a:rPr>
              <a:t> Font(</a:t>
            </a:r>
            <a:r>
              <a:rPr lang="en-IN" sz="2000" dirty="0">
                <a:solidFill>
                  <a:srgbClr val="2A00FF"/>
                </a:solidFill>
                <a:effectLst/>
              </a:rPr>
              <a:t>"Arial"</a:t>
            </a:r>
            <a:r>
              <a:rPr lang="en-IN" sz="2000" dirty="0">
                <a:solidFill>
                  <a:srgbClr val="000000"/>
                </a:solidFill>
                <a:effectLst/>
              </a:rPr>
              <a:t>, </a:t>
            </a:r>
            <a:r>
              <a:rPr lang="en-IN" sz="2000" dirty="0" err="1">
                <a:solidFill>
                  <a:srgbClr val="000000"/>
                </a:solidFill>
                <a:effectLst/>
              </a:rPr>
              <a:t>Font.</a:t>
            </a:r>
            <a:r>
              <a:rPr lang="en-IN" sz="2000" b="1" i="1" dirty="0" err="1">
                <a:solidFill>
                  <a:srgbClr val="0000C0"/>
                </a:solidFill>
                <a:effectLst/>
              </a:rPr>
              <a:t>PLAIN</a:t>
            </a:r>
            <a:r>
              <a:rPr lang="en-IN" sz="2000" dirty="0">
                <a:solidFill>
                  <a:srgbClr val="000000"/>
                </a:solidFill>
                <a:effectLst/>
              </a:rPr>
              <a:t>, 15));</a:t>
            </a:r>
          </a:p>
          <a:p>
            <a:r>
              <a:rPr lang="en-IN" sz="2000" dirty="0" err="1">
                <a:solidFill>
                  <a:srgbClr val="0000C0"/>
                </a:solidFill>
                <a:effectLst/>
              </a:rPr>
              <a:t>female</a:t>
            </a:r>
            <a:r>
              <a:rPr lang="en-IN" sz="2000" dirty="0" err="1">
                <a:solidFill>
                  <a:srgbClr val="000000"/>
                </a:solidFill>
                <a:effectLst/>
              </a:rPr>
              <a:t>.setSelected</a:t>
            </a:r>
            <a:r>
              <a:rPr lang="en-IN" sz="2000" dirty="0">
                <a:solidFill>
                  <a:srgbClr val="000000"/>
                </a:solidFill>
                <a:effectLst/>
              </a:rPr>
              <a:t>(</a:t>
            </a:r>
            <a:r>
              <a:rPr lang="en-IN" sz="2000" b="1" dirty="0">
                <a:solidFill>
                  <a:srgbClr val="7F0055"/>
                </a:solidFill>
                <a:effectLst/>
              </a:rPr>
              <a:t>false</a:t>
            </a:r>
            <a:r>
              <a:rPr lang="en-IN" sz="2000" dirty="0">
                <a:solidFill>
                  <a:srgbClr val="000000"/>
                </a:solidFill>
                <a:effectLst/>
              </a:rPr>
              <a:t>);</a:t>
            </a:r>
          </a:p>
          <a:p>
            <a:r>
              <a:rPr lang="en-IN" sz="2000" dirty="0" err="1">
                <a:solidFill>
                  <a:srgbClr val="0000C0"/>
                </a:solidFill>
                <a:effectLst/>
              </a:rPr>
              <a:t>female</a:t>
            </a:r>
            <a:r>
              <a:rPr lang="en-IN" sz="2000" dirty="0" err="1">
                <a:solidFill>
                  <a:srgbClr val="000000"/>
                </a:solidFill>
                <a:effectLst/>
              </a:rPr>
              <a:t>.setBounds</a:t>
            </a:r>
            <a:r>
              <a:rPr lang="en-IN" sz="2000" dirty="0">
                <a:solidFill>
                  <a:srgbClr val="000000"/>
                </a:solidFill>
                <a:effectLst/>
              </a:rPr>
              <a:t>(720, 190, 100, 80);</a:t>
            </a:r>
          </a:p>
          <a:p>
            <a:r>
              <a:rPr lang="en-IN" sz="2000" dirty="0" err="1">
                <a:solidFill>
                  <a:srgbClr val="0000C0"/>
                </a:solidFill>
                <a:effectLst/>
              </a:rPr>
              <a:t>f</a:t>
            </a:r>
            <a:r>
              <a:rPr lang="en-IN" sz="2000" dirty="0" err="1">
                <a:solidFill>
                  <a:srgbClr val="000000"/>
                </a:solidFill>
                <a:effectLst/>
              </a:rPr>
              <a:t>.add</a:t>
            </a:r>
            <a:r>
              <a:rPr lang="en-IN" sz="2000" dirty="0">
                <a:solidFill>
                  <a:srgbClr val="000000"/>
                </a:solidFill>
                <a:effectLst/>
              </a:rPr>
              <a:t>(</a:t>
            </a:r>
            <a:r>
              <a:rPr lang="en-IN" sz="2000" dirty="0">
                <a:solidFill>
                  <a:srgbClr val="0000C0"/>
                </a:solidFill>
                <a:effectLst/>
              </a:rPr>
              <a:t>female</a:t>
            </a:r>
            <a:r>
              <a:rPr lang="en-IN" sz="2000" dirty="0">
                <a:solidFill>
                  <a:srgbClr val="000000"/>
                </a:solidFill>
                <a:effectLst/>
              </a:rPr>
              <a:t>);</a:t>
            </a:r>
          </a:p>
          <a:p>
            <a:pPr marL="0" indent="0">
              <a:buNone/>
            </a:pPr>
            <a:r>
              <a:rPr lang="en-IN" sz="2000" dirty="0">
                <a:solidFill>
                  <a:srgbClr val="000000"/>
                </a:solidFill>
              </a:rPr>
              <a:t>Using radio button we use button group  to add radio buttons.</a:t>
            </a:r>
            <a:endParaRPr lang="en-IN" sz="2000" dirty="0">
              <a:solidFill>
                <a:srgbClr val="000000"/>
              </a:solidFill>
              <a:effectLst/>
            </a:endParaRPr>
          </a:p>
          <a:p>
            <a:r>
              <a:rPr lang="en-IN" sz="2000" dirty="0" err="1">
                <a:solidFill>
                  <a:srgbClr val="0000C0"/>
                </a:solidFill>
                <a:effectLst/>
              </a:rPr>
              <a:t>gengp</a:t>
            </a:r>
            <a:r>
              <a:rPr lang="en-IN" sz="2000" dirty="0">
                <a:solidFill>
                  <a:srgbClr val="000000"/>
                </a:solidFill>
                <a:effectLst/>
              </a:rPr>
              <a:t> = </a:t>
            </a:r>
            <a:r>
              <a:rPr lang="en-IN" sz="2000" b="1" dirty="0">
                <a:solidFill>
                  <a:srgbClr val="7F0055"/>
                </a:solidFill>
                <a:effectLst/>
              </a:rPr>
              <a:t>new</a:t>
            </a:r>
            <a:r>
              <a:rPr lang="en-IN" sz="2000" dirty="0">
                <a:solidFill>
                  <a:srgbClr val="000000"/>
                </a:solidFill>
                <a:effectLst/>
              </a:rPr>
              <a:t> </a:t>
            </a:r>
            <a:r>
              <a:rPr lang="en-IN" sz="2000" dirty="0" err="1">
                <a:solidFill>
                  <a:srgbClr val="000000"/>
                </a:solidFill>
                <a:effectLst/>
              </a:rPr>
              <a:t>ButtonGroup</a:t>
            </a:r>
            <a:r>
              <a:rPr lang="en-IN" sz="2000" dirty="0">
                <a:solidFill>
                  <a:srgbClr val="000000"/>
                </a:solidFill>
                <a:effectLst/>
              </a:rPr>
              <a:t>();</a:t>
            </a:r>
          </a:p>
          <a:p>
            <a:r>
              <a:rPr lang="en-IN" sz="2000" dirty="0" err="1">
                <a:solidFill>
                  <a:srgbClr val="0000C0"/>
                </a:solidFill>
                <a:effectLst/>
              </a:rPr>
              <a:t>gengp</a:t>
            </a:r>
            <a:r>
              <a:rPr lang="en-IN" sz="2000" dirty="0" err="1">
                <a:solidFill>
                  <a:srgbClr val="000000"/>
                </a:solidFill>
                <a:effectLst/>
              </a:rPr>
              <a:t>.add</a:t>
            </a:r>
            <a:r>
              <a:rPr lang="en-IN" sz="2000" dirty="0">
                <a:solidFill>
                  <a:srgbClr val="000000"/>
                </a:solidFill>
                <a:effectLst/>
              </a:rPr>
              <a:t>(</a:t>
            </a:r>
            <a:r>
              <a:rPr lang="en-IN" sz="2000" dirty="0">
                <a:solidFill>
                  <a:srgbClr val="0000C0"/>
                </a:solidFill>
                <a:effectLst/>
              </a:rPr>
              <a:t>male</a:t>
            </a:r>
            <a:r>
              <a:rPr lang="en-IN" sz="2000" dirty="0">
                <a:solidFill>
                  <a:srgbClr val="000000"/>
                </a:solidFill>
                <a:effectLst/>
              </a:rPr>
              <a:t>);</a:t>
            </a:r>
          </a:p>
          <a:p>
            <a:r>
              <a:rPr lang="en-IN" sz="2000" dirty="0" err="1">
                <a:solidFill>
                  <a:srgbClr val="0000C0"/>
                </a:solidFill>
                <a:effectLst/>
              </a:rPr>
              <a:t>gengp</a:t>
            </a:r>
            <a:r>
              <a:rPr lang="en-IN" sz="2000" dirty="0" err="1">
                <a:solidFill>
                  <a:srgbClr val="000000"/>
                </a:solidFill>
                <a:effectLst/>
              </a:rPr>
              <a:t>.add</a:t>
            </a:r>
            <a:r>
              <a:rPr lang="en-IN" sz="2000" dirty="0">
                <a:solidFill>
                  <a:srgbClr val="000000"/>
                </a:solidFill>
                <a:effectLst/>
              </a:rPr>
              <a:t>(</a:t>
            </a:r>
            <a:r>
              <a:rPr lang="en-IN" sz="2000" dirty="0">
                <a:solidFill>
                  <a:srgbClr val="0000C0"/>
                </a:solidFill>
                <a:effectLst/>
              </a:rPr>
              <a:t>female</a:t>
            </a:r>
            <a:r>
              <a:rPr lang="en-IN" sz="2000" dirty="0">
                <a:solidFill>
                  <a:srgbClr val="000000"/>
                </a:solidFill>
                <a:effectLst/>
              </a:rPr>
              <a:t>);</a:t>
            </a:r>
          </a:p>
          <a:p>
            <a:endParaRPr lang="en-IN" dirty="0"/>
          </a:p>
        </p:txBody>
      </p:sp>
    </p:spTree>
    <p:extLst>
      <p:ext uri="{BB962C8B-B14F-4D97-AF65-F5344CB8AC3E}">
        <p14:creationId xmlns:p14="http://schemas.microsoft.com/office/powerpoint/2010/main" val="3502077156"/>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D2939-7D01-C9E1-4E0B-BD50D2C6C5C7}"/>
              </a:ext>
            </a:extLst>
          </p:cNvPr>
          <p:cNvSpPr>
            <a:spLocks noGrp="1"/>
          </p:cNvSpPr>
          <p:nvPr>
            <p:ph idx="1"/>
          </p:nvPr>
        </p:nvSpPr>
        <p:spPr>
          <a:xfrm>
            <a:off x="838200" y="494522"/>
            <a:ext cx="10515600" cy="5682441"/>
          </a:xfrm>
        </p:spPr>
        <p:txBody>
          <a:bodyPr/>
          <a:lstStyle/>
          <a:p>
            <a:r>
              <a:rPr lang="en-IN" b="1" dirty="0" err="1">
                <a:solidFill>
                  <a:srgbClr val="7030A0"/>
                </a:solidFill>
              </a:rPr>
              <a:t>JCheckBox</a:t>
            </a:r>
            <a:endParaRPr lang="en-IN" b="1" dirty="0">
              <a:solidFill>
                <a:srgbClr val="7030A0"/>
              </a:solidFill>
            </a:endParaRPr>
          </a:p>
          <a:p>
            <a:r>
              <a:rPr lang="en-US" sz="2400" dirty="0">
                <a:solidFill>
                  <a:srgbClr val="0000C0"/>
                </a:solidFill>
                <a:effectLst/>
              </a:rPr>
              <a:t>term</a:t>
            </a:r>
            <a:r>
              <a:rPr lang="en-US" sz="2400" dirty="0">
                <a:solidFill>
                  <a:srgbClr val="000000"/>
                </a:solidFill>
                <a:effectLst/>
              </a:rPr>
              <a:t> = </a:t>
            </a:r>
            <a:r>
              <a:rPr lang="en-US" sz="2400" b="1" dirty="0">
                <a:solidFill>
                  <a:srgbClr val="7F0055"/>
                </a:solidFill>
                <a:effectLst/>
              </a:rPr>
              <a:t>new</a:t>
            </a:r>
            <a:r>
              <a:rPr lang="en-US" sz="2400" dirty="0">
                <a:solidFill>
                  <a:srgbClr val="000000"/>
                </a:solidFill>
                <a:effectLst/>
              </a:rPr>
              <a:t> </a:t>
            </a:r>
            <a:r>
              <a:rPr lang="en-US" sz="2400" dirty="0" err="1">
                <a:solidFill>
                  <a:srgbClr val="000000"/>
                </a:solidFill>
                <a:effectLst/>
              </a:rPr>
              <a:t>JCheckBox</a:t>
            </a:r>
            <a:r>
              <a:rPr lang="en-US" sz="2400" dirty="0">
                <a:solidFill>
                  <a:srgbClr val="000000"/>
                </a:solidFill>
                <a:effectLst/>
              </a:rPr>
              <a:t>(</a:t>
            </a:r>
            <a:r>
              <a:rPr lang="en-US" sz="2400" dirty="0">
                <a:solidFill>
                  <a:srgbClr val="2A00FF"/>
                </a:solidFill>
                <a:effectLst/>
              </a:rPr>
              <a:t>"Accept Terms And Conditions."</a:t>
            </a:r>
            <a:r>
              <a:rPr lang="en-US" sz="2400" dirty="0">
                <a:solidFill>
                  <a:srgbClr val="000000"/>
                </a:solidFill>
                <a:effectLst/>
              </a:rPr>
              <a:t>);</a:t>
            </a:r>
          </a:p>
          <a:p>
            <a:r>
              <a:rPr lang="en-US" sz="2400" dirty="0" err="1">
                <a:solidFill>
                  <a:srgbClr val="0000C0"/>
                </a:solidFill>
                <a:effectLst/>
              </a:rPr>
              <a:t>term</a:t>
            </a:r>
            <a:r>
              <a:rPr lang="en-US" sz="2400" dirty="0" err="1">
                <a:solidFill>
                  <a:srgbClr val="000000"/>
                </a:solidFill>
                <a:effectLst/>
              </a:rPr>
              <a:t>.setFont</a:t>
            </a:r>
            <a:r>
              <a:rPr lang="en-US" sz="2400" dirty="0">
                <a:solidFill>
                  <a:srgbClr val="000000"/>
                </a:solidFill>
                <a:effectLst/>
              </a:rPr>
              <a:t>(</a:t>
            </a:r>
            <a:r>
              <a:rPr lang="en-US" sz="2400" b="1" dirty="0">
                <a:solidFill>
                  <a:srgbClr val="7F0055"/>
                </a:solidFill>
                <a:effectLst/>
              </a:rPr>
              <a:t>new</a:t>
            </a:r>
            <a:r>
              <a:rPr lang="en-US" sz="2400" dirty="0">
                <a:solidFill>
                  <a:srgbClr val="000000"/>
                </a:solidFill>
                <a:effectLst/>
              </a:rPr>
              <a:t> Font(</a:t>
            </a:r>
            <a:r>
              <a:rPr lang="en-US" sz="2400" dirty="0">
                <a:solidFill>
                  <a:srgbClr val="2A00FF"/>
                </a:solidFill>
                <a:effectLst/>
              </a:rPr>
              <a:t>"Arial"</a:t>
            </a:r>
            <a:r>
              <a:rPr lang="en-US" sz="2400" dirty="0">
                <a:solidFill>
                  <a:srgbClr val="000000"/>
                </a:solidFill>
                <a:effectLst/>
              </a:rPr>
              <a:t>, </a:t>
            </a:r>
            <a:r>
              <a:rPr lang="en-US" sz="2400" dirty="0" err="1">
                <a:solidFill>
                  <a:srgbClr val="000000"/>
                </a:solidFill>
                <a:effectLst/>
              </a:rPr>
              <a:t>Font.</a:t>
            </a:r>
            <a:r>
              <a:rPr lang="en-US" sz="2400" b="1" i="1" dirty="0" err="1">
                <a:solidFill>
                  <a:srgbClr val="0000C0"/>
                </a:solidFill>
                <a:effectLst/>
              </a:rPr>
              <a:t>ITALIC</a:t>
            </a:r>
            <a:r>
              <a:rPr lang="en-US" sz="2400" dirty="0">
                <a:solidFill>
                  <a:srgbClr val="000000"/>
                </a:solidFill>
                <a:effectLst/>
              </a:rPr>
              <a:t>, 15));</a:t>
            </a:r>
          </a:p>
          <a:p>
            <a:r>
              <a:rPr lang="en-US" sz="2400" dirty="0" err="1">
                <a:solidFill>
                  <a:srgbClr val="0000C0"/>
                </a:solidFill>
                <a:effectLst/>
              </a:rPr>
              <a:t>term</a:t>
            </a:r>
            <a:r>
              <a:rPr lang="en-US" sz="2400" dirty="0" err="1">
                <a:solidFill>
                  <a:srgbClr val="000000"/>
                </a:solidFill>
                <a:effectLst/>
              </a:rPr>
              <a:t>.setBounds</a:t>
            </a:r>
            <a:r>
              <a:rPr lang="en-US" sz="2400" dirty="0">
                <a:solidFill>
                  <a:srgbClr val="000000"/>
                </a:solidFill>
                <a:effectLst/>
              </a:rPr>
              <a:t>(400, 435, 300, 50);</a:t>
            </a:r>
          </a:p>
          <a:p>
            <a:r>
              <a:rPr lang="en-US" sz="2400" dirty="0" err="1">
                <a:solidFill>
                  <a:srgbClr val="0000C0"/>
                </a:solidFill>
                <a:effectLst/>
              </a:rPr>
              <a:t>f</a:t>
            </a:r>
            <a:r>
              <a:rPr lang="en-US" sz="2400" dirty="0" err="1">
                <a:solidFill>
                  <a:srgbClr val="000000"/>
                </a:solidFill>
                <a:effectLst/>
              </a:rPr>
              <a:t>.add</a:t>
            </a:r>
            <a:r>
              <a:rPr lang="en-US" sz="2400" dirty="0">
                <a:solidFill>
                  <a:srgbClr val="000000"/>
                </a:solidFill>
                <a:effectLst/>
              </a:rPr>
              <a:t>(</a:t>
            </a:r>
            <a:r>
              <a:rPr lang="en-US" sz="2400" dirty="0">
                <a:solidFill>
                  <a:srgbClr val="0000C0"/>
                </a:solidFill>
                <a:effectLst/>
              </a:rPr>
              <a:t>term</a:t>
            </a:r>
            <a:r>
              <a:rPr lang="en-US" sz="2400" dirty="0">
                <a:solidFill>
                  <a:srgbClr val="000000"/>
                </a:solidFill>
                <a:effectLst/>
              </a:rPr>
              <a:t>);</a:t>
            </a:r>
          </a:p>
          <a:p>
            <a:endParaRPr lang="en-IN" b="1" dirty="0">
              <a:solidFill>
                <a:srgbClr val="7030A0"/>
              </a:solidFill>
            </a:endParaRPr>
          </a:p>
          <a:p>
            <a:endParaRPr lang="en-IN" dirty="0"/>
          </a:p>
        </p:txBody>
      </p:sp>
      <p:pic>
        <p:nvPicPr>
          <p:cNvPr id="7" name="Picture 6">
            <a:extLst>
              <a:ext uri="{FF2B5EF4-FFF2-40B4-BE49-F238E27FC236}">
                <a16:creationId xmlns:a16="http://schemas.microsoft.com/office/drawing/2014/main" id="{8E75E494-5EA6-A81C-65E1-F43FE6A6E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0383" y="2817846"/>
            <a:ext cx="4945224" cy="3082449"/>
          </a:xfrm>
          <a:prstGeom prst="rect">
            <a:avLst/>
          </a:prstGeom>
        </p:spPr>
      </p:pic>
    </p:spTree>
    <p:extLst>
      <p:ext uri="{BB962C8B-B14F-4D97-AF65-F5344CB8AC3E}">
        <p14:creationId xmlns:p14="http://schemas.microsoft.com/office/powerpoint/2010/main" val="3018359407"/>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DF095A-E4C0-90AF-BC17-B51CA4C7B65C}"/>
              </a:ext>
            </a:extLst>
          </p:cNvPr>
          <p:cNvSpPr>
            <a:spLocks noGrp="1"/>
          </p:cNvSpPr>
          <p:nvPr>
            <p:ph idx="1"/>
          </p:nvPr>
        </p:nvSpPr>
        <p:spPr>
          <a:xfrm>
            <a:off x="838200" y="550506"/>
            <a:ext cx="10515600" cy="5626457"/>
          </a:xfrm>
        </p:spPr>
        <p:txBody>
          <a:bodyPr/>
          <a:lstStyle/>
          <a:p>
            <a:r>
              <a:rPr lang="en-IN" b="1" dirty="0" err="1">
                <a:solidFill>
                  <a:srgbClr val="7030A0"/>
                </a:solidFill>
              </a:rPr>
              <a:t>JTextField</a:t>
            </a:r>
            <a:endParaRPr lang="en-IN" b="1" dirty="0">
              <a:solidFill>
                <a:srgbClr val="7030A0"/>
              </a:solidFill>
            </a:endParaRPr>
          </a:p>
          <a:p>
            <a:r>
              <a:rPr lang="en-IN" sz="2400" dirty="0">
                <a:solidFill>
                  <a:srgbClr val="0000C0"/>
                </a:solidFill>
                <a:effectLst/>
              </a:rPr>
              <a:t>t1</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JTextField</a:t>
            </a:r>
            <a:r>
              <a:rPr lang="en-IN" sz="2400" dirty="0">
                <a:solidFill>
                  <a:srgbClr val="000000"/>
                </a:solidFill>
                <a:effectLst/>
              </a:rPr>
              <a:t>();</a:t>
            </a:r>
          </a:p>
          <a:p>
            <a:r>
              <a:rPr lang="en-IN" sz="2400" dirty="0">
                <a:solidFill>
                  <a:srgbClr val="0000C0"/>
                </a:solidFill>
                <a:effectLst/>
              </a:rPr>
              <a:t>t1</a:t>
            </a:r>
            <a:r>
              <a:rPr lang="en-IN" sz="2400" dirty="0">
                <a:solidFill>
                  <a:srgbClr val="000000"/>
                </a:solidFill>
                <a:effectLst/>
              </a:rPr>
              <a:t>.setFont(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"Times new roman"</a:t>
            </a:r>
            <a:r>
              <a:rPr lang="en-IN" sz="2400" dirty="0">
                <a:solidFill>
                  <a:srgbClr val="000000"/>
                </a:solidFill>
                <a:effectLst/>
              </a:rPr>
              <a:t>,Font.</a:t>
            </a:r>
            <a:r>
              <a:rPr lang="en-IN" sz="2400" b="1" i="1" dirty="0">
                <a:solidFill>
                  <a:srgbClr val="0000C0"/>
                </a:solidFill>
                <a:effectLst/>
              </a:rPr>
              <a:t>ITALIC</a:t>
            </a:r>
            <a:r>
              <a:rPr lang="en-IN" sz="2400" dirty="0">
                <a:solidFill>
                  <a:srgbClr val="000000"/>
                </a:solidFill>
                <a:effectLst/>
              </a:rPr>
              <a:t>,30));</a:t>
            </a:r>
          </a:p>
          <a:p>
            <a:r>
              <a:rPr lang="en-IN" sz="2400" dirty="0">
                <a:solidFill>
                  <a:srgbClr val="0000C0"/>
                </a:solidFill>
                <a:effectLst/>
              </a:rPr>
              <a:t>t1</a:t>
            </a:r>
            <a:r>
              <a:rPr lang="en-IN" sz="2400" dirty="0">
                <a:solidFill>
                  <a:srgbClr val="000000"/>
                </a:solidFill>
                <a:effectLst/>
              </a:rPr>
              <a:t>.setBounds(300, 100,200,50);</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t1</a:t>
            </a:r>
            <a:r>
              <a:rPr lang="en-IN" sz="2400" dirty="0">
                <a:solidFill>
                  <a:srgbClr val="000000"/>
                </a:solidFill>
                <a:effectLst/>
              </a:rPr>
              <a:t>);</a:t>
            </a:r>
          </a:p>
          <a:p>
            <a:endParaRPr lang="en-IN" b="1" dirty="0">
              <a:solidFill>
                <a:srgbClr val="7030A0"/>
              </a:solidFill>
            </a:endParaRPr>
          </a:p>
          <a:p>
            <a:pPr marL="0" indent="0">
              <a:buNone/>
            </a:pPr>
            <a:endParaRPr lang="en-IN" dirty="0"/>
          </a:p>
        </p:txBody>
      </p:sp>
      <p:pic>
        <p:nvPicPr>
          <p:cNvPr id="5" name="Picture 4">
            <a:extLst>
              <a:ext uri="{FF2B5EF4-FFF2-40B4-BE49-F238E27FC236}">
                <a16:creationId xmlns:a16="http://schemas.microsoft.com/office/drawing/2014/main" id="{D90F173E-0592-27AC-A358-CC61FC5DD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9292" y="2082534"/>
            <a:ext cx="5394508" cy="4775466"/>
          </a:xfrm>
          <a:prstGeom prst="rect">
            <a:avLst/>
          </a:prstGeom>
        </p:spPr>
      </p:pic>
    </p:spTree>
    <p:extLst>
      <p:ext uri="{BB962C8B-B14F-4D97-AF65-F5344CB8AC3E}">
        <p14:creationId xmlns:p14="http://schemas.microsoft.com/office/powerpoint/2010/main" val="605542677"/>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33B87-D413-A8B5-2229-E3583714204E}"/>
              </a:ext>
            </a:extLst>
          </p:cNvPr>
          <p:cNvSpPr>
            <a:spLocks noGrp="1"/>
          </p:cNvSpPr>
          <p:nvPr>
            <p:ph idx="1"/>
          </p:nvPr>
        </p:nvSpPr>
        <p:spPr>
          <a:xfrm>
            <a:off x="838200" y="485192"/>
            <a:ext cx="10515600" cy="5691771"/>
          </a:xfrm>
        </p:spPr>
        <p:txBody>
          <a:bodyPr/>
          <a:lstStyle/>
          <a:p>
            <a:r>
              <a:rPr lang="en-IN" b="1" dirty="0">
                <a:solidFill>
                  <a:srgbClr val="7030A0"/>
                </a:solidFill>
              </a:rPr>
              <a:t>Password Field</a:t>
            </a:r>
          </a:p>
          <a:p>
            <a:r>
              <a:rPr lang="en-IN" sz="2000" dirty="0" err="1">
                <a:solidFill>
                  <a:srgbClr val="0000C0"/>
                </a:solidFill>
                <a:effectLst/>
              </a:rPr>
              <a:t>ps</a:t>
            </a:r>
            <a:r>
              <a:rPr lang="en-IN" sz="2000" dirty="0">
                <a:solidFill>
                  <a:srgbClr val="000000"/>
                </a:solidFill>
                <a:effectLst/>
              </a:rPr>
              <a:t>=</a:t>
            </a:r>
            <a:r>
              <a:rPr lang="en-IN" sz="2000" b="1" dirty="0">
                <a:solidFill>
                  <a:srgbClr val="7F0055"/>
                </a:solidFill>
                <a:effectLst/>
              </a:rPr>
              <a:t>new</a:t>
            </a:r>
            <a:r>
              <a:rPr lang="en-IN" sz="2000" dirty="0">
                <a:solidFill>
                  <a:srgbClr val="000000"/>
                </a:solidFill>
                <a:effectLst/>
              </a:rPr>
              <a:t> </a:t>
            </a:r>
            <a:r>
              <a:rPr lang="en-IN" sz="2000" dirty="0" err="1">
                <a:solidFill>
                  <a:srgbClr val="000000"/>
                </a:solidFill>
                <a:effectLst/>
              </a:rPr>
              <a:t>JPasswordField</a:t>
            </a:r>
            <a:r>
              <a:rPr lang="en-IN" sz="2000" dirty="0">
                <a:solidFill>
                  <a:srgbClr val="000000"/>
                </a:solidFill>
                <a:effectLst/>
              </a:rPr>
              <a:t>();</a:t>
            </a:r>
          </a:p>
          <a:p>
            <a:r>
              <a:rPr lang="en-IN" sz="2000" dirty="0" err="1">
                <a:solidFill>
                  <a:srgbClr val="0000C0"/>
                </a:solidFill>
                <a:effectLst/>
              </a:rPr>
              <a:t>ps</a:t>
            </a:r>
            <a:r>
              <a:rPr lang="en-IN" sz="2000" dirty="0" err="1">
                <a:solidFill>
                  <a:srgbClr val="000000"/>
                </a:solidFill>
                <a:effectLst/>
              </a:rPr>
              <a:t>.setFont</a:t>
            </a:r>
            <a:r>
              <a:rPr lang="en-IN" sz="2000" dirty="0">
                <a:solidFill>
                  <a:srgbClr val="000000"/>
                </a:solidFill>
                <a:effectLst/>
              </a:rPr>
              <a:t>(</a:t>
            </a:r>
            <a:r>
              <a:rPr lang="en-IN" sz="2000" b="1" dirty="0">
                <a:solidFill>
                  <a:srgbClr val="7F0055"/>
                </a:solidFill>
                <a:effectLst/>
              </a:rPr>
              <a:t>new</a:t>
            </a:r>
            <a:r>
              <a:rPr lang="en-IN" sz="2000" dirty="0">
                <a:solidFill>
                  <a:srgbClr val="000000"/>
                </a:solidFill>
                <a:effectLst/>
              </a:rPr>
              <a:t> Font(</a:t>
            </a:r>
            <a:r>
              <a:rPr lang="en-IN" sz="2000" dirty="0">
                <a:solidFill>
                  <a:srgbClr val="2A00FF"/>
                </a:solidFill>
                <a:effectLst/>
              </a:rPr>
              <a:t>"algerian"</a:t>
            </a:r>
            <a:r>
              <a:rPr lang="en-IN" sz="2000" dirty="0">
                <a:solidFill>
                  <a:srgbClr val="000000"/>
                </a:solidFill>
                <a:effectLst/>
              </a:rPr>
              <a:t>,Font.</a:t>
            </a:r>
            <a:r>
              <a:rPr lang="en-IN" sz="2000" b="1" i="1" dirty="0">
                <a:solidFill>
                  <a:srgbClr val="0000C0"/>
                </a:solidFill>
                <a:effectLst/>
              </a:rPr>
              <a:t>BOLD</a:t>
            </a:r>
            <a:r>
              <a:rPr lang="en-IN" sz="2000" dirty="0">
                <a:solidFill>
                  <a:srgbClr val="000000"/>
                </a:solidFill>
                <a:effectLst/>
              </a:rPr>
              <a:t>,20));</a:t>
            </a:r>
          </a:p>
          <a:p>
            <a:r>
              <a:rPr lang="en-IN" sz="2000" dirty="0" err="1">
                <a:solidFill>
                  <a:srgbClr val="0000C0"/>
                </a:solidFill>
                <a:effectLst/>
              </a:rPr>
              <a:t>ps</a:t>
            </a:r>
            <a:r>
              <a:rPr lang="en-IN" sz="2000" dirty="0" err="1">
                <a:solidFill>
                  <a:srgbClr val="000000"/>
                </a:solidFill>
                <a:effectLst/>
              </a:rPr>
              <a:t>.setBounds</a:t>
            </a:r>
            <a:r>
              <a:rPr lang="en-IN" sz="2000" dirty="0">
                <a:solidFill>
                  <a:srgbClr val="000000"/>
                </a:solidFill>
                <a:effectLst/>
              </a:rPr>
              <a:t>(250,220, 150, 50);</a:t>
            </a:r>
          </a:p>
          <a:p>
            <a:r>
              <a:rPr lang="en-IN" sz="2000" dirty="0" err="1">
                <a:solidFill>
                  <a:srgbClr val="0000C0"/>
                </a:solidFill>
                <a:effectLst/>
              </a:rPr>
              <a:t>f</a:t>
            </a:r>
            <a:r>
              <a:rPr lang="en-IN" sz="2000" dirty="0" err="1">
                <a:solidFill>
                  <a:srgbClr val="000000"/>
                </a:solidFill>
                <a:effectLst/>
              </a:rPr>
              <a:t>.add</a:t>
            </a:r>
            <a:r>
              <a:rPr lang="en-IN" sz="2000" dirty="0">
                <a:solidFill>
                  <a:srgbClr val="000000"/>
                </a:solidFill>
                <a:effectLst/>
              </a:rPr>
              <a:t>(</a:t>
            </a:r>
            <a:r>
              <a:rPr lang="en-IN" sz="2000" dirty="0" err="1">
                <a:solidFill>
                  <a:srgbClr val="0000C0"/>
                </a:solidFill>
                <a:effectLst/>
              </a:rPr>
              <a:t>ps</a:t>
            </a:r>
            <a:r>
              <a:rPr lang="en-IN" sz="2000" dirty="0">
                <a:solidFill>
                  <a:srgbClr val="000000"/>
                </a:solidFill>
                <a:effectLst/>
              </a:rPr>
              <a:t>);</a:t>
            </a:r>
          </a:p>
          <a:p>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EE2362A9-945D-E8C7-C9FD-98687F864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4858" y="1950196"/>
            <a:ext cx="5942551" cy="4226767"/>
          </a:xfrm>
          <a:prstGeom prst="rect">
            <a:avLst/>
          </a:prstGeom>
        </p:spPr>
      </p:pic>
    </p:spTree>
    <p:extLst>
      <p:ext uri="{BB962C8B-B14F-4D97-AF65-F5344CB8AC3E}">
        <p14:creationId xmlns:p14="http://schemas.microsoft.com/office/powerpoint/2010/main" val="91877653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F2758-E38A-91DE-7CAE-94C20B382E94}"/>
              </a:ext>
            </a:extLst>
          </p:cNvPr>
          <p:cNvSpPr>
            <a:spLocks noGrp="1"/>
          </p:cNvSpPr>
          <p:nvPr>
            <p:ph idx="1"/>
          </p:nvPr>
        </p:nvSpPr>
        <p:spPr>
          <a:xfrm>
            <a:off x="838200" y="559837"/>
            <a:ext cx="10515600" cy="5617126"/>
          </a:xfrm>
        </p:spPr>
        <p:txBody>
          <a:bodyPr/>
          <a:lstStyle/>
          <a:p>
            <a:r>
              <a:rPr lang="en-IN" b="1" dirty="0" err="1">
                <a:solidFill>
                  <a:srgbClr val="7030A0"/>
                </a:solidFill>
              </a:rPr>
              <a:t>JTextArea</a:t>
            </a:r>
            <a:endParaRPr lang="en-IN" b="1" dirty="0">
              <a:solidFill>
                <a:srgbClr val="7030A0"/>
              </a:solidFill>
            </a:endParaRPr>
          </a:p>
          <a:p>
            <a:r>
              <a:rPr lang="en-IN" sz="2400" dirty="0">
                <a:solidFill>
                  <a:srgbClr val="0000C0"/>
                </a:solidFill>
                <a:effectLst/>
              </a:rPr>
              <a:t>TA</a:t>
            </a:r>
            <a:r>
              <a:rPr lang="en-IN" sz="2400" dirty="0">
                <a:solidFill>
                  <a:srgbClr val="000000"/>
                </a:solidFill>
                <a:effectLst/>
              </a:rPr>
              <a:t> = </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JTextArea</a:t>
            </a:r>
            <a:r>
              <a:rPr lang="en-IN" sz="2400" dirty="0">
                <a:solidFill>
                  <a:srgbClr val="000000"/>
                </a:solidFill>
                <a:effectLst/>
              </a:rPr>
              <a:t>();</a:t>
            </a:r>
          </a:p>
          <a:p>
            <a:r>
              <a:rPr lang="en-IN" sz="2400" dirty="0" err="1">
                <a:solidFill>
                  <a:srgbClr val="0000C0"/>
                </a:solidFill>
                <a:effectLst/>
              </a:rPr>
              <a:t>TA</a:t>
            </a:r>
            <a:r>
              <a:rPr lang="en-IN" sz="2400" dirty="0" err="1">
                <a:solidFill>
                  <a:srgbClr val="000000"/>
                </a:solidFill>
                <a:effectLst/>
              </a:rPr>
              <a:t>.setFont</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"Times new roman"</a:t>
            </a:r>
            <a:r>
              <a:rPr lang="en-IN" sz="2400" dirty="0">
                <a:solidFill>
                  <a:srgbClr val="000000"/>
                </a:solidFill>
                <a:effectLst/>
              </a:rPr>
              <a:t>,Font.</a:t>
            </a:r>
            <a:r>
              <a:rPr lang="en-IN" sz="2400" b="1" i="1" dirty="0">
                <a:solidFill>
                  <a:srgbClr val="0000C0"/>
                </a:solidFill>
                <a:effectLst/>
              </a:rPr>
              <a:t>ITALIC</a:t>
            </a:r>
            <a:r>
              <a:rPr lang="en-IN" sz="2400" dirty="0">
                <a:solidFill>
                  <a:srgbClr val="000000"/>
                </a:solidFill>
                <a:effectLst/>
              </a:rPr>
              <a:t>,30));</a:t>
            </a:r>
          </a:p>
          <a:p>
            <a:r>
              <a:rPr lang="en-IN" sz="2400" dirty="0" err="1">
                <a:solidFill>
                  <a:srgbClr val="0000C0"/>
                </a:solidFill>
                <a:effectLst/>
              </a:rPr>
              <a:t>TA</a:t>
            </a:r>
            <a:r>
              <a:rPr lang="en-IN" sz="2400" dirty="0" err="1">
                <a:solidFill>
                  <a:srgbClr val="000000"/>
                </a:solidFill>
                <a:effectLst/>
              </a:rPr>
              <a:t>.setBounds</a:t>
            </a:r>
            <a:r>
              <a:rPr lang="en-IN" sz="2400" dirty="0">
                <a:solidFill>
                  <a:srgbClr val="000000"/>
                </a:solidFill>
                <a:effectLst/>
              </a:rPr>
              <a:t>(800, 345, 500, 400);</a:t>
            </a:r>
          </a:p>
          <a:p>
            <a:r>
              <a:rPr lang="en-IN" sz="2400" dirty="0" err="1">
                <a:solidFill>
                  <a:srgbClr val="0000C0"/>
                </a:solidFill>
                <a:effectLst/>
              </a:rPr>
              <a:t>TA</a:t>
            </a:r>
            <a:r>
              <a:rPr lang="en-IN" sz="2400" dirty="0" err="1">
                <a:solidFill>
                  <a:srgbClr val="000000"/>
                </a:solidFill>
                <a:effectLst/>
              </a:rPr>
              <a:t>.setBackground</a:t>
            </a:r>
            <a:r>
              <a:rPr lang="en-IN" sz="2400" dirty="0">
                <a:solidFill>
                  <a:srgbClr val="000000"/>
                </a:solidFill>
                <a:effectLst/>
              </a:rPr>
              <a:t>(</a:t>
            </a:r>
            <a:r>
              <a:rPr lang="en-IN" sz="2400" dirty="0" err="1">
                <a:solidFill>
                  <a:srgbClr val="000000"/>
                </a:solidFill>
                <a:effectLst/>
              </a:rPr>
              <a:t>Color.</a:t>
            </a:r>
            <a:r>
              <a:rPr lang="en-IN" sz="2400" b="1" i="1" dirty="0" err="1">
                <a:solidFill>
                  <a:srgbClr val="0000C0"/>
                </a:solidFill>
                <a:effectLst/>
              </a:rPr>
              <a:t>GREEN</a:t>
            </a:r>
            <a:r>
              <a:rPr lang="en-IN" sz="2400" dirty="0">
                <a:solidFill>
                  <a:srgbClr val="000000"/>
                </a:solidFill>
                <a:effectLst/>
              </a:rPr>
              <a:t>);</a:t>
            </a:r>
          </a:p>
          <a:p>
            <a:r>
              <a:rPr lang="en-IN" sz="2400" dirty="0" err="1">
                <a:solidFill>
                  <a:srgbClr val="0000C0"/>
                </a:solidFill>
                <a:effectLst/>
              </a:rPr>
              <a:t>TA</a:t>
            </a:r>
            <a:r>
              <a:rPr lang="en-IN" sz="2400" dirty="0" err="1">
                <a:solidFill>
                  <a:srgbClr val="000000"/>
                </a:solidFill>
                <a:effectLst/>
              </a:rPr>
              <a:t>.setLineWrap</a:t>
            </a:r>
            <a:r>
              <a:rPr lang="en-IN" sz="2400" dirty="0">
                <a:solidFill>
                  <a:srgbClr val="000000"/>
                </a:solidFill>
                <a:effectLst/>
              </a:rPr>
              <a:t>(</a:t>
            </a:r>
            <a:r>
              <a:rPr lang="en-IN" sz="2400" b="1" dirty="0">
                <a:solidFill>
                  <a:srgbClr val="7F0055"/>
                </a:solidFill>
                <a:effectLst/>
              </a:rPr>
              <a:t>false</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TA</a:t>
            </a:r>
            <a:r>
              <a:rPr lang="en-IN" sz="2400" dirty="0">
                <a:solidFill>
                  <a:srgbClr val="000000"/>
                </a:solidFill>
                <a:effectLst/>
              </a:rPr>
              <a:t>);</a:t>
            </a:r>
          </a:p>
          <a:p>
            <a:endParaRPr lang="en-IN" b="1" dirty="0">
              <a:solidFill>
                <a:srgbClr val="7030A0"/>
              </a:solidFill>
            </a:endParaRPr>
          </a:p>
          <a:p>
            <a:pPr marL="0" indent="0">
              <a:buNone/>
            </a:pPr>
            <a:endParaRPr lang="en-IN" dirty="0"/>
          </a:p>
        </p:txBody>
      </p:sp>
      <p:pic>
        <p:nvPicPr>
          <p:cNvPr id="5" name="Picture 4">
            <a:extLst>
              <a:ext uri="{FF2B5EF4-FFF2-40B4-BE49-F238E27FC236}">
                <a16:creationId xmlns:a16="http://schemas.microsoft.com/office/drawing/2014/main" id="{06C88B1F-7A20-AC89-F56E-F3B464040D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3323" y="2351363"/>
            <a:ext cx="4124082" cy="4124082"/>
          </a:xfrm>
          <a:prstGeom prst="rect">
            <a:avLst/>
          </a:prstGeom>
        </p:spPr>
      </p:pic>
    </p:spTree>
    <p:extLst>
      <p:ext uri="{BB962C8B-B14F-4D97-AF65-F5344CB8AC3E}">
        <p14:creationId xmlns:p14="http://schemas.microsoft.com/office/powerpoint/2010/main" val="3387414984"/>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3E459-C2FB-E340-956E-B792167D8D05}"/>
              </a:ext>
            </a:extLst>
          </p:cNvPr>
          <p:cNvSpPr>
            <a:spLocks noGrp="1"/>
          </p:cNvSpPr>
          <p:nvPr>
            <p:ph idx="1"/>
          </p:nvPr>
        </p:nvSpPr>
        <p:spPr>
          <a:xfrm>
            <a:off x="838200" y="597159"/>
            <a:ext cx="10515600" cy="5579804"/>
          </a:xfrm>
        </p:spPr>
        <p:txBody>
          <a:bodyPr/>
          <a:lstStyle/>
          <a:p>
            <a:r>
              <a:rPr lang="en-IN" b="1" dirty="0" err="1">
                <a:solidFill>
                  <a:srgbClr val="7030A0"/>
                </a:solidFill>
              </a:rPr>
              <a:t>JComboBox</a:t>
            </a:r>
            <a:endParaRPr lang="en-IN" b="1" dirty="0">
              <a:solidFill>
                <a:srgbClr val="7030A0"/>
              </a:solidFill>
            </a:endParaRPr>
          </a:p>
          <a:p>
            <a:pPr marL="0" indent="0">
              <a:buNone/>
            </a:pPr>
            <a:r>
              <a:rPr lang="en-US" sz="2400" dirty="0">
                <a:solidFill>
                  <a:srgbClr val="000000"/>
                </a:solidFill>
                <a:effectLst/>
              </a:rPr>
              <a:t>String </a:t>
            </a:r>
            <a:r>
              <a:rPr lang="en-US" sz="2400" dirty="0">
                <a:solidFill>
                  <a:srgbClr val="0000C0"/>
                </a:solidFill>
                <a:effectLst/>
              </a:rPr>
              <a:t>months</a:t>
            </a:r>
            <a:r>
              <a:rPr lang="en-US" sz="2400" dirty="0">
                <a:solidFill>
                  <a:srgbClr val="000000"/>
                </a:solidFill>
                <a:effectLst/>
              </a:rPr>
              <a:t>[]</a:t>
            </a:r>
          </a:p>
          <a:p>
            <a:pPr marL="0" indent="0">
              <a:buNone/>
            </a:pPr>
            <a:r>
              <a:rPr lang="en-US" sz="2400" dirty="0">
                <a:solidFill>
                  <a:srgbClr val="000000"/>
                </a:solidFill>
                <a:effectLst/>
              </a:rPr>
              <a:t>= { </a:t>
            </a:r>
            <a:r>
              <a:rPr lang="en-US" sz="2400" dirty="0">
                <a:solidFill>
                  <a:srgbClr val="2A00FF"/>
                </a:solidFill>
                <a:effectLst/>
              </a:rPr>
              <a:t>"July"</a:t>
            </a:r>
            <a:r>
              <a:rPr lang="en-US" sz="2400" dirty="0">
                <a:solidFill>
                  <a:srgbClr val="000000"/>
                </a:solidFill>
                <a:effectLst/>
              </a:rPr>
              <a:t>, </a:t>
            </a:r>
            <a:r>
              <a:rPr lang="en-US" sz="2400" dirty="0">
                <a:solidFill>
                  <a:srgbClr val="2A00FF"/>
                </a:solidFill>
                <a:effectLst/>
              </a:rPr>
              <a:t>"Aug"</a:t>
            </a:r>
            <a:r>
              <a:rPr lang="en-US" sz="2400" dirty="0">
                <a:solidFill>
                  <a:srgbClr val="000000"/>
                </a:solidFill>
                <a:effectLst/>
              </a:rPr>
              <a:t>,</a:t>
            </a:r>
          </a:p>
          <a:p>
            <a:pPr marL="0" indent="0">
              <a:buNone/>
            </a:pPr>
            <a:r>
              <a:rPr lang="en-US" sz="2400" dirty="0">
                <a:solidFill>
                  <a:srgbClr val="2A00FF"/>
                </a:solidFill>
                <a:effectLst/>
              </a:rPr>
              <a:t>"Sup"</a:t>
            </a:r>
            <a:r>
              <a:rPr lang="en-US" sz="2400" dirty="0">
                <a:solidFill>
                  <a:srgbClr val="000000"/>
                </a:solidFill>
                <a:effectLst/>
              </a:rPr>
              <a:t>, </a:t>
            </a:r>
            <a:r>
              <a:rPr lang="en-US" sz="2400" dirty="0">
                <a:solidFill>
                  <a:srgbClr val="2A00FF"/>
                </a:solidFill>
                <a:effectLst/>
              </a:rPr>
              <a:t>"Oct"</a:t>
            </a:r>
            <a:r>
              <a:rPr lang="en-US" sz="2400" dirty="0">
                <a:solidFill>
                  <a:srgbClr val="000000"/>
                </a:solidFill>
                <a:effectLst/>
              </a:rPr>
              <a:t>, </a:t>
            </a:r>
            <a:r>
              <a:rPr lang="en-US" sz="2400" dirty="0">
                <a:solidFill>
                  <a:srgbClr val="2A00FF"/>
                </a:solidFill>
                <a:effectLst/>
              </a:rPr>
              <a:t>"Nov"</a:t>
            </a:r>
            <a:r>
              <a:rPr lang="en-US" sz="2400" dirty="0">
                <a:solidFill>
                  <a:srgbClr val="000000"/>
                </a:solidFill>
                <a:effectLst/>
              </a:rPr>
              <a:t>, </a:t>
            </a:r>
            <a:r>
              <a:rPr lang="en-US" sz="2400" dirty="0">
                <a:solidFill>
                  <a:srgbClr val="2A00FF"/>
                </a:solidFill>
                <a:effectLst/>
              </a:rPr>
              <a:t>"Dec"</a:t>
            </a:r>
            <a:r>
              <a:rPr lang="en-US" sz="2400" dirty="0">
                <a:solidFill>
                  <a:srgbClr val="000000"/>
                </a:solidFill>
                <a:effectLst/>
              </a:rPr>
              <a:t> ,</a:t>
            </a:r>
          </a:p>
          <a:p>
            <a:pPr marL="0" indent="0">
              <a:buNone/>
            </a:pPr>
            <a:r>
              <a:rPr lang="en-US" sz="2400" dirty="0">
                <a:solidFill>
                  <a:srgbClr val="2A00FF"/>
                </a:solidFill>
                <a:effectLst/>
              </a:rPr>
              <a:t>"Jan"</a:t>
            </a:r>
            <a:r>
              <a:rPr lang="en-US" sz="2400" dirty="0">
                <a:solidFill>
                  <a:srgbClr val="000000"/>
                </a:solidFill>
                <a:effectLst/>
              </a:rPr>
              <a:t>, </a:t>
            </a:r>
            <a:r>
              <a:rPr lang="en-US" sz="2400" dirty="0">
                <a:solidFill>
                  <a:srgbClr val="2A00FF"/>
                </a:solidFill>
                <a:effectLst/>
              </a:rPr>
              <a:t>"</a:t>
            </a:r>
            <a:r>
              <a:rPr lang="en-US" sz="2400" dirty="0" err="1">
                <a:solidFill>
                  <a:srgbClr val="2A00FF"/>
                </a:solidFill>
                <a:effectLst/>
              </a:rPr>
              <a:t>feb</a:t>
            </a:r>
            <a:r>
              <a:rPr lang="en-US" sz="2400" dirty="0">
                <a:solidFill>
                  <a:srgbClr val="2A00FF"/>
                </a:solidFill>
                <a:effectLst/>
              </a:rPr>
              <a:t>"</a:t>
            </a:r>
            <a:r>
              <a:rPr lang="en-US" sz="2400" dirty="0">
                <a:solidFill>
                  <a:srgbClr val="000000"/>
                </a:solidFill>
                <a:effectLst/>
              </a:rPr>
              <a:t>, </a:t>
            </a:r>
            <a:r>
              <a:rPr lang="en-US" sz="2400" dirty="0">
                <a:solidFill>
                  <a:srgbClr val="2A00FF"/>
                </a:solidFill>
                <a:effectLst/>
              </a:rPr>
              <a:t>"Mar"</a:t>
            </a:r>
            <a:r>
              <a:rPr lang="en-US" sz="2400" dirty="0">
                <a:solidFill>
                  <a:srgbClr val="000000"/>
                </a:solidFill>
                <a:effectLst/>
              </a:rPr>
              <a:t>, </a:t>
            </a:r>
            <a:r>
              <a:rPr lang="en-US" sz="2400" dirty="0">
                <a:solidFill>
                  <a:srgbClr val="2A00FF"/>
                </a:solidFill>
                <a:effectLst/>
              </a:rPr>
              <a:t>"Apr"</a:t>
            </a:r>
            <a:r>
              <a:rPr lang="en-US" sz="2400" dirty="0">
                <a:solidFill>
                  <a:srgbClr val="000000"/>
                </a:solidFill>
                <a:effectLst/>
              </a:rPr>
              <a:t>,</a:t>
            </a:r>
          </a:p>
          <a:p>
            <a:pPr marL="0" indent="0">
              <a:buNone/>
            </a:pPr>
            <a:r>
              <a:rPr lang="en-US" sz="2400" dirty="0">
                <a:solidFill>
                  <a:srgbClr val="2A00FF"/>
                </a:solidFill>
                <a:effectLst/>
              </a:rPr>
              <a:t>"May"</a:t>
            </a:r>
            <a:r>
              <a:rPr lang="en-US" sz="2400" dirty="0">
                <a:solidFill>
                  <a:srgbClr val="000000"/>
                </a:solidFill>
                <a:effectLst/>
              </a:rPr>
              <a:t>, </a:t>
            </a:r>
            <a:r>
              <a:rPr lang="en-US" sz="2400" dirty="0">
                <a:solidFill>
                  <a:srgbClr val="2A00FF"/>
                </a:solidFill>
                <a:effectLst/>
              </a:rPr>
              <a:t>"Jun"</a:t>
            </a:r>
            <a:r>
              <a:rPr lang="en-US" sz="2400" dirty="0">
                <a:solidFill>
                  <a:srgbClr val="000000"/>
                </a:solidFill>
                <a:effectLst/>
              </a:rPr>
              <a:t>};</a:t>
            </a:r>
          </a:p>
          <a:p>
            <a:pPr marL="0" indent="0">
              <a:buNone/>
            </a:pPr>
            <a:endParaRPr lang="en-US" sz="2400" dirty="0">
              <a:solidFill>
                <a:srgbClr val="000000"/>
              </a:solidFill>
            </a:endParaRPr>
          </a:p>
          <a:p>
            <a:pPr marL="0" indent="0">
              <a:buNone/>
            </a:pPr>
            <a:r>
              <a:rPr lang="en-IN" dirty="0">
                <a:solidFill>
                  <a:srgbClr val="0000C0"/>
                </a:solidFill>
                <a:effectLst/>
              </a:rPr>
              <a:t>cb3</a:t>
            </a:r>
            <a:r>
              <a:rPr lang="en-IN" dirty="0">
                <a:solidFill>
                  <a:srgbClr val="000000"/>
                </a:solidFill>
                <a:effectLst/>
              </a:rPr>
              <a:t> = </a:t>
            </a:r>
            <a:r>
              <a:rPr lang="en-IN" b="1" u="sng" dirty="0">
                <a:solidFill>
                  <a:srgbClr val="7F0055"/>
                </a:solidFill>
                <a:effectLst/>
              </a:rPr>
              <a:t>new</a:t>
            </a:r>
            <a:r>
              <a:rPr lang="en-IN" u="sng" dirty="0">
                <a:solidFill>
                  <a:srgbClr val="000000"/>
                </a:solidFill>
                <a:effectLst/>
              </a:rPr>
              <a:t> </a:t>
            </a:r>
            <a:r>
              <a:rPr lang="en-IN" u="sng" dirty="0" err="1">
                <a:solidFill>
                  <a:srgbClr val="000000"/>
                </a:solidFill>
                <a:effectLst/>
              </a:rPr>
              <a:t>JComboBox</a:t>
            </a:r>
            <a:r>
              <a:rPr lang="en-IN" u="sng" dirty="0">
                <a:solidFill>
                  <a:srgbClr val="000000"/>
                </a:solidFill>
                <a:effectLst/>
              </a:rPr>
              <a:t>(</a:t>
            </a:r>
            <a:r>
              <a:rPr lang="en-IN" u="sng" dirty="0">
                <a:solidFill>
                  <a:srgbClr val="0000C0"/>
                </a:solidFill>
                <a:effectLst/>
              </a:rPr>
              <a:t>months</a:t>
            </a:r>
            <a:r>
              <a:rPr lang="en-IN" u="sng" dirty="0">
                <a:solidFill>
                  <a:srgbClr val="000000"/>
                </a:solidFill>
                <a:effectLst/>
              </a:rPr>
              <a:t>)</a:t>
            </a:r>
            <a:r>
              <a:rPr lang="en-IN" dirty="0">
                <a:solidFill>
                  <a:srgbClr val="000000"/>
                </a:solidFill>
                <a:effectLst/>
              </a:rPr>
              <a:t>;</a:t>
            </a:r>
          </a:p>
          <a:p>
            <a:pPr marL="0" indent="0">
              <a:buNone/>
            </a:pPr>
            <a:r>
              <a:rPr lang="en-IN" dirty="0">
                <a:solidFill>
                  <a:srgbClr val="0000C0"/>
                </a:solidFill>
                <a:effectLst/>
              </a:rPr>
              <a:t>cb3</a:t>
            </a:r>
            <a:r>
              <a:rPr lang="en-IN" dirty="0">
                <a:solidFill>
                  <a:srgbClr val="000000"/>
                </a:solidFill>
                <a:effectLst/>
              </a:rPr>
              <a:t>.setFont(</a:t>
            </a:r>
            <a:r>
              <a:rPr lang="en-IN" b="1" dirty="0">
                <a:solidFill>
                  <a:srgbClr val="7F0055"/>
                </a:solidFill>
                <a:effectLst/>
              </a:rPr>
              <a:t>new</a:t>
            </a:r>
            <a:r>
              <a:rPr lang="en-IN" dirty="0">
                <a:solidFill>
                  <a:srgbClr val="000000"/>
                </a:solidFill>
                <a:effectLst/>
              </a:rPr>
              <a:t> Font(</a:t>
            </a:r>
            <a:r>
              <a:rPr lang="en-IN" dirty="0">
                <a:solidFill>
                  <a:srgbClr val="2A00FF"/>
                </a:solidFill>
                <a:effectLst/>
              </a:rPr>
              <a:t>"Arial"</a:t>
            </a:r>
            <a:r>
              <a:rPr lang="en-IN" dirty="0">
                <a:solidFill>
                  <a:srgbClr val="000000"/>
                </a:solidFill>
                <a:effectLst/>
              </a:rPr>
              <a:t>, </a:t>
            </a:r>
            <a:r>
              <a:rPr lang="en-IN" dirty="0" err="1">
                <a:solidFill>
                  <a:srgbClr val="000000"/>
                </a:solidFill>
                <a:effectLst/>
              </a:rPr>
              <a:t>Font.</a:t>
            </a:r>
            <a:r>
              <a:rPr lang="en-IN" b="1" i="1" dirty="0" err="1">
                <a:solidFill>
                  <a:srgbClr val="0000C0"/>
                </a:solidFill>
                <a:effectLst/>
              </a:rPr>
              <a:t>PLAIN</a:t>
            </a:r>
            <a:r>
              <a:rPr lang="en-IN" dirty="0">
                <a:solidFill>
                  <a:srgbClr val="000000"/>
                </a:solidFill>
                <a:effectLst/>
              </a:rPr>
              <a:t>, 15));</a:t>
            </a:r>
          </a:p>
          <a:p>
            <a:pPr marL="0" indent="0">
              <a:buNone/>
            </a:pPr>
            <a:r>
              <a:rPr lang="en-IN" dirty="0">
                <a:solidFill>
                  <a:srgbClr val="0000C0"/>
                </a:solidFill>
                <a:effectLst/>
              </a:rPr>
              <a:t>cb3</a:t>
            </a:r>
            <a:r>
              <a:rPr lang="en-IN" dirty="0">
                <a:solidFill>
                  <a:srgbClr val="000000"/>
                </a:solidFill>
                <a:effectLst/>
              </a:rPr>
              <a:t>.setBounds(470, 350, 60, 60);</a:t>
            </a:r>
          </a:p>
          <a:p>
            <a:pPr marL="0" indent="0">
              <a:buNone/>
            </a:pPr>
            <a:r>
              <a:rPr lang="en-IN" dirty="0" err="1">
                <a:solidFill>
                  <a:srgbClr val="0000C0"/>
                </a:solidFill>
                <a:effectLst/>
              </a:rPr>
              <a:t>f</a:t>
            </a:r>
            <a:r>
              <a:rPr lang="en-IN" dirty="0" err="1">
                <a:solidFill>
                  <a:srgbClr val="000000"/>
                </a:solidFill>
                <a:effectLst/>
              </a:rPr>
              <a:t>.add</a:t>
            </a:r>
            <a:r>
              <a:rPr lang="en-IN" dirty="0">
                <a:solidFill>
                  <a:srgbClr val="000000"/>
                </a:solidFill>
                <a:effectLst/>
              </a:rPr>
              <a:t>(</a:t>
            </a:r>
            <a:r>
              <a:rPr lang="en-IN" dirty="0">
                <a:solidFill>
                  <a:srgbClr val="0000C0"/>
                </a:solidFill>
                <a:effectLst/>
              </a:rPr>
              <a:t>cb3</a:t>
            </a:r>
            <a:r>
              <a:rPr lang="en-IN" dirty="0">
                <a:solidFill>
                  <a:srgbClr val="000000"/>
                </a:solidFill>
                <a:effectLst/>
              </a:rPr>
              <a:t>);</a:t>
            </a:r>
          </a:p>
          <a:p>
            <a:pPr marL="0" indent="0">
              <a:buNone/>
            </a:pPr>
            <a:endParaRPr lang="en-US" sz="2400" dirty="0">
              <a:solidFill>
                <a:srgbClr val="000000"/>
              </a:solidFill>
              <a:effectLst/>
            </a:endParaRPr>
          </a:p>
          <a:p>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03E4A21A-0EA0-740C-A2AE-C034FB322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480" y="294360"/>
            <a:ext cx="5083013" cy="3997721"/>
          </a:xfrm>
          <a:prstGeom prst="rect">
            <a:avLst/>
          </a:prstGeom>
        </p:spPr>
      </p:pic>
    </p:spTree>
    <p:extLst>
      <p:ext uri="{BB962C8B-B14F-4D97-AF65-F5344CB8AC3E}">
        <p14:creationId xmlns:p14="http://schemas.microsoft.com/office/powerpoint/2010/main" val="1050538740"/>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89044-0FB1-817A-98F2-D42DC189C762}"/>
              </a:ext>
            </a:extLst>
          </p:cNvPr>
          <p:cNvSpPr>
            <a:spLocks noGrp="1"/>
          </p:cNvSpPr>
          <p:nvPr>
            <p:ph idx="1"/>
          </p:nvPr>
        </p:nvSpPr>
        <p:spPr>
          <a:xfrm>
            <a:off x="838200" y="606490"/>
            <a:ext cx="10515600" cy="5570473"/>
          </a:xfrm>
        </p:spPr>
        <p:txBody>
          <a:bodyPr>
            <a:normAutofit fontScale="92500" lnSpcReduction="10000"/>
          </a:bodyPr>
          <a:lstStyle/>
          <a:p>
            <a:r>
              <a:rPr lang="en-IN" b="1" i="0" dirty="0">
                <a:solidFill>
                  <a:srgbClr val="7030A0"/>
                </a:solidFill>
                <a:effectLst/>
              </a:rPr>
              <a:t>Simple Java Swing Example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FirstSwingExample</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err="1">
                <a:solidFill>
                  <a:srgbClr val="000000"/>
                </a:solidFill>
                <a:effectLst/>
              </a:rPr>
              <a:t>JFrame</a:t>
            </a:r>
            <a:r>
              <a:rPr lang="en-IN" b="0" i="0" dirty="0">
                <a:solidFill>
                  <a:srgbClr val="000000"/>
                </a:solidFill>
                <a:effectLst/>
              </a:rPr>
              <a:t> f=</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a:t>
            </a:r>
            <a:r>
              <a:rPr lang="en-IN" b="0" i="0" dirty="0">
                <a:solidFill>
                  <a:srgbClr val="008200"/>
                </a:solidFill>
                <a:effectLst/>
              </a:rPr>
              <a:t>//creating instance of </a:t>
            </a:r>
            <a:r>
              <a:rPr lang="en-IN" b="0" i="0" dirty="0" err="1">
                <a:solidFill>
                  <a:srgbClr val="008200"/>
                </a:solidFill>
                <a:effectLst/>
              </a:rPr>
              <a:t>JFrame</a:t>
            </a:r>
            <a:r>
              <a:rPr lang="en-IN" b="0" i="0" dirty="0">
                <a:solidFill>
                  <a:srgbClr val="000000"/>
                </a:solidFill>
                <a:effectLst/>
              </a:rPr>
              <a:t>  </a:t>
            </a:r>
          </a:p>
          <a:p>
            <a:pPr marL="0" indent="0" algn="just">
              <a:buNone/>
            </a:pPr>
            <a:r>
              <a:rPr lang="en-IN" b="0" i="0" dirty="0" err="1">
                <a:solidFill>
                  <a:srgbClr val="000000"/>
                </a:solidFill>
                <a:effectLst/>
              </a:rPr>
              <a:t>JButton</a:t>
            </a:r>
            <a:r>
              <a:rPr lang="en-IN" b="0" i="0" dirty="0">
                <a:solidFill>
                  <a:srgbClr val="000000"/>
                </a:solidFill>
                <a:effectLst/>
              </a:rPr>
              <a:t> b=</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"click"</a:t>
            </a:r>
            <a:r>
              <a:rPr lang="en-IN" b="0" i="0" dirty="0">
                <a:solidFill>
                  <a:srgbClr val="000000"/>
                </a:solidFill>
                <a:effectLst/>
              </a:rPr>
              <a:t>);</a:t>
            </a:r>
            <a:r>
              <a:rPr lang="en-IN" b="0" i="0" dirty="0">
                <a:solidFill>
                  <a:srgbClr val="008200"/>
                </a:solidFill>
                <a:effectLst/>
              </a:rPr>
              <a:t>//creating instance of </a:t>
            </a:r>
            <a:r>
              <a:rPr lang="en-IN" b="0" i="0" dirty="0" err="1">
                <a:solidFill>
                  <a:srgbClr val="008200"/>
                </a:solidFill>
                <a:effectLst/>
              </a:rPr>
              <a:t>JButton</a:t>
            </a:r>
            <a:r>
              <a:rPr lang="en-IN" b="0" i="0" dirty="0">
                <a:solidFill>
                  <a:srgbClr val="000000"/>
                </a:solidFill>
                <a:effectLst/>
              </a:rPr>
              <a:t>  </a:t>
            </a:r>
          </a:p>
          <a:p>
            <a:pPr marL="0" indent="0" algn="just">
              <a:buNone/>
            </a:pPr>
            <a:r>
              <a:rPr lang="en-IN" b="0" i="0" dirty="0" err="1">
                <a:solidFill>
                  <a:srgbClr val="000000"/>
                </a:solidFill>
                <a:effectLst/>
              </a:rPr>
              <a:t>b.setBounds</a:t>
            </a:r>
            <a:r>
              <a:rPr lang="en-IN" b="0" i="0" dirty="0">
                <a:solidFill>
                  <a:srgbClr val="000000"/>
                </a:solidFill>
                <a:effectLst/>
              </a:rPr>
              <a:t>(</a:t>
            </a:r>
            <a:r>
              <a:rPr lang="en-IN" b="0" i="0" dirty="0">
                <a:solidFill>
                  <a:srgbClr val="C00000"/>
                </a:solidFill>
                <a:effectLst/>
              </a:rPr>
              <a:t>130</a:t>
            </a:r>
            <a:r>
              <a:rPr lang="en-IN" b="0" i="0" dirty="0">
                <a:solidFill>
                  <a:srgbClr val="000000"/>
                </a:solidFill>
                <a:effectLst/>
              </a:rPr>
              <a:t>,</a:t>
            </a:r>
            <a:r>
              <a:rPr lang="en-IN" b="0" i="0" dirty="0">
                <a:solidFill>
                  <a:srgbClr val="C00000"/>
                </a:solidFill>
                <a:effectLst/>
              </a:rPr>
              <a:t>100</a:t>
            </a:r>
            <a:r>
              <a:rPr lang="en-IN" b="0" i="0" dirty="0">
                <a:solidFill>
                  <a:srgbClr val="000000"/>
                </a:solidFill>
                <a:effectLst/>
              </a:rPr>
              <a:t>,</a:t>
            </a:r>
            <a:r>
              <a:rPr lang="en-IN" b="0" i="0" dirty="0">
                <a:solidFill>
                  <a:srgbClr val="C00000"/>
                </a:solidFill>
                <a:effectLst/>
              </a:rPr>
              <a:t>100</a:t>
            </a:r>
            <a:r>
              <a:rPr lang="en-IN" b="0" i="0" dirty="0">
                <a:solidFill>
                  <a:srgbClr val="000000"/>
                </a:solidFill>
                <a:effectLst/>
              </a:rPr>
              <a:t>, </a:t>
            </a:r>
            <a:r>
              <a:rPr lang="en-IN" b="0" i="0" dirty="0">
                <a:solidFill>
                  <a:srgbClr val="C00000"/>
                </a:solidFill>
                <a:effectLst/>
              </a:rPr>
              <a:t>40</a:t>
            </a:r>
            <a:r>
              <a:rPr lang="en-IN" b="0" i="0" dirty="0">
                <a:solidFill>
                  <a:srgbClr val="000000"/>
                </a:solidFill>
                <a:effectLst/>
              </a:rPr>
              <a:t>);</a:t>
            </a:r>
            <a:r>
              <a:rPr lang="en-IN" b="0" i="0" dirty="0">
                <a:solidFill>
                  <a:srgbClr val="008200"/>
                </a:solidFill>
                <a:effectLst/>
              </a:rPr>
              <a:t>//x axis, y axis, width, height</a:t>
            </a:r>
            <a:r>
              <a:rPr lang="en-IN" b="0" i="0" dirty="0">
                <a:solidFill>
                  <a:srgbClr val="000000"/>
                </a:solidFill>
                <a:effectLst/>
              </a:rPr>
              <a:t>  </a:t>
            </a:r>
          </a:p>
          <a:p>
            <a:pPr marL="0" indent="0" algn="just">
              <a:buNone/>
            </a:pPr>
            <a:r>
              <a:rPr lang="en-IN" b="0" i="0" dirty="0" err="1">
                <a:solidFill>
                  <a:srgbClr val="000000"/>
                </a:solidFill>
                <a:effectLst/>
              </a:rPr>
              <a:t>f.add</a:t>
            </a:r>
            <a:r>
              <a:rPr lang="en-IN" b="0" i="0" dirty="0">
                <a:solidFill>
                  <a:srgbClr val="000000"/>
                </a:solidFill>
                <a:effectLst/>
              </a:rPr>
              <a:t>(b);</a:t>
            </a:r>
            <a:r>
              <a:rPr lang="en-IN" b="0" i="0" dirty="0">
                <a:solidFill>
                  <a:srgbClr val="008200"/>
                </a:solidFill>
                <a:effectLst/>
              </a:rPr>
              <a:t>//adding button in </a:t>
            </a:r>
            <a:r>
              <a:rPr lang="en-IN" b="0" i="0" dirty="0" err="1">
                <a:solidFill>
                  <a:srgbClr val="008200"/>
                </a:solidFill>
                <a:effectLst/>
              </a:rPr>
              <a:t>JFrame</a:t>
            </a:r>
            <a:r>
              <a:rPr lang="en-IN" b="0" i="0" dirty="0">
                <a:solidFill>
                  <a:srgbClr val="000000"/>
                </a:solidFill>
                <a:effectLst/>
              </a:rPr>
              <a:t>  </a:t>
            </a:r>
          </a:p>
          <a:p>
            <a:pPr marL="0" indent="0" algn="just">
              <a:buNone/>
            </a:pPr>
            <a:r>
              <a:rPr lang="en-IN" b="0" i="0" dirty="0" err="1">
                <a:solidFill>
                  <a:srgbClr val="000000"/>
                </a:solidFill>
                <a:effectLst/>
              </a:rPr>
              <a:t>f.setSize</a:t>
            </a:r>
            <a:r>
              <a:rPr lang="en-IN" b="0" i="0" dirty="0">
                <a:solidFill>
                  <a:srgbClr val="000000"/>
                </a:solidFill>
                <a:effectLst/>
              </a:rPr>
              <a:t>(</a:t>
            </a:r>
            <a:r>
              <a:rPr lang="en-IN" b="0" i="0" dirty="0">
                <a:solidFill>
                  <a:srgbClr val="C00000"/>
                </a:solidFill>
                <a:effectLst/>
              </a:rPr>
              <a:t>400</a:t>
            </a:r>
            <a:r>
              <a:rPr lang="en-IN" b="0" i="0" dirty="0">
                <a:solidFill>
                  <a:srgbClr val="000000"/>
                </a:solidFill>
                <a:effectLst/>
              </a:rPr>
              <a:t>,</a:t>
            </a:r>
            <a:r>
              <a:rPr lang="en-IN" b="0" i="0" dirty="0">
                <a:solidFill>
                  <a:srgbClr val="C00000"/>
                </a:solidFill>
                <a:effectLst/>
              </a:rPr>
              <a:t>500</a:t>
            </a:r>
            <a:r>
              <a:rPr lang="en-IN" b="0" i="0" dirty="0">
                <a:solidFill>
                  <a:srgbClr val="000000"/>
                </a:solidFill>
                <a:effectLst/>
              </a:rPr>
              <a:t>);</a:t>
            </a:r>
            <a:r>
              <a:rPr lang="en-IN" b="0" i="0" dirty="0">
                <a:solidFill>
                  <a:srgbClr val="008200"/>
                </a:solidFill>
                <a:effectLst/>
              </a:rPr>
              <a:t>//400 width and 500 height</a:t>
            </a:r>
            <a:r>
              <a:rPr lang="en-IN" b="0" i="0" dirty="0">
                <a:solidFill>
                  <a:srgbClr val="000000"/>
                </a:solidFill>
                <a:effectLst/>
              </a:rPr>
              <a:t>  </a:t>
            </a:r>
          </a:p>
          <a:p>
            <a:pPr marL="0" indent="0" algn="just">
              <a:buNone/>
            </a:pPr>
            <a:r>
              <a:rPr lang="en-IN" b="0" i="0" dirty="0" err="1">
                <a:solidFill>
                  <a:srgbClr val="000000"/>
                </a:solidFill>
                <a:effectLst/>
              </a:rPr>
              <a:t>f.setLayout</a:t>
            </a:r>
            <a:r>
              <a:rPr lang="en-IN" b="0" i="0" dirty="0">
                <a:solidFill>
                  <a:srgbClr val="000000"/>
                </a:solidFill>
                <a:effectLst/>
              </a:rPr>
              <a:t>(</a:t>
            </a:r>
            <a:r>
              <a:rPr lang="en-IN" b="1" i="0" dirty="0">
                <a:solidFill>
                  <a:srgbClr val="006699"/>
                </a:solidFill>
                <a:effectLst/>
              </a:rPr>
              <a:t>null</a:t>
            </a:r>
            <a:r>
              <a:rPr lang="en-IN" b="0" i="0" dirty="0">
                <a:solidFill>
                  <a:srgbClr val="000000"/>
                </a:solidFill>
                <a:effectLst/>
              </a:rPr>
              <a:t>);</a:t>
            </a:r>
            <a:r>
              <a:rPr lang="en-IN" b="0" i="0" dirty="0">
                <a:solidFill>
                  <a:srgbClr val="008200"/>
                </a:solidFill>
                <a:effectLst/>
              </a:rPr>
              <a:t>//using no layout managers</a:t>
            </a:r>
            <a:r>
              <a:rPr lang="en-IN" b="0" i="0" dirty="0">
                <a:solidFill>
                  <a:srgbClr val="000000"/>
                </a:solidFill>
                <a:effectLst/>
              </a:rPr>
              <a:t>  </a:t>
            </a:r>
          </a:p>
          <a:p>
            <a:pPr marL="0" indent="0" algn="just">
              <a:buNone/>
            </a:pPr>
            <a:r>
              <a:rPr lang="en-IN" b="0" i="0" dirty="0" err="1">
                <a:solidFill>
                  <a:srgbClr val="000000"/>
                </a:solidFill>
                <a:effectLst/>
              </a:rPr>
              <a:t>f.setVisible</a:t>
            </a:r>
            <a:r>
              <a:rPr lang="en-IN" b="0" i="0" dirty="0">
                <a:solidFill>
                  <a:srgbClr val="000000"/>
                </a:solidFill>
                <a:effectLst/>
              </a:rPr>
              <a:t>(</a:t>
            </a:r>
            <a:r>
              <a:rPr lang="en-IN" b="1" i="0" dirty="0">
                <a:solidFill>
                  <a:srgbClr val="006699"/>
                </a:solidFill>
                <a:effectLst/>
              </a:rPr>
              <a:t>true</a:t>
            </a:r>
            <a:r>
              <a:rPr lang="en-IN" b="0" i="0" dirty="0">
                <a:solidFill>
                  <a:srgbClr val="000000"/>
                </a:solidFill>
                <a:effectLst/>
              </a:rPr>
              <a:t>);</a:t>
            </a:r>
            <a:r>
              <a:rPr lang="en-IN" b="0" i="0" dirty="0">
                <a:solidFill>
                  <a:srgbClr val="008200"/>
                </a:solidFill>
                <a:effectLst/>
              </a:rPr>
              <a:t>//making the frame visible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840929970"/>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58B2-ACCA-9CB1-33C4-E38AFC28AD34}"/>
              </a:ext>
            </a:extLst>
          </p:cNvPr>
          <p:cNvSpPr>
            <a:spLocks noGrp="1"/>
          </p:cNvSpPr>
          <p:nvPr>
            <p:ph type="title"/>
          </p:nvPr>
        </p:nvSpPr>
        <p:spPr/>
        <p:txBody>
          <a:bodyPr/>
          <a:lstStyle/>
          <a:p>
            <a:pPr algn="ctr"/>
            <a:r>
              <a:rPr lang="en-US" sz="4400" b="1" dirty="0">
                <a:solidFill>
                  <a:srgbClr val="7030A0"/>
                </a:solidFill>
              </a:rPr>
              <a:t>Event Handling</a:t>
            </a:r>
            <a:endParaRPr lang="en-IN" b="1" dirty="0">
              <a:solidFill>
                <a:srgbClr val="7030A0"/>
              </a:solidFill>
            </a:endParaRPr>
          </a:p>
        </p:txBody>
      </p:sp>
      <p:sp>
        <p:nvSpPr>
          <p:cNvPr id="3" name="Content Placeholder 2">
            <a:extLst>
              <a:ext uri="{FF2B5EF4-FFF2-40B4-BE49-F238E27FC236}">
                <a16:creationId xmlns:a16="http://schemas.microsoft.com/office/drawing/2014/main" id="{09AF1F0D-B65A-D7F4-71F6-B140CCE5B544}"/>
              </a:ext>
            </a:extLst>
          </p:cNvPr>
          <p:cNvSpPr>
            <a:spLocks noGrp="1"/>
          </p:cNvSpPr>
          <p:nvPr>
            <p:ph idx="1"/>
          </p:nvPr>
        </p:nvSpPr>
        <p:spPr>
          <a:xfrm>
            <a:off x="838200" y="1576873"/>
            <a:ext cx="10515600" cy="4600090"/>
          </a:xfrm>
        </p:spPr>
        <p:txBody>
          <a:bodyPr/>
          <a:lstStyle/>
          <a:p>
            <a:pPr>
              <a:lnSpc>
                <a:spcPct val="150000"/>
              </a:lnSpc>
            </a:pPr>
            <a:r>
              <a:rPr lang="en-US" b="1" i="0" dirty="0">
                <a:solidFill>
                  <a:srgbClr val="7030A0"/>
                </a:solidFill>
                <a:effectLst/>
                <a:latin typeface="inter-regular"/>
              </a:rPr>
              <a:t>Changing the state of an object is known as an event.</a:t>
            </a:r>
          </a:p>
          <a:p>
            <a:pPr>
              <a:lnSpc>
                <a:spcPct val="150000"/>
              </a:lnSpc>
            </a:pPr>
            <a:r>
              <a:rPr lang="en-US" b="0" i="0" dirty="0">
                <a:solidFill>
                  <a:srgbClr val="333333"/>
                </a:solidFill>
                <a:effectLst/>
                <a:latin typeface="inter-regular"/>
              </a:rPr>
              <a:t> For example, click on button, dragging mouse etc.</a:t>
            </a:r>
          </a:p>
          <a:p>
            <a:pPr>
              <a:lnSpc>
                <a:spcPct val="150000"/>
              </a:lnSpc>
            </a:pPr>
            <a:r>
              <a:rPr lang="en-US" b="0" i="0" dirty="0">
                <a:solidFill>
                  <a:srgbClr val="333333"/>
                </a:solidFill>
                <a:effectLst/>
                <a:latin typeface="inter-regular"/>
              </a:rPr>
              <a:t> The </a:t>
            </a:r>
            <a:r>
              <a:rPr lang="en-US" b="1" i="0" dirty="0" err="1">
                <a:solidFill>
                  <a:srgbClr val="7030A0"/>
                </a:solidFill>
                <a:effectLst/>
                <a:latin typeface="inter-regular"/>
              </a:rPr>
              <a:t>java.awt.event</a:t>
            </a:r>
            <a:r>
              <a:rPr lang="en-US" b="1" i="0" dirty="0">
                <a:solidFill>
                  <a:srgbClr val="7030A0"/>
                </a:solidFill>
                <a:effectLst/>
                <a:latin typeface="inter-regular"/>
              </a:rPr>
              <a:t> package</a:t>
            </a:r>
            <a:r>
              <a:rPr lang="en-US" b="0" i="0" dirty="0">
                <a:solidFill>
                  <a:srgbClr val="333333"/>
                </a:solidFill>
                <a:effectLst/>
                <a:latin typeface="inter-regular"/>
              </a:rPr>
              <a:t> provides many event classes and Listener interfaces for event handling.</a:t>
            </a:r>
            <a:endParaRPr lang="en-IN" dirty="0"/>
          </a:p>
        </p:txBody>
      </p:sp>
    </p:spTree>
    <p:extLst>
      <p:ext uri="{BB962C8B-B14F-4D97-AF65-F5344CB8AC3E}">
        <p14:creationId xmlns:p14="http://schemas.microsoft.com/office/powerpoint/2010/main" val="128421818"/>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D45C6-3DB9-43AA-0A8B-92DA055D8EBA}"/>
              </a:ext>
            </a:extLst>
          </p:cNvPr>
          <p:cNvSpPr>
            <a:spLocks noGrp="1"/>
          </p:cNvSpPr>
          <p:nvPr>
            <p:ph idx="1"/>
          </p:nvPr>
        </p:nvSpPr>
        <p:spPr>
          <a:xfrm>
            <a:off x="671804" y="522514"/>
            <a:ext cx="10681996" cy="5654449"/>
          </a:xfrm>
        </p:spPr>
        <p:txBody>
          <a:bodyPr/>
          <a:lstStyle/>
          <a:p>
            <a:pPr marL="0" indent="0" algn="just">
              <a:lnSpc>
                <a:spcPct val="150000"/>
              </a:lnSpc>
              <a:buNone/>
            </a:pPr>
            <a:r>
              <a:rPr lang="en-US" b="1" i="0" dirty="0">
                <a:solidFill>
                  <a:srgbClr val="7030A0"/>
                </a:solidFill>
                <a:effectLst/>
              </a:rPr>
              <a:t>Steps to perform Event Handling</a:t>
            </a:r>
          </a:p>
          <a:p>
            <a:pPr algn="just">
              <a:lnSpc>
                <a:spcPct val="150000"/>
              </a:lnSpc>
            </a:pPr>
            <a:r>
              <a:rPr lang="en-US" b="0" i="0" dirty="0">
                <a:solidFill>
                  <a:srgbClr val="333333"/>
                </a:solidFill>
                <a:effectLst/>
              </a:rPr>
              <a:t>Following steps are required to perform event handling:</a:t>
            </a:r>
          </a:p>
          <a:p>
            <a:pPr marL="0" indent="0" algn="just">
              <a:lnSpc>
                <a:spcPct val="150000"/>
              </a:lnSpc>
              <a:buNone/>
            </a:pPr>
            <a:r>
              <a:rPr lang="en-US" dirty="0">
                <a:solidFill>
                  <a:srgbClr val="000000"/>
                </a:solidFill>
              </a:rPr>
              <a:t>        </a:t>
            </a:r>
            <a:r>
              <a:rPr lang="en-US" b="0" i="0" dirty="0">
                <a:solidFill>
                  <a:srgbClr val="000000"/>
                </a:solidFill>
                <a:effectLst/>
              </a:rPr>
              <a:t> Register the component with the Listener</a:t>
            </a:r>
          </a:p>
          <a:p>
            <a:pPr marL="0" indent="0" algn="just">
              <a:lnSpc>
                <a:spcPct val="150000"/>
              </a:lnSpc>
              <a:buNone/>
            </a:pPr>
            <a:endParaRPr lang="en-US" b="0" i="0" dirty="0">
              <a:solidFill>
                <a:srgbClr val="000000"/>
              </a:solidFill>
              <a:effectLst/>
            </a:endParaRPr>
          </a:p>
          <a:p>
            <a:endParaRPr lang="en-IN" dirty="0"/>
          </a:p>
        </p:txBody>
      </p:sp>
    </p:spTree>
    <p:extLst>
      <p:ext uri="{BB962C8B-B14F-4D97-AF65-F5344CB8AC3E}">
        <p14:creationId xmlns:p14="http://schemas.microsoft.com/office/powerpoint/2010/main" val="1598619112"/>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70E23-0694-1B69-708D-B751F600F7A7}"/>
              </a:ext>
            </a:extLst>
          </p:cNvPr>
          <p:cNvSpPr>
            <a:spLocks noGrp="1"/>
          </p:cNvSpPr>
          <p:nvPr>
            <p:ph idx="1"/>
          </p:nvPr>
        </p:nvSpPr>
        <p:spPr>
          <a:xfrm>
            <a:off x="838200" y="681135"/>
            <a:ext cx="10515600" cy="5495828"/>
          </a:xfrm>
        </p:spPr>
        <p:txBody>
          <a:bodyPr>
            <a:normAutofit/>
          </a:bodyPr>
          <a:lstStyle/>
          <a:p>
            <a:pPr marL="0" indent="0" algn="just">
              <a:lnSpc>
                <a:spcPct val="150000"/>
              </a:lnSpc>
              <a:buNone/>
            </a:pPr>
            <a:r>
              <a:rPr lang="en-IN" b="1" i="0" dirty="0">
                <a:solidFill>
                  <a:srgbClr val="7030A0"/>
                </a:solidFill>
                <a:effectLst/>
              </a:rPr>
              <a:t>Registration Methods</a:t>
            </a:r>
          </a:p>
          <a:p>
            <a:pPr algn="just">
              <a:lnSpc>
                <a:spcPct val="150000"/>
              </a:lnSpc>
            </a:pPr>
            <a:r>
              <a:rPr lang="en-IN" b="0" i="0" dirty="0">
                <a:solidFill>
                  <a:srgbClr val="333333"/>
                </a:solidFill>
                <a:effectLst/>
              </a:rPr>
              <a:t>For registering the component with the Listener, many classes provide the registration methods. For example:</a:t>
            </a:r>
          </a:p>
          <a:p>
            <a:pPr algn="just">
              <a:lnSpc>
                <a:spcPct val="150000"/>
              </a:lnSpc>
              <a:buFont typeface="Arial" panose="020B0604020202020204" pitchFamily="34" charset="0"/>
              <a:buChar char="•"/>
            </a:pPr>
            <a:r>
              <a:rPr lang="en-IN" b="1" i="0" dirty="0">
                <a:solidFill>
                  <a:srgbClr val="000000"/>
                </a:solidFill>
                <a:effectLst/>
              </a:rPr>
              <a:t>Button</a:t>
            </a:r>
            <a:endParaRPr lang="en-IN" b="0" i="0" dirty="0">
              <a:solidFill>
                <a:srgbClr val="000000"/>
              </a:solidFill>
              <a:effectLst/>
            </a:endParaRPr>
          </a:p>
          <a:p>
            <a:pPr marL="742950" lvl="1" indent="-285750" algn="just">
              <a:lnSpc>
                <a:spcPct val="150000"/>
              </a:lnSpc>
              <a:buFont typeface="Arial" panose="020B0604020202020204" pitchFamily="34" charset="0"/>
              <a:buChar char="•"/>
            </a:pPr>
            <a:r>
              <a:rPr lang="en-IN" sz="2800" b="0" i="0" dirty="0">
                <a:solidFill>
                  <a:srgbClr val="000000"/>
                </a:solidFill>
                <a:effectLst/>
              </a:rPr>
              <a:t>public void </a:t>
            </a:r>
            <a:r>
              <a:rPr lang="en-IN" sz="2800" b="0" i="0" dirty="0" err="1">
                <a:solidFill>
                  <a:srgbClr val="000000"/>
                </a:solidFill>
                <a:effectLst/>
              </a:rPr>
              <a:t>addActionListener</a:t>
            </a:r>
            <a:r>
              <a:rPr lang="en-IN" sz="2800" b="0" i="0" dirty="0">
                <a:solidFill>
                  <a:srgbClr val="000000"/>
                </a:solidFill>
                <a:effectLst/>
              </a:rPr>
              <a:t>(ActionListener a){}</a:t>
            </a:r>
          </a:p>
          <a:p>
            <a:pPr algn="just">
              <a:lnSpc>
                <a:spcPct val="150000"/>
              </a:lnSpc>
              <a:buFont typeface="Arial" panose="020B0604020202020204" pitchFamily="34" charset="0"/>
              <a:buChar char="•"/>
            </a:pPr>
            <a:r>
              <a:rPr lang="en-IN" b="1" i="0" dirty="0" err="1">
                <a:solidFill>
                  <a:srgbClr val="000000"/>
                </a:solidFill>
                <a:effectLst/>
              </a:rPr>
              <a:t>TextField</a:t>
            </a:r>
            <a:endParaRPr lang="en-IN" b="0" i="0" dirty="0">
              <a:solidFill>
                <a:srgbClr val="000000"/>
              </a:solidFill>
              <a:effectLst/>
            </a:endParaRPr>
          </a:p>
          <a:p>
            <a:pPr marL="742950" lvl="1" indent="-285750" algn="just">
              <a:lnSpc>
                <a:spcPct val="150000"/>
              </a:lnSpc>
              <a:buFont typeface="Arial" panose="020B0604020202020204" pitchFamily="34" charset="0"/>
              <a:buChar char="•"/>
            </a:pPr>
            <a:r>
              <a:rPr lang="en-IN" sz="2800" b="0" i="0" dirty="0">
                <a:solidFill>
                  <a:srgbClr val="000000"/>
                </a:solidFill>
                <a:effectLst/>
              </a:rPr>
              <a:t>public void </a:t>
            </a:r>
            <a:r>
              <a:rPr lang="en-IN" sz="2800" b="0" i="0" dirty="0" err="1">
                <a:solidFill>
                  <a:srgbClr val="000000"/>
                </a:solidFill>
                <a:effectLst/>
              </a:rPr>
              <a:t>addActionListener</a:t>
            </a:r>
            <a:r>
              <a:rPr lang="en-IN" sz="2800" b="0" i="0" dirty="0">
                <a:solidFill>
                  <a:srgbClr val="000000"/>
                </a:solidFill>
                <a:effectLst/>
              </a:rPr>
              <a:t>(ActionListener a){}</a:t>
            </a:r>
          </a:p>
          <a:p>
            <a:endParaRPr lang="en-IN" dirty="0"/>
          </a:p>
        </p:txBody>
      </p:sp>
    </p:spTree>
    <p:extLst>
      <p:ext uri="{BB962C8B-B14F-4D97-AF65-F5344CB8AC3E}">
        <p14:creationId xmlns:p14="http://schemas.microsoft.com/office/powerpoint/2010/main" val="35758170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B0EC5-0EDF-CB5F-C3E0-C6FD2868FC25}"/>
              </a:ext>
            </a:extLst>
          </p:cNvPr>
          <p:cNvSpPr>
            <a:spLocks noGrp="1"/>
          </p:cNvSpPr>
          <p:nvPr>
            <p:ph idx="1"/>
          </p:nvPr>
        </p:nvSpPr>
        <p:spPr>
          <a:xfrm>
            <a:off x="838200" y="522514"/>
            <a:ext cx="10515600" cy="5654449"/>
          </a:xfrm>
        </p:spPr>
        <p:txBody>
          <a:bodyPr>
            <a:normAutofit fontScale="92500" lnSpcReduction="10000"/>
          </a:bodyPr>
          <a:lstStyle/>
          <a:p>
            <a:pPr marL="0" indent="0">
              <a:buNone/>
            </a:pPr>
            <a:r>
              <a:rPr lang="en-IN" b="1" i="0" dirty="0">
                <a:solidFill>
                  <a:srgbClr val="7030A0"/>
                </a:solidFill>
                <a:effectLst/>
              </a:rPr>
              <a:t>Java event handling by implementing ActionListener</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java.awt</a:t>
            </a:r>
            <a:r>
              <a:rPr lang="en-IN" b="0" i="0" dirty="0">
                <a:solidFill>
                  <a:srgbClr val="000000"/>
                </a:solidFill>
                <a:effectLst/>
              </a:rPr>
              <a:t>.*;  </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java.awt.event</a:t>
            </a:r>
            <a:r>
              <a:rPr lang="en-IN" b="0" i="0" dirty="0">
                <a:solidFill>
                  <a:srgbClr val="000000"/>
                </a:solidFill>
                <a:effectLst/>
              </a:rPr>
              <a:t>.*;  </a:t>
            </a:r>
          </a:p>
          <a:p>
            <a:pPr marL="0" indent="0" algn="just">
              <a:buNone/>
            </a:pP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AEvent</a:t>
            </a:r>
            <a:r>
              <a:rPr lang="en-IN" b="0" i="0" dirty="0">
                <a:solidFill>
                  <a:srgbClr val="000000"/>
                </a:solidFill>
                <a:effectLst/>
              </a:rPr>
              <a:t> </a:t>
            </a:r>
            <a:r>
              <a:rPr lang="en-IN" b="1" i="0" dirty="0">
                <a:solidFill>
                  <a:srgbClr val="006699"/>
                </a:solidFill>
                <a:effectLst/>
              </a:rPr>
              <a:t>extends</a:t>
            </a:r>
            <a:r>
              <a:rPr lang="en-IN" b="0" i="0" dirty="0">
                <a:solidFill>
                  <a:srgbClr val="000000"/>
                </a:solidFill>
                <a:effectLst/>
              </a:rPr>
              <a:t> Frame </a:t>
            </a:r>
            <a:r>
              <a:rPr lang="en-IN" b="1" i="0" dirty="0">
                <a:solidFill>
                  <a:srgbClr val="006699"/>
                </a:solidFill>
                <a:effectLst/>
              </a:rPr>
              <a:t>implements</a:t>
            </a:r>
            <a:r>
              <a:rPr lang="en-IN" b="0" i="0" dirty="0">
                <a:solidFill>
                  <a:srgbClr val="000000"/>
                </a:solidFill>
                <a:effectLst/>
              </a:rPr>
              <a:t> ActionListener{  </a:t>
            </a:r>
          </a:p>
          <a:p>
            <a:pPr marL="0" indent="0" algn="just">
              <a:buNone/>
            </a:pPr>
            <a:r>
              <a:rPr lang="en-IN" b="0" i="0" dirty="0" err="1">
                <a:solidFill>
                  <a:srgbClr val="000000"/>
                </a:solidFill>
                <a:effectLst/>
              </a:rPr>
              <a:t>TextField</a:t>
            </a:r>
            <a:r>
              <a:rPr lang="en-IN" b="0" i="0" dirty="0">
                <a:solidFill>
                  <a:srgbClr val="000000"/>
                </a:solidFill>
                <a:effectLst/>
              </a:rPr>
              <a:t> </a:t>
            </a:r>
            <a:r>
              <a:rPr lang="en-IN" b="0" i="0" dirty="0" err="1">
                <a:solidFill>
                  <a:srgbClr val="000000"/>
                </a:solidFill>
                <a:effectLst/>
              </a:rPr>
              <a:t>tf</a:t>
            </a:r>
            <a:r>
              <a:rPr lang="en-IN" b="0" i="0" dirty="0">
                <a:solidFill>
                  <a:srgbClr val="000000"/>
                </a:solidFill>
                <a:effectLst/>
              </a:rPr>
              <a:t>;  </a:t>
            </a:r>
          </a:p>
          <a:p>
            <a:pPr marL="0" indent="0" algn="just">
              <a:buNone/>
            </a:pPr>
            <a:r>
              <a:rPr lang="en-IN" b="0" i="0" dirty="0" err="1">
                <a:solidFill>
                  <a:srgbClr val="000000"/>
                </a:solidFill>
                <a:effectLst/>
              </a:rPr>
              <a:t>AEvent</a:t>
            </a:r>
            <a:r>
              <a:rPr lang="en-IN" b="0" i="0" dirty="0">
                <a:solidFill>
                  <a:srgbClr val="000000"/>
                </a:solidFill>
                <a:effectLst/>
              </a:rPr>
              <a:t>(){  </a:t>
            </a:r>
          </a:p>
          <a:p>
            <a:pPr marL="0" indent="0" algn="just">
              <a:buNone/>
            </a:pPr>
            <a:r>
              <a:rPr lang="en-IN" b="0" i="0" dirty="0" err="1">
                <a:solidFill>
                  <a:srgbClr val="000000"/>
                </a:solidFill>
                <a:effectLst/>
              </a:rPr>
              <a:t>tf</a:t>
            </a:r>
            <a:r>
              <a:rPr lang="en-IN" b="0" i="0" dirty="0">
                <a:solidFill>
                  <a:srgbClr val="000000"/>
                </a:solidFill>
                <a:effectLst/>
              </a:rPr>
              <a: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TextField</a:t>
            </a:r>
            <a:r>
              <a:rPr lang="en-IN" b="0" i="0" dirty="0">
                <a:solidFill>
                  <a:srgbClr val="000000"/>
                </a:solidFill>
                <a:effectLst/>
              </a:rPr>
              <a:t>();  </a:t>
            </a:r>
          </a:p>
          <a:p>
            <a:pPr marL="0" indent="0" algn="just">
              <a:buNone/>
            </a:pPr>
            <a:r>
              <a:rPr lang="en-IN" b="0" i="0" dirty="0" err="1">
                <a:solidFill>
                  <a:srgbClr val="000000"/>
                </a:solidFill>
                <a:effectLst/>
              </a:rPr>
              <a:t>tf.setBounds</a:t>
            </a:r>
            <a:r>
              <a:rPr lang="en-IN" b="0" i="0" dirty="0">
                <a:solidFill>
                  <a:srgbClr val="000000"/>
                </a:solidFill>
                <a:effectLst/>
              </a:rPr>
              <a:t>(</a:t>
            </a:r>
            <a:r>
              <a:rPr lang="en-IN" b="0" i="0" dirty="0">
                <a:solidFill>
                  <a:srgbClr val="C00000"/>
                </a:solidFill>
                <a:effectLst/>
              </a:rPr>
              <a:t>60</a:t>
            </a:r>
            <a:r>
              <a:rPr lang="en-IN" b="0" i="0" dirty="0">
                <a:solidFill>
                  <a:srgbClr val="000000"/>
                </a:solidFill>
                <a:effectLst/>
              </a:rPr>
              <a:t>,</a:t>
            </a:r>
            <a:r>
              <a:rPr lang="en-IN" b="0" i="0" dirty="0">
                <a:solidFill>
                  <a:srgbClr val="C00000"/>
                </a:solidFill>
                <a:effectLst/>
              </a:rPr>
              <a:t>50</a:t>
            </a:r>
            <a:r>
              <a:rPr lang="en-IN" b="0" i="0" dirty="0">
                <a:solidFill>
                  <a:srgbClr val="000000"/>
                </a:solidFill>
                <a:effectLst/>
              </a:rPr>
              <a:t>,</a:t>
            </a:r>
            <a:r>
              <a:rPr lang="en-IN" b="0" i="0" dirty="0">
                <a:solidFill>
                  <a:srgbClr val="C00000"/>
                </a:solidFill>
                <a:effectLst/>
              </a:rPr>
              <a:t>170</a:t>
            </a:r>
            <a:r>
              <a:rPr lang="en-IN" b="0" i="0" dirty="0">
                <a:solidFill>
                  <a:srgbClr val="000000"/>
                </a:solidFill>
                <a:effectLst/>
              </a:rPr>
              <a:t>,</a:t>
            </a:r>
            <a:r>
              <a:rPr lang="en-IN" b="0" i="0" dirty="0">
                <a:solidFill>
                  <a:srgbClr val="C00000"/>
                </a:solidFill>
                <a:effectLst/>
              </a:rPr>
              <a:t>20</a:t>
            </a:r>
            <a:r>
              <a:rPr lang="en-IN" b="0" i="0" dirty="0">
                <a:solidFill>
                  <a:srgbClr val="000000"/>
                </a:solidFill>
                <a:effectLst/>
              </a:rPr>
              <a:t>);  </a:t>
            </a:r>
          </a:p>
          <a:p>
            <a:pPr marL="0" indent="0" algn="just">
              <a:buNone/>
            </a:pPr>
            <a:r>
              <a:rPr lang="en-IN" b="0" i="0" dirty="0">
                <a:solidFill>
                  <a:srgbClr val="000000"/>
                </a:solidFill>
                <a:effectLst/>
              </a:rPr>
              <a:t>Button b=</a:t>
            </a:r>
            <a:r>
              <a:rPr lang="en-IN" b="1" i="0" dirty="0">
                <a:solidFill>
                  <a:srgbClr val="006699"/>
                </a:solidFill>
                <a:effectLst/>
              </a:rPr>
              <a:t>new</a:t>
            </a:r>
            <a:r>
              <a:rPr lang="en-IN" b="0" i="0" dirty="0">
                <a:solidFill>
                  <a:srgbClr val="000000"/>
                </a:solidFill>
                <a:effectLst/>
              </a:rPr>
              <a:t> Button(</a:t>
            </a:r>
            <a:r>
              <a:rPr lang="en-IN" b="0" i="0" dirty="0">
                <a:solidFill>
                  <a:srgbClr val="0000FF"/>
                </a:solidFill>
                <a:effectLst/>
              </a:rPr>
              <a:t>"click me"</a:t>
            </a:r>
            <a:r>
              <a:rPr lang="en-IN" b="0" i="0" dirty="0">
                <a:solidFill>
                  <a:srgbClr val="000000"/>
                </a:solidFill>
                <a:effectLst/>
              </a:rPr>
              <a:t>);  </a:t>
            </a:r>
          </a:p>
          <a:p>
            <a:pPr marL="0" indent="0" algn="just">
              <a:buNone/>
            </a:pPr>
            <a:r>
              <a:rPr lang="en-IN" b="0" i="0" dirty="0" err="1">
                <a:solidFill>
                  <a:srgbClr val="000000"/>
                </a:solidFill>
                <a:effectLst/>
              </a:rPr>
              <a:t>b.setBounds</a:t>
            </a:r>
            <a:r>
              <a:rPr lang="en-IN" b="0" i="0" dirty="0">
                <a:solidFill>
                  <a:srgbClr val="000000"/>
                </a:solidFill>
                <a:effectLst/>
              </a:rPr>
              <a:t>(</a:t>
            </a:r>
            <a:r>
              <a:rPr lang="en-IN" b="0" i="0" dirty="0">
                <a:solidFill>
                  <a:srgbClr val="C00000"/>
                </a:solidFill>
                <a:effectLst/>
              </a:rPr>
              <a:t>100</a:t>
            </a:r>
            <a:r>
              <a:rPr lang="en-IN" b="0" i="0" dirty="0">
                <a:solidFill>
                  <a:srgbClr val="000000"/>
                </a:solidFill>
                <a:effectLst/>
              </a:rPr>
              <a:t>,</a:t>
            </a:r>
            <a:r>
              <a:rPr lang="en-IN" b="0" i="0" dirty="0">
                <a:solidFill>
                  <a:srgbClr val="C00000"/>
                </a:solidFill>
                <a:effectLst/>
              </a:rPr>
              <a:t>120</a:t>
            </a:r>
            <a:r>
              <a:rPr lang="en-IN" b="0" i="0" dirty="0">
                <a:solidFill>
                  <a:srgbClr val="000000"/>
                </a:solidFill>
                <a:effectLst/>
              </a:rPr>
              <a:t>,</a:t>
            </a:r>
            <a:r>
              <a:rPr lang="en-IN" b="0" i="0" dirty="0">
                <a:solidFill>
                  <a:srgbClr val="C00000"/>
                </a:solidFill>
                <a:effectLst/>
              </a:rPr>
              <a:t>80</a:t>
            </a:r>
            <a:r>
              <a:rPr lang="en-IN" b="0" i="0" dirty="0">
                <a:solidFill>
                  <a:srgbClr val="000000"/>
                </a:solidFill>
                <a:effectLst/>
              </a:rPr>
              <a:t>,</a:t>
            </a:r>
            <a:r>
              <a:rPr lang="en-IN" b="0" i="0" dirty="0">
                <a:solidFill>
                  <a:srgbClr val="C00000"/>
                </a:solidFill>
                <a:effectLst/>
              </a:rPr>
              <a:t>30</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b.addActionListener</a:t>
            </a:r>
            <a:r>
              <a:rPr lang="en-IN" b="0" i="0" dirty="0">
                <a:solidFill>
                  <a:srgbClr val="000000"/>
                </a:solidFill>
                <a:effectLst/>
              </a:rPr>
              <a:t>(</a:t>
            </a:r>
            <a:r>
              <a:rPr lang="en-IN" b="1" i="0" dirty="0">
                <a:solidFill>
                  <a:srgbClr val="006699"/>
                </a:solidFill>
                <a:effectLst/>
              </a:rPr>
              <a:t>this</a:t>
            </a:r>
            <a:r>
              <a:rPr lang="en-IN" b="0" i="0" dirty="0">
                <a:solidFill>
                  <a:srgbClr val="000000"/>
                </a:solidFill>
                <a:effectLst/>
              </a:rPr>
              <a:t>);</a:t>
            </a:r>
            <a:r>
              <a:rPr lang="en-IN" b="0" i="0" dirty="0">
                <a:solidFill>
                  <a:srgbClr val="008200"/>
                </a:solidFill>
                <a:effectLst/>
              </a:rPr>
              <a:t>//passing current instance</a:t>
            </a:r>
            <a:r>
              <a:rPr lang="en-IN" b="0" i="0" dirty="0">
                <a:solidFill>
                  <a:srgbClr val="000000"/>
                </a:solidFill>
                <a:effectLst/>
              </a:rPr>
              <a:t>  </a:t>
            </a:r>
          </a:p>
          <a:p>
            <a:pPr marL="0" indent="0" algn="just">
              <a:buNone/>
            </a:pPr>
            <a:r>
              <a:rPr lang="en-IN" b="0" i="0" dirty="0">
                <a:solidFill>
                  <a:srgbClr val="000000"/>
                </a:solidFill>
                <a:effectLst/>
              </a:rPr>
              <a:t>add(b);add(</a:t>
            </a:r>
            <a:r>
              <a:rPr lang="en-IN" b="0" i="0" dirty="0" err="1">
                <a:solidFill>
                  <a:srgbClr val="000000"/>
                </a:solidFill>
                <a:effectLst/>
              </a:rPr>
              <a:t>tf</a:t>
            </a:r>
            <a:r>
              <a:rPr lang="en-IN" b="0" i="0" dirty="0">
                <a:solidFill>
                  <a:srgbClr val="000000"/>
                </a:solidFill>
                <a:effectLst/>
              </a:rPr>
              <a:t>); </a:t>
            </a:r>
          </a:p>
        </p:txBody>
      </p:sp>
    </p:spTree>
    <p:extLst>
      <p:ext uri="{BB962C8B-B14F-4D97-AF65-F5344CB8AC3E}">
        <p14:creationId xmlns:p14="http://schemas.microsoft.com/office/powerpoint/2010/main" val="1604680142"/>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F7F52-E23D-1A77-663C-46055BC82C6E}"/>
              </a:ext>
            </a:extLst>
          </p:cNvPr>
          <p:cNvSpPr>
            <a:spLocks noGrp="1"/>
          </p:cNvSpPr>
          <p:nvPr>
            <p:ph idx="1"/>
          </p:nvPr>
        </p:nvSpPr>
        <p:spPr>
          <a:xfrm>
            <a:off x="838200" y="653143"/>
            <a:ext cx="10515600" cy="5523820"/>
          </a:xfrm>
        </p:spPr>
        <p:txBody>
          <a:bodyPr>
            <a:normAutofit/>
          </a:bodyPr>
          <a:lstStyle/>
          <a:p>
            <a:pPr marL="0" indent="0" algn="just">
              <a:buNone/>
            </a:pPr>
            <a:r>
              <a:rPr lang="en-IN" b="0" i="0" dirty="0" err="1">
                <a:solidFill>
                  <a:srgbClr val="000000"/>
                </a:solidFill>
                <a:effectLst/>
              </a:rPr>
              <a:t>setSize</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  </a:t>
            </a:r>
          </a:p>
          <a:p>
            <a:pPr marL="0" indent="0" algn="just">
              <a:buNone/>
            </a:pPr>
            <a:r>
              <a:rPr lang="en-IN" b="0" i="0" dirty="0" err="1">
                <a:solidFill>
                  <a:srgbClr val="000000"/>
                </a:solidFill>
                <a:effectLst/>
              </a:rPr>
              <a:t>setLayout</a:t>
            </a:r>
            <a:r>
              <a:rPr lang="en-IN" b="0" i="0" dirty="0">
                <a:solidFill>
                  <a:srgbClr val="000000"/>
                </a:solidFill>
                <a:effectLst/>
              </a:rPr>
              <a:t>(</a:t>
            </a:r>
            <a:r>
              <a:rPr lang="en-IN" b="1" i="0" dirty="0">
                <a:solidFill>
                  <a:srgbClr val="006699"/>
                </a:solidFill>
                <a:effectLst/>
              </a:rPr>
              <a:t>null</a:t>
            </a:r>
            <a:r>
              <a:rPr lang="en-IN" b="0" i="0" dirty="0">
                <a:solidFill>
                  <a:srgbClr val="000000"/>
                </a:solidFill>
                <a:effectLst/>
              </a:rPr>
              <a:t>);  </a:t>
            </a:r>
          </a:p>
          <a:p>
            <a:pPr marL="0" indent="0" algn="just">
              <a:buNone/>
            </a:pPr>
            <a:r>
              <a:rPr lang="en-IN" b="0" i="0" dirty="0" err="1">
                <a:solidFill>
                  <a:srgbClr val="000000"/>
                </a:solidFill>
                <a:effectLst/>
              </a:rPr>
              <a:t>setVisible</a:t>
            </a:r>
            <a:r>
              <a:rPr lang="en-IN" b="0" i="0" dirty="0">
                <a:solidFill>
                  <a:srgbClr val="000000"/>
                </a:solidFill>
                <a:effectLst/>
              </a:rPr>
              <a:t>(</a:t>
            </a:r>
            <a:r>
              <a:rPr lang="en-IN" b="1" i="0" dirty="0">
                <a:solidFill>
                  <a:srgbClr val="006699"/>
                </a:solidFill>
                <a:effectLst/>
              </a:rPr>
              <a:t>true</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actionPerformed</a:t>
            </a:r>
            <a:r>
              <a:rPr lang="en-IN" b="0" i="0" dirty="0">
                <a:solidFill>
                  <a:srgbClr val="000000"/>
                </a:solidFill>
                <a:effectLst/>
              </a:rPr>
              <a:t>(</a:t>
            </a:r>
            <a:r>
              <a:rPr lang="en-IN" b="0" i="0" dirty="0" err="1">
                <a:solidFill>
                  <a:srgbClr val="000000"/>
                </a:solidFill>
                <a:effectLst/>
              </a:rPr>
              <a:t>ActionEvent</a:t>
            </a:r>
            <a:r>
              <a:rPr lang="en-IN" b="0" i="0" dirty="0">
                <a:solidFill>
                  <a:srgbClr val="000000"/>
                </a:solidFill>
                <a:effectLst/>
              </a:rPr>
              <a:t> e){  </a:t>
            </a:r>
          </a:p>
          <a:p>
            <a:pPr marL="0" indent="0" algn="just">
              <a:buNone/>
            </a:pPr>
            <a:r>
              <a:rPr lang="en-IN" b="0" i="0" dirty="0" err="1">
                <a:solidFill>
                  <a:srgbClr val="000000"/>
                </a:solidFill>
                <a:effectLst/>
              </a:rPr>
              <a:t>tf.setText</a:t>
            </a:r>
            <a:r>
              <a:rPr lang="en-IN" b="0" i="0" dirty="0">
                <a:solidFill>
                  <a:srgbClr val="000000"/>
                </a:solidFill>
                <a:effectLst/>
              </a:rPr>
              <a:t>(</a:t>
            </a:r>
            <a:r>
              <a:rPr lang="en-IN" b="0" i="0" dirty="0">
                <a:solidFill>
                  <a:srgbClr val="0000FF"/>
                </a:solidFill>
                <a:effectLst/>
              </a:rPr>
              <a:t>"Welcome"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AEvent</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356422318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2793-D93D-8A97-5803-2CC4D7CB5924}"/>
              </a:ext>
            </a:extLst>
          </p:cNvPr>
          <p:cNvSpPr>
            <a:spLocks noGrp="1"/>
          </p:cNvSpPr>
          <p:nvPr>
            <p:ph type="title"/>
          </p:nvPr>
        </p:nvSpPr>
        <p:spPr/>
        <p:txBody>
          <a:bodyPr/>
          <a:lstStyle/>
          <a:p>
            <a:pPr algn="ctr"/>
            <a:r>
              <a:rPr lang="en-IN" dirty="0"/>
              <a:t>Layout Managers </a:t>
            </a:r>
          </a:p>
        </p:txBody>
      </p:sp>
      <p:sp>
        <p:nvSpPr>
          <p:cNvPr id="3" name="Content Placeholder 2">
            <a:extLst>
              <a:ext uri="{FF2B5EF4-FFF2-40B4-BE49-F238E27FC236}">
                <a16:creationId xmlns:a16="http://schemas.microsoft.com/office/drawing/2014/main" id="{65B54CAA-AD88-3260-A9CA-25238167483D}"/>
              </a:ext>
            </a:extLst>
          </p:cNvPr>
          <p:cNvSpPr>
            <a:spLocks noGrp="1"/>
          </p:cNvSpPr>
          <p:nvPr>
            <p:ph idx="1"/>
          </p:nvPr>
        </p:nvSpPr>
        <p:spPr/>
        <p:txBody>
          <a:bodyPr/>
          <a:lstStyle/>
          <a:p>
            <a:pPr>
              <a:lnSpc>
                <a:spcPct val="150000"/>
              </a:lnSpc>
            </a:pPr>
            <a:r>
              <a:rPr lang="en-US" b="0" i="0" dirty="0">
                <a:solidFill>
                  <a:srgbClr val="333333"/>
                </a:solidFill>
                <a:effectLst/>
              </a:rPr>
              <a:t>The </a:t>
            </a:r>
            <a:r>
              <a:rPr lang="en-US" b="1" i="0" dirty="0" err="1">
                <a:solidFill>
                  <a:srgbClr val="7030A0"/>
                </a:solidFill>
                <a:effectLst/>
              </a:rPr>
              <a:t>LayoutManagers</a:t>
            </a:r>
            <a:r>
              <a:rPr lang="en-US" b="1" i="0" dirty="0">
                <a:solidFill>
                  <a:srgbClr val="7030A0"/>
                </a:solidFill>
                <a:effectLst/>
              </a:rPr>
              <a:t> are used to arrange components in a particular manner.</a:t>
            </a:r>
          </a:p>
          <a:p>
            <a:pPr>
              <a:lnSpc>
                <a:spcPct val="150000"/>
              </a:lnSpc>
            </a:pPr>
            <a:r>
              <a:rPr lang="en-US" b="0" i="0" dirty="0">
                <a:solidFill>
                  <a:srgbClr val="333333"/>
                </a:solidFill>
                <a:effectLst/>
              </a:rPr>
              <a:t> The </a:t>
            </a:r>
            <a:r>
              <a:rPr lang="en-US" b="1" i="0" dirty="0">
                <a:solidFill>
                  <a:srgbClr val="333333"/>
                </a:solidFill>
                <a:effectLst/>
              </a:rPr>
              <a:t>Java </a:t>
            </a:r>
            <a:r>
              <a:rPr lang="en-US" b="1" i="0" dirty="0" err="1">
                <a:solidFill>
                  <a:srgbClr val="333333"/>
                </a:solidFill>
                <a:effectLst/>
              </a:rPr>
              <a:t>LayoutManagers</a:t>
            </a:r>
            <a:r>
              <a:rPr lang="en-US" b="0" i="0" dirty="0">
                <a:solidFill>
                  <a:srgbClr val="333333"/>
                </a:solidFill>
                <a:effectLst/>
              </a:rPr>
              <a:t> facilitates us </a:t>
            </a:r>
            <a:r>
              <a:rPr lang="en-US" b="1" i="0" dirty="0">
                <a:solidFill>
                  <a:srgbClr val="7030A0"/>
                </a:solidFill>
                <a:effectLst/>
              </a:rPr>
              <a:t>to control the positioning and size of the components in GUI forms.</a:t>
            </a:r>
          </a:p>
          <a:p>
            <a:pPr>
              <a:lnSpc>
                <a:spcPct val="150000"/>
              </a:lnSpc>
            </a:pPr>
            <a:r>
              <a:rPr lang="en-US" b="0" i="0" dirty="0">
                <a:solidFill>
                  <a:srgbClr val="333333"/>
                </a:solidFill>
                <a:effectLst/>
              </a:rPr>
              <a:t> </a:t>
            </a:r>
            <a:r>
              <a:rPr lang="en-US" b="1" i="0" dirty="0" err="1">
                <a:solidFill>
                  <a:srgbClr val="7030A0"/>
                </a:solidFill>
                <a:effectLst/>
              </a:rPr>
              <a:t>LayoutManager</a:t>
            </a:r>
            <a:r>
              <a:rPr lang="en-US" b="1" i="0" dirty="0">
                <a:solidFill>
                  <a:srgbClr val="7030A0"/>
                </a:solidFill>
                <a:effectLst/>
              </a:rPr>
              <a:t> is an interface </a:t>
            </a:r>
            <a:r>
              <a:rPr lang="en-US" b="0" i="0" dirty="0">
                <a:solidFill>
                  <a:srgbClr val="333333"/>
                </a:solidFill>
                <a:effectLst/>
              </a:rPr>
              <a:t>that is implemented by all the classes of layout managers.</a:t>
            </a:r>
            <a:endParaRPr lang="en-IN" dirty="0"/>
          </a:p>
        </p:txBody>
      </p:sp>
    </p:spTree>
    <p:extLst>
      <p:ext uri="{BB962C8B-B14F-4D97-AF65-F5344CB8AC3E}">
        <p14:creationId xmlns:p14="http://schemas.microsoft.com/office/powerpoint/2010/main" val="26957370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6F6FC0-03DC-9916-9C80-91F17BCFB901}"/>
              </a:ext>
            </a:extLst>
          </p:cNvPr>
          <p:cNvSpPr>
            <a:spLocks noGrp="1"/>
          </p:cNvSpPr>
          <p:nvPr>
            <p:ph idx="1"/>
          </p:nvPr>
        </p:nvSpPr>
        <p:spPr>
          <a:xfrm>
            <a:off x="838200" y="438539"/>
            <a:ext cx="10515600" cy="5738424"/>
          </a:xfrm>
        </p:spPr>
        <p:txBody>
          <a:bodyPr/>
          <a:lstStyle/>
          <a:p>
            <a:pPr marL="0" indent="0" algn="just">
              <a:buNone/>
            </a:pPr>
            <a:r>
              <a:rPr lang="en-IN" b="1" i="0" dirty="0">
                <a:solidFill>
                  <a:srgbClr val="7030A0"/>
                </a:solidFill>
                <a:effectLst/>
              </a:rPr>
              <a:t>There are the following classes that represent the layout managers</a:t>
            </a:r>
            <a:r>
              <a:rPr lang="en-IN" b="0" i="0" dirty="0">
                <a:solidFill>
                  <a:srgbClr val="333333"/>
                </a:solidFill>
                <a:effectLst/>
              </a:rPr>
              <a:t>:</a:t>
            </a:r>
          </a:p>
          <a:p>
            <a:pPr algn="just"/>
            <a:r>
              <a:rPr lang="en-IN" b="0" i="0" dirty="0" err="1">
                <a:solidFill>
                  <a:srgbClr val="000000"/>
                </a:solidFill>
                <a:effectLst/>
              </a:rPr>
              <a:t>java.awt.BorderLayout</a:t>
            </a:r>
            <a:endParaRPr lang="en-IN" b="0" i="0" dirty="0">
              <a:solidFill>
                <a:srgbClr val="000000"/>
              </a:solidFill>
              <a:effectLst/>
            </a:endParaRPr>
          </a:p>
          <a:p>
            <a:pPr algn="just"/>
            <a:r>
              <a:rPr lang="en-IN" b="0" i="0" dirty="0" err="1">
                <a:solidFill>
                  <a:srgbClr val="000000"/>
                </a:solidFill>
                <a:effectLst/>
              </a:rPr>
              <a:t>java.awt.FlowLayout</a:t>
            </a:r>
            <a:endParaRPr lang="en-IN" b="0" i="0" dirty="0">
              <a:solidFill>
                <a:srgbClr val="000000"/>
              </a:solidFill>
              <a:effectLst/>
            </a:endParaRPr>
          </a:p>
          <a:p>
            <a:pPr algn="just"/>
            <a:r>
              <a:rPr lang="en-IN" b="0" i="0" dirty="0" err="1">
                <a:solidFill>
                  <a:srgbClr val="000000"/>
                </a:solidFill>
                <a:effectLst/>
              </a:rPr>
              <a:t>java.awt.GridLayout</a:t>
            </a:r>
            <a:endParaRPr lang="en-IN" b="0" i="0" dirty="0">
              <a:solidFill>
                <a:srgbClr val="000000"/>
              </a:solidFill>
              <a:effectLst/>
            </a:endParaRPr>
          </a:p>
          <a:p>
            <a:pPr algn="just"/>
            <a:r>
              <a:rPr lang="en-IN" b="0" i="0" dirty="0" err="1">
                <a:solidFill>
                  <a:srgbClr val="000000"/>
                </a:solidFill>
                <a:effectLst/>
              </a:rPr>
              <a:t>java.awt.CardLayout</a:t>
            </a:r>
            <a:endParaRPr lang="en-IN" b="0" i="0" dirty="0">
              <a:solidFill>
                <a:srgbClr val="000000"/>
              </a:solidFill>
              <a:effectLst/>
            </a:endParaRPr>
          </a:p>
          <a:p>
            <a:pPr algn="just"/>
            <a:r>
              <a:rPr lang="en-IN" b="0" i="0" dirty="0" err="1">
                <a:solidFill>
                  <a:srgbClr val="000000"/>
                </a:solidFill>
                <a:effectLst/>
              </a:rPr>
              <a:t>java.awt.GridBagLayout</a:t>
            </a:r>
            <a:endParaRPr lang="en-IN" b="0" i="0" dirty="0">
              <a:solidFill>
                <a:srgbClr val="000000"/>
              </a:solidFill>
              <a:effectLst/>
            </a:endParaRPr>
          </a:p>
          <a:p>
            <a:pPr algn="just"/>
            <a:r>
              <a:rPr lang="en-IN" b="0" i="0" dirty="0" err="1">
                <a:solidFill>
                  <a:srgbClr val="000000"/>
                </a:solidFill>
                <a:effectLst/>
              </a:rPr>
              <a:t>javax.swing.BoxLayout</a:t>
            </a:r>
            <a:endParaRPr lang="en-IN" b="0" i="0" dirty="0">
              <a:solidFill>
                <a:srgbClr val="000000"/>
              </a:solidFill>
              <a:effectLst/>
            </a:endParaRPr>
          </a:p>
          <a:p>
            <a:pPr algn="just"/>
            <a:r>
              <a:rPr lang="en-IN" b="0" i="0" dirty="0" err="1">
                <a:solidFill>
                  <a:srgbClr val="000000"/>
                </a:solidFill>
                <a:effectLst/>
              </a:rPr>
              <a:t>javax.swing.GroupLayout</a:t>
            </a:r>
            <a:endParaRPr lang="en-IN" b="0" i="0" dirty="0">
              <a:solidFill>
                <a:srgbClr val="000000"/>
              </a:solidFill>
              <a:effectLst/>
            </a:endParaRPr>
          </a:p>
          <a:p>
            <a:pPr algn="just"/>
            <a:r>
              <a:rPr lang="en-IN" b="0" i="0" dirty="0" err="1">
                <a:solidFill>
                  <a:srgbClr val="000000"/>
                </a:solidFill>
                <a:effectLst/>
              </a:rPr>
              <a:t>javax.swing.ScrollPaneLayout</a:t>
            </a:r>
            <a:endParaRPr lang="en-IN" b="0" i="0" dirty="0">
              <a:solidFill>
                <a:srgbClr val="000000"/>
              </a:solidFill>
              <a:effectLst/>
            </a:endParaRPr>
          </a:p>
          <a:p>
            <a:pPr algn="just"/>
            <a:r>
              <a:rPr lang="en-IN" b="0" i="0" dirty="0" err="1">
                <a:solidFill>
                  <a:srgbClr val="000000"/>
                </a:solidFill>
                <a:effectLst/>
              </a:rPr>
              <a:t>javax.swing.SpringLayout</a:t>
            </a:r>
            <a:r>
              <a:rPr lang="en-IN" b="0" i="0" dirty="0">
                <a:solidFill>
                  <a:srgbClr val="000000"/>
                </a:solidFill>
                <a:effectLst/>
              </a:rPr>
              <a:t> etc.</a:t>
            </a:r>
          </a:p>
        </p:txBody>
      </p:sp>
    </p:spTree>
    <p:extLst>
      <p:ext uri="{BB962C8B-B14F-4D97-AF65-F5344CB8AC3E}">
        <p14:creationId xmlns:p14="http://schemas.microsoft.com/office/powerpoint/2010/main" val="3825141721"/>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BF486-B54C-FAE3-BAED-F04C82602BEC}"/>
              </a:ext>
            </a:extLst>
          </p:cNvPr>
          <p:cNvSpPr>
            <a:spLocks noGrp="1"/>
          </p:cNvSpPr>
          <p:nvPr>
            <p:ph idx="1"/>
          </p:nvPr>
        </p:nvSpPr>
        <p:spPr>
          <a:xfrm>
            <a:off x="838200" y="485192"/>
            <a:ext cx="10515600" cy="5691771"/>
          </a:xfrm>
        </p:spPr>
        <p:txBody>
          <a:bodyPr/>
          <a:lstStyle/>
          <a:p>
            <a:pPr marL="0" indent="0" algn="just">
              <a:lnSpc>
                <a:spcPct val="150000"/>
              </a:lnSpc>
              <a:buNone/>
            </a:pPr>
            <a:r>
              <a:rPr lang="en-US" b="1" i="0" dirty="0">
                <a:solidFill>
                  <a:srgbClr val="7030A0"/>
                </a:solidFill>
                <a:effectLst/>
              </a:rPr>
              <a:t>Java </a:t>
            </a:r>
            <a:r>
              <a:rPr lang="en-US" b="1" i="0" dirty="0" err="1">
                <a:solidFill>
                  <a:srgbClr val="7030A0"/>
                </a:solidFill>
                <a:effectLst/>
              </a:rPr>
              <a:t>BorderLayout</a:t>
            </a:r>
            <a:endParaRPr lang="en-US" b="1" i="0" dirty="0">
              <a:solidFill>
                <a:srgbClr val="7030A0"/>
              </a:solidFill>
              <a:effectLst/>
            </a:endParaRPr>
          </a:p>
          <a:p>
            <a:pPr algn="just">
              <a:lnSpc>
                <a:spcPct val="150000"/>
              </a:lnSpc>
            </a:pPr>
            <a:r>
              <a:rPr lang="en-US" b="0" i="0" dirty="0">
                <a:solidFill>
                  <a:srgbClr val="333333"/>
                </a:solidFill>
                <a:effectLst/>
              </a:rPr>
              <a:t>The </a:t>
            </a:r>
            <a:r>
              <a:rPr lang="en-US" b="0" i="0" dirty="0" err="1">
                <a:solidFill>
                  <a:srgbClr val="333333"/>
                </a:solidFill>
                <a:effectLst/>
              </a:rPr>
              <a:t>BorderLayout</a:t>
            </a:r>
            <a:r>
              <a:rPr lang="en-US" b="0" i="0" dirty="0">
                <a:solidFill>
                  <a:srgbClr val="333333"/>
                </a:solidFill>
                <a:effectLst/>
              </a:rPr>
              <a:t> is used to arrange the components in five regions: north, south, east, west, and center. </a:t>
            </a:r>
          </a:p>
          <a:p>
            <a:pPr algn="just">
              <a:lnSpc>
                <a:spcPct val="150000"/>
              </a:lnSpc>
            </a:pPr>
            <a:r>
              <a:rPr lang="en-US" b="0" i="0" dirty="0">
                <a:solidFill>
                  <a:srgbClr val="333333"/>
                </a:solidFill>
                <a:effectLst/>
              </a:rPr>
              <a:t>Each region (area) may contain one component only. It is the default layout of a frame or window. </a:t>
            </a:r>
          </a:p>
          <a:p>
            <a:endParaRPr lang="en-IN" dirty="0"/>
          </a:p>
        </p:txBody>
      </p:sp>
    </p:spTree>
    <p:extLst>
      <p:ext uri="{BB962C8B-B14F-4D97-AF65-F5344CB8AC3E}">
        <p14:creationId xmlns:p14="http://schemas.microsoft.com/office/powerpoint/2010/main" val="2536140089"/>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F45900-EEDA-BA31-512F-D3D70CB9023F}"/>
              </a:ext>
            </a:extLst>
          </p:cNvPr>
          <p:cNvSpPr>
            <a:spLocks noGrp="1"/>
          </p:cNvSpPr>
          <p:nvPr>
            <p:ph idx="1"/>
          </p:nvPr>
        </p:nvSpPr>
        <p:spPr>
          <a:xfrm>
            <a:off x="838200" y="447869"/>
            <a:ext cx="10515600" cy="5729094"/>
          </a:xfrm>
        </p:spPr>
        <p:txBody>
          <a:bodyPr/>
          <a:lstStyle/>
          <a:p>
            <a:pPr marL="0" indent="0" algn="just">
              <a:lnSpc>
                <a:spcPct val="150000"/>
              </a:lnSpc>
              <a:buNone/>
            </a:pPr>
            <a:r>
              <a:rPr lang="en-US" b="0" i="0" dirty="0">
                <a:solidFill>
                  <a:srgbClr val="333333"/>
                </a:solidFill>
                <a:effectLst/>
                <a:latin typeface="inter-regular"/>
              </a:rPr>
              <a:t> </a:t>
            </a:r>
            <a:r>
              <a:rPr lang="en-US" b="1" i="0" dirty="0">
                <a:solidFill>
                  <a:srgbClr val="7030A0"/>
                </a:solidFill>
                <a:effectLst/>
              </a:rPr>
              <a:t>The </a:t>
            </a:r>
            <a:r>
              <a:rPr lang="en-US" b="1" i="0" dirty="0" err="1">
                <a:solidFill>
                  <a:srgbClr val="7030A0"/>
                </a:solidFill>
                <a:effectLst/>
              </a:rPr>
              <a:t>BorderLayout</a:t>
            </a:r>
            <a:r>
              <a:rPr lang="en-US" b="1" i="0" dirty="0">
                <a:solidFill>
                  <a:srgbClr val="7030A0"/>
                </a:solidFill>
                <a:effectLst/>
              </a:rPr>
              <a:t> provides five constants for each region:</a:t>
            </a:r>
          </a:p>
          <a:p>
            <a:pPr algn="just">
              <a:lnSpc>
                <a:spcPct val="150000"/>
              </a:lnSpc>
              <a:buFont typeface="+mj-lt"/>
              <a:buAutoNum type="arabicPeriod"/>
            </a:pPr>
            <a:r>
              <a:rPr lang="en-US" i="0" dirty="0">
                <a:solidFill>
                  <a:srgbClr val="000000"/>
                </a:solidFill>
                <a:effectLst/>
              </a:rPr>
              <a:t>public static final int NORTH</a:t>
            </a:r>
          </a:p>
          <a:p>
            <a:pPr algn="just">
              <a:lnSpc>
                <a:spcPct val="150000"/>
              </a:lnSpc>
              <a:buFont typeface="+mj-lt"/>
              <a:buAutoNum type="arabicPeriod"/>
            </a:pPr>
            <a:r>
              <a:rPr lang="en-US" i="0" dirty="0">
                <a:solidFill>
                  <a:srgbClr val="000000"/>
                </a:solidFill>
                <a:effectLst/>
              </a:rPr>
              <a:t>public static final int SOUTH</a:t>
            </a:r>
          </a:p>
          <a:p>
            <a:pPr algn="just">
              <a:lnSpc>
                <a:spcPct val="150000"/>
              </a:lnSpc>
              <a:buFont typeface="+mj-lt"/>
              <a:buAutoNum type="arabicPeriod"/>
            </a:pPr>
            <a:r>
              <a:rPr lang="en-US" i="0" dirty="0">
                <a:solidFill>
                  <a:srgbClr val="000000"/>
                </a:solidFill>
                <a:effectLst/>
              </a:rPr>
              <a:t>public static final int EAST</a:t>
            </a:r>
          </a:p>
          <a:p>
            <a:pPr algn="just">
              <a:lnSpc>
                <a:spcPct val="150000"/>
              </a:lnSpc>
              <a:buFont typeface="+mj-lt"/>
              <a:buAutoNum type="arabicPeriod"/>
            </a:pPr>
            <a:r>
              <a:rPr lang="en-US" i="0" dirty="0">
                <a:solidFill>
                  <a:srgbClr val="000000"/>
                </a:solidFill>
                <a:effectLst/>
              </a:rPr>
              <a:t>public static final int WEST</a:t>
            </a:r>
          </a:p>
          <a:p>
            <a:pPr algn="just">
              <a:lnSpc>
                <a:spcPct val="150000"/>
              </a:lnSpc>
              <a:buFont typeface="+mj-lt"/>
              <a:buAutoNum type="arabicPeriod"/>
            </a:pPr>
            <a:r>
              <a:rPr lang="en-US" i="0" dirty="0">
                <a:solidFill>
                  <a:srgbClr val="000000"/>
                </a:solidFill>
                <a:effectLst/>
              </a:rPr>
              <a:t>public static final int CENTER</a:t>
            </a:r>
          </a:p>
          <a:p>
            <a:endParaRPr lang="en-IN" dirty="0"/>
          </a:p>
        </p:txBody>
      </p:sp>
    </p:spTree>
    <p:extLst>
      <p:ext uri="{BB962C8B-B14F-4D97-AF65-F5344CB8AC3E}">
        <p14:creationId xmlns:p14="http://schemas.microsoft.com/office/powerpoint/2010/main" val="323081321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46C76A-9DE3-2753-B91C-9C9B9C1E63B8}"/>
              </a:ext>
            </a:extLst>
          </p:cNvPr>
          <p:cNvSpPr>
            <a:spLocks noGrp="1"/>
          </p:cNvSpPr>
          <p:nvPr>
            <p:ph idx="1"/>
          </p:nvPr>
        </p:nvSpPr>
        <p:spPr>
          <a:xfrm>
            <a:off x="838200" y="559837"/>
            <a:ext cx="10515600" cy="5617126"/>
          </a:xfrm>
        </p:spPr>
        <p:txBody>
          <a:bodyPr/>
          <a:lstStyle/>
          <a:p>
            <a:pPr marL="0" indent="0" algn="just">
              <a:buNone/>
            </a:pPr>
            <a:r>
              <a:rPr lang="en-US" b="1" i="0" dirty="0">
                <a:solidFill>
                  <a:srgbClr val="7030A0"/>
                </a:solidFill>
                <a:effectLst/>
                <a:latin typeface="erdana"/>
              </a:rPr>
              <a:t>Constructors of </a:t>
            </a:r>
            <a:r>
              <a:rPr lang="en-US" b="1" i="0" dirty="0" err="1">
                <a:solidFill>
                  <a:srgbClr val="7030A0"/>
                </a:solidFill>
                <a:effectLst/>
                <a:latin typeface="erdana"/>
              </a:rPr>
              <a:t>BorderLayout</a:t>
            </a:r>
            <a:r>
              <a:rPr lang="en-US" b="1" i="0" dirty="0">
                <a:solidFill>
                  <a:srgbClr val="7030A0"/>
                </a:solidFill>
                <a:effectLst/>
                <a:latin typeface="erdana"/>
              </a:rPr>
              <a:t> class:</a:t>
            </a:r>
          </a:p>
          <a:p>
            <a:pPr algn="just">
              <a:lnSpc>
                <a:spcPct val="150000"/>
              </a:lnSpc>
              <a:buFont typeface="Arial" panose="020B0604020202020204" pitchFamily="34" charset="0"/>
              <a:buChar char="•"/>
            </a:pPr>
            <a:r>
              <a:rPr lang="en-US" b="1" i="0" dirty="0" err="1">
                <a:solidFill>
                  <a:srgbClr val="000000"/>
                </a:solidFill>
                <a:effectLst/>
              </a:rPr>
              <a:t>BorderLayout</a:t>
            </a:r>
            <a:r>
              <a:rPr lang="en-US" b="1" i="0" dirty="0">
                <a:solidFill>
                  <a:srgbClr val="000000"/>
                </a:solidFill>
                <a:effectLst/>
              </a:rPr>
              <a:t>():</a:t>
            </a:r>
            <a:r>
              <a:rPr lang="en-US" b="0" i="0" dirty="0">
                <a:solidFill>
                  <a:srgbClr val="000000"/>
                </a:solidFill>
                <a:effectLst/>
              </a:rPr>
              <a:t> creates a border layout but with no gaps between the components.</a:t>
            </a:r>
          </a:p>
          <a:p>
            <a:pPr algn="just">
              <a:lnSpc>
                <a:spcPct val="150000"/>
              </a:lnSpc>
              <a:buFont typeface="Arial" panose="020B0604020202020204" pitchFamily="34" charset="0"/>
              <a:buChar char="•"/>
            </a:pPr>
            <a:r>
              <a:rPr lang="en-US" b="1" i="0" dirty="0" err="1">
                <a:solidFill>
                  <a:srgbClr val="000000"/>
                </a:solidFill>
                <a:effectLst/>
              </a:rPr>
              <a:t>BorderLayout</a:t>
            </a:r>
            <a:r>
              <a:rPr lang="en-US" b="1" i="0" dirty="0">
                <a:solidFill>
                  <a:srgbClr val="000000"/>
                </a:solidFill>
                <a:effectLst/>
              </a:rPr>
              <a:t>(int </a:t>
            </a:r>
            <a:r>
              <a:rPr lang="en-US" b="1" i="0" dirty="0" err="1">
                <a:solidFill>
                  <a:srgbClr val="000000"/>
                </a:solidFill>
                <a:effectLst/>
              </a:rPr>
              <a:t>hgap</a:t>
            </a:r>
            <a:r>
              <a:rPr lang="en-US" b="1" i="0" dirty="0">
                <a:solidFill>
                  <a:srgbClr val="000000"/>
                </a:solidFill>
                <a:effectLst/>
              </a:rPr>
              <a:t>, int </a:t>
            </a:r>
            <a:r>
              <a:rPr lang="en-US" b="1" i="0" dirty="0" err="1">
                <a:solidFill>
                  <a:srgbClr val="000000"/>
                </a:solidFill>
                <a:effectLst/>
              </a:rPr>
              <a:t>vgap</a:t>
            </a:r>
            <a:r>
              <a:rPr lang="en-US" b="1" i="0" dirty="0">
                <a:solidFill>
                  <a:srgbClr val="000000"/>
                </a:solidFill>
                <a:effectLst/>
              </a:rPr>
              <a:t>):</a:t>
            </a:r>
            <a:r>
              <a:rPr lang="en-US" b="0" i="0" dirty="0">
                <a:solidFill>
                  <a:srgbClr val="000000"/>
                </a:solidFill>
                <a:effectLst/>
              </a:rPr>
              <a:t> creates a border layout with the given horizontal and vertical gaps between the components.</a:t>
            </a:r>
          </a:p>
          <a:p>
            <a:endParaRPr lang="en-IN" dirty="0"/>
          </a:p>
        </p:txBody>
      </p:sp>
    </p:spTree>
    <p:extLst>
      <p:ext uri="{BB962C8B-B14F-4D97-AF65-F5344CB8AC3E}">
        <p14:creationId xmlns:p14="http://schemas.microsoft.com/office/powerpoint/2010/main" val="1267273414"/>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800AE-391B-74E5-A48F-273F9BF271DD}"/>
              </a:ext>
            </a:extLst>
          </p:cNvPr>
          <p:cNvSpPr>
            <a:spLocks noGrp="1"/>
          </p:cNvSpPr>
          <p:nvPr>
            <p:ph idx="1"/>
          </p:nvPr>
        </p:nvSpPr>
        <p:spPr>
          <a:xfrm>
            <a:off x="838200" y="503853"/>
            <a:ext cx="10515600" cy="5673110"/>
          </a:xfrm>
        </p:spPr>
        <p:txBody>
          <a:bodyPr>
            <a:normAutofit fontScale="85000" lnSpcReduction="20000"/>
          </a:bodyPr>
          <a:lstStyle/>
          <a:p>
            <a:pPr marL="0" indent="0">
              <a:buNone/>
            </a:pPr>
            <a:r>
              <a:rPr lang="en-US" b="0" i="0" dirty="0">
                <a:solidFill>
                  <a:srgbClr val="610B4B"/>
                </a:solidFill>
                <a:effectLst/>
              </a:rPr>
              <a:t>Example of </a:t>
            </a:r>
            <a:r>
              <a:rPr lang="en-US" b="0" i="0" dirty="0" err="1">
                <a:solidFill>
                  <a:srgbClr val="610B4B"/>
                </a:solidFill>
                <a:effectLst/>
              </a:rPr>
              <a:t>BorderLayout</a:t>
            </a:r>
            <a:r>
              <a:rPr lang="en-US" b="0" i="0" dirty="0">
                <a:solidFill>
                  <a:srgbClr val="610B4B"/>
                </a:solidFill>
                <a:effectLst/>
              </a:rPr>
              <a:t> class: Using </a:t>
            </a:r>
            <a:r>
              <a:rPr lang="en-US" b="0" i="0" dirty="0" err="1">
                <a:solidFill>
                  <a:srgbClr val="610B4B"/>
                </a:solidFill>
                <a:effectLst/>
              </a:rPr>
              <a:t>BorderLayout</a:t>
            </a:r>
            <a:r>
              <a:rPr lang="en-US" b="0" i="0" dirty="0">
                <a:solidFill>
                  <a:srgbClr val="610B4B"/>
                </a:solidFill>
                <a:effectLst/>
              </a:rPr>
              <a:t>(int </a:t>
            </a:r>
            <a:r>
              <a:rPr lang="en-US" b="0" i="0" dirty="0" err="1">
                <a:solidFill>
                  <a:srgbClr val="610B4B"/>
                </a:solidFill>
                <a:effectLst/>
              </a:rPr>
              <a:t>hgap</a:t>
            </a:r>
            <a:r>
              <a:rPr lang="en-US" b="0" i="0" dirty="0">
                <a:solidFill>
                  <a:srgbClr val="610B4B"/>
                </a:solidFill>
                <a:effectLst/>
              </a:rPr>
              <a:t>, int </a:t>
            </a:r>
            <a:r>
              <a:rPr lang="en-US" b="0" i="0" dirty="0" err="1">
                <a:solidFill>
                  <a:srgbClr val="610B4B"/>
                </a:solidFill>
                <a:effectLst/>
              </a:rPr>
              <a:t>vgap</a:t>
            </a:r>
            <a:r>
              <a:rPr lang="en-US" b="0" i="0" dirty="0">
                <a:solidFill>
                  <a:srgbClr val="610B4B"/>
                </a:solidFill>
                <a:effectLst/>
              </a:rPr>
              <a:t>) constructor</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java.awt</a:t>
            </a:r>
            <a:r>
              <a:rPr lang="en-IN" b="0" i="0" dirty="0">
                <a:solidFill>
                  <a:srgbClr val="000000"/>
                </a:solidFill>
                <a:effectLst/>
              </a:rPr>
              <a:t>.*;    </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javax.swing</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BorderLayoutExample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err="1">
                <a:solidFill>
                  <a:srgbClr val="000000"/>
                </a:solidFill>
                <a:effectLst/>
              </a:rPr>
              <a:t>JFrame</a:t>
            </a: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    </a:t>
            </a:r>
          </a:p>
          <a:p>
            <a:pPr marL="0" indent="0" algn="just">
              <a:buNone/>
            </a:pPr>
            <a:r>
              <a:rPr lang="en-IN" b="0" i="0" dirty="0" err="1">
                <a:solidFill>
                  <a:srgbClr val="000000"/>
                </a:solidFill>
                <a:effectLst/>
              </a:rPr>
              <a:t>BorderLayoutExample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btn1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"NORTH"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btn2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"SOUTH"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btn3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"EAST"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btn4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"WEST"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btn5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"CENTER"</a:t>
            </a:r>
            <a:r>
              <a:rPr lang="en-IN" b="0" i="0" dirty="0">
                <a:solidFill>
                  <a:srgbClr val="000000"/>
                </a:solidFill>
                <a:effectLst/>
              </a:rPr>
              <a:t>);    </a:t>
            </a:r>
          </a:p>
          <a:p>
            <a:endParaRPr lang="en-IN" dirty="0"/>
          </a:p>
        </p:txBody>
      </p:sp>
    </p:spTree>
    <p:extLst>
      <p:ext uri="{BB962C8B-B14F-4D97-AF65-F5344CB8AC3E}">
        <p14:creationId xmlns:p14="http://schemas.microsoft.com/office/powerpoint/2010/main" val="1120577070"/>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7F591-5B24-F4C7-29D5-D38418638076}"/>
              </a:ext>
            </a:extLst>
          </p:cNvPr>
          <p:cNvSpPr>
            <a:spLocks noGrp="1"/>
          </p:cNvSpPr>
          <p:nvPr>
            <p:ph idx="1"/>
          </p:nvPr>
        </p:nvSpPr>
        <p:spPr>
          <a:xfrm>
            <a:off x="838200" y="326571"/>
            <a:ext cx="10515600" cy="5850392"/>
          </a:xfrm>
        </p:spPr>
        <p:txBody>
          <a:bodyPr>
            <a:normAutofit fontScale="92500" lnSpcReduction="20000"/>
          </a:bodyPr>
          <a:lstStyle/>
          <a:p>
            <a:pPr marL="0" indent="0" algn="just">
              <a:buNone/>
            </a:pPr>
            <a:r>
              <a:rPr lang="en-IN" b="0" i="0" dirty="0">
                <a:solidFill>
                  <a:srgbClr val="000000"/>
                </a:solidFill>
                <a:effectLst/>
                <a:latin typeface="inter-regular"/>
              </a:rPr>
              <a:t>    </a:t>
            </a:r>
            <a:r>
              <a:rPr lang="en-IN" b="0" i="0" dirty="0" err="1">
                <a:solidFill>
                  <a:srgbClr val="000000"/>
                </a:solidFill>
                <a:effectLst/>
              </a:rPr>
              <a:t>jframe.setLayout</a:t>
            </a:r>
            <a:r>
              <a:rPr lang="en-IN" b="0" i="0" dirty="0">
                <a:solidFill>
                  <a:srgbClr val="000000"/>
                </a:solidFill>
                <a:effectLst/>
              </a:rPr>
              <a: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BorderLayout</a:t>
            </a:r>
            <a:r>
              <a:rPr lang="en-IN" b="0" i="0" dirty="0">
                <a:solidFill>
                  <a:srgbClr val="000000"/>
                </a:solidFill>
                <a:effectLst/>
              </a:rPr>
              <a:t>(</a:t>
            </a:r>
            <a:r>
              <a:rPr lang="en-IN" b="0" i="0" dirty="0">
                <a:solidFill>
                  <a:srgbClr val="C00000"/>
                </a:solidFill>
                <a:effectLst/>
              </a:rPr>
              <a:t>20</a:t>
            </a:r>
            <a:r>
              <a:rPr lang="en-IN" b="0" i="0" dirty="0">
                <a:solidFill>
                  <a:srgbClr val="000000"/>
                </a:solidFill>
                <a:effectLst/>
              </a:rPr>
              <a:t>, </a:t>
            </a:r>
            <a:r>
              <a:rPr lang="en-IN" b="0" i="0" dirty="0">
                <a:solidFill>
                  <a:srgbClr val="C00000"/>
                </a:solidFill>
                <a:effectLst/>
              </a:rPr>
              <a:t>15</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(btn1, </a:t>
            </a:r>
            <a:r>
              <a:rPr lang="en-IN" b="0" i="0" dirty="0" err="1">
                <a:solidFill>
                  <a:srgbClr val="000000"/>
                </a:solidFill>
                <a:effectLst/>
              </a:rPr>
              <a:t>BorderLayout.NORTH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(btn2, </a:t>
            </a:r>
            <a:r>
              <a:rPr lang="en-IN" b="0" i="0" dirty="0" err="1">
                <a:solidFill>
                  <a:srgbClr val="000000"/>
                </a:solidFill>
                <a:effectLst/>
              </a:rPr>
              <a:t>BorderLayout.SOUTH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(btn3, </a:t>
            </a:r>
            <a:r>
              <a:rPr lang="en-IN" b="0" i="0" dirty="0" err="1">
                <a:solidFill>
                  <a:srgbClr val="000000"/>
                </a:solidFill>
                <a:effectLst/>
              </a:rPr>
              <a:t>BorderLayout.EAST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(btn4, </a:t>
            </a:r>
            <a:r>
              <a:rPr lang="en-IN" b="0" i="0" dirty="0" err="1">
                <a:solidFill>
                  <a:srgbClr val="000000"/>
                </a:solidFill>
                <a:effectLst/>
              </a:rPr>
              <a:t>BorderLayout.WEST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(btn5, </a:t>
            </a:r>
            <a:r>
              <a:rPr lang="en-IN" b="0" i="0" dirty="0" err="1">
                <a:solidFill>
                  <a:srgbClr val="000000"/>
                </a:solidFill>
                <a:effectLst/>
              </a:rPr>
              <a:t>BorderLayout.CENTER</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jframe.setSize</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jframe.setVisible</a:t>
            </a:r>
            <a:r>
              <a:rPr lang="en-IN" b="0" i="0" dirty="0">
                <a:solidFill>
                  <a:srgbClr val="000000"/>
                </a:solidFill>
                <a:effectLst/>
              </a:rPr>
              <a:t>(</a:t>
            </a:r>
            <a:r>
              <a:rPr lang="en-IN" b="1" i="0" dirty="0">
                <a:solidFill>
                  <a:srgbClr val="006699"/>
                </a:solidFill>
                <a:effectLst/>
              </a:rPr>
              <a:t>true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argvs</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BorderLayoutExample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365309595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5114B6-381B-69FA-BB9D-D96D5489BAD0}"/>
              </a:ext>
            </a:extLst>
          </p:cNvPr>
          <p:cNvSpPr>
            <a:spLocks noGrp="1"/>
          </p:cNvSpPr>
          <p:nvPr>
            <p:ph idx="1"/>
          </p:nvPr>
        </p:nvSpPr>
        <p:spPr>
          <a:xfrm>
            <a:off x="838200" y="522514"/>
            <a:ext cx="10515600" cy="5654449"/>
          </a:xfrm>
        </p:spPr>
        <p:txBody>
          <a:bodyPr/>
          <a:lstStyle/>
          <a:p>
            <a:pPr marL="0" indent="0">
              <a:lnSpc>
                <a:spcPct val="150000"/>
              </a:lnSpc>
              <a:buNone/>
            </a:pPr>
            <a:r>
              <a:rPr lang="en-US" b="1" i="0" dirty="0">
                <a:solidFill>
                  <a:srgbClr val="7030A0"/>
                </a:solidFill>
                <a:effectLst/>
              </a:rPr>
              <a:t>Internationalization and Localization in Java</a:t>
            </a:r>
          </a:p>
          <a:p>
            <a:pPr>
              <a:lnSpc>
                <a:spcPct val="150000"/>
              </a:lnSpc>
            </a:pPr>
            <a:r>
              <a:rPr lang="en-US" b="1" i="0" dirty="0">
                <a:solidFill>
                  <a:srgbClr val="7030A0"/>
                </a:solidFill>
                <a:effectLst/>
              </a:rPr>
              <a:t>Internationalization</a:t>
            </a:r>
            <a:r>
              <a:rPr lang="en-US" b="0" i="0" dirty="0">
                <a:solidFill>
                  <a:srgbClr val="333333"/>
                </a:solidFill>
                <a:effectLst/>
              </a:rPr>
              <a:t> is also abbreviated as I18N because there are total 18 characters between the first letter 'I' and the last letter 'N’.</a:t>
            </a:r>
          </a:p>
          <a:p>
            <a:pPr>
              <a:lnSpc>
                <a:spcPct val="150000"/>
              </a:lnSpc>
            </a:pPr>
            <a:r>
              <a:rPr lang="en-US" dirty="0">
                <a:solidFill>
                  <a:srgbClr val="333333"/>
                </a:solidFill>
              </a:rPr>
              <a:t>I</a:t>
            </a:r>
            <a:r>
              <a:rPr lang="en-US" b="0" i="0" dirty="0">
                <a:solidFill>
                  <a:srgbClr val="333333"/>
                </a:solidFill>
                <a:effectLst/>
              </a:rPr>
              <a:t>nternationalization is one of the powerful concept of java if you are developing an application and want to display messages, currencies, date, time etc. according to the specific region or language.</a:t>
            </a:r>
            <a:endParaRPr lang="en-IN" dirty="0"/>
          </a:p>
        </p:txBody>
      </p:sp>
    </p:spTree>
    <p:extLst>
      <p:ext uri="{BB962C8B-B14F-4D97-AF65-F5344CB8AC3E}">
        <p14:creationId xmlns:p14="http://schemas.microsoft.com/office/powerpoint/2010/main" val="152619636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48F332-BEFD-E7CD-90D2-F40182EBF75B}"/>
              </a:ext>
            </a:extLst>
          </p:cNvPr>
          <p:cNvSpPr>
            <a:spLocks noGrp="1"/>
          </p:cNvSpPr>
          <p:nvPr>
            <p:ph idx="1"/>
          </p:nvPr>
        </p:nvSpPr>
        <p:spPr>
          <a:xfrm>
            <a:off x="838200" y="569167"/>
            <a:ext cx="10515600" cy="5607796"/>
          </a:xfrm>
        </p:spPr>
        <p:txBody>
          <a:bodyPr/>
          <a:lstStyle/>
          <a:p>
            <a:pPr marL="0" indent="0">
              <a:lnSpc>
                <a:spcPct val="150000"/>
              </a:lnSpc>
              <a:buNone/>
            </a:pPr>
            <a:r>
              <a:rPr lang="en-IN" b="1" i="0" dirty="0">
                <a:solidFill>
                  <a:srgbClr val="7030A0"/>
                </a:solidFill>
                <a:effectLst/>
              </a:rPr>
              <a:t>Localization</a:t>
            </a:r>
          </a:p>
          <a:p>
            <a:pPr>
              <a:lnSpc>
                <a:spcPct val="150000"/>
              </a:lnSpc>
            </a:pPr>
            <a:r>
              <a:rPr lang="en-US" b="1" i="0" dirty="0">
                <a:solidFill>
                  <a:srgbClr val="7030A0"/>
                </a:solidFill>
                <a:effectLst/>
              </a:rPr>
              <a:t>Localization</a:t>
            </a:r>
            <a:r>
              <a:rPr lang="en-US" b="0" i="0" dirty="0">
                <a:solidFill>
                  <a:srgbClr val="333333"/>
                </a:solidFill>
                <a:effectLst/>
              </a:rPr>
              <a:t> is also abbreviated as I10N because there are total 10 characters between the first letter 'L' and last letter 'N’.</a:t>
            </a:r>
          </a:p>
          <a:p>
            <a:pPr>
              <a:lnSpc>
                <a:spcPct val="150000"/>
              </a:lnSpc>
            </a:pPr>
            <a:r>
              <a:rPr lang="en-US" b="0" i="0" dirty="0">
                <a:solidFill>
                  <a:srgbClr val="333333"/>
                </a:solidFill>
                <a:effectLst/>
              </a:rPr>
              <a:t> Localization is the mechanism to create such an application that can be adapted to a specific language and region by adding locale-specific text and component.</a:t>
            </a:r>
            <a:endParaRPr lang="en-IN" dirty="0"/>
          </a:p>
        </p:txBody>
      </p:sp>
    </p:spTree>
    <p:extLst>
      <p:ext uri="{BB962C8B-B14F-4D97-AF65-F5344CB8AC3E}">
        <p14:creationId xmlns:p14="http://schemas.microsoft.com/office/powerpoint/2010/main" val="1399344195"/>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A26DB-4B77-148B-FE3B-3DD57BCD3761}"/>
              </a:ext>
            </a:extLst>
          </p:cNvPr>
          <p:cNvSpPr>
            <a:spLocks noGrp="1"/>
          </p:cNvSpPr>
          <p:nvPr>
            <p:ph idx="1"/>
          </p:nvPr>
        </p:nvSpPr>
        <p:spPr>
          <a:xfrm>
            <a:off x="838200" y="410547"/>
            <a:ext cx="10515600" cy="5766416"/>
          </a:xfrm>
        </p:spPr>
        <p:txBody>
          <a:bodyPr>
            <a:normAutofit fontScale="92500" lnSpcReduction="10000"/>
          </a:bodyPr>
          <a:lstStyle/>
          <a:p>
            <a:pPr marL="0" indent="0">
              <a:buNone/>
            </a:pPr>
            <a:r>
              <a:rPr lang="en-IN" b="1" dirty="0">
                <a:solidFill>
                  <a:srgbClr val="7030A0"/>
                </a:solidFill>
              </a:rPr>
              <a:t>Example for </a:t>
            </a:r>
            <a:r>
              <a:rPr lang="en-US" b="1" i="0" dirty="0">
                <a:solidFill>
                  <a:srgbClr val="7030A0"/>
                </a:solidFill>
                <a:effectLst/>
              </a:rPr>
              <a:t>Localization</a:t>
            </a:r>
            <a:r>
              <a:rPr lang="en-IN" b="1" dirty="0">
                <a:solidFill>
                  <a:srgbClr val="7030A0"/>
                </a:solidFill>
              </a:rPr>
              <a:t> </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java.util</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LocaleExample</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a:solidFill>
                  <a:srgbClr val="000000"/>
                </a:solidFill>
                <a:effectLst/>
              </a:rPr>
              <a:t>Locale locale=</a:t>
            </a:r>
            <a:r>
              <a:rPr lang="en-IN" b="0" i="0" dirty="0" err="1">
                <a:solidFill>
                  <a:srgbClr val="000000"/>
                </a:solidFill>
                <a:effectLst/>
              </a:rPr>
              <a:t>Locale.getDefault</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locale.getDisplayCountry</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locale.getDisplayLanguage</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locale.getDisplayName</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locale.getLanguage</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locale.getCountry</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p>
          <a:p>
            <a:pPr marL="0" indent="0">
              <a:buNone/>
            </a:pPr>
            <a:endParaRPr lang="en-IN" b="1" dirty="0">
              <a:solidFill>
                <a:srgbClr val="7030A0"/>
              </a:solidFill>
            </a:endParaRPr>
          </a:p>
        </p:txBody>
      </p:sp>
    </p:spTree>
    <p:extLst>
      <p:ext uri="{BB962C8B-B14F-4D97-AF65-F5344CB8AC3E}">
        <p14:creationId xmlns:p14="http://schemas.microsoft.com/office/powerpoint/2010/main" val="4093946779"/>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3F1E7-9CFA-22CB-0D89-233F6736E0C8}"/>
              </a:ext>
            </a:extLst>
          </p:cNvPr>
          <p:cNvSpPr>
            <a:spLocks noGrp="1"/>
          </p:cNvSpPr>
          <p:nvPr>
            <p:ph idx="1"/>
          </p:nvPr>
        </p:nvSpPr>
        <p:spPr>
          <a:xfrm>
            <a:off x="838200" y="419878"/>
            <a:ext cx="10515600" cy="5757085"/>
          </a:xfrm>
        </p:spPr>
        <p:txBody>
          <a:bodyPr>
            <a:normAutofit fontScale="85000" lnSpcReduction="20000"/>
          </a:bodyPr>
          <a:lstStyle/>
          <a:p>
            <a:pPr marL="0" indent="0">
              <a:buNone/>
            </a:pPr>
            <a:r>
              <a:rPr lang="en-IN" b="1" dirty="0">
                <a:solidFill>
                  <a:srgbClr val="7030A0"/>
                </a:solidFill>
                <a:effectLst/>
              </a:rPr>
              <a:t>Example of </a:t>
            </a:r>
            <a:r>
              <a:rPr lang="en-US" b="1" i="0" dirty="0">
                <a:solidFill>
                  <a:srgbClr val="7030A0"/>
                </a:solidFill>
                <a:effectLst/>
              </a:rPr>
              <a:t>Internationalization</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java.util</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LocaleExample2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a:solidFill>
                  <a:srgbClr val="000000"/>
                </a:solidFill>
                <a:effectLst/>
              </a:rPr>
              <a:t>        Locale </a:t>
            </a:r>
            <a:r>
              <a:rPr lang="en-IN" b="0" i="0" dirty="0" err="1">
                <a:solidFill>
                  <a:srgbClr val="000000"/>
                </a:solidFill>
                <a:effectLst/>
              </a:rPr>
              <a:t>enLocale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Locale(</a:t>
            </a:r>
            <a:r>
              <a:rPr lang="en-IN" b="0" i="0" dirty="0">
                <a:solidFill>
                  <a:srgbClr val="0000FF"/>
                </a:solidFill>
                <a:effectLst/>
              </a:rPr>
              <a:t>"</a:t>
            </a:r>
            <a:r>
              <a:rPr lang="en-IN" b="0" i="0" dirty="0" err="1">
                <a:solidFill>
                  <a:srgbClr val="0000FF"/>
                </a:solidFill>
                <a:effectLst/>
              </a:rPr>
              <a:t>en</a:t>
            </a:r>
            <a:r>
              <a:rPr lang="en-IN" b="0" i="0" dirty="0">
                <a:solidFill>
                  <a:srgbClr val="0000FF"/>
                </a:solidFill>
                <a:effectLst/>
              </a:rPr>
              <a:t>"</a:t>
            </a:r>
            <a:r>
              <a:rPr lang="en-IN" b="0" i="0" dirty="0">
                <a:solidFill>
                  <a:srgbClr val="000000"/>
                </a:solidFill>
                <a:effectLst/>
              </a:rPr>
              <a:t>, </a:t>
            </a:r>
            <a:r>
              <a:rPr lang="en-IN" b="0" i="0" dirty="0">
                <a:solidFill>
                  <a:srgbClr val="0000FF"/>
                </a:solidFill>
                <a:effectLst/>
              </a:rPr>
              <a:t>"US"</a:t>
            </a:r>
            <a:r>
              <a:rPr lang="en-IN" b="0" i="0" dirty="0">
                <a:solidFill>
                  <a:srgbClr val="000000"/>
                </a:solidFill>
                <a:effectLst/>
              </a:rPr>
              <a:t>);  </a:t>
            </a:r>
          </a:p>
          <a:p>
            <a:pPr marL="0" indent="0" algn="just">
              <a:buNone/>
            </a:pPr>
            <a:r>
              <a:rPr lang="en-IN" b="0" i="0" dirty="0">
                <a:solidFill>
                  <a:srgbClr val="000000"/>
                </a:solidFill>
                <a:effectLst/>
              </a:rPr>
              <a:t>        Locale </a:t>
            </a:r>
            <a:r>
              <a:rPr lang="en-IN" b="0" i="0" dirty="0" err="1">
                <a:solidFill>
                  <a:srgbClr val="000000"/>
                </a:solidFill>
                <a:effectLst/>
              </a:rPr>
              <a:t>frLocale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Locale(</a:t>
            </a:r>
            <a:r>
              <a:rPr lang="en-IN" b="0" i="0" dirty="0">
                <a:solidFill>
                  <a:srgbClr val="0000FF"/>
                </a:solidFill>
                <a:effectLst/>
              </a:rPr>
              <a:t>"</a:t>
            </a:r>
            <a:r>
              <a:rPr lang="en-IN" b="0" i="0" dirty="0" err="1">
                <a:solidFill>
                  <a:srgbClr val="0000FF"/>
                </a:solidFill>
                <a:effectLst/>
              </a:rPr>
              <a:t>fr</a:t>
            </a:r>
            <a:r>
              <a:rPr lang="en-IN" b="0" i="0" dirty="0">
                <a:solidFill>
                  <a:srgbClr val="0000FF"/>
                </a:solidFill>
                <a:effectLst/>
              </a:rPr>
              <a:t>"</a:t>
            </a:r>
            <a:r>
              <a:rPr lang="en-IN" b="0" i="0" dirty="0">
                <a:solidFill>
                  <a:srgbClr val="000000"/>
                </a:solidFill>
                <a:effectLst/>
              </a:rPr>
              <a:t>, </a:t>
            </a:r>
            <a:r>
              <a:rPr lang="en-IN" b="0" i="0" dirty="0">
                <a:solidFill>
                  <a:srgbClr val="0000FF"/>
                </a:solidFill>
                <a:effectLst/>
              </a:rPr>
              <a:t>"FR"</a:t>
            </a:r>
            <a:r>
              <a:rPr lang="en-IN" b="0" i="0" dirty="0">
                <a:solidFill>
                  <a:srgbClr val="000000"/>
                </a:solidFill>
                <a:effectLst/>
              </a:rPr>
              <a:t>);  </a:t>
            </a:r>
          </a:p>
          <a:p>
            <a:pPr marL="0" indent="0" algn="just">
              <a:buNone/>
            </a:pPr>
            <a:r>
              <a:rPr lang="en-IN" b="0" i="0" dirty="0">
                <a:solidFill>
                  <a:srgbClr val="000000"/>
                </a:solidFill>
                <a:effectLst/>
              </a:rPr>
              <a:t>        Locale </a:t>
            </a:r>
            <a:r>
              <a:rPr lang="en-IN" b="0" i="0" dirty="0" err="1">
                <a:solidFill>
                  <a:srgbClr val="000000"/>
                </a:solidFill>
                <a:effectLst/>
              </a:rPr>
              <a:t>esLocale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Locale(</a:t>
            </a:r>
            <a:r>
              <a:rPr lang="en-IN" b="0" i="0" dirty="0">
                <a:solidFill>
                  <a:srgbClr val="0000FF"/>
                </a:solidFill>
                <a:effectLst/>
              </a:rPr>
              <a:t>"es"</a:t>
            </a:r>
            <a:r>
              <a:rPr lang="en-IN" b="0" i="0" dirty="0">
                <a:solidFill>
                  <a:srgbClr val="000000"/>
                </a:solidFill>
                <a:effectLst/>
              </a:rPr>
              <a:t>, </a:t>
            </a:r>
            <a:r>
              <a:rPr lang="en-IN" b="0" i="0" dirty="0">
                <a:solidFill>
                  <a:srgbClr val="0000FF"/>
                </a:solidFill>
                <a:effectLst/>
              </a:rPr>
              <a:t>"ES"</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"English language name (default): "</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enLocale.getDisplayLanguage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"English language name in French: "</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enLocale.getDisplayLanguage</a:t>
            </a:r>
            <a:r>
              <a:rPr lang="en-IN" b="0" i="0" dirty="0">
                <a:solidFill>
                  <a:srgbClr val="000000"/>
                </a:solidFill>
                <a:effectLst/>
              </a:rPr>
              <a:t>(</a:t>
            </a:r>
            <a:r>
              <a:rPr lang="en-IN" b="0" i="0" dirty="0" err="1">
                <a:solidFill>
                  <a:srgbClr val="000000"/>
                </a:solidFill>
                <a:effectLst/>
              </a:rPr>
              <a:t>frLocale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"English language name in </a:t>
            </a:r>
            <a:r>
              <a:rPr lang="en-IN" b="0" i="0" dirty="0" err="1">
                <a:solidFill>
                  <a:srgbClr val="0000FF"/>
                </a:solidFill>
                <a:effectLst/>
              </a:rPr>
              <a:t>spanish</a:t>
            </a:r>
            <a:r>
              <a:rPr lang="en-IN" b="0" i="0" dirty="0">
                <a:solidFill>
                  <a:srgbClr val="0000FF"/>
                </a:solidFill>
                <a:effectLst/>
              </a:rPr>
              <a:t>: "</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enLocale.getDisplayLanguage</a:t>
            </a:r>
            <a:r>
              <a:rPr lang="en-IN" b="0" i="0" dirty="0">
                <a:solidFill>
                  <a:srgbClr val="000000"/>
                </a:solidFill>
                <a:effectLst/>
              </a:rPr>
              <a:t>(</a:t>
            </a:r>
            <a:r>
              <a:rPr lang="en-IN" b="0" i="0" dirty="0" err="1">
                <a:solidFill>
                  <a:srgbClr val="000000"/>
                </a:solidFill>
                <a:effectLst/>
              </a:rPr>
              <a:t>esLocale</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p>
          <a:p>
            <a:pPr marL="0" indent="0">
              <a:buNone/>
            </a:pPr>
            <a:endParaRPr lang="en-IN" b="1" dirty="0">
              <a:solidFill>
                <a:srgbClr val="7030A0"/>
              </a:solidFill>
              <a:effectLst/>
            </a:endParaRPr>
          </a:p>
          <a:p>
            <a:endParaRPr lang="en-IN" dirty="0"/>
          </a:p>
        </p:txBody>
      </p:sp>
    </p:spTree>
    <p:extLst>
      <p:ext uri="{BB962C8B-B14F-4D97-AF65-F5344CB8AC3E}">
        <p14:creationId xmlns:p14="http://schemas.microsoft.com/office/powerpoint/2010/main" val="920046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5885</TotalTime>
  <Words>14469</Words>
  <Application>Microsoft Office PowerPoint</Application>
  <PresentationFormat>Widescreen</PresentationFormat>
  <Paragraphs>1878</Paragraphs>
  <Slides>293</Slides>
  <Notes>1</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293</vt:i4>
      </vt:variant>
    </vt:vector>
  </HeadingPairs>
  <TitlesOfParts>
    <vt:vector size="313" baseType="lpstr">
      <vt:lpstr>Algerian</vt:lpstr>
      <vt:lpstr>arial</vt:lpstr>
      <vt:lpstr>arial</vt:lpstr>
      <vt:lpstr>Arial MT</vt:lpstr>
      <vt:lpstr>Calibri</vt:lpstr>
      <vt:lpstr>Calibri Light</vt:lpstr>
      <vt:lpstr>Carlito</vt:lpstr>
      <vt:lpstr>Courier New</vt:lpstr>
      <vt:lpstr>erdana</vt:lpstr>
      <vt:lpstr>euclid_circular_a</vt:lpstr>
      <vt:lpstr>Google Sans</vt:lpstr>
      <vt:lpstr>Harlow Solid Italic</vt:lpstr>
      <vt:lpstr>inter-bold</vt:lpstr>
      <vt:lpstr>inter-regular</vt:lpstr>
      <vt:lpstr>Lucida Sans Unicode</vt:lpstr>
      <vt:lpstr>Monotype Corsiva</vt:lpstr>
      <vt:lpstr>tahoma</vt:lpstr>
      <vt:lpstr>Times New Roman</vt:lpstr>
      <vt:lpstr>Wingdings</vt:lpstr>
      <vt:lpstr>Office Theme</vt:lpstr>
      <vt:lpstr>JAVA</vt:lpstr>
      <vt:lpstr>PROGRAMMING LANGUAGE</vt:lpstr>
      <vt:lpstr>Types of languages:</vt:lpstr>
      <vt:lpstr>HISTORY OF JAVA</vt:lpstr>
      <vt:lpstr>HOW TO GET C FILE EXECUTED</vt:lpstr>
      <vt:lpstr>HOW JAVA PROGRAM GET EXECUTED</vt:lpstr>
      <vt:lpstr>COMPILER VS INTERPRETER</vt:lpstr>
      <vt:lpstr>PowerPoint Presentation</vt:lpstr>
      <vt:lpstr>WHY C/C++ PLATFORM DEPENDENT</vt:lpstr>
      <vt:lpstr>WORA (Write Once Run Anywhere) </vt:lpstr>
      <vt:lpstr>JAVA ARCHITECTURE</vt:lpstr>
      <vt:lpstr>PowerPoint Presentation</vt:lpstr>
      <vt:lpstr>PowerPoint Presentation</vt:lpstr>
      <vt:lpstr>PowerPoint Presentation</vt:lpstr>
      <vt:lpstr>PowerPoint Presentation</vt:lpstr>
      <vt:lpstr>PowerPoint Presentation</vt:lpstr>
      <vt:lpstr>PowerPoint Presentation</vt:lpstr>
      <vt:lpstr>JRE</vt:lpstr>
      <vt:lpstr>JDK</vt:lpstr>
      <vt:lpstr>APPLICATIONS OF JAVA</vt:lpstr>
      <vt:lpstr>FEATURES OF JAVA</vt:lpstr>
      <vt:lpstr>TYPES OF JAVA</vt:lpstr>
      <vt:lpstr>JAVA MAIN() METHOD</vt:lpstr>
      <vt:lpstr>PowerPoint Presentation</vt:lpstr>
      <vt:lpstr>PowerPoint Presentation</vt:lpstr>
      <vt:lpstr>PowerPoint Presentation</vt:lpstr>
      <vt:lpstr>PowerPoint Presentation</vt:lpstr>
      <vt:lpstr>FUNDAMENTALS OF JAVA </vt:lpstr>
      <vt:lpstr>FUNDAMENTALS OF JAVA </vt:lpstr>
      <vt:lpstr>Identifiers or Variables</vt:lpstr>
      <vt:lpstr>PowerPoint Presentation</vt:lpstr>
      <vt:lpstr>PowerPoint Presentation</vt:lpstr>
      <vt:lpstr>KEYWORDS</vt:lpstr>
      <vt:lpstr>Data Types in Java</vt:lpstr>
      <vt:lpstr>PowerPoint Presentation</vt:lpstr>
      <vt:lpstr>PowerPoint Presentation</vt:lpstr>
      <vt:lpstr>TYPE CASTING</vt:lpstr>
      <vt:lpstr>TYPES OF COMMENTS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vt:lpstr>
      <vt:lpstr>Flow  of control</vt:lpstr>
      <vt:lpstr>Control statements </vt:lpstr>
      <vt:lpstr>PowerPoint Presentation</vt:lpstr>
      <vt:lpstr>PowerPoint Presentation</vt:lpstr>
      <vt:lpstr>PowerPoint Presentation</vt:lpstr>
      <vt:lpstr>PowerPoint Presentation</vt:lpstr>
      <vt:lpstr>PowerPoint Presentation</vt:lpstr>
      <vt:lpstr>Loop/Iterative/Repeatation statements</vt:lpstr>
      <vt:lpstr>Types of loops</vt:lpstr>
      <vt:lpstr>PowerPoint Presentation</vt:lpstr>
      <vt:lpstr>PowerPoint Presentation</vt:lpstr>
      <vt:lpstr>PowerPoint Presentation</vt:lpstr>
      <vt:lpstr>PowerPoint Presentation</vt:lpstr>
      <vt:lpstr>PowerPoint Presentation</vt:lpstr>
      <vt:lpstr>Transfer or Jumping Statements</vt:lpstr>
      <vt:lpstr>PowerPoint Presentation</vt:lpstr>
      <vt:lpstr>PowerPoint Presentation</vt:lpstr>
      <vt:lpstr>ARRAY</vt:lpstr>
      <vt:lpstr>PowerPoint Presentation</vt:lpstr>
      <vt:lpstr>PowerPoint Presentation</vt:lpstr>
      <vt:lpstr>Single dimensional array</vt:lpstr>
      <vt:lpstr>Multidimensional Array  </vt:lpstr>
      <vt:lpstr>Functions in Java</vt:lpstr>
      <vt:lpstr>What is Functions?</vt:lpstr>
      <vt:lpstr>Why Functions?</vt:lpstr>
      <vt:lpstr>Syntax for Function</vt:lpstr>
      <vt:lpstr>Types of Functions</vt:lpstr>
      <vt:lpstr>PowerPoint Presentation</vt:lpstr>
      <vt:lpstr>PowerPoint Presentation</vt:lpstr>
      <vt:lpstr>PowerPoint Presentation</vt:lpstr>
      <vt:lpstr>PowerPoint Presentation</vt:lpstr>
      <vt:lpstr>PowerPoint Presentation</vt:lpstr>
      <vt:lpstr>STRINGS IN JAVA</vt:lpstr>
      <vt:lpstr>Strings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String buffer class</vt:lpstr>
      <vt:lpstr>PowerPoint Presentation</vt:lpstr>
      <vt:lpstr>PowerPoint Presentation</vt:lpstr>
      <vt:lpstr>String Builder</vt:lpstr>
      <vt:lpstr>PowerPoint Presentation</vt:lpstr>
      <vt:lpstr>PowerPoint Presentation</vt:lpstr>
      <vt:lpstr>oops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Heap Memory and  Stack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handling in java</vt:lpstr>
      <vt:lpstr>PowerPoint Presentation</vt:lpstr>
      <vt:lpstr>PowerPoint Presentation</vt:lpstr>
      <vt:lpstr>File Operations in Java</vt:lpstr>
      <vt:lpstr>PowerPoint Presentation</vt:lpstr>
      <vt:lpstr>PowerPoint Presentation</vt:lpstr>
      <vt:lpstr>PowerPoint Presentation</vt:lpstr>
      <vt:lpstr>PowerPoint Presentation</vt:lpstr>
      <vt:lpstr>PowerPoint Presentation</vt:lpstr>
      <vt:lpstr>PowerPoint Presentation</vt:lpstr>
      <vt:lpstr>Util Packages</vt:lpstr>
      <vt:lpstr>PowerPoint Presentation</vt:lpstr>
      <vt:lpstr>Advantages of collections</vt:lpstr>
      <vt:lpstr>Hierarchy of Collection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Hashmap and Hashset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THREAD AND MULTITHREAD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Serialization and Deserialization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Networking in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Java Swings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Event Handling</vt:lpstr>
      <vt:lpstr>PowerPoint Presentation</vt:lpstr>
      <vt:lpstr>PowerPoint Presentation</vt:lpstr>
      <vt:lpstr>PowerPoint Presentation</vt:lpstr>
      <vt:lpstr>PowerPoint Presentation</vt:lpstr>
      <vt:lpstr>Layout Managers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dc:title>
  <dc:creator>maheswari janarthanan</dc:creator>
  <cp:lastModifiedBy>Sasikumar Janarthanan</cp:lastModifiedBy>
  <cp:revision>63</cp:revision>
  <dcterms:created xsi:type="dcterms:W3CDTF">2023-03-08T11:16:31Z</dcterms:created>
  <dcterms:modified xsi:type="dcterms:W3CDTF">2026-10-05T08:03:13Z</dcterms:modified>
</cp:coreProperties>
</file>